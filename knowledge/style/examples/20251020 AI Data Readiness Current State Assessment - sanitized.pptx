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notesSlides/notesSlide1.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2.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notesSlides/notesSlide3.xml" ContentType="application/vnd.openxmlformats-officedocument.presentationml.notesSlide+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notesSlides/notesSlide4.xml" ContentType="application/vnd.openxmlformats-officedocument.presentationml.notesSlide+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5.xml" ContentType="application/vnd.openxmlformats-officedocument.presentationml.notesSlid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6.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notesSlides/notesSlide7.xml" ContentType="application/vnd.openxmlformats-officedocument.presentationml.notesSlide+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notesSlides/notesSlide8.xml" ContentType="application/vnd.openxmlformats-officedocument.presentationml.notesSlide+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notesSlides/notesSlide9.xml" ContentType="application/vnd.openxmlformats-officedocument.presentationml.notesSlide+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notesSlides/notesSlide10.xml" ContentType="application/vnd.openxmlformats-officedocument.presentationml.notesSlide+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notesSlides/notesSlide11.xml" ContentType="application/vnd.openxmlformats-officedocument.presentationml.notesSlide+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notesSlides/notesSlide12.xml" ContentType="application/vnd.openxmlformats-officedocument.presentationml.notesSlide+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notesSlides/notesSlide13.xml" ContentType="application/vnd.openxmlformats-officedocument.presentationml.notesSlide+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notesSlides/notesSlide14.xml" ContentType="application/vnd.openxmlformats-officedocument.presentationml.notesSlide+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notesSlides/notesSlide15.xml" ContentType="application/vnd.openxmlformats-officedocument.presentationml.notesSlide+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notesSlides/notesSlide16.xml" ContentType="application/vnd.openxmlformats-officedocument.presentationml.notesSlide+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notesSlides/notesSlide17.xml" ContentType="application/vnd.openxmlformats-officedocument.presentationml.notesSlide+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notesSlides/notesSlide18.xml" ContentType="application/vnd.openxmlformats-officedocument.presentationml.notesSlide+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notesSlides/notesSlide19.xml" ContentType="application/vnd.openxmlformats-officedocument.presentationml.notesSlide+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notesSlides/notesSlide20.xml" ContentType="application/vnd.openxmlformats-officedocument.presentationml.notesSlide+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notesSlides/notesSlide21.xml" ContentType="application/vnd.openxmlformats-officedocument.presentationml.notesSlide+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64" r:id="rId5"/>
  </p:sldMasterIdLst>
  <p:notesMasterIdLst>
    <p:notesMasterId r:id="rId33"/>
  </p:notesMasterIdLst>
  <p:handoutMasterIdLst>
    <p:handoutMasterId r:id="rId34"/>
  </p:handoutMasterIdLst>
  <p:sldIdLst>
    <p:sldId id="263" r:id="rId6"/>
    <p:sldId id="259" r:id="rId7"/>
    <p:sldId id="275" r:id="rId8"/>
    <p:sldId id="2147483646" r:id="rId9"/>
    <p:sldId id="258" r:id="rId10"/>
    <p:sldId id="262" r:id="rId11"/>
    <p:sldId id="267" r:id="rId12"/>
    <p:sldId id="268" r:id="rId13"/>
    <p:sldId id="280" r:id="rId14"/>
    <p:sldId id="278" r:id="rId15"/>
    <p:sldId id="272" r:id="rId16"/>
    <p:sldId id="276" r:id="rId17"/>
    <p:sldId id="279" r:id="rId18"/>
    <p:sldId id="281" r:id="rId19"/>
    <p:sldId id="282" r:id="rId20"/>
    <p:sldId id="283" r:id="rId21"/>
    <p:sldId id="2147483647" r:id="rId22"/>
    <p:sldId id="273" r:id="rId23"/>
    <p:sldId id="261" r:id="rId24"/>
    <p:sldId id="260" r:id="rId25"/>
    <p:sldId id="264" r:id="rId26"/>
    <p:sldId id="277" r:id="rId27"/>
    <p:sldId id="284" r:id="rId28"/>
    <p:sldId id="285" r:id="rId29"/>
    <p:sldId id="286" r:id="rId30"/>
    <p:sldId id="287" r:id="rId31"/>
    <p:sldId id="288" r:id="rId32"/>
  </p:sldIdLst>
  <p:sldSz cx="12192000" cy="6858000"/>
  <p:notesSz cx="7102475" cy="9388475"/>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0D0"/>
    <a:srgbClr val="051C2C"/>
    <a:srgbClr val="000000"/>
    <a:srgbClr val="7F7F7F"/>
    <a:srgbClr val="AFC3FF"/>
    <a:srgbClr val="0D3171"/>
    <a:srgbClr val="E6E6E6"/>
    <a:srgbClr val="4D4D4D"/>
    <a:srgbClr val="00A9F4"/>
    <a:srgbClr val="1F4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FB5F0E-7186-4888-8DF6-3F1506646F1A}" v="4" dt="2025-10-22T14:41:26.2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57" autoAdjust="0"/>
  </p:normalViewPr>
  <p:slideViewPr>
    <p:cSldViewPr snapToGrid="0" snapToObjects="1">
      <p:cViewPr varScale="1">
        <p:scale>
          <a:sx n="112" d="100"/>
          <a:sy n="112" d="100"/>
        </p:scale>
        <p:origin x="874" y="9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p:scale>
          <a:sx n="75" d="100"/>
          <a:sy n="75" d="100"/>
        </p:scale>
        <p:origin x="3954" y="2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handoutMaster" Target="handoutMasters/handoutMaster1.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gs" Target="tags/tag1.xml"/><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n Ma" userId="a6aa2cc7-463b-48c2-a237-3222b976ff12" providerId="ADAL" clId="{B095F97F-1AAD-4B3E-A275-D05253847BFE}"/>
    <pc:docChg chg="modSld">
      <pc:chgData name="Alan Ma" userId="a6aa2cc7-463b-48c2-a237-3222b976ff12" providerId="ADAL" clId="{B095F97F-1AAD-4B3E-A275-D05253847BFE}" dt="2025-10-22T14:41:26.204" v="1" actId="1076"/>
      <pc:docMkLst>
        <pc:docMk/>
      </pc:docMkLst>
      <pc:sldChg chg="modSp">
        <pc:chgData name="Alan Ma" userId="a6aa2cc7-463b-48c2-a237-3222b976ff12" providerId="ADAL" clId="{B095F97F-1AAD-4B3E-A275-D05253847BFE}" dt="2025-10-22T14:41:26.204" v="1" actId="1076"/>
        <pc:sldMkLst>
          <pc:docMk/>
          <pc:sldMk cId="2931540099" sldId="263"/>
        </pc:sldMkLst>
        <pc:spChg chg="mod">
          <ac:chgData name="Alan Ma" userId="a6aa2cc7-463b-48c2-a237-3222b976ff12" providerId="ADAL" clId="{B095F97F-1AAD-4B3E-A275-D05253847BFE}" dt="2025-10-22T14:41:26.204" v="1" actId="1076"/>
          <ac:spMkLst>
            <pc:docMk/>
            <pc:sldMk cId="2931540099" sldId="263"/>
            <ac:spMk id="9" creationId="{EFAE2041-A3CF-2E7A-1617-5A6F4887C2B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7 November 2025</a:t>
            </a:fld>
            <a:endParaRPr lang="en-US" dirty="0"/>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dirty="0"/>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7 November 2025</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a:xfrm>
            <a:off x="735012" y="4518025"/>
            <a:ext cx="5632450" cy="169277"/>
          </a:xfrm>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 November 2025</a:t>
            </a:fld>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49974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pPr marL="0" indent="0">
              <a:buNone/>
            </a:pPr>
            <a:endParaRPr lang="en-US"/>
          </a:p>
        </p:txBody>
      </p:sp>
      <p:sp>
        <p:nvSpPr>
          <p:cNvPr id="4" name="Date Placeholder 3"/>
          <p:cNvSpPr>
            <a:spLocks noGrp="1"/>
          </p:cNvSpPr>
          <p:nvPr>
            <p:ph type="dt" idx="1"/>
          </p:nvPr>
        </p:nvSpPr>
        <p:spPr/>
        <p:txBody>
          <a:bodyPr/>
          <a:lstStyle/>
          <a:p>
            <a:fld id="{1DF34805-1F01-4BDA-A8CA-FCEA2B4BC8D0}" type="datetime3">
              <a:rPr lang="en-US" smtClean="0"/>
              <a:pPr/>
              <a:t>7 November 2025</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2</a:t>
            </a:fld>
            <a:endParaRPr lang="en-US"/>
          </a:p>
        </p:txBody>
      </p:sp>
    </p:spTree>
    <p:extLst>
      <p:ext uri="{BB962C8B-B14F-4D97-AF65-F5344CB8AC3E}">
        <p14:creationId xmlns:p14="http://schemas.microsoft.com/office/powerpoint/2010/main" val="3311563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8EE1-ED62-734F-C7EA-79F0785CD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C6921-95D1-EAF6-DA4B-D8A57C14B9B9}"/>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6639F8E8-00C1-1FA6-9C1E-4FBE01E6E177}"/>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CF72CE6F-31A7-C919-7D8F-230728E035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884957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4A87-C0EA-FCC4-BD54-AAC906B4A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89140-1EED-97A2-0B3E-43C6C4B1F61A}"/>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629A7983-D4D1-2775-65A4-25734588E511}"/>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C76936DB-CD6A-2BA5-DC78-0203B981CD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034757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4E95-E203-3AD6-3435-16E331534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1334D-B2EA-B4DA-4ECB-9E2A5962B5B8}"/>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360A4898-2ED5-E0F5-CB00-943CF76A8B37}"/>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B78AA21E-6F21-FAEC-AED1-DC57CC1C56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995051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1613C-530D-F932-A939-40642B8F9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10A07-AEF5-9B18-449F-76889EB90577}"/>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E3312027-A7E7-A936-C9D3-2BB3F4C86E8E}"/>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8D2B6A41-C988-F768-2A09-87DEDAA258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578555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97E5-4E05-3CF5-A4BD-8DAEE5E41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125CC-9B62-F089-ACAB-6793D179ACB5}"/>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4C897D14-6066-D00C-CFD7-15624F7E3580}"/>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927BC75E-120F-FEE8-7778-CA9FE81093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785121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33290-6024-BE13-8D61-417D24D25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BF6B0-DF66-FB57-BB39-B4E7D90106B6}"/>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E34E4F19-479F-5188-104B-341A3C33BE94}"/>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C107532E-B96B-1D74-89F1-941FCEC6B4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778542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FCAE5-0194-D350-BD36-FF6A6DBC8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CCA4B-5F41-6007-1449-E507D1321D26}"/>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8E8320B9-97FE-B9AC-C0BD-5155F8678317}"/>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3294AA9F-1BF1-CBAC-3B53-B834059EAB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078749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2977B-C68F-4859-BD56-E90038174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B7A4B-7B5E-1819-79F2-066CAF8C77CE}"/>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DFC08D77-0C75-5281-9075-0AB7E6E26EB1}"/>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3E154C1E-CD8C-DEEC-4407-639CA22AB7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578643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13763-48E7-AF1B-6D53-8C4D83907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6E8E6-01D0-A4B8-7017-EC995F89F923}"/>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7C5975E5-9D60-F01D-4EC3-91C56D81E379}"/>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CF15C6B7-363F-568B-8E9E-BC71B96D53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808505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6A2F-4561-34D4-8C8E-752F7C550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022D9-391A-8F86-3043-B30BF87BED5B}"/>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D5825A3A-E0A1-D313-8180-716D2FE0FA8D}"/>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E7231BE4-4C15-18F7-F7C7-6E53665772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495543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7 November 2025</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15</a:t>
            </a:fld>
            <a:endParaRPr lang="en-US"/>
          </a:p>
        </p:txBody>
      </p:sp>
    </p:spTree>
    <p:extLst>
      <p:ext uri="{BB962C8B-B14F-4D97-AF65-F5344CB8AC3E}">
        <p14:creationId xmlns:p14="http://schemas.microsoft.com/office/powerpoint/2010/main" val="256557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17451-CB47-F7E1-7BC3-DDE922A37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66AD7-43B0-3F60-29F3-5FC881425B80}"/>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21A24963-0D35-4618-181E-48417B09430B}"/>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8F384E17-0776-7936-75AB-3EECE772F9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275249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81D3C-FBF5-D125-78F4-463C09BCA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8F51C-157C-8EA0-BE50-658DDD503C9E}"/>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0F53E2C3-3D12-210C-4986-891B18586E44}"/>
              </a:ext>
            </a:extLst>
          </p:cNvPr>
          <p:cNvSpPr>
            <a:spLocks noGrp="1"/>
          </p:cNvSpPr>
          <p:nvPr>
            <p:ph type="body" idx="1"/>
          </p:nvPr>
        </p:nvSpPr>
        <p:spPr>
          <a:xfrm>
            <a:off x="735012" y="4518025"/>
            <a:ext cx="5632450" cy="169277"/>
          </a:xfrm>
        </p:spPr>
        <p:txBody>
          <a:bodyPr/>
          <a:lstStyle/>
          <a:p>
            <a:endParaRPr lang="en-US"/>
          </a:p>
        </p:txBody>
      </p:sp>
      <p:sp>
        <p:nvSpPr>
          <p:cNvPr id="4" name="Slide Number Placeholder 3">
            <a:extLst>
              <a:ext uri="{FF2B5EF4-FFF2-40B4-BE49-F238E27FC236}">
                <a16:creationId xmlns:a16="http://schemas.microsoft.com/office/drawing/2014/main" id="{78C59D38-2EFE-5AA3-528F-C7DE5D09FC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2B6E84-AA80-6D4F-A3C0-2199C916F970}" type="slidenum">
              <a:rPr kumimoji="0" lang="en-US" sz="1200" b="0" i="0" u="none" strike="noStrike" kern="1200" cap="none" spc="0" normalizeH="0" baseline="0" noProof="0" smtClean="0">
                <a:ln>
                  <a:noFill/>
                </a:ln>
                <a:solidFill>
                  <a:prstClr val="black"/>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633108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7BBFE-AB50-CED1-9794-3701DF787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45123-B535-CFD5-DA8F-446A5CDEB0A6}"/>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2F2C95D8-5E19-7696-348A-AB4F1A6790ED}"/>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52CC951F-C939-CB5A-4D9F-FBA1BDAA32B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 November 2025</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510AAE74-4173-3975-8C9F-2CA813332A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290998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8E34-7EB3-A203-CF82-53A26E6D5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A8327-97DF-B70E-1126-5CC1E101D311}"/>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F150AED7-4D87-9790-CE83-453BF9BCEF16}"/>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36C0ECC5-645D-6E59-800B-91F45B78E30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 November 2025</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E2043912-2B82-DD71-DCE7-B13E5F5D01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368370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7 November 2025</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22</a:t>
            </a:fld>
            <a:endParaRPr lang="en-US"/>
          </a:p>
        </p:txBody>
      </p:sp>
    </p:spTree>
    <p:extLst>
      <p:ext uri="{BB962C8B-B14F-4D97-AF65-F5344CB8AC3E}">
        <p14:creationId xmlns:p14="http://schemas.microsoft.com/office/powerpoint/2010/main" val="2287031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 November 2025</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838635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7 November 2025</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24</a:t>
            </a:fld>
            <a:endParaRPr lang="en-US"/>
          </a:p>
        </p:txBody>
      </p:sp>
    </p:spTree>
    <p:extLst>
      <p:ext uri="{BB962C8B-B14F-4D97-AF65-F5344CB8AC3E}">
        <p14:creationId xmlns:p14="http://schemas.microsoft.com/office/powerpoint/2010/main" val="3514436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7 November 2025</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25</a:t>
            </a:fld>
            <a:endParaRPr lang="en-US"/>
          </a:p>
        </p:txBody>
      </p:sp>
    </p:spTree>
    <p:extLst>
      <p:ext uri="{BB962C8B-B14F-4D97-AF65-F5344CB8AC3E}">
        <p14:creationId xmlns:p14="http://schemas.microsoft.com/office/powerpoint/2010/main" val="200909619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6.sv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5.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4.jpg"/><Relationship Id="rId5" Type="http://schemas.openxmlformats.org/officeDocument/2006/relationships/tags" Target="../tags/tag27.xml"/><Relationship Id="rId15" Type="http://schemas.openxmlformats.org/officeDocument/2006/relationships/image" Target="../media/image7.emf"/><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1.emf"/><Relationship Id="rId4" Type="http://schemas.openxmlformats.org/officeDocument/2006/relationships/tags" Target="../tags/tag35.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1.xml"/><Relationship Id="rId4" Type="http://schemas.openxmlformats.org/officeDocument/2006/relationships/tags" Target="../tags/tag42.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9.xml"/><Relationship Id="rId7"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image" Target="../media/image8.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10" Type="http://schemas.openxmlformats.org/officeDocument/2006/relationships/image" Target="../media/image8.emf"/><Relationship Id="rId4" Type="http://schemas.openxmlformats.org/officeDocument/2006/relationships/tags" Target="../tags/tag56.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emf"/><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oleObject" Target="../embeddings/oleObject6.bin"/><Relationship Id="rId5" Type="http://schemas.openxmlformats.org/officeDocument/2006/relationships/tags" Target="../tags/tag64.xml"/><Relationship Id="rId10" Type="http://schemas.openxmlformats.org/officeDocument/2006/relationships/slideMaster" Target="../slideMasters/slideMaster1.xml"/><Relationship Id="rId4" Type="http://schemas.openxmlformats.org/officeDocument/2006/relationships/tags" Target="../tags/tag63.xml"/><Relationship Id="rId9" Type="http://schemas.openxmlformats.org/officeDocument/2006/relationships/tags" Target="../tags/tag68.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oleObject" Target="../embeddings/oleObject7.bin"/><Relationship Id="rId5" Type="http://schemas.openxmlformats.org/officeDocument/2006/relationships/tags" Target="../tags/tag73.xml"/><Relationship Id="rId10" Type="http://schemas.openxmlformats.org/officeDocument/2006/relationships/slideMaster" Target="../slideMasters/slideMaster1.xml"/><Relationship Id="rId4" Type="http://schemas.openxmlformats.org/officeDocument/2006/relationships/tags" Target="../tags/tag72.xml"/><Relationship Id="rId9" Type="http://schemas.openxmlformats.org/officeDocument/2006/relationships/tags" Target="../tags/tag77.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emf"/><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oleObject" Target="../embeddings/oleObject8.bin"/><Relationship Id="rId5" Type="http://schemas.openxmlformats.org/officeDocument/2006/relationships/tags" Target="../tags/tag82.xml"/><Relationship Id="rId10" Type="http://schemas.openxmlformats.org/officeDocument/2006/relationships/slideMaster" Target="../slideMasters/slideMaster1.xml"/><Relationship Id="rId4" Type="http://schemas.openxmlformats.org/officeDocument/2006/relationships/tags" Target="../tags/tag81.xml"/><Relationship Id="rId9" Type="http://schemas.openxmlformats.org/officeDocument/2006/relationships/tags" Target="../tags/tag86.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9.emf"/><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oleObject" Target="../embeddings/oleObject9.bin"/><Relationship Id="rId5" Type="http://schemas.openxmlformats.org/officeDocument/2006/relationships/tags" Target="../tags/tag91.xml"/><Relationship Id="rId10" Type="http://schemas.openxmlformats.org/officeDocument/2006/relationships/slideMaster" Target="../slideMasters/slideMaster1.xml"/><Relationship Id="rId4" Type="http://schemas.openxmlformats.org/officeDocument/2006/relationships/tags" Target="../tags/tag90.xml"/><Relationship Id="rId9" Type="http://schemas.openxmlformats.org/officeDocument/2006/relationships/tags" Target="../tags/tag95.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emf"/><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oleObject" Target="../embeddings/oleObject8.bin"/><Relationship Id="rId5" Type="http://schemas.openxmlformats.org/officeDocument/2006/relationships/tags" Target="../tags/tag100.xml"/><Relationship Id="rId10" Type="http://schemas.openxmlformats.org/officeDocument/2006/relationships/slideMaster" Target="../slideMasters/slideMaster1.xml"/><Relationship Id="rId4" Type="http://schemas.openxmlformats.org/officeDocument/2006/relationships/tags" Target="../tags/tag99.xml"/><Relationship Id="rId9" Type="http://schemas.openxmlformats.org/officeDocument/2006/relationships/tags" Target="../tags/tag10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Master" Target="../slideMasters/slideMaster1.xml"/><Relationship Id="rId5" Type="http://schemas.openxmlformats.org/officeDocument/2006/relationships/tags" Target="../tags/tag109.xml"/><Relationship Id="rId4" Type="http://schemas.openxmlformats.org/officeDocument/2006/relationships/tags" Target="../tags/tag10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Master" Target="../slideMasters/slideMaster1.xml"/><Relationship Id="rId4" Type="http://schemas.openxmlformats.org/officeDocument/2006/relationships/tags" Target="../tags/tag113.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tags" Target="../tags/tag116.xml"/><Relationship Id="rId7" Type="http://schemas.openxmlformats.org/officeDocument/2006/relationships/image" Target="../media/image10.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4.jpg"/><Relationship Id="rId5" Type="http://schemas.openxmlformats.org/officeDocument/2006/relationships/slideMaster" Target="../slideMasters/slideMaster1.xml"/><Relationship Id="rId10" Type="http://schemas.openxmlformats.org/officeDocument/2006/relationships/image" Target="../media/image7.emf"/><Relationship Id="rId4" Type="http://schemas.openxmlformats.org/officeDocument/2006/relationships/tags" Target="../tags/tag117.xml"/><Relationship Id="rId9" Type="http://schemas.openxmlformats.org/officeDocument/2006/relationships/oleObject" Target="../embeddings/oleObject10.bin"/></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6.svg"/><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5.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4.jpg"/><Relationship Id="rId5" Type="http://schemas.openxmlformats.org/officeDocument/2006/relationships/tags" Target="../tags/tag143.xml"/><Relationship Id="rId15" Type="http://schemas.openxmlformats.org/officeDocument/2006/relationships/image" Target="../media/image7.emf"/><Relationship Id="rId10" Type="http://schemas.openxmlformats.org/officeDocument/2006/relationships/slideMaster" Target="../slideMasters/slideMaster2.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oleObject" Target="../embeddings/oleObject12.bin"/></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10" Type="http://schemas.openxmlformats.org/officeDocument/2006/relationships/image" Target="../media/image1.emf"/><Relationship Id="rId4" Type="http://schemas.openxmlformats.org/officeDocument/2006/relationships/tags" Target="../tags/tag151.xml"/><Relationship Id="rId9" Type="http://schemas.openxmlformats.org/officeDocument/2006/relationships/oleObject" Target="../embeddings/oleObject13.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Master" Target="../slideMasters/slideMaster2.xml"/><Relationship Id="rId4" Type="http://schemas.openxmlformats.org/officeDocument/2006/relationships/tags" Target="../tags/tag15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Master" Target="../slideMasters/slideMaster2.xml"/><Relationship Id="rId4" Type="http://schemas.openxmlformats.org/officeDocument/2006/relationships/tags" Target="../tags/tag162.xml"/></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165.xml"/><Relationship Id="rId7" Type="http://schemas.openxmlformats.org/officeDocument/2006/relationships/slideMaster" Target="../slideMasters/slideMaster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image" Target="../media/image8.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5" Type="http://schemas.openxmlformats.org/officeDocument/2006/relationships/tags" Target="../tags/tag173.xml"/><Relationship Id="rId10" Type="http://schemas.openxmlformats.org/officeDocument/2006/relationships/image" Target="../media/image8.emf"/><Relationship Id="rId4" Type="http://schemas.openxmlformats.org/officeDocument/2006/relationships/tags" Target="../tags/tag172.xml"/><Relationship Id="rId9" Type="http://schemas.openxmlformats.org/officeDocument/2006/relationships/oleObject" Target="../embeddings/oleObject15.bin"/></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1.emf"/><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oleObject" Target="../embeddings/oleObject16.bin"/><Relationship Id="rId5" Type="http://schemas.openxmlformats.org/officeDocument/2006/relationships/tags" Target="../tags/tag180.xml"/><Relationship Id="rId10" Type="http://schemas.openxmlformats.org/officeDocument/2006/relationships/slideMaster" Target="../slideMasters/slideMaster2.xml"/><Relationship Id="rId4" Type="http://schemas.openxmlformats.org/officeDocument/2006/relationships/tags" Target="../tags/tag179.xml"/><Relationship Id="rId9" Type="http://schemas.openxmlformats.org/officeDocument/2006/relationships/tags" Target="../tags/tag184.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image" Target="../media/image1.emf"/><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oleObject" Target="../embeddings/oleObject17.bin"/><Relationship Id="rId5" Type="http://schemas.openxmlformats.org/officeDocument/2006/relationships/tags" Target="../tags/tag189.xml"/><Relationship Id="rId10" Type="http://schemas.openxmlformats.org/officeDocument/2006/relationships/slideMaster" Target="../slideMasters/slideMaster2.xml"/><Relationship Id="rId4" Type="http://schemas.openxmlformats.org/officeDocument/2006/relationships/tags" Target="../tags/tag188.xml"/><Relationship Id="rId9" Type="http://schemas.openxmlformats.org/officeDocument/2006/relationships/tags" Target="../tags/tag19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4.emf"/><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oleObject" Target="../embeddings/oleObject18.bin"/><Relationship Id="rId5" Type="http://schemas.openxmlformats.org/officeDocument/2006/relationships/tags" Target="../tags/tag198.xml"/><Relationship Id="rId10" Type="http://schemas.openxmlformats.org/officeDocument/2006/relationships/slideMaster" Target="../slideMasters/slideMaster2.xml"/><Relationship Id="rId4" Type="http://schemas.openxmlformats.org/officeDocument/2006/relationships/tags" Target="../tags/tag197.xml"/><Relationship Id="rId9" Type="http://schemas.openxmlformats.org/officeDocument/2006/relationships/tags" Target="../tags/tag20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19.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4.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0.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14.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1.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2.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1.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3.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Master" Target="../slideMasters/slideMaster2.xml"/><Relationship Id="rId5" Type="http://schemas.openxmlformats.org/officeDocument/2006/relationships/tags" Target="../tags/tag252.xml"/><Relationship Id="rId4" Type="http://schemas.openxmlformats.org/officeDocument/2006/relationships/tags" Target="../tags/tag25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slideMaster" Target="../slideMasters/slideMaster2.xml"/><Relationship Id="rId4" Type="http://schemas.openxmlformats.org/officeDocument/2006/relationships/tags" Target="../tags/tag256.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tags" Target="../tags/tag259.xml"/><Relationship Id="rId7" Type="http://schemas.openxmlformats.org/officeDocument/2006/relationships/image" Target="../media/image10.png"/><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image" Target="../media/image4.jpg"/><Relationship Id="rId5" Type="http://schemas.openxmlformats.org/officeDocument/2006/relationships/slideMaster" Target="../slideMasters/slideMaster2.xml"/><Relationship Id="rId10" Type="http://schemas.openxmlformats.org/officeDocument/2006/relationships/image" Target="../media/image7.emf"/><Relationship Id="rId4" Type="http://schemas.openxmlformats.org/officeDocument/2006/relationships/tags" Target="../tags/tag260.xml"/><Relationship Id="rId9" Type="http://schemas.openxmlformats.org/officeDocument/2006/relationships/oleObject" Target="../embeddings/oleObject24.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FB5CAFB0-12DB-3ECB-96AD-62B18CAF3B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4" imgH="344" progId="TCLayout.ActiveDocument.1">
                  <p:embed/>
                </p:oleObj>
              </mc:Choice>
              <mc:Fallback>
                <p:oleObj name="think-cell Slide" r:id="rId14"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dirty="0"/>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sp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endParaRPr lang="en-US" dirty="0"/>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2025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endParaRPr lang="en-US" sz="750" dirty="0">
              <a:solidFill>
                <a:schemeClr val="tx2"/>
              </a:solidFill>
              <a:latin typeface="+mn-lt"/>
            </a:endParaRP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endParaRPr lang="en-US" dirty="0"/>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endParaRPr lang="en-US" dirty="0"/>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46221"/>
          </a:xfrm>
        </p:spPr>
        <p:txBody>
          <a:bodyPr anchor="t" anchorCtr="0">
            <a:spAutoFit/>
          </a:bodyPr>
          <a:lstStyle/>
          <a:p>
            <a:r>
              <a:rPr lang="en-US" sz="1600"/>
              <a:t>Click to edit Master subtitle style</a:t>
            </a:r>
            <a:endParaRPr lang="en-US" sz="1600" dirty="0"/>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0323" y="78768"/>
            <a:ext cx="346694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dirty="0"/>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endParaRPr lang="en-US" dirty="0"/>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endParaRPr lang="en-US" dirty="0"/>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5" name="Partnership">
            <a:extLst>
              <a:ext uri="{FF2B5EF4-FFF2-40B4-BE49-F238E27FC236}">
                <a16:creationId xmlns:a16="http://schemas.microsoft.com/office/drawing/2014/main" id="{90886F1E-7A28-AA11-3C3E-8B020F3D98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6" name="Partnership">
            <a:extLst>
              <a:ext uri="{FF2B5EF4-FFF2-40B4-BE49-F238E27FC236}">
                <a16:creationId xmlns:a16="http://schemas.microsoft.com/office/drawing/2014/main" id="{A820C1EA-1C46-FBE2-06AE-01690E3DC46B}"/>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4" imgH="344" progId="TCLayout.ActiveDocument.1">
                  <p:embed/>
                </p:oleObj>
              </mc:Choice>
              <mc:Fallback>
                <p:oleObj name="think-cell Slide" r:id="rId14"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dirty="0"/>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dirty="0"/>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2025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endParaRPr lang="en-US" sz="750" dirty="0">
              <a:solidFill>
                <a:schemeClr val="tx1"/>
              </a:solidFill>
              <a:latin typeface="+mn-lt"/>
            </a:endParaRP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endParaRPr lang="en-US" dirty="0"/>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46221"/>
          </a:xfrm>
        </p:spPr>
        <p:txBody>
          <a:bodyPr anchor="t" anchorCtr="0">
            <a:spAutoFit/>
          </a:bodyPr>
          <a:lstStyle/>
          <a:p>
            <a:r>
              <a:rPr lang="en-US" sz="1600" dirty="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dirty="0"/>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dirty="0"/>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dirty="0"/>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dirty="0"/>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dirty="0"/>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dirty="0"/>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endParaRPr lang="en-US" dirty="0"/>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0322" y="78768"/>
            <a:ext cx="3466942"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dirty="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endParaRPr lang="en-US" dirty="0"/>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1"/>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dirty="0"/>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spAutoFit/>
          </a:bodyPr>
          <a:lstStyle>
            <a:lvl1pPr>
              <a:defRPr>
                <a:solidFill>
                  <a:schemeClr val="tx1"/>
                </a:solidFill>
              </a:defRPr>
            </a:lvl1pPr>
          </a:lstStyle>
          <a:p>
            <a:r>
              <a:rPr lang="en-US" sz="1600" dirty="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dirty="0"/>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246221"/>
          </a:xfrm>
        </p:spPr>
        <p:txBody>
          <a:bodyPr anchor="t" anchorCtr="0">
            <a:spAutoFit/>
          </a:bodyPr>
          <a:lstStyle>
            <a:lvl1pPr>
              <a:defRPr>
                <a:solidFill>
                  <a:schemeClr val="tx1"/>
                </a:solidFill>
              </a:defRPr>
            </a:lvl1pPr>
          </a:lstStyle>
          <a:p>
            <a:r>
              <a:rPr lang="en-US" sz="1600" dirty="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dirty="0"/>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62BD8777-62CB-D677-D858-25EAEF1734E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13897050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tags" Target="../tags/tag12.xml"/><Relationship Id="rId39" Type="http://schemas.openxmlformats.org/officeDocument/2006/relationships/image" Target="../media/image2.png"/><Relationship Id="rId21" Type="http://schemas.openxmlformats.org/officeDocument/2006/relationships/tags" Target="../tags/tag7.xml"/><Relationship Id="rId34" Type="http://schemas.openxmlformats.org/officeDocument/2006/relationships/tags" Target="../tags/tag2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tags" Target="../tags/tag11.xml"/><Relationship Id="rId33" Type="http://schemas.openxmlformats.org/officeDocument/2006/relationships/tags" Target="../tags/tag19.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29" Type="http://schemas.openxmlformats.org/officeDocument/2006/relationships/tags" Target="../tags/tag1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0.xml"/><Relationship Id="rId32" Type="http://schemas.openxmlformats.org/officeDocument/2006/relationships/tags" Target="../tags/tag18.xml"/><Relationship Id="rId37" Type="http://schemas.openxmlformats.org/officeDocument/2006/relationships/oleObject" Target="../embeddings/oleObject1.bin"/><Relationship Id="rId40"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theme" Target="../theme/theme1.xml"/><Relationship Id="rId23" Type="http://schemas.openxmlformats.org/officeDocument/2006/relationships/tags" Target="../tags/tag9.xml"/><Relationship Id="rId28" Type="http://schemas.openxmlformats.org/officeDocument/2006/relationships/tags" Target="../tags/tag14.xml"/><Relationship Id="rId36" Type="http://schemas.openxmlformats.org/officeDocument/2006/relationships/tags" Target="../tags/tag22.xml"/><Relationship Id="rId10" Type="http://schemas.openxmlformats.org/officeDocument/2006/relationships/slideLayout" Target="../slideLayouts/slideLayout10.xml"/><Relationship Id="rId19" Type="http://schemas.openxmlformats.org/officeDocument/2006/relationships/tags" Target="../tags/tag5.xml"/><Relationship Id="rId31" Type="http://schemas.openxmlformats.org/officeDocument/2006/relationships/tags" Target="../tags/tag1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8.xml"/><Relationship Id="rId27" Type="http://schemas.openxmlformats.org/officeDocument/2006/relationships/tags" Target="../tags/tag13.xml"/><Relationship Id="rId30" Type="http://schemas.openxmlformats.org/officeDocument/2006/relationships/tags" Target="../tags/tag16.xml"/><Relationship Id="rId35" Type="http://schemas.openxmlformats.org/officeDocument/2006/relationships/tags" Target="../tags/tag2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theme" Target="../theme/theme2.xml"/><Relationship Id="rId26" Type="http://schemas.openxmlformats.org/officeDocument/2006/relationships/tags" Target="../tags/tag125.xml"/><Relationship Id="rId39" Type="http://schemas.openxmlformats.org/officeDocument/2006/relationships/tags" Target="../tags/tag138.xml"/><Relationship Id="rId21" Type="http://schemas.openxmlformats.org/officeDocument/2006/relationships/tags" Target="../tags/tag120.xml"/><Relationship Id="rId34" Type="http://schemas.openxmlformats.org/officeDocument/2006/relationships/tags" Target="../tags/tag133.xml"/><Relationship Id="rId42" Type="http://schemas.openxmlformats.org/officeDocument/2006/relationships/image" Target="../media/image12.png"/><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ags" Target="../tags/tag119.xml"/><Relationship Id="rId29" Type="http://schemas.openxmlformats.org/officeDocument/2006/relationships/tags" Target="../tags/tag128.xml"/><Relationship Id="rId41" Type="http://schemas.openxmlformats.org/officeDocument/2006/relationships/image" Target="../media/image7.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tags" Target="../tags/tag136.xml"/><Relationship Id="rId40" Type="http://schemas.openxmlformats.org/officeDocument/2006/relationships/oleObject" Target="../embeddings/oleObject11.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tags" Target="../tags/tag135.xml"/><Relationship Id="rId10" Type="http://schemas.openxmlformats.org/officeDocument/2006/relationships/slideLayout" Target="../slideLayouts/slideLayout24.xml"/><Relationship Id="rId19" Type="http://schemas.openxmlformats.org/officeDocument/2006/relationships/tags" Target="../tags/tag118.xml"/><Relationship Id="rId31" Type="http://schemas.openxmlformats.org/officeDocument/2006/relationships/tags" Target="../tags/tag130.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43" Type="http://schemas.openxmlformats.org/officeDocument/2006/relationships/image" Target="../media/image13.svg"/><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24.xml"/><Relationship Id="rId33" Type="http://schemas.openxmlformats.org/officeDocument/2006/relationships/tags" Target="../tags/tag132.xml"/><Relationship Id="rId38" Type="http://schemas.openxmlformats.org/officeDocument/2006/relationships/tags" Target="../tags/tag1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18"/>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9"/>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0"/>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21"/>
            </p:custDataLst>
          </p:nvPr>
        </p:nvPicPr>
        <p:blipFill>
          <a:blip r:embed="rId39">
            <a:extLst>
              <a:ext uri="{96DAC541-7B7A-43D3-8B79-37D633B846F1}">
                <asvg:svgBlip xmlns:asvg="http://schemas.microsoft.com/office/drawing/2016/SVG/main" r:embed="rId40"/>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2"/>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3"/>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4"/>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5"/>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2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6"/>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2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2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dirty="0"/>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5" name="Grid" hidden="1">
            <a:extLst>
              <a:ext uri="{FF2B5EF4-FFF2-40B4-BE49-F238E27FC236}">
                <a16:creationId xmlns:a16="http://schemas.microsoft.com/office/drawing/2014/main" id="{4ADF17BC-6AB0-D905-BDC8-DB658360EB6C}"/>
              </a:ext>
            </a:extLst>
          </p:cNvPr>
          <p:cNvPicPr>
            <a:picLocks noChangeAspect="1"/>
          </p:cNvPicPr>
          <p:nvPr userDrawn="1">
            <p:custDataLst>
              <p:tags r:id="rId23"/>
            </p:custDataLst>
          </p:nvPr>
        </p:nvPicPr>
        <p:blipFill>
          <a:blip r:embed="rId42">
            <a:extLst>
              <a:ext uri="{96DAC541-7B7A-43D3-8B79-37D633B846F1}">
                <asvg:svgBlip xmlns:asvg="http://schemas.microsoft.com/office/drawing/2016/SVG/main" r:embed="rId43"/>
              </a:ext>
            </a:extLst>
          </a:blip>
          <a:stretch>
            <a:fillRect/>
          </a:stretch>
        </p:blipFill>
        <p:spPr>
          <a:xfrm>
            <a:off x="3699" y="0"/>
            <a:ext cx="12184602" cy="6858000"/>
          </a:xfrm>
          <a:prstGeom prst="rect">
            <a:avLst/>
          </a:prstGeom>
        </p:spPr>
      </p:pic>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263.xml"/><Relationship Id="rId7" Type="http://schemas.openxmlformats.org/officeDocument/2006/relationships/notesSlide" Target="../notesSlides/notesSlide1.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slideLayout" Target="../slideLayouts/slideLayout1.xml"/><Relationship Id="rId5" Type="http://schemas.openxmlformats.org/officeDocument/2006/relationships/tags" Target="../tags/tag265.xml"/><Relationship Id="rId4" Type="http://schemas.openxmlformats.org/officeDocument/2006/relationships/tags" Target="../tags/tag264.xml"/><Relationship Id="rId9" Type="http://schemas.openxmlformats.org/officeDocument/2006/relationships/image" Target="../media/image15.emf"/></Relationships>
</file>

<file path=ppt/slides/_rels/slide2.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268.xml"/><Relationship Id="rId7" Type="http://schemas.openxmlformats.org/officeDocument/2006/relationships/oleObject" Target="../embeddings/oleObject26.bin"/><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69.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slide" Target="slide21.xml"/><Relationship Id="rId3" Type="http://schemas.openxmlformats.org/officeDocument/2006/relationships/tags" Target="../tags/tag272.xml"/><Relationship Id="rId7" Type="http://schemas.openxmlformats.org/officeDocument/2006/relationships/tags" Target="../tags/tag276.xml"/><Relationship Id="rId12" Type="http://schemas.openxmlformats.org/officeDocument/2006/relationships/slide" Target="slide18.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slide" Target="slide11.xml"/><Relationship Id="rId5" Type="http://schemas.openxmlformats.org/officeDocument/2006/relationships/tags" Target="../tags/tag274.xml"/><Relationship Id="rId10" Type="http://schemas.openxmlformats.org/officeDocument/2006/relationships/image" Target="../media/image16.emf"/><Relationship Id="rId4" Type="http://schemas.openxmlformats.org/officeDocument/2006/relationships/tags" Target="../tags/tag273.xml"/><Relationship Id="rId9" Type="http://schemas.openxmlformats.org/officeDocument/2006/relationships/oleObject" Target="../embeddings/oleObject27.bin"/></Relationships>
</file>

<file path=ppt/slides/_rels/slide4.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image" Target="../media/image17.emf"/><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oleObject" Target="../embeddings/oleObject28.bin"/><Relationship Id="rId2" Type="http://schemas.openxmlformats.org/officeDocument/2006/relationships/tags" Target="../tags/tag278.xml"/><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notesSlide" Target="../notesSlides/notesSlide3.xml"/><Relationship Id="rId5" Type="http://schemas.openxmlformats.org/officeDocument/2006/relationships/tags" Target="../tags/tag281.xml"/><Relationship Id="rId10" Type="http://schemas.openxmlformats.org/officeDocument/2006/relationships/slideLayout" Target="../slideLayouts/slideLayout2.xml"/><Relationship Id="rId4" Type="http://schemas.openxmlformats.org/officeDocument/2006/relationships/tags" Target="../tags/tag280.xml"/><Relationship Id="rId9" Type="http://schemas.openxmlformats.org/officeDocument/2006/relationships/tags" Target="../tags/tag285.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288.xml"/><Relationship Id="rId7" Type="http://schemas.openxmlformats.org/officeDocument/2006/relationships/slideLayout" Target="../slideLayouts/slideLayout2.xml"/><Relationship Id="rId2" Type="http://schemas.openxmlformats.org/officeDocument/2006/relationships/tags" Target="../tags/tag287.xml"/><Relationship Id="rId1" Type="http://schemas.openxmlformats.org/officeDocument/2006/relationships/tags" Target="../tags/tag286.xml"/><Relationship Id="rId6" Type="http://schemas.openxmlformats.org/officeDocument/2006/relationships/tags" Target="../tags/tag291.xml"/><Relationship Id="rId5" Type="http://schemas.openxmlformats.org/officeDocument/2006/relationships/tags" Target="../tags/tag290.xml"/><Relationship Id="rId10" Type="http://schemas.openxmlformats.org/officeDocument/2006/relationships/image" Target="../media/image16.emf"/><Relationship Id="rId4" Type="http://schemas.openxmlformats.org/officeDocument/2006/relationships/tags" Target="../tags/tag289.xml"/><Relationship Id="rId9" Type="http://schemas.openxmlformats.org/officeDocument/2006/relationships/oleObject" Target="../embeddings/oleObject29.bin"/></Relationships>
</file>

<file path=ppt/slides/_rels/slide6.xml.rels><?xml version="1.0" encoding="UTF-8" standalone="yes"?>
<Relationships xmlns="http://schemas.openxmlformats.org/package/2006/relationships"><Relationship Id="rId8" Type="http://schemas.openxmlformats.org/officeDocument/2006/relationships/tags" Target="../tags/tag299.xml"/><Relationship Id="rId3" Type="http://schemas.openxmlformats.org/officeDocument/2006/relationships/tags" Target="../tags/tag294.xml"/><Relationship Id="rId7" Type="http://schemas.openxmlformats.org/officeDocument/2006/relationships/tags" Target="../tags/tag298.xml"/><Relationship Id="rId12" Type="http://schemas.openxmlformats.org/officeDocument/2006/relationships/image" Target="../media/image16.emf"/><Relationship Id="rId2" Type="http://schemas.openxmlformats.org/officeDocument/2006/relationships/tags" Target="../tags/tag293.xml"/><Relationship Id="rId1" Type="http://schemas.openxmlformats.org/officeDocument/2006/relationships/tags" Target="../tags/tag292.xml"/><Relationship Id="rId6" Type="http://schemas.openxmlformats.org/officeDocument/2006/relationships/tags" Target="../tags/tag297.xml"/><Relationship Id="rId11" Type="http://schemas.openxmlformats.org/officeDocument/2006/relationships/oleObject" Target="../embeddings/oleObject30.bin"/><Relationship Id="rId5" Type="http://schemas.openxmlformats.org/officeDocument/2006/relationships/tags" Target="../tags/tag296.xml"/><Relationship Id="rId10" Type="http://schemas.openxmlformats.org/officeDocument/2006/relationships/notesSlide" Target="../notesSlides/notesSlide5.xml"/><Relationship Id="rId4" Type="http://schemas.openxmlformats.org/officeDocument/2006/relationships/tags" Target="../tags/tag295.xml"/><Relationship Id="rId9"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02.xml"/><Relationship Id="rId7" Type="http://schemas.openxmlformats.org/officeDocument/2006/relationships/tags" Target="../tags/tag306.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11" Type="http://schemas.openxmlformats.org/officeDocument/2006/relationships/image" Target="../media/image16.emf"/><Relationship Id="rId5" Type="http://schemas.openxmlformats.org/officeDocument/2006/relationships/tags" Target="../tags/tag304.xml"/><Relationship Id="rId10" Type="http://schemas.openxmlformats.org/officeDocument/2006/relationships/oleObject" Target="../embeddings/oleObject31.bin"/><Relationship Id="rId4" Type="http://schemas.openxmlformats.org/officeDocument/2006/relationships/tags" Target="../tags/tag303.xml"/><Relationship Id="rId9"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8" Type="http://schemas.openxmlformats.org/officeDocument/2006/relationships/tags" Target="../tags/tag314.xml"/><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image" Target="../media/image16.emf"/><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oleObject" Target="../embeddings/oleObject32.bin"/><Relationship Id="rId5" Type="http://schemas.openxmlformats.org/officeDocument/2006/relationships/tags" Target="../tags/tag311.xml"/><Relationship Id="rId10" Type="http://schemas.openxmlformats.org/officeDocument/2006/relationships/notesSlide" Target="../notesSlides/notesSlide7.xml"/><Relationship Id="rId4" Type="http://schemas.openxmlformats.org/officeDocument/2006/relationships/tags" Target="../tags/tag310.xml"/><Relationship Id="rId9"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17.xml"/><Relationship Id="rId7" Type="http://schemas.openxmlformats.org/officeDocument/2006/relationships/tags" Target="../tags/tag321.xml"/><Relationship Id="rId2" Type="http://schemas.openxmlformats.org/officeDocument/2006/relationships/tags" Target="../tags/tag316.xml"/><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image" Target="../media/image16.emf"/><Relationship Id="rId5" Type="http://schemas.openxmlformats.org/officeDocument/2006/relationships/tags" Target="../tags/tag319.xml"/><Relationship Id="rId10" Type="http://schemas.openxmlformats.org/officeDocument/2006/relationships/oleObject" Target="../embeddings/oleObject33.bin"/><Relationship Id="rId4" Type="http://schemas.openxmlformats.org/officeDocument/2006/relationships/tags" Target="../tags/tag318.xml"/><Relationship Id="rId9"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24.xml"/><Relationship Id="rId7" Type="http://schemas.openxmlformats.org/officeDocument/2006/relationships/tags" Target="../tags/tag328.xml"/><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image" Target="../media/image16.emf"/><Relationship Id="rId5" Type="http://schemas.openxmlformats.org/officeDocument/2006/relationships/tags" Target="../tags/tag326.xml"/><Relationship Id="rId10" Type="http://schemas.openxmlformats.org/officeDocument/2006/relationships/oleObject" Target="../embeddings/oleObject34.bin"/><Relationship Id="rId4" Type="http://schemas.openxmlformats.org/officeDocument/2006/relationships/tags" Target="../tags/tag325.xml"/><Relationship Id="rId9"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tags" Target="../tags/tag331.xml"/><Relationship Id="rId7" Type="http://schemas.openxmlformats.org/officeDocument/2006/relationships/slideLayout" Target="../slideLayouts/slideLayout7.xml"/><Relationship Id="rId12" Type="http://schemas.openxmlformats.org/officeDocument/2006/relationships/slide" Target="slide21.xml"/><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tags" Target="../tags/tag334.xml"/><Relationship Id="rId11" Type="http://schemas.openxmlformats.org/officeDocument/2006/relationships/slide" Target="slide18.xml"/><Relationship Id="rId5" Type="http://schemas.openxmlformats.org/officeDocument/2006/relationships/tags" Target="../tags/tag333.xml"/><Relationship Id="rId10" Type="http://schemas.openxmlformats.org/officeDocument/2006/relationships/slide" Target="slide3.xml"/><Relationship Id="rId4" Type="http://schemas.openxmlformats.org/officeDocument/2006/relationships/tags" Target="../tags/tag332.xml"/><Relationship Id="rId9" Type="http://schemas.openxmlformats.org/officeDocument/2006/relationships/image" Target="../media/image16.emf"/></Relationships>
</file>

<file path=ppt/slides/_rels/slide12.xml.rels><?xml version="1.0" encoding="UTF-8" standalone="yes"?>
<Relationships xmlns="http://schemas.openxmlformats.org/package/2006/relationships"><Relationship Id="rId13" Type="http://schemas.openxmlformats.org/officeDocument/2006/relationships/tags" Target="../tags/tag347.xml"/><Relationship Id="rId18" Type="http://schemas.openxmlformats.org/officeDocument/2006/relationships/tags" Target="../tags/tag352.xml"/><Relationship Id="rId26" Type="http://schemas.openxmlformats.org/officeDocument/2006/relationships/tags" Target="../tags/tag360.xml"/><Relationship Id="rId39" Type="http://schemas.openxmlformats.org/officeDocument/2006/relationships/image" Target="../media/image20.png"/><Relationship Id="rId21" Type="http://schemas.openxmlformats.org/officeDocument/2006/relationships/tags" Target="../tags/tag355.xml"/><Relationship Id="rId34" Type="http://schemas.openxmlformats.org/officeDocument/2006/relationships/notesSlide" Target="../notesSlides/notesSlide10.xml"/><Relationship Id="rId7" Type="http://schemas.openxmlformats.org/officeDocument/2006/relationships/tags" Target="../tags/tag341.xml"/><Relationship Id="rId12" Type="http://schemas.openxmlformats.org/officeDocument/2006/relationships/tags" Target="../tags/tag346.xml"/><Relationship Id="rId17" Type="http://schemas.openxmlformats.org/officeDocument/2006/relationships/tags" Target="../tags/tag351.xml"/><Relationship Id="rId25" Type="http://schemas.openxmlformats.org/officeDocument/2006/relationships/tags" Target="../tags/tag359.xml"/><Relationship Id="rId33" Type="http://schemas.openxmlformats.org/officeDocument/2006/relationships/slideLayout" Target="../slideLayouts/slideLayout2.xml"/><Relationship Id="rId38" Type="http://schemas.openxmlformats.org/officeDocument/2006/relationships/image" Target="../media/image19.svg"/><Relationship Id="rId2" Type="http://schemas.openxmlformats.org/officeDocument/2006/relationships/tags" Target="../tags/tag336.xml"/><Relationship Id="rId16" Type="http://schemas.openxmlformats.org/officeDocument/2006/relationships/tags" Target="../tags/tag350.xml"/><Relationship Id="rId20" Type="http://schemas.openxmlformats.org/officeDocument/2006/relationships/tags" Target="../tags/tag354.xml"/><Relationship Id="rId29" Type="http://schemas.openxmlformats.org/officeDocument/2006/relationships/tags" Target="../tags/tag363.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tags" Target="../tags/tag345.xml"/><Relationship Id="rId24" Type="http://schemas.openxmlformats.org/officeDocument/2006/relationships/tags" Target="../tags/tag358.xml"/><Relationship Id="rId32" Type="http://schemas.openxmlformats.org/officeDocument/2006/relationships/tags" Target="../tags/tag366.xml"/><Relationship Id="rId37" Type="http://schemas.openxmlformats.org/officeDocument/2006/relationships/image" Target="../media/image18.png"/><Relationship Id="rId40" Type="http://schemas.openxmlformats.org/officeDocument/2006/relationships/image" Target="../media/image21.svg"/><Relationship Id="rId5" Type="http://schemas.openxmlformats.org/officeDocument/2006/relationships/tags" Target="../tags/tag339.xml"/><Relationship Id="rId15" Type="http://schemas.openxmlformats.org/officeDocument/2006/relationships/tags" Target="../tags/tag349.xml"/><Relationship Id="rId23" Type="http://schemas.openxmlformats.org/officeDocument/2006/relationships/tags" Target="../tags/tag357.xml"/><Relationship Id="rId28" Type="http://schemas.openxmlformats.org/officeDocument/2006/relationships/tags" Target="../tags/tag362.xml"/><Relationship Id="rId36" Type="http://schemas.openxmlformats.org/officeDocument/2006/relationships/image" Target="../media/image16.emf"/><Relationship Id="rId10" Type="http://schemas.openxmlformats.org/officeDocument/2006/relationships/tags" Target="../tags/tag344.xml"/><Relationship Id="rId19" Type="http://schemas.openxmlformats.org/officeDocument/2006/relationships/tags" Target="../tags/tag353.xml"/><Relationship Id="rId31" Type="http://schemas.openxmlformats.org/officeDocument/2006/relationships/tags" Target="../tags/tag365.xml"/><Relationship Id="rId4" Type="http://schemas.openxmlformats.org/officeDocument/2006/relationships/tags" Target="../tags/tag338.xml"/><Relationship Id="rId9" Type="http://schemas.openxmlformats.org/officeDocument/2006/relationships/tags" Target="../tags/tag343.xml"/><Relationship Id="rId14" Type="http://schemas.openxmlformats.org/officeDocument/2006/relationships/tags" Target="../tags/tag348.xml"/><Relationship Id="rId22" Type="http://schemas.openxmlformats.org/officeDocument/2006/relationships/tags" Target="../tags/tag356.xml"/><Relationship Id="rId27" Type="http://schemas.openxmlformats.org/officeDocument/2006/relationships/tags" Target="../tags/tag361.xml"/><Relationship Id="rId30" Type="http://schemas.openxmlformats.org/officeDocument/2006/relationships/tags" Target="../tags/tag364.xml"/><Relationship Id="rId35" Type="http://schemas.openxmlformats.org/officeDocument/2006/relationships/oleObject" Target="../embeddings/oleObject36.bin"/><Relationship Id="rId8" Type="http://schemas.openxmlformats.org/officeDocument/2006/relationships/tags" Target="../tags/tag342.xml"/><Relationship Id="rId3" Type="http://schemas.openxmlformats.org/officeDocument/2006/relationships/tags" Target="../tags/tag337.xml"/></Relationships>
</file>

<file path=ppt/slides/_rels/slide13.xml.rels><?xml version="1.0" encoding="UTF-8" standalone="yes"?>
<Relationships xmlns="http://schemas.openxmlformats.org/package/2006/relationships"><Relationship Id="rId13" Type="http://schemas.openxmlformats.org/officeDocument/2006/relationships/tags" Target="../tags/tag379.xml"/><Relationship Id="rId18" Type="http://schemas.openxmlformats.org/officeDocument/2006/relationships/tags" Target="../tags/tag384.xml"/><Relationship Id="rId26" Type="http://schemas.openxmlformats.org/officeDocument/2006/relationships/tags" Target="../tags/tag392.xml"/><Relationship Id="rId39" Type="http://schemas.openxmlformats.org/officeDocument/2006/relationships/tags" Target="../tags/tag405.xml"/><Relationship Id="rId21" Type="http://schemas.openxmlformats.org/officeDocument/2006/relationships/tags" Target="../tags/tag387.xml"/><Relationship Id="rId34" Type="http://schemas.openxmlformats.org/officeDocument/2006/relationships/tags" Target="../tags/tag400.xml"/><Relationship Id="rId42" Type="http://schemas.openxmlformats.org/officeDocument/2006/relationships/tags" Target="../tags/tag408.xml"/><Relationship Id="rId47" Type="http://schemas.openxmlformats.org/officeDocument/2006/relationships/tags" Target="../tags/tag413.xml"/><Relationship Id="rId50" Type="http://schemas.openxmlformats.org/officeDocument/2006/relationships/tags" Target="../tags/tag416.xml"/><Relationship Id="rId55" Type="http://schemas.openxmlformats.org/officeDocument/2006/relationships/oleObject" Target="../embeddings/oleObject37.bin"/><Relationship Id="rId7" Type="http://schemas.openxmlformats.org/officeDocument/2006/relationships/tags" Target="../tags/tag373.xml"/><Relationship Id="rId2" Type="http://schemas.openxmlformats.org/officeDocument/2006/relationships/tags" Target="../tags/tag368.xml"/><Relationship Id="rId16" Type="http://schemas.openxmlformats.org/officeDocument/2006/relationships/tags" Target="../tags/tag382.xml"/><Relationship Id="rId29" Type="http://schemas.openxmlformats.org/officeDocument/2006/relationships/tags" Target="../tags/tag395.xml"/><Relationship Id="rId11" Type="http://schemas.openxmlformats.org/officeDocument/2006/relationships/tags" Target="../tags/tag377.xml"/><Relationship Id="rId24" Type="http://schemas.openxmlformats.org/officeDocument/2006/relationships/tags" Target="../tags/tag390.xml"/><Relationship Id="rId32" Type="http://schemas.openxmlformats.org/officeDocument/2006/relationships/tags" Target="../tags/tag398.xml"/><Relationship Id="rId37" Type="http://schemas.openxmlformats.org/officeDocument/2006/relationships/tags" Target="../tags/tag403.xml"/><Relationship Id="rId40" Type="http://schemas.openxmlformats.org/officeDocument/2006/relationships/tags" Target="../tags/tag406.xml"/><Relationship Id="rId45" Type="http://schemas.openxmlformats.org/officeDocument/2006/relationships/tags" Target="../tags/tag411.xml"/><Relationship Id="rId53" Type="http://schemas.openxmlformats.org/officeDocument/2006/relationships/slideLayout" Target="../slideLayouts/slideLayout2.xml"/><Relationship Id="rId58" Type="http://schemas.openxmlformats.org/officeDocument/2006/relationships/image" Target="../media/image19.svg"/><Relationship Id="rId5" Type="http://schemas.openxmlformats.org/officeDocument/2006/relationships/tags" Target="../tags/tag371.xml"/><Relationship Id="rId61" Type="http://schemas.openxmlformats.org/officeDocument/2006/relationships/image" Target="../media/image22.svg"/><Relationship Id="rId19" Type="http://schemas.openxmlformats.org/officeDocument/2006/relationships/tags" Target="../tags/tag385.xml"/><Relationship Id="rId14" Type="http://schemas.openxmlformats.org/officeDocument/2006/relationships/tags" Target="../tags/tag380.xml"/><Relationship Id="rId22" Type="http://schemas.openxmlformats.org/officeDocument/2006/relationships/tags" Target="../tags/tag388.xml"/><Relationship Id="rId27" Type="http://schemas.openxmlformats.org/officeDocument/2006/relationships/tags" Target="../tags/tag393.xml"/><Relationship Id="rId30" Type="http://schemas.openxmlformats.org/officeDocument/2006/relationships/tags" Target="../tags/tag396.xml"/><Relationship Id="rId35" Type="http://schemas.openxmlformats.org/officeDocument/2006/relationships/tags" Target="../tags/tag401.xml"/><Relationship Id="rId43" Type="http://schemas.openxmlformats.org/officeDocument/2006/relationships/tags" Target="../tags/tag409.xml"/><Relationship Id="rId48" Type="http://schemas.openxmlformats.org/officeDocument/2006/relationships/tags" Target="../tags/tag414.xml"/><Relationship Id="rId56" Type="http://schemas.openxmlformats.org/officeDocument/2006/relationships/image" Target="../media/image16.emf"/><Relationship Id="rId8" Type="http://schemas.openxmlformats.org/officeDocument/2006/relationships/tags" Target="../tags/tag374.xml"/><Relationship Id="rId51" Type="http://schemas.openxmlformats.org/officeDocument/2006/relationships/tags" Target="../tags/tag417.xml"/><Relationship Id="rId3" Type="http://schemas.openxmlformats.org/officeDocument/2006/relationships/tags" Target="../tags/tag369.xml"/><Relationship Id="rId12" Type="http://schemas.openxmlformats.org/officeDocument/2006/relationships/tags" Target="../tags/tag378.xml"/><Relationship Id="rId17" Type="http://schemas.openxmlformats.org/officeDocument/2006/relationships/tags" Target="../tags/tag383.xml"/><Relationship Id="rId25" Type="http://schemas.openxmlformats.org/officeDocument/2006/relationships/tags" Target="../tags/tag391.xml"/><Relationship Id="rId33" Type="http://schemas.openxmlformats.org/officeDocument/2006/relationships/tags" Target="../tags/tag399.xml"/><Relationship Id="rId38" Type="http://schemas.openxmlformats.org/officeDocument/2006/relationships/tags" Target="../tags/tag404.xml"/><Relationship Id="rId46" Type="http://schemas.openxmlformats.org/officeDocument/2006/relationships/tags" Target="../tags/tag412.xml"/><Relationship Id="rId59" Type="http://schemas.openxmlformats.org/officeDocument/2006/relationships/image" Target="../media/image20.png"/><Relationship Id="rId20" Type="http://schemas.openxmlformats.org/officeDocument/2006/relationships/tags" Target="../tags/tag386.xml"/><Relationship Id="rId41" Type="http://schemas.openxmlformats.org/officeDocument/2006/relationships/tags" Target="../tags/tag407.xml"/><Relationship Id="rId54" Type="http://schemas.openxmlformats.org/officeDocument/2006/relationships/notesSlide" Target="../notesSlides/notesSlide11.xml"/><Relationship Id="rId62" Type="http://schemas.openxmlformats.org/officeDocument/2006/relationships/image" Target="../media/image23.svg"/><Relationship Id="rId1" Type="http://schemas.openxmlformats.org/officeDocument/2006/relationships/tags" Target="../tags/tag367.xml"/><Relationship Id="rId6" Type="http://schemas.openxmlformats.org/officeDocument/2006/relationships/tags" Target="../tags/tag372.xml"/><Relationship Id="rId15" Type="http://schemas.openxmlformats.org/officeDocument/2006/relationships/tags" Target="../tags/tag381.xml"/><Relationship Id="rId23" Type="http://schemas.openxmlformats.org/officeDocument/2006/relationships/tags" Target="../tags/tag389.xml"/><Relationship Id="rId28" Type="http://schemas.openxmlformats.org/officeDocument/2006/relationships/tags" Target="../tags/tag394.xml"/><Relationship Id="rId36" Type="http://schemas.openxmlformats.org/officeDocument/2006/relationships/tags" Target="../tags/tag402.xml"/><Relationship Id="rId49" Type="http://schemas.openxmlformats.org/officeDocument/2006/relationships/tags" Target="../tags/tag415.xml"/><Relationship Id="rId57" Type="http://schemas.openxmlformats.org/officeDocument/2006/relationships/image" Target="../media/image18.png"/><Relationship Id="rId10" Type="http://schemas.openxmlformats.org/officeDocument/2006/relationships/tags" Target="../tags/tag376.xml"/><Relationship Id="rId31" Type="http://schemas.openxmlformats.org/officeDocument/2006/relationships/tags" Target="../tags/tag397.xml"/><Relationship Id="rId44" Type="http://schemas.openxmlformats.org/officeDocument/2006/relationships/tags" Target="../tags/tag410.xml"/><Relationship Id="rId52" Type="http://schemas.openxmlformats.org/officeDocument/2006/relationships/tags" Target="../tags/tag418.xml"/><Relationship Id="rId60" Type="http://schemas.openxmlformats.org/officeDocument/2006/relationships/image" Target="../media/image21.svg"/><Relationship Id="rId4" Type="http://schemas.openxmlformats.org/officeDocument/2006/relationships/tags" Target="../tags/tag370.xml"/><Relationship Id="rId9" Type="http://schemas.openxmlformats.org/officeDocument/2006/relationships/tags" Target="../tags/tag375.xml"/></Relationships>
</file>

<file path=ppt/slides/_rels/slide14.xml.rels><?xml version="1.0" encoding="UTF-8" standalone="yes"?>
<Relationships xmlns="http://schemas.openxmlformats.org/package/2006/relationships"><Relationship Id="rId13" Type="http://schemas.openxmlformats.org/officeDocument/2006/relationships/tags" Target="../tags/tag431.xml"/><Relationship Id="rId18" Type="http://schemas.openxmlformats.org/officeDocument/2006/relationships/tags" Target="../tags/tag436.xml"/><Relationship Id="rId26" Type="http://schemas.openxmlformats.org/officeDocument/2006/relationships/tags" Target="../tags/tag444.xml"/><Relationship Id="rId39" Type="http://schemas.openxmlformats.org/officeDocument/2006/relationships/tags" Target="../tags/tag457.xml"/><Relationship Id="rId21" Type="http://schemas.openxmlformats.org/officeDocument/2006/relationships/tags" Target="../tags/tag439.xml"/><Relationship Id="rId34" Type="http://schemas.openxmlformats.org/officeDocument/2006/relationships/tags" Target="../tags/tag452.xml"/><Relationship Id="rId42" Type="http://schemas.openxmlformats.org/officeDocument/2006/relationships/tags" Target="../tags/tag460.xml"/><Relationship Id="rId47" Type="http://schemas.openxmlformats.org/officeDocument/2006/relationships/notesSlide" Target="../notesSlides/notesSlide12.xml"/><Relationship Id="rId50" Type="http://schemas.openxmlformats.org/officeDocument/2006/relationships/image" Target="../media/image18.png"/><Relationship Id="rId7" Type="http://schemas.openxmlformats.org/officeDocument/2006/relationships/tags" Target="../tags/tag425.xml"/><Relationship Id="rId2" Type="http://schemas.openxmlformats.org/officeDocument/2006/relationships/tags" Target="../tags/tag420.xml"/><Relationship Id="rId16" Type="http://schemas.openxmlformats.org/officeDocument/2006/relationships/tags" Target="../tags/tag434.xml"/><Relationship Id="rId29" Type="http://schemas.openxmlformats.org/officeDocument/2006/relationships/tags" Target="../tags/tag447.xml"/><Relationship Id="rId11" Type="http://schemas.openxmlformats.org/officeDocument/2006/relationships/tags" Target="../tags/tag429.xml"/><Relationship Id="rId24" Type="http://schemas.openxmlformats.org/officeDocument/2006/relationships/tags" Target="../tags/tag442.xml"/><Relationship Id="rId32" Type="http://schemas.openxmlformats.org/officeDocument/2006/relationships/tags" Target="../tags/tag450.xml"/><Relationship Id="rId37" Type="http://schemas.openxmlformats.org/officeDocument/2006/relationships/tags" Target="../tags/tag455.xml"/><Relationship Id="rId40" Type="http://schemas.openxmlformats.org/officeDocument/2006/relationships/tags" Target="../tags/tag458.xml"/><Relationship Id="rId45" Type="http://schemas.openxmlformats.org/officeDocument/2006/relationships/tags" Target="../tags/tag463.xml"/><Relationship Id="rId53" Type="http://schemas.openxmlformats.org/officeDocument/2006/relationships/image" Target="../media/image21.svg"/><Relationship Id="rId5" Type="http://schemas.openxmlformats.org/officeDocument/2006/relationships/tags" Target="../tags/tag423.xml"/><Relationship Id="rId10" Type="http://schemas.openxmlformats.org/officeDocument/2006/relationships/tags" Target="../tags/tag428.xml"/><Relationship Id="rId19" Type="http://schemas.openxmlformats.org/officeDocument/2006/relationships/tags" Target="../tags/tag437.xml"/><Relationship Id="rId31" Type="http://schemas.openxmlformats.org/officeDocument/2006/relationships/tags" Target="../tags/tag449.xml"/><Relationship Id="rId44" Type="http://schemas.openxmlformats.org/officeDocument/2006/relationships/tags" Target="../tags/tag462.xml"/><Relationship Id="rId52" Type="http://schemas.openxmlformats.org/officeDocument/2006/relationships/image" Target="../media/image20.png"/><Relationship Id="rId4" Type="http://schemas.openxmlformats.org/officeDocument/2006/relationships/tags" Target="../tags/tag422.xml"/><Relationship Id="rId9" Type="http://schemas.openxmlformats.org/officeDocument/2006/relationships/tags" Target="../tags/tag427.xml"/><Relationship Id="rId14" Type="http://schemas.openxmlformats.org/officeDocument/2006/relationships/tags" Target="../tags/tag432.xml"/><Relationship Id="rId22" Type="http://schemas.openxmlformats.org/officeDocument/2006/relationships/tags" Target="../tags/tag440.xml"/><Relationship Id="rId27" Type="http://schemas.openxmlformats.org/officeDocument/2006/relationships/tags" Target="../tags/tag445.xml"/><Relationship Id="rId30" Type="http://schemas.openxmlformats.org/officeDocument/2006/relationships/tags" Target="../tags/tag448.xml"/><Relationship Id="rId35" Type="http://schemas.openxmlformats.org/officeDocument/2006/relationships/tags" Target="../tags/tag453.xml"/><Relationship Id="rId43" Type="http://schemas.openxmlformats.org/officeDocument/2006/relationships/tags" Target="../tags/tag461.xml"/><Relationship Id="rId48" Type="http://schemas.openxmlformats.org/officeDocument/2006/relationships/oleObject" Target="../embeddings/oleObject38.bin"/><Relationship Id="rId8" Type="http://schemas.openxmlformats.org/officeDocument/2006/relationships/tags" Target="../tags/tag426.xml"/><Relationship Id="rId51" Type="http://schemas.openxmlformats.org/officeDocument/2006/relationships/image" Target="../media/image19.svg"/><Relationship Id="rId3" Type="http://schemas.openxmlformats.org/officeDocument/2006/relationships/tags" Target="../tags/tag421.xml"/><Relationship Id="rId12" Type="http://schemas.openxmlformats.org/officeDocument/2006/relationships/tags" Target="../tags/tag430.xml"/><Relationship Id="rId17" Type="http://schemas.openxmlformats.org/officeDocument/2006/relationships/tags" Target="../tags/tag435.xml"/><Relationship Id="rId25" Type="http://schemas.openxmlformats.org/officeDocument/2006/relationships/tags" Target="../tags/tag443.xml"/><Relationship Id="rId33" Type="http://schemas.openxmlformats.org/officeDocument/2006/relationships/tags" Target="../tags/tag451.xml"/><Relationship Id="rId38" Type="http://schemas.openxmlformats.org/officeDocument/2006/relationships/tags" Target="../tags/tag456.xml"/><Relationship Id="rId46" Type="http://schemas.openxmlformats.org/officeDocument/2006/relationships/slideLayout" Target="../slideLayouts/slideLayout2.xml"/><Relationship Id="rId20" Type="http://schemas.openxmlformats.org/officeDocument/2006/relationships/tags" Target="../tags/tag438.xml"/><Relationship Id="rId41" Type="http://schemas.openxmlformats.org/officeDocument/2006/relationships/tags" Target="../tags/tag459.xml"/><Relationship Id="rId54" Type="http://schemas.openxmlformats.org/officeDocument/2006/relationships/image" Target="../media/image24.svg"/><Relationship Id="rId1" Type="http://schemas.openxmlformats.org/officeDocument/2006/relationships/tags" Target="../tags/tag419.xml"/><Relationship Id="rId6" Type="http://schemas.openxmlformats.org/officeDocument/2006/relationships/tags" Target="../tags/tag424.xml"/><Relationship Id="rId15" Type="http://schemas.openxmlformats.org/officeDocument/2006/relationships/tags" Target="../tags/tag433.xml"/><Relationship Id="rId23" Type="http://schemas.openxmlformats.org/officeDocument/2006/relationships/tags" Target="../tags/tag441.xml"/><Relationship Id="rId28" Type="http://schemas.openxmlformats.org/officeDocument/2006/relationships/tags" Target="../tags/tag446.xml"/><Relationship Id="rId36" Type="http://schemas.openxmlformats.org/officeDocument/2006/relationships/tags" Target="../tags/tag454.xml"/><Relationship Id="rId49" Type="http://schemas.openxmlformats.org/officeDocument/2006/relationships/image" Target="../media/image16.emf"/></Relationships>
</file>

<file path=ppt/slides/_rels/slide15.xml.rels><?xml version="1.0" encoding="UTF-8" standalone="yes"?>
<Relationships xmlns="http://schemas.openxmlformats.org/package/2006/relationships"><Relationship Id="rId13" Type="http://schemas.openxmlformats.org/officeDocument/2006/relationships/tags" Target="../tags/tag476.xml"/><Relationship Id="rId18" Type="http://schemas.openxmlformats.org/officeDocument/2006/relationships/tags" Target="../tags/tag481.xml"/><Relationship Id="rId26" Type="http://schemas.openxmlformats.org/officeDocument/2006/relationships/tags" Target="../tags/tag489.xml"/><Relationship Id="rId39" Type="http://schemas.openxmlformats.org/officeDocument/2006/relationships/tags" Target="../tags/tag502.xml"/><Relationship Id="rId21" Type="http://schemas.openxmlformats.org/officeDocument/2006/relationships/tags" Target="../tags/tag484.xml"/><Relationship Id="rId34" Type="http://schemas.openxmlformats.org/officeDocument/2006/relationships/tags" Target="../tags/tag497.xml"/><Relationship Id="rId42" Type="http://schemas.openxmlformats.org/officeDocument/2006/relationships/tags" Target="../tags/tag505.xml"/><Relationship Id="rId47" Type="http://schemas.openxmlformats.org/officeDocument/2006/relationships/slideLayout" Target="../slideLayouts/slideLayout2.xml"/><Relationship Id="rId50" Type="http://schemas.openxmlformats.org/officeDocument/2006/relationships/image" Target="../media/image25.emf"/><Relationship Id="rId7" Type="http://schemas.openxmlformats.org/officeDocument/2006/relationships/tags" Target="../tags/tag470.xml"/><Relationship Id="rId2" Type="http://schemas.openxmlformats.org/officeDocument/2006/relationships/tags" Target="../tags/tag465.xml"/><Relationship Id="rId16" Type="http://schemas.openxmlformats.org/officeDocument/2006/relationships/tags" Target="../tags/tag479.xml"/><Relationship Id="rId29" Type="http://schemas.openxmlformats.org/officeDocument/2006/relationships/tags" Target="../tags/tag492.xml"/><Relationship Id="rId11" Type="http://schemas.openxmlformats.org/officeDocument/2006/relationships/tags" Target="../tags/tag474.xml"/><Relationship Id="rId24" Type="http://schemas.openxmlformats.org/officeDocument/2006/relationships/tags" Target="../tags/tag487.xml"/><Relationship Id="rId32" Type="http://schemas.openxmlformats.org/officeDocument/2006/relationships/tags" Target="../tags/tag495.xml"/><Relationship Id="rId37" Type="http://schemas.openxmlformats.org/officeDocument/2006/relationships/tags" Target="../tags/tag500.xml"/><Relationship Id="rId40" Type="http://schemas.openxmlformats.org/officeDocument/2006/relationships/tags" Target="../tags/tag503.xml"/><Relationship Id="rId45" Type="http://schemas.openxmlformats.org/officeDocument/2006/relationships/tags" Target="../tags/tag508.xml"/><Relationship Id="rId53" Type="http://schemas.openxmlformats.org/officeDocument/2006/relationships/image" Target="../media/image20.png"/><Relationship Id="rId5" Type="http://schemas.openxmlformats.org/officeDocument/2006/relationships/tags" Target="../tags/tag468.xml"/><Relationship Id="rId10" Type="http://schemas.openxmlformats.org/officeDocument/2006/relationships/tags" Target="../tags/tag473.xml"/><Relationship Id="rId19" Type="http://schemas.openxmlformats.org/officeDocument/2006/relationships/tags" Target="../tags/tag482.xml"/><Relationship Id="rId31" Type="http://schemas.openxmlformats.org/officeDocument/2006/relationships/tags" Target="../tags/tag494.xml"/><Relationship Id="rId44" Type="http://schemas.openxmlformats.org/officeDocument/2006/relationships/tags" Target="../tags/tag507.xml"/><Relationship Id="rId52" Type="http://schemas.openxmlformats.org/officeDocument/2006/relationships/image" Target="../media/image19.svg"/><Relationship Id="rId4" Type="http://schemas.openxmlformats.org/officeDocument/2006/relationships/tags" Target="../tags/tag467.xml"/><Relationship Id="rId9" Type="http://schemas.openxmlformats.org/officeDocument/2006/relationships/tags" Target="../tags/tag472.xml"/><Relationship Id="rId14" Type="http://schemas.openxmlformats.org/officeDocument/2006/relationships/tags" Target="../tags/tag477.xml"/><Relationship Id="rId22" Type="http://schemas.openxmlformats.org/officeDocument/2006/relationships/tags" Target="../tags/tag485.xml"/><Relationship Id="rId27" Type="http://schemas.openxmlformats.org/officeDocument/2006/relationships/tags" Target="../tags/tag490.xml"/><Relationship Id="rId30" Type="http://schemas.openxmlformats.org/officeDocument/2006/relationships/tags" Target="../tags/tag493.xml"/><Relationship Id="rId35" Type="http://schemas.openxmlformats.org/officeDocument/2006/relationships/tags" Target="../tags/tag498.xml"/><Relationship Id="rId43" Type="http://schemas.openxmlformats.org/officeDocument/2006/relationships/tags" Target="../tags/tag506.xml"/><Relationship Id="rId48" Type="http://schemas.openxmlformats.org/officeDocument/2006/relationships/notesSlide" Target="../notesSlides/notesSlide13.xml"/><Relationship Id="rId8" Type="http://schemas.openxmlformats.org/officeDocument/2006/relationships/tags" Target="../tags/tag471.xml"/><Relationship Id="rId51" Type="http://schemas.openxmlformats.org/officeDocument/2006/relationships/image" Target="../media/image18.png"/><Relationship Id="rId3" Type="http://schemas.openxmlformats.org/officeDocument/2006/relationships/tags" Target="../tags/tag466.xml"/><Relationship Id="rId12" Type="http://schemas.openxmlformats.org/officeDocument/2006/relationships/tags" Target="../tags/tag475.xml"/><Relationship Id="rId17" Type="http://schemas.openxmlformats.org/officeDocument/2006/relationships/tags" Target="../tags/tag480.xml"/><Relationship Id="rId25" Type="http://schemas.openxmlformats.org/officeDocument/2006/relationships/tags" Target="../tags/tag488.xml"/><Relationship Id="rId33" Type="http://schemas.openxmlformats.org/officeDocument/2006/relationships/tags" Target="../tags/tag496.xml"/><Relationship Id="rId38" Type="http://schemas.openxmlformats.org/officeDocument/2006/relationships/tags" Target="../tags/tag501.xml"/><Relationship Id="rId46" Type="http://schemas.openxmlformats.org/officeDocument/2006/relationships/tags" Target="../tags/tag509.xml"/><Relationship Id="rId20" Type="http://schemas.openxmlformats.org/officeDocument/2006/relationships/tags" Target="../tags/tag483.xml"/><Relationship Id="rId41" Type="http://schemas.openxmlformats.org/officeDocument/2006/relationships/tags" Target="../tags/tag504.xml"/><Relationship Id="rId54" Type="http://schemas.openxmlformats.org/officeDocument/2006/relationships/image" Target="../media/image21.svg"/><Relationship Id="rId1" Type="http://schemas.openxmlformats.org/officeDocument/2006/relationships/tags" Target="../tags/tag464.xml"/><Relationship Id="rId6" Type="http://schemas.openxmlformats.org/officeDocument/2006/relationships/tags" Target="../tags/tag469.xml"/><Relationship Id="rId15" Type="http://schemas.openxmlformats.org/officeDocument/2006/relationships/tags" Target="../tags/tag478.xml"/><Relationship Id="rId23" Type="http://schemas.openxmlformats.org/officeDocument/2006/relationships/tags" Target="../tags/tag486.xml"/><Relationship Id="rId28" Type="http://schemas.openxmlformats.org/officeDocument/2006/relationships/tags" Target="../tags/tag491.xml"/><Relationship Id="rId36" Type="http://schemas.openxmlformats.org/officeDocument/2006/relationships/tags" Target="../tags/tag499.xml"/><Relationship Id="rId49" Type="http://schemas.openxmlformats.org/officeDocument/2006/relationships/oleObject" Target="../embeddings/oleObject39.bin"/></Relationships>
</file>

<file path=ppt/slides/_rels/slide16.xml.rels><?xml version="1.0" encoding="UTF-8" standalone="yes"?>
<Relationships xmlns="http://schemas.openxmlformats.org/package/2006/relationships"><Relationship Id="rId13" Type="http://schemas.openxmlformats.org/officeDocument/2006/relationships/tags" Target="../tags/tag522.xml"/><Relationship Id="rId18" Type="http://schemas.openxmlformats.org/officeDocument/2006/relationships/tags" Target="../tags/tag527.xml"/><Relationship Id="rId26" Type="http://schemas.openxmlformats.org/officeDocument/2006/relationships/tags" Target="../tags/tag535.xml"/><Relationship Id="rId39" Type="http://schemas.openxmlformats.org/officeDocument/2006/relationships/tags" Target="../tags/tag548.xml"/><Relationship Id="rId21" Type="http://schemas.openxmlformats.org/officeDocument/2006/relationships/tags" Target="../tags/tag530.xml"/><Relationship Id="rId34" Type="http://schemas.openxmlformats.org/officeDocument/2006/relationships/tags" Target="../tags/tag543.xml"/><Relationship Id="rId42" Type="http://schemas.openxmlformats.org/officeDocument/2006/relationships/slideLayout" Target="../slideLayouts/slideLayout2.xml"/><Relationship Id="rId47" Type="http://schemas.openxmlformats.org/officeDocument/2006/relationships/image" Target="../media/image19.svg"/><Relationship Id="rId7" Type="http://schemas.openxmlformats.org/officeDocument/2006/relationships/tags" Target="../tags/tag516.xml"/><Relationship Id="rId2" Type="http://schemas.openxmlformats.org/officeDocument/2006/relationships/tags" Target="../tags/tag511.xml"/><Relationship Id="rId16" Type="http://schemas.openxmlformats.org/officeDocument/2006/relationships/tags" Target="../tags/tag525.xml"/><Relationship Id="rId29" Type="http://schemas.openxmlformats.org/officeDocument/2006/relationships/tags" Target="../tags/tag538.xml"/><Relationship Id="rId11" Type="http://schemas.openxmlformats.org/officeDocument/2006/relationships/tags" Target="../tags/tag520.xml"/><Relationship Id="rId24" Type="http://schemas.openxmlformats.org/officeDocument/2006/relationships/tags" Target="../tags/tag533.xml"/><Relationship Id="rId32" Type="http://schemas.openxmlformats.org/officeDocument/2006/relationships/tags" Target="../tags/tag541.xml"/><Relationship Id="rId37" Type="http://schemas.openxmlformats.org/officeDocument/2006/relationships/tags" Target="../tags/tag546.xml"/><Relationship Id="rId40" Type="http://schemas.openxmlformats.org/officeDocument/2006/relationships/tags" Target="../tags/tag549.xml"/><Relationship Id="rId45" Type="http://schemas.openxmlformats.org/officeDocument/2006/relationships/image" Target="../media/image16.emf"/><Relationship Id="rId5" Type="http://schemas.openxmlformats.org/officeDocument/2006/relationships/tags" Target="../tags/tag514.xml"/><Relationship Id="rId15" Type="http://schemas.openxmlformats.org/officeDocument/2006/relationships/tags" Target="../tags/tag524.xml"/><Relationship Id="rId23" Type="http://schemas.openxmlformats.org/officeDocument/2006/relationships/tags" Target="../tags/tag532.xml"/><Relationship Id="rId28" Type="http://schemas.openxmlformats.org/officeDocument/2006/relationships/tags" Target="../tags/tag537.xml"/><Relationship Id="rId36" Type="http://schemas.openxmlformats.org/officeDocument/2006/relationships/tags" Target="../tags/tag545.xml"/><Relationship Id="rId49" Type="http://schemas.openxmlformats.org/officeDocument/2006/relationships/image" Target="../media/image21.svg"/><Relationship Id="rId10" Type="http://schemas.openxmlformats.org/officeDocument/2006/relationships/tags" Target="../tags/tag519.xml"/><Relationship Id="rId19" Type="http://schemas.openxmlformats.org/officeDocument/2006/relationships/tags" Target="../tags/tag528.xml"/><Relationship Id="rId31" Type="http://schemas.openxmlformats.org/officeDocument/2006/relationships/tags" Target="../tags/tag540.xml"/><Relationship Id="rId44" Type="http://schemas.openxmlformats.org/officeDocument/2006/relationships/oleObject" Target="../embeddings/oleObject40.bin"/><Relationship Id="rId4" Type="http://schemas.openxmlformats.org/officeDocument/2006/relationships/tags" Target="../tags/tag513.xml"/><Relationship Id="rId9" Type="http://schemas.openxmlformats.org/officeDocument/2006/relationships/tags" Target="../tags/tag518.xml"/><Relationship Id="rId14" Type="http://schemas.openxmlformats.org/officeDocument/2006/relationships/tags" Target="../tags/tag523.xml"/><Relationship Id="rId22" Type="http://schemas.openxmlformats.org/officeDocument/2006/relationships/tags" Target="../tags/tag531.xml"/><Relationship Id="rId27" Type="http://schemas.openxmlformats.org/officeDocument/2006/relationships/tags" Target="../tags/tag536.xml"/><Relationship Id="rId30" Type="http://schemas.openxmlformats.org/officeDocument/2006/relationships/tags" Target="../tags/tag539.xml"/><Relationship Id="rId35" Type="http://schemas.openxmlformats.org/officeDocument/2006/relationships/tags" Target="../tags/tag544.xml"/><Relationship Id="rId43" Type="http://schemas.openxmlformats.org/officeDocument/2006/relationships/notesSlide" Target="../notesSlides/notesSlide14.xml"/><Relationship Id="rId48" Type="http://schemas.openxmlformats.org/officeDocument/2006/relationships/image" Target="../media/image20.png"/><Relationship Id="rId8" Type="http://schemas.openxmlformats.org/officeDocument/2006/relationships/tags" Target="../tags/tag517.xml"/><Relationship Id="rId3" Type="http://schemas.openxmlformats.org/officeDocument/2006/relationships/tags" Target="../tags/tag512.xml"/><Relationship Id="rId12" Type="http://schemas.openxmlformats.org/officeDocument/2006/relationships/tags" Target="../tags/tag521.xml"/><Relationship Id="rId17" Type="http://schemas.openxmlformats.org/officeDocument/2006/relationships/tags" Target="../tags/tag526.xml"/><Relationship Id="rId25" Type="http://schemas.openxmlformats.org/officeDocument/2006/relationships/tags" Target="../tags/tag534.xml"/><Relationship Id="rId33" Type="http://schemas.openxmlformats.org/officeDocument/2006/relationships/tags" Target="../tags/tag542.xml"/><Relationship Id="rId38" Type="http://schemas.openxmlformats.org/officeDocument/2006/relationships/tags" Target="../tags/tag547.xml"/><Relationship Id="rId46" Type="http://schemas.openxmlformats.org/officeDocument/2006/relationships/image" Target="../media/image18.png"/><Relationship Id="rId20" Type="http://schemas.openxmlformats.org/officeDocument/2006/relationships/tags" Target="../tags/tag529.xml"/><Relationship Id="rId41" Type="http://schemas.openxmlformats.org/officeDocument/2006/relationships/tags" Target="../tags/tag550.xml"/><Relationship Id="rId1" Type="http://schemas.openxmlformats.org/officeDocument/2006/relationships/tags" Target="../tags/tag510.xml"/><Relationship Id="rId6" Type="http://schemas.openxmlformats.org/officeDocument/2006/relationships/tags" Target="../tags/tag515.xml"/></Relationships>
</file>

<file path=ppt/slides/_rels/slide17.xml.rels><?xml version="1.0" encoding="UTF-8" standalone="yes"?>
<Relationships xmlns="http://schemas.openxmlformats.org/package/2006/relationships"><Relationship Id="rId13" Type="http://schemas.openxmlformats.org/officeDocument/2006/relationships/tags" Target="../tags/tag563.xml"/><Relationship Id="rId18" Type="http://schemas.openxmlformats.org/officeDocument/2006/relationships/tags" Target="../tags/tag568.xml"/><Relationship Id="rId26" Type="http://schemas.openxmlformats.org/officeDocument/2006/relationships/tags" Target="../tags/tag576.xml"/><Relationship Id="rId39" Type="http://schemas.openxmlformats.org/officeDocument/2006/relationships/image" Target="../media/image19.svg"/><Relationship Id="rId21" Type="http://schemas.openxmlformats.org/officeDocument/2006/relationships/tags" Target="../tags/tag571.xml"/><Relationship Id="rId34" Type="http://schemas.openxmlformats.org/officeDocument/2006/relationships/slideLayout" Target="../slideLayouts/slideLayout2.xml"/><Relationship Id="rId7" Type="http://schemas.openxmlformats.org/officeDocument/2006/relationships/tags" Target="../tags/tag557.xml"/><Relationship Id="rId2" Type="http://schemas.openxmlformats.org/officeDocument/2006/relationships/tags" Target="../tags/tag552.xml"/><Relationship Id="rId16" Type="http://schemas.openxmlformats.org/officeDocument/2006/relationships/tags" Target="../tags/tag566.xml"/><Relationship Id="rId20" Type="http://schemas.openxmlformats.org/officeDocument/2006/relationships/tags" Target="../tags/tag570.xml"/><Relationship Id="rId29" Type="http://schemas.openxmlformats.org/officeDocument/2006/relationships/tags" Target="../tags/tag579.xml"/><Relationship Id="rId41" Type="http://schemas.openxmlformats.org/officeDocument/2006/relationships/image" Target="../media/image21.svg"/><Relationship Id="rId1" Type="http://schemas.openxmlformats.org/officeDocument/2006/relationships/tags" Target="../tags/tag551.xml"/><Relationship Id="rId6" Type="http://schemas.openxmlformats.org/officeDocument/2006/relationships/tags" Target="../tags/tag556.xml"/><Relationship Id="rId11" Type="http://schemas.openxmlformats.org/officeDocument/2006/relationships/tags" Target="../tags/tag561.xml"/><Relationship Id="rId24" Type="http://schemas.openxmlformats.org/officeDocument/2006/relationships/tags" Target="../tags/tag574.xml"/><Relationship Id="rId32" Type="http://schemas.openxmlformats.org/officeDocument/2006/relationships/tags" Target="../tags/tag582.xml"/><Relationship Id="rId37" Type="http://schemas.openxmlformats.org/officeDocument/2006/relationships/image" Target="../media/image16.emf"/><Relationship Id="rId40" Type="http://schemas.openxmlformats.org/officeDocument/2006/relationships/image" Target="../media/image20.png"/><Relationship Id="rId5" Type="http://schemas.openxmlformats.org/officeDocument/2006/relationships/tags" Target="../tags/tag555.xml"/><Relationship Id="rId15" Type="http://schemas.openxmlformats.org/officeDocument/2006/relationships/tags" Target="../tags/tag565.xml"/><Relationship Id="rId23" Type="http://schemas.openxmlformats.org/officeDocument/2006/relationships/tags" Target="../tags/tag573.xml"/><Relationship Id="rId28" Type="http://schemas.openxmlformats.org/officeDocument/2006/relationships/tags" Target="../tags/tag578.xml"/><Relationship Id="rId36" Type="http://schemas.openxmlformats.org/officeDocument/2006/relationships/oleObject" Target="../embeddings/oleObject41.bin"/><Relationship Id="rId10" Type="http://schemas.openxmlformats.org/officeDocument/2006/relationships/tags" Target="../tags/tag560.xml"/><Relationship Id="rId19" Type="http://schemas.openxmlformats.org/officeDocument/2006/relationships/tags" Target="../tags/tag569.xml"/><Relationship Id="rId31" Type="http://schemas.openxmlformats.org/officeDocument/2006/relationships/tags" Target="../tags/tag581.xml"/><Relationship Id="rId4" Type="http://schemas.openxmlformats.org/officeDocument/2006/relationships/tags" Target="../tags/tag554.xml"/><Relationship Id="rId9" Type="http://schemas.openxmlformats.org/officeDocument/2006/relationships/tags" Target="../tags/tag559.xml"/><Relationship Id="rId14" Type="http://schemas.openxmlformats.org/officeDocument/2006/relationships/tags" Target="../tags/tag564.xml"/><Relationship Id="rId22" Type="http://schemas.openxmlformats.org/officeDocument/2006/relationships/tags" Target="../tags/tag572.xml"/><Relationship Id="rId27" Type="http://schemas.openxmlformats.org/officeDocument/2006/relationships/tags" Target="../tags/tag577.xml"/><Relationship Id="rId30" Type="http://schemas.openxmlformats.org/officeDocument/2006/relationships/tags" Target="../tags/tag580.xml"/><Relationship Id="rId35" Type="http://schemas.openxmlformats.org/officeDocument/2006/relationships/notesSlide" Target="../notesSlides/notesSlide15.xml"/><Relationship Id="rId8" Type="http://schemas.openxmlformats.org/officeDocument/2006/relationships/tags" Target="../tags/tag558.xml"/><Relationship Id="rId3" Type="http://schemas.openxmlformats.org/officeDocument/2006/relationships/tags" Target="../tags/tag553.xml"/><Relationship Id="rId12" Type="http://schemas.openxmlformats.org/officeDocument/2006/relationships/tags" Target="../tags/tag562.xml"/><Relationship Id="rId17" Type="http://schemas.openxmlformats.org/officeDocument/2006/relationships/tags" Target="../tags/tag567.xml"/><Relationship Id="rId25" Type="http://schemas.openxmlformats.org/officeDocument/2006/relationships/tags" Target="../tags/tag575.xml"/><Relationship Id="rId33" Type="http://schemas.openxmlformats.org/officeDocument/2006/relationships/tags" Target="../tags/tag583.xml"/><Relationship Id="rId38"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slide" Target="slide21.xml"/><Relationship Id="rId3" Type="http://schemas.openxmlformats.org/officeDocument/2006/relationships/tags" Target="../tags/tag586.xml"/><Relationship Id="rId7" Type="http://schemas.openxmlformats.org/officeDocument/2006/relationships/tags" Target="../tags/tag590.xml"/><Relationship Id="rId12" Type="http://schemas.openxmlformats.org/officeDocument/2006/relationships/slide" Target="slide11.xml"/><Relationship Id="rId2" Type="http://schemas.openxmlformats.org/officeDocument/2006/relationships/tags" Target="../tags/tag585.xml"/><Relationship Id="rId1" Type="http://schemas.openxmlformats.org/officeDocument/2006/relationships/tags" Target="../tags/tag584.xml"/><Relationship Id="rId6" Type="http://schemas.openxmlformats.org/officeDocument/2006/relationships/tags" Target="../tags/tag589.xml"/><Relationship Id="rId11" Type="http://schemas.openxmlformats.org/officeDocument/2006/relationships/slide" Target="slide3.xml"/><Relationship Id="rId5" Type="http://schemas.openxmlformats.org/officeDocument/2006/relationships/tags" Target="../tags/tag588.xml"/><Relationship Id="rId10" Type="http://schemas.openxmlformats.org/officeDocument/2006/relationships/image" Target="../media/image16.emf"/><Relationship Id="rId4" Type="http://schemas.openxmlformats.org/officeDocument/2006/relationships/tags" Target="../tags/tag587.xml"/><Relationship Id="rId9" Type="http://schemas.openxmlformats.org/officeDocument/2006/relationships/oleObject" Target="../embeddings/oleObject42.bin"/></Relationships>
</file>

<file path=ppt/slides/_rels/slide19.xml.rels><?xml version="1.0" encoding="UTF-8" standalone="yes"?>
<Relationships xmlns="http://schemas.openxmlformats.org/package/2006/relationships"><Relationship Id="rId8" Type="http://schemas.openxmlformats.org/officeDocument/2006/relationships/tags" Target="../tags/tag598.xml"/><Relationship Id="rId13" Type="http://schemas.openxmlformats.org/officeDocument/2006/relationships/tags" Target="../tags/tag603.xml"/><Relationship Id="rId18" Type="http://schemas.openxmlformats.org/officeDocument/2006/relationships/tags" Target="../tags/tag608.xml"/><Relationship Id="rId3" Type="http://schemas.openxmlformats.org/officeDocument/2006/relationships/tags" Target="../tags/tag593.xml"/><Relationship Id="rId21" Type="http://schemas.openxmlformats.org/officeDocument/2006/relationships/tags" Target="../tags/tag611.xml"/><Relationship Id="rId7" Type="http://schemas.openxmlformats.org/officeDocument/2006/relationships/tags" Target="../tags/tag597.xml"/><Relationship Id="rId12" Type="http://schemas.openxmlformats.org/officeDocument/2006/relationships/tags" Target="../tags/tag602.xml"/><Relationship Id="rId17" Type="http://schemas.openxmlformats.org/officeDocument/2006/relationships/tags" Target="../tags/tag607.xml"/><Relationship Id="rId25" Type="http://schemas.openxmlformats.org/officeDocument/2006/relationships/image" Target="../media/image16.emf"/><Relationship Id="rId2" Type="http://schemas.openxmlformats.org/officeDocument/2006/relationships/tags" Target="../tags/tag592.xml"/><Relationship Id="rId16" Type="http://schemas.openxmlformats.org/officeDocument/2006/relationships/tags" Target="../tags/tag606.xml"/><Relationship Id="rId20" Type="http://schemas.openxmlformats.org/officeDocument/2006/relationships/tags" Target="../tags/tag610.xml"/><Relationship Id="rId1" Type="http://schemas.openxmlformats.org/officeDocument/2006/relationships/tags" Target="../tags/tag591.xml"/><Relationship Id="rId6" Type="http://schemas.openxmlformats.org/officeDocument/2006/relationships/tags" Target="../tags/tag596.xml"/><Relationship Id="rId11" Type="http://schemas.openxmlformats.org/officeDocument/2006/relationships/tags" Target="../tags/tag601.xml"/><Relationship Id="rId24" Type="http://schemas.openxmlformats.org/officeDocument/2006/relationships/oleObject" Target="../embeddings/oleObject43.bin"/><Relationship Id="rId5" Type="http://schemas.openxmlformats.org/officeDocument/2006/relationships/tags" Target="../tags/tag595.xml"/><Relationship Id="rId15" Type="http://schemas.openxmlformats.org/officeDocument/2006/relationships/tags" Target="../tags/tag605.xml"/><Relationship Id="rId23" Type="http://schemas.openxmlformats.org/officeDocument/2006/relationships/notesSlide" Target="../notesSlides/notesSlide16.xml"/><Relationship Id="rId10" Type="http://schemas.openxmlformats.org/officeDocument/2006/relationships/tags" Target="../tags/tag600.xml"/><Relationship Id="rId19" Type="http://schemas.openxmlformats.org/officeDocument/2006/relationships/tags" Target="../tags/tag609.xml"/><Relationship Id="rId4" Type="http://schemas.openxmlformats.org/officeDocument/2006/relationships/tags" Target="../tags/tag594.xml"/><Relationship Id="rId9" Type="http://schemas.openxmlformats.org/officeDocument/2006/relationships/tags" Target="../tags/tag599.xml"/><Relationship Id="rId14" Type="http://schemas.openxmlformats.org/officeDocument/2006/relationships/tags" Target="../tags/tag604.xml"/><Relationship Id="rId2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619.xml"/><Relationship Id="rId13" Type="http://schemas.openxmlformats.org/officeDocument/2006/relationships/tags" Target="../tags/tag624.xml"/><Relationship Id="rId18" Type="http://schemas.openxmlformats.org/officeDocument/2006/relationships/tags" Target="../tags/tag629.xml"/><Relationship Id="rId26" Type="http://schemas.openxmlformats.org/officeDocument/2006/relationships/image" Target="../media/image16.emf"/><Relationship Id="rId3" Type="http://schemas.openxmlformats.org/officeDocument/2006/relationships/tags" Target="../tags/tag614.xml"/><Relationship Id="rId21" Type="http://schemas.openxmlformats.org/officeDocument/2006/relationships/tags" Target="../tags/tag632.xml"/><Relationship Id="rId7" Type="http://schemas.openxmlformats.org/officeDocument/2006/relationships/tags" Target="../tags/tag618.xml"/><Relationship Id="rId12" Type="http://schemas.openxmlformats.org/officeDocument/2006/relationships/tags" Target="../tags/tag623.xml"/><Relationship Id="rId17" Type="http://schemas.openxmlformats.org/officeDocument/2006/relationships/tags" Target="../tags/tag628.xml"/><Relationship Id="rId25" Type="http://schemas.openxmlformats.org/officeDocument/2006/relationships/oleObject" Target="../embeddings/oleObject44.bin"/><Relationship Id="rId2" Type="http://schemas.openxmlformats.org/officeDocument/2006/relationships/tags" Target="../tags/tag613.xml"/><Relationship Id="rId16" Type="http://schemas.openxmlformats.org/officeDocument/2006/relationships/tags" Target="../tags/tag627.xml"/><Relationship Id="rId20" Type="http://schemas.openxmlformats.org/officeDocument/2006/relationships/tags" Target="../tags/tag631.xml"/><Relationship Id="rId1" Type="http://schemas.openxmlformats.org/officeDocument/2006/relationships/tags" Target="../tags/tag612.xml"/><Relationship Id="rId6" Type="http://schemas.openxmlformats.org/officeDocument/2006/relationships/tags" Target="../tags/tag617.xml"/><Relationship Id="rId11" Type="http://schemas.openxmlformats.org/officeDocument/2006/relationships/tags" Target="../tags/tag622.xml"/><Relationship Id="rId24" Type="http://schemas.openxmlformats.org/officeDocument/2006/relationships/notesSlide" Target="../notesSlides/notesSlide17.xml"/><Relationship Id="rId5" Type="http://schemas.openxmlformats.org/officeDocument/2006/relationships/tags" Target="../tags/tag616.xml"/><Relationship Id="rId15" Type="http://schemas.openxmlformats.org/officeDocument/2006/relationships/tags" Target="../tags/tag626.xml"/><Relationship Id="rId23" Type="http://schemas.openxmlformats.org/officeDocument/2006/relationships/slideLayout" Target="../slideLayouts/slideLayout2.xml"/><Relationship Id="rId10" Type="http://schemas.openxmlformats.org/officeDocument/2006/relationships/tags" Target="../tags/tag621.xml"/><Relationship Id="rId19" Type="http://schemas.openxmlformats.org/officeDocument/2006/relationships/tags" Target="../tags/tag630.xml"/><Relationship Id="rId4" Type="http://schemas.openxmlformats.org/officeDocument/2006/relationships/tags" Target="../tags/tag615.xml"/><Relationship Id="rId9" Type="http://schemas.openxmlformats.org/officeDocument/2006/relationships/tags" Target="../tags/tag620.xml"/><Relationship Id="rId14" Type="http://schemas.openxmlformats.org/officeDocument/2006/relationships/tags" Target="../tags/tag625.xml"/><Relationship Id="rId22" Type="http://schemas.openxmlformats.org/officeDocument/2006/relationships/tags" Target="../tags/tag633.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slide" Target="slide18.xml"/><Relationship Id="rId3" Type="http://schemas.openxmlformats.org/officeDocument/2006/relationships/tags" Target="../tags/tag636.xml"/><Relationship Id="rId7" Type="http://schemas.openxmlformats.org/officeDocument/2006/relationships/tags" Target="../tags/tag640.xml"/><Relationship Id="rId12" Type="http://schemas.openxmlformats.org/officeDocument/2006/relationships/slide" Target="slide11.xml"/><Relationship Id="rId2" Type="http://schemas.openxmlformats.org/officeDocument/2006/relationships/tags" Target="../tags/tag635.xml"/><Relationship Id="rId1" Type="http://schemas.openxmlformats.org/officeDocument/2006/relationships/tags" Target="../tags/tag634.xml"/><Relationship Id="rId6" Type="http://schemas.openxmlformats.org/officeDocument/2006/relationships/tags" Target="../tags/tag639.xml"/><Relationship Id="rId11" Type="http://schemas.openxmlformats.org/officeDocument/2006/relationships/slide" Target="slide3.xml"/><Relationship Id="rId5" Type="http://schemas.openxmlformats.org/officeDocument/2006/relationships/tags" Target="../tags/tag638.xml"/><Relationship Id="rId10" Type="http://schemas.openxmlformats.org/officeDocument/2006/relationships/image" Target="../media/image16.emf"/><Relationship Id="rId4" Type="http://schemas.openxmlformats.org/officeDocument/2006/relationships/tags" Target="../tags/tag637.xml"/><Relationship Id="rId9" Type="http://schemas.openxmlformats.org/officeDocument/2006/relationships/oleObject" Target="../embeddings/oleObject45.bin"/></Relationships>
</file>

<file path=ppt/slides/_rels/slide22.xml.rels><?xml version="1.0" encoding="UTF-8" standalone="yes"?>
<Relationships xmlns="http://schemas.openxmlformats.org/package/2006/relationships"><Relationship Id="rId8" Type="http://schemas.openxmlformats.org/officeDocument/2006/relationships/tags" Target="../tags/tag648.xml"/><Relationship Id="rId13" Type="http://schemas.openxmlformats.org/officeDocument/2006/relationships/tags" Target="../tags/tag653.xml"/><Relationship Id="rId3" Type="http://schemas.openxmlformats.org/officeDocument/2006/relationships/tags" Target="../tags/tag643.xml"/><Relationship Id="rId7" Type="http://schemas.openxmlformats.org/officeDocument/2006/relationships/tags" Target="../tags/tag647.xml"/><Relationship Id="rId12" Type="http://schemas.openxmlformats.org/officeDocument/2006/relationships/tags" Target="../tags/tag652.xml"/><Relationship Id="rId17" Type="http://schemas.openxmlformats.org/officeDocument/2006/relationships/image" Target="../media/image16.emf"/><Relationship Id="rId2" Type="http://schemas.openxmlformats.org/officeDocument/2006/relationships/tags" Target="../tags/tag642.xml"/><Relationship Id="rId16" Type="http://schemas.openxmlformats.org/officeDocument/2006/relationships/oleObject" Target="../embeddings/oleObject46.bin"/><Relationship Id="rId1" Type="http://schemas.openxmlformats.org/officeDocument/2006/relationships/tags" Target="../tags/tag641.xml"/><Relationship Id="rId6" Type="http://schemas.openxmlformats.org/officeDocument/2006/relationships/tags" Target="../tags/tag646.xml"/><Relationship Id="rId11" Type="http://schemas.openxmlformats.org/officeDocument/2006/relationships/tags" Target="../tags/tag651.xml"/><Relationship Id="rId5" Type="http://schemas.openxmlformats.org/officeDocument/2006/relationships/tags" Target="../tags/tag645.xml"/><Relationship Id="rId15" Type="http://schemas.openxmlformats.org/officeDocument/2006/relationships/notesSlide" Target="../notesSlides/notesSlide18.xml"/><Relationship Id="rId10" Type="http://schemas.openxmlformats.org/officeDocument/2006/relationships/tags" Target="../tags/tag650.xml"/><Relationship Id="rId4" Type="http://schemas.openxmlformats.org/officeDocument/2006/relationships/tags" Target="../tags/tag644.xml"/><Relationship Id="rId9" Type="http://schemas.openxmlformats.org/officeDocument/2006/relationships/tags" Target="../tags/tag649.xml"/><Relationship Id="rId1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661.xml"/><Relationship Id="rId13" Type="http://schemas.openxmlformats.org/officeDocument/2006/relationships/tags" Target="../tags/tag666.xml"/><Relationship Id="rId18" Type="http://schemas.openxmlformats.org/officeDocument/2006/relationships/image" Target="../media/image16.emf"/><Relationship Id="rId3" Type="http://schemas.openxmlformats.org/officeDocument/2006/relationships/tags" Target="../tags/tag656.xml"/><Relationship Id="rId7" Type="http://schemas.openxmlformats.org/officeDocument/2006/relationships/tags" Target="../tags/tag660.xml"/><Relationship Id="rId12" Type="http://schemas.openxmlformats.org/officeDocument/2006/relationships/tags" Target="../tags/tag665.xml"/><Relationship Id="rId17" Type="http://schemas.openxmlformats.org/officeDocument/2006/relationships/oleObject" Target="../embeddings/oleObject47.bin"/><Relationship Id="rId2" Type="http://schemas.openxmlformats.org/officeDocument/2006/relationships/tags" Target="../tags/tag655.xml"/><Relationship Id="rId16" Type="http://schemas.openxmlformats.org/officeDocument/2006/relationships/notesSlide" Target="../notesSlides/notesSlide19.xml"/><Relationship Id="rId1" Type="http://schemas.openxmlformats.org/officeDocument/2006/relationships/tags" Target="../tags/tag654.xml"/><Relationship Id="rId6" Type="http://schemas.openxmlformats.org/officeDocument/2006/relationships/tags" Target="../tags/tag659.xml"/><Relationship Id="rId11" Type="http://schemas.openxmlformats.org/officeDocument/2006/relationships/tags" Target="../tags/tag664.xml"/><Relationship Id="rId5" Type="http://schemas.openxmlformats.org/officeDocument/2006/relationships/tags" Target="../tags/tag658.xml"/><Relationship Id="rId15" Type="http://schemas.openxmlformats.org/officeDocument/2006/relationships/slideLayout" Target="../slideLayouts/slideLayout2.xml"/><Relationship Id="rId10" Type="http://schemas.openxmlformats.org/officeDocument/2006/relationships/tags" Target="../tags/tag663.xml"/><Relationship Id="rId4" Type="http://schemas.openxmlformats.org/officeDocument/2006/relationships/tags" Target="../tags/tag657.xml"/><Relationship Id="rId9" Type="http://schemas.openxmlformats.org/officeDocument/2006/relationships/tags" Target="../tags/tag662.xml"/><Relationship Id="rId14" Type="http://schemas.openxmlformats.org/officeDocument/2006/relationships/tags" Target="../tags/tag667.xml"/></Relationships>
</file>

<file path=ppt/slides/_rels/slide24.xml.rels><?xml version="1.0" encoding="UTF-8" standalone="yes"?>
<Relationships xmlns="http://schemas.openxmlformats.org/package/2006/relationships"><Relationship Id="rId8" Type="http://schemas.openxmlformats.org/officeDocument/2006/relationships/tags" Target="../tags/tag675.xml"/><Relationship Id="rId13" Type="http://schemas.openxmlformats.org/officeDocument/2006/relationships/oleObject" Target="../embeddings/oleObject48.bin"/><Relationship Id="rId3" Type="http://schemas.openxmlformats.org/officeDocument/2006/relationships/tags" Target="../tags/tag670.xml"/><Relationship Id="rId7" Type="http://schemas.openxmlformats.org/officeDocument/2006/relationships/tags" Target="../tags/tag674.xml"/><Relationship Id="rId12" Type="http://schemas.openxmlformats.org/officeDocument/2006/relationships/notesSlide" Target="../notesSlides/notesSlide20.xml"/><Relationship Id="rId2" Type="http://schemas.openxmlformats.org/officeDocument/2006/relationships/tags" Target="../tags/tag669.xml"/><Relationship Id="rId1" Type="http://schemas.openxmlformats.org/officeDocument/2006/relationships/tags" Target="../tags/tag668.xml"/><Relationship Id="rId6" Type="http://schemas.openxmlformats.org/officeDocument/2006/relationships/tags" Target="../tags/tag673.xml"/><Relationship Id="rId11" Type="http://schemas.openxmlformats.org/officeDocument/2006/relationships/slideLayout" Target="../slideLayouts/slideLayout2.xml"/><Relationship Id="rId5" Type="http://schemas.openxmlformats.org/officeDocument/2006/relationships/tags" Target="../tags/tag672.xml"/><Relationship Id="rId10" Type="http://schemas.openxmlformats.org/officeDocument/2006/relationships/tags" Target="../tags/tag677.xml"/><Relationship Id="rId4" Type="http://schemas.openxmlformats.org/officeDocument/2006/relationships/tags" Target="../tags/tag671.xml"/><Relationship Id="rId9" Type="http://schemas.openxmlformats.org/officeDocument/2006/relationships/tags" Target="../tags/tag676.xml"/><Relationship Id="rId14" Type="http://schemas.openxmlformats.org/officeDocument/2006/relationships/image" Target="../media/image16.emf"/></Relationships>
</file>

<file path=ppt/slides/_rels/slide25.xml.rels><?xml version="1.0" encoding="UTF-8" standalone="yes"?>
<Relationships xmlns="http://schemas.openxmlformats.org/package/2006/relationships"><Relationship Id="rId8" Type="http://schemas.openxmlformats.org/officeDocument/2006/relationships/tags" Target="../tags/tag685.xml"/><Relationship Id="rId13" Type="http://schemas.openxmlformats.org/officeDocument/2006/relationships/notesSlide" Target="../notesSlides/notesSlide21.xml"/><Relationship Id="rId3" Type="http://schemas.openxmlformats.org/officeDocument/2006/relationships/tags" Target="../tags/tag680.xml"/><Relationship Id="rId7" Type="http://schemas.openxmlformats.org/officeDocument/2006/relationships/tags" Target="../tags/tag684.xml"/><Relationship Id="rId12" Type="http://schemas.openxmlformats.org/officeDocument/2006/relationships/slideLayout" Target="../slideLayouts/slideLayout2.xml"/><Relationship Id="rId2" Type="http://schemas.openxmlformats.org/officeDocument/2006/relationships/tags" Target="../tags/tag679.xml"/><Relationship Id="rId1" Type="http://schemas.openxmlformats.org/officeDocument/2006/relationships/tags" Target="../tags/tag678.xml"/><Relationship Id="rId6" Type="http://schemas.openxmlformats.org/officeDocument/2006/relationships/tags" Target="../tags/tag683.xml"/><Relationship Id="rId11" Type="http://schemas.openxmlformats.org/officeDocument/2006/relationships/tags" Target="../tags/tag688.xml"/><Relationship Id="rId5" Type="http://schemas.openxmlformats.org/officeDocument/2006/relationships/tags" Target="../tags/tag682.xml"/><Relationship Id="rId15" Type="http://schemas.openxmlformats.org/officeDocument/2006/relationships/image" Target="../media/image16.emf"/><Relationship Id="rId10" Type="http://schemas.openxmlformats.org/officeDocument/2006/relationships/tags" Target="../tags/tag687.xml"/><Relationship Id="rId4" Type="http://schemas.openxmlformats.org/officeDocument/2006/relationships/tags" Target="../tags/tag681.xml"/><Relationship Id="rId9" Type="http://schemas.openxmlformats.org/officeDocument/2006/relationships/tags" Target="../tags/tag686.xml"/><Relationship Id="rId14" Type="http://schemas.openxmlformats.org/officeDocument/2006/relationships/oleObject" Target="../embeddings/oleObject49.bin"/></Relationships>
</file>

<file path=ppt/slides/_rels/slide26.xml.rels><?xml version="1.0" encoding="UTF-8" standalone="yes"?>
<Relationships xmlns="http://schemas.openxmlformats.org/package/2006/relationships"><Relationship Id="rId8" Type="http://schemas.openxmlformats.org/officeDocument/2006/relationships/tags" Target="../tags/tag696.xml"/><Relationship Id="rId13" Type="http://schemas.openxmlformats.org/officeDocument/2006/relationships/oleObject" Target="../embeddings/oleObject50.bin"/><Relationship Id="rId3" Type="http://schemas.openxmlformats.org/officeDocument/2006/relationships/tags" Target="../tags/tag691.xml"/><Relationship Id="rId7" Type="http://schemas.openxmlformats.org/officeDocument/2006/relationships/tags" Target="../tags/tag695.xml"/><Relationship Id="rId12" Type="http://schemas.openxmlformats.org/officeDocument/2006/relationships/slideLayout" Target="../slideLayouts/slideLayout2.xml"/><Relationship Id="rId2" Type="http://schemas.openxmlformats.org/officeDocument/2006/relationships/tags" Target="../tags/tag690.xml"/><Relationship Id="rId1" Type="http://schemas.openxmlformats.org/officeDocument/2006/relationships/tags" Target="../tags/tag689.xml"/><Relationship Id="rId6" Type="http://schemas.openxmlformats.org/officeDocument/2006/relationships/tags" Target="../tags/tag694.xml"/><Relationship Id="rId11" Type="http://schemas.openxmlformats.org/officeDocument/2006/relationships/tags" Target="../tags/tag699.xml"/><Relationship Id="rId5" Type="http://schemas.openxmlformats.org/officeDocument/2006/relationships/tags" Target="../tags/tag693.xml"/><Relationship Id="rId10" Type="http://schemas.openxmlformats.org/officeDocument/2006/relationships/tags" Target="../tags/tag698.xml"/><Relationship Id="rId4" Type="http://schemas.openxmlformats.org/officeDocument/2006/relationships/tags" Target="../tags/tag692.xml"/><Relationship Id="rId9" Type="http://schemas.openxmlformats.org/officeDocument/2006/relationships/tags" Target="../tags/tag697.xml"/><Relationship Id="rId14" Type="http://schemas.openxmlformats.org/officeDocument/2006/relationships/image" Target="../media/image16.emf"/></Relationships>
</file>

<file path=ppt/slides/_rels/slide27.xml.rels><?xml version="1.0" encoding="UTF-8" standalone="yes"?>
<Relationships xmlns="http://schemas.openxmlformats.org/package/2006/relationships"><Relationship Id="rId8" Type="http://schemas.openxmlformats.org/officeDocument/2006/relationships/tags" Target="../tags/tag707.xml"/><Relationship Id="rId3" Type="http://schemas.openxmlformats.org/officeDocument/2006/relationships/tags" Target="../tags/tag702.xml"/><Relationship Id="rId7" Type="http://schemas.openxmlformats.org/officeDocument/2006/relationships/tags" Target="../tags/tag706.xml"/><Relationship Id="rId12" Type="http://schemas.openxmlformats.org/officeDocument/2006/relationships/image" Target="../media/image16.emf"/><Relationship Id="rId2" Type="http://schemas.openxmlformats.org/officeDocument/2006/relationships/tags" Target="../tags/tag701.xml"/><Relationship Id="rId1" Type="http://schemas.openxmlformats.org/officeDocument/2006/relationships/tags" Target="../tags/tag700.xml"/><Relationship Id="rId6" Type="http://schemas.openxmlformats.org/officeDocument/2006/relationships/tags" Target="../tags/tag705.xml"/><Relationship Id="rId11" Type="http://schemas.openxmlformats.org/officeDocument/2006/relationships/oleObject" Target="../embeddings/oleObject51.bin"/><Relationship Id="rId5" Type="http://schemas.openxmlformats.org/officeDocument/2006/relationships/tags" Target="../tags/tag704.xml"/><Relationship Id="rId10" Type="http://schemas.openxmlformats.org/officeDocument/2006/relationships/slideLayout" Target="../slideLayouts/slideLayout2.xml"/><Relationship Id="rId4" Type="http://schemas.openxmlformats.org/officeDocument/2006/relationships/tags" Target="../tags/tag703.xml"/><Relationship Id="rId9" Type="http://schemas.openxmlformats.org/officeDocument/2006/relationships/tags" Target="../tags/tag7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6" hidden="1">
            <a:extLst>
              <a:ext uri="{FF2B5EF4-FFF2-40B4-BE49-F238E27FC236}">
                <a16:creationId xmlns:a16="http://schemas.microsoft.com/office/drawing/2014/main" id="{69715B01-43CF-802A-CBAE-E88560BA4556}"/>
              </a:ext>
            </a:extLst>
          </p:cNvPr>
          <p:cNvGraphicFramePr>
            <a:graphicFrameLocks noChangeAspect="1"/>
          </p:cNvGraphicFramePr>
          <p:nvPr>
            <p:custDataLst>
              <p:tags r:id="rId2"/>
            </p:custDataLst>
            <p:extLst>
              <p:ext uri="{D42A27DB-BD31-4B8C-83A1-F6EECF244321}">
                <p14:modId xmlns:p14="http://schemas.microsoft.com/office/powerpoint/2010/main" val="34174344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3" progId="TCLayout.ActiveDocument.1">
                  <p:embed/>
                </p:oleObj>
              </mc:Choice>
              <mc:Fallback>
                <p:oleObj name="think-cell Slide" r:id="rId8" imgW="404" imgH="403" progId="TCLayout.ActiveDocument.1">
                  <p:embed/>
                  <p:pic>
                    <p:nvPicPr>
                      <p:cNvPr id="10" name="Object 6" hidden="1">
                        <a:extLst>
                          <a:ext uri="{FF2B5EF4-FFF2-40B4-BE49-F238E27FC236}">
                            <a16:creationId xmlns:a16="http://schemas.microsoft.com/office/drawing/2014/main" id="{69715B01-43CF-802A-CBAE-E88560BA455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Picture Placeholder 1">
            <a:extLst>
              <a:ext uri="{FF2B5EF4-FFF2-40B4-BE49-F238E27FC236}">
                <a16:creationId xmlns:a16="http://schemas.microsoft.com/office/drawing/2014/main" id="{5C648249-AA2B-2A67-1912-B00B5CB8EAE7}"/>
              </a:ext>
            </a:extLst>
          </p:cNvPr>
          <p:cNvSpPr>
            <a:spLocks noGrp="1"/>
          </p:cNvSpPr>
          <p:nvPr>
            <p:ph type="pic" sz="quarter" idx="14"/>
          </p:nvPr>
        </p:nvSpPr>
        <p:spPr/>
        <p:txBody>
          <a:bodyPr/>
          <a:lstStyle/>
          <a:p>
            <a:endParaRPr lang="en-US"/>
          </a:p>
        </p:txBody>
      </p:sp>
      <p:sp>
        <p:nvSpPr>
          <p:cNvPr id="9" name="Documenttype">
            <a:extLst>
              <a:ext uri="{FF2B5EF4-FFF2-40B4-BE49-F238E27FC236}">
                <a16:creationId xmlns:a16="http://schemas.microsoft.com/office/drawing/2014/main" id="{EFAE2041-A3CF-2E7A-1617-5A6F4887C2BB}"/>
              </a:ext>
            </a:extLst>
          </p:cNvPr>
          <p:cNvSpPr>
            <a:spLocks noGrp="1"/>
          </p:cNvSpPr>
          <p:nvPr>
            <p:ph type="body" sz="quarter" idx="13"/>
            <p:custDataLst>
              <p:tags r:id="rId3"/>
            </p:custDataLst>
          </p:nvPr>
        </p:nvSpPr>
        <p:spPr>
          <a:noFill/>
          <a:ln/>
          <a:extLst>
            <a:ext uri="{909E8E84-426E-40DD-AFC4-6F175D3DCCD1}">
              <a14:hiddenFill xmlns:a14="http://schemas.microsoft.com/office/drawing/2010/main">
                <a:solidFill>
                  <a:srgbClr val="FFFFFF"/>
                </a:solidFill>
              </a14:hiddenFill>
            </a:ext>
          </a:extLst>
        </p:spPr>
        <p:txBody>
          <a:bodyPr/>
          <a:lstStyle/>
          <a:p>
            <a:r>
              <a:rPr lang="en-US"/>
              <a:t>October, 2025</a:t>
            </a:r>
          </a:p>
        </p:txBody>
      </p:sp>
      <p:sp>
        <p:nvSpPr>
          <p:cNvPr id="8" name="Subtitle">
            <a:extLst>
              <a:ext uri="{FF2B5EF4-FFF2-40B4-BE49-F238E27FC236}">
                <a16:creationId xmlns:a16="http://schemas.microsoft.com/office/drawing/2014/main" id="{35F073F8-6EDB-2907-7A16-DEFCA54B8093}"/>
              </a:ext>
            </a:extLst>
          </p:cNvPr>
          <p:cNvSpPr>
            <a:spLocks noGrp="1"/>
          </p:cNvSpPr>
          <p:nvPr>
            <p:ph type="subTitle" idx="1"/>
            <p:custDataLst>
              <p:tags r:id="rId4"/>
            </p:custDataLst>
          </p:nvPr>
        </p:nvSpPr>
        <p:spPr>
          <a:noFill/>
          <a:ln/>
          <a:extLst>
            <a:ext uri="{909E8E84-426E-40DD-AFC4-6F175D3DCCD1}">
              <a14:hiddenFill xmlns:a14="http://schemas.microsoft.com/office/drawing/2010/main">
                <a:solidFill>
                  <a:srgbClr val="FFFFFF"/>
                </a:solidFill>
              </a14:hiddenFill>
            </a:ext>
          </a:extLst>
        </p:spPr>
        <p:txBody>
          <a:bodyPr/>
          <a:lstStyle/>
          <a:p>
            <a:r>
              <a:rPr lang="en-US" dirty="0"/>
              <a:t>Capability assessment</a:t>
            </a:r>
          </a:p>
        </p:txBody>
      </p:sp>
      <p:sp>
        <p:nvSpPr>
          <p:cNvPr id="7" name="Title">
            <a:extLst>
              <a:ext uri="{FF2B5EF4-FFF2-40B4-BE49-F238E27FC236}">
                <a16:creationId xmlns:a16="http://schemas.microsoft.com/office/drawing/2014/main" id="{9CE131DF-A160-AD35-8235-8BE13ED35E83}"/>
              </a:ext>
            </a:extLst>
          </p:cNvPr>
          <p:cNvSpPr>
            <a:spLocks noGrp="1"/>
          </p:cNvSpPr>
          <p:nvPr>
            <p:ph type="title"/>
            <p:custDataLst>
              <p:tags r:id="rId5"/>
            </p:custDataLst>
          </p:nvPr>
        </p:nvSpPr>
        <p:spPr>
          <a:noFill/>
          <a:ln/>
          <a:extLst>
            <a:ext uri="{909E8E84-426E-40DD-AFC4-6F175D3DCCD1}">
              <a14:hiddenFill xmlns:a14="http://schemas.microsoft.com/office/drawing/2010/main">
                <a:solidFill>
                  <a:srgbClr val="FFFFFF"/>
                </a:solidFill>
              </a14:hiddenFill>
            </a:ext>
          </a:extLst>
        </p:spPr>
        <p:txBody>
          <a:bodyPr vert="horz"/>
          <a:lstStyle/>
          <a:p>
            <a:r>
              <a:rPr lang="en-US" sz="4000" dirty="0"/>
              <a:t>AI Data Readiness </a:t>
            </a:r>
            <a:endParaRPr lang="en-US" sz="4000" dirty="0">
              <a:cs typeface="Arial"/>
            </a:endParaRPr>
          </a:p>
        </p:txBody>
      </p:sp>
    </p:spTree>
    <p:custDataLst>
      <p:tags r:id="rId1"/>
    </p:custDataLst>
    <p:extLst>
      <p:ext uri="{BB962C8B-B14F-4D97-AF65-F5344CB8AC3E}">
        <p14:creationId xmlns:p14="http://schemas.microsoft.com/office/powerpoint/2010/main" val="293154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6C1EE-95C1-7D6E-1C3F-E30270FB11C4}"/>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3FBF4603-0470-CC15-F43D-DF46ED2428C2}"/>
              </a:ext>
            </a:extLst>
          </p:cNvPr>
          <p:cNvGraphicFramePr>
            <a:graphicFrameLocks noChangeAspect="1"/>
          </p:cNvGraphicFramePr>
          <p:nvPr>
            <p:custDataLst>
              <p:tags r:id="rId2"/>
            </p:custDataLst>
            <p:extLst>
              <p:ext uri="{D42A27DB-BD31-4B8C-83A1-F6EECF244321}">
                <p14:modId xmlns:p14="http://schemas.microsoft.com/office/powerpoint/2010/main" val="21568720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04" imgH="405" progId="TCLayout.ActiveDocument.1">
                  <p:embed/>
                </p:oleObj>
              </mc:Choice>
              <mc:Fallback>
                <p:oleObj name="think-cell Slide" r:id="rId7" imgW="404" imgH="405" progId="TCLayout.ActiveDocument.1">
                  <p:embed/>
                  <p:pic>
                    <p:nvPicPr>
                      <p:cNvPr id="6" name="Object 6" hidden="1">
                        <a:extLst>
                          <a:ext uri="{FF2B5EF4-FFF2-40B4-BE49-F238E27FC236}">
                            <a16:creationId xmlns:a16="http://schemas.microsoft.com/office/drawing/2014/main" id="{3FBF4603-0470-CC15-F43D-DF46ED2428C2}"/>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0EEE5DA3-CC06-A5E1-330D-79D4568C2AD7}"/>
              </a:ext>
            </a:extLst>
          </p:cNvPr>
          <p:cNvSpPr>
            <a:spLocks noGrp="1"/>
          </p:cNvSpPr>
          <p:nvPr>
            <p:ph type="title"/>
            <p:custDataLst>
              <p:tags r:id="rId3"/>
            </p:custDataLst>
          </p:nvPr>
        </p:nvSpPr>
        <p:spPr/>
        <p:txBody>
          <a:bodyPr vert="horz">
            <a:noAutofit/>
          </a:bodyPr>
          <a:lstStyle/>
          <a:p>
            <a:r>
              <a:rPr lang="en-US" dirty="0"/>
              <a:t>Executive Summary</a:t>
            </a:r>
          </a:p>
        </p:txBody>
      </p:sp>
      <p:sp>
        <p:nvSpPr>
          <p:cNvPr id="3" name="Text Placeholder 2">
            <a:extLst>
              <a:ext uri="{FF2B5EF4-FFF2-40B4-BE49-F238E27FC236}">
                <a16:creationId xmlns:a16="http://schemas.microsoft.com/office/drawing/2014/main" id="{2F5E9E50-4139-EF96-F995-D7EF6789A090}"/>
              </a:ext>
            </a:extLst>
          </p:cNvPr>
          <p:cNvSpPr>
            <a:spLocks noGrp="1"/>
          </p:cNvSpPr>
          <p:nvPr>
            <p:ph type="body" sz="quarter" idx="17"/>
          </p:nvPr>
        </p:nvSpPr>
        <p:spPr/>
        <p:txBody>
          <a:bodyPr/>
          <a:lstStyle/>
          <a:p>
            <a:endParaRPr lang="en-US"/>
          </a:p>
        </p:txBody>
      </p:sp>
      <p:sp>
        <p:nvSpPr>
          <p:cNvPr id="7" name="TextBox 6">
            <a:extLst>
              <a:ext uri="{FF2B5EF4-FFF2-40B4-BE49-F238E27FC236}">
                <a16:creationId xmlns:a16="http://schemas.microsoft.com/office/drawing/2014/main" id="{77C0F655-703B-5E41-BF19-3586ED81DE7F}"/>
              </a:ext>
            </a:extLst>
          </p:cNvPr>
          <p:cNvSpPr txBox="1">
            <a:spLocks/>
          </p:cNvSpPr>
          <p:nvPr>
            <p:custDataLst>
              <p:tags r:id="rId4"/>
            </p:custDataLst>
          </p:nvPr>
        </p:nvSpPr>
        <p:spPr>
          <a:xfrm>
            <a:off x="554736" y="1024538"/>
            <a:ext cx="11082528" cy="575469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ct val="0"/>
              </a:spcBef>
            </a:pPr>
            <a:r>
              <a:rPr lang="en-US" sz="1100" dirty="0"/>
              <a:t>Client has developed discipline in managing its complex structured data environment (i.e.,  ) and continues to advance on governance and risk reduction. Traditional AI is well established across structured and unstructured data, and Client has early success with GenAI. However, GenAI development is still early; the idea pipeline is long and growing; Client’s data capabilities must accelerate to address the complexity LLMs introduce, or risk slowed delivery of priority use cases.</a:t>
            </a:r>
          </a:p>
          <a:p>
            <a:pPr>
              <a:spcBef>
                <a:spcPct val="0"/>
              </a:spcBef>
            </a:pPr>
            <a:r>
              <a:rPr lang="en-US" sz="1100" dirty="0"/>
              <a:t>Building on this foundation, we assessed what changes are needed to ensure data readiness for GenAI, balancing safety (embedded policy, compliance), accuracy, and speed. A structured assessment, informed by stakeholder interviews, was conducted to evaluate Client’s ability to support both traditional AI and emerging GenAI use cases. Today’s discussion focused on key findings across six data dimensions:</a:t>
            </a:r>
            <a:endParaRPr lang="en-US" sz="1100" dirty="0">
              <a:cs typeface="Arial"/>
            </a:endParaRPr>
          </a:p>
          <a:p>
            <a:pPr marL="342900" indent="-342900">
              <a:spcBef>
                <a:spcPct val="0"/>
              </a:spcBef>
              <a:buFont typeface="+mj-lt"/>
              <a:buAutoNum type="arabicPeriod"/>
            </a:pPr>
            <a:r>
              <a:rPr lang="en-US" sz="1100" b="1" dirty="0"/>
              <a:t>[Observability]</a:t>
            </a:r>
            <a:r>
              <a:rPr lang="en-US" sz="1100" dirty="0"/>
              <a:t> works for today’s use cases but does not capture evolving pipeline complexities (e.g., intermediate representations, metadata), creating risks in quality, scalability, and governance</a:t>
            </a:r>
            <a:endParaRPr lang="en-US" sz="1100" dirty="0">
              <a:cs typeface="Arial"/>
            </a:endParaRPr>
          </a:p>
          <a:p>
            <a:pPr marL="342900" indent="-342900">
              <a:spcBef>
                <a:spcPct val="0"/>
              </a:spcBef>
              <a:buAutoNum type="arabicPeriod"/>
            </a:pPr>
            <a:r>
              <a:rPr lang="en-US" sz="1100" b="1" dirty="0"/>
              <a:t>[Data type and quality]</a:t>
            </a:r>
            <a:r>
              <a:rPr lang="en-US" sz="1100" dirty="0"/>
              <a:t> for structured data have advanced significantly over the past decade but still rely on mitigating controls (e.g., trust in source, process approvals), creating potential for silent failures and incomplete or inaccurate data that are detected late, forcing reactive resolution; for unstructured data, besides  the same dependency on mitigating controls, work is early and has so far focused narrowly on non-sensitive data, leaving broader quality standards undeveloped</a:t>
            </a:r>
            <a:endParaRPr lang="en-US" sz="1100" dirty="0">
              <a:ea typeface="+mn-lt"/>
              <a:cs typeface="+mn-lt"/>
            </a:endParaRPr>
          </a:p>
          <a:p>
            <a:pPr marL="342900" indent="-342900">
              <a:spcBef>
                <a:spcPct val="0"/>
              </a:spcBef>
              <a:buAutoNum type="arabicPeriod"/>
            </a:pPr>
            <a:r>
              <a:rPr lang="en-US" sz="1100" b="1" dirty="0"/>
              <a:t>[Metadata management]</a:t>
            </a:r>
            <a:r>
              <a:rPr lang="en-US" sz="1100" dirty="0"/>
              <a:t> is underdeveloped, particularly for unstructured data, making automation and platform enablement difficult</a:t>
            </a:r>
            <a:endParaRPr lang="en-US" sz="1100" dirty="0">
              <a:cs typeface="Arial"/>
            </a:endParaRPr>
          </a:p>
          <a:p>
            <a:pPr marL="342900" indent="-342900">
              <a:spcBef>
                <a:spcPct val="0"/>
              </a:spcBef>
              <a:buFont typeface="+mj-lt"/>
              <a:buAutoNum type="arabicPeriod"/>
            </a:pPr>
            <a:r>
              <a:rPr lang="en-US" sz="1100" b="1" dirty="0"/>
              <a:t>[Data lineage] </a:t>
            </a:r>
            <a:r>
              <a:rPr lang="en-US" sz="1100" dirty="0"/>
              <a:t>is largely absent end-to-end, especially for unstructured data where narrow initial use cases have left it underdeveloped, creating low visibility and limited proof of source</a:t>
            </a:r>
            <a:endParaRPr lang="en-US" sz="1100" dirty="0">
              <a:cs typeface="Arial"/>
            </a:endParaRPr>
          </a:p>
          <a:p>
            <a:pPr marL="342900" indent="-342900">
              <a:spcBef>
                <a:spcPct val="0"/>
              </a:spcBef>
              <a:buAutoNum type="arabicPeriod"/>
            </a:pPr>
            <a:r>
              <a:rPr lang="en-US" sz="1100" b="1" dirty="0"/>
              <a:t>[Governance and controls] </a:t>
            </a:r>
            <a:r>
              <a:rPr lang="en-US" sz="1100" dirty="0"/>
              <a:t>enforcement, accountability, and standardization including embedded policy enforcement (Policy as Code, Policy as Data via tags/ sidecars) remain opportunities, particularly in GenAI where many policies are still being defined and considered as we go, creating uncertainty that increases compliance risk and slows review</a:t>
            </a:r>
            <a:endParaRPr lang="en-US" sz="1100" dirty="0">
              <a:cs typeface="Arial"/>
            </a:endParaRPr>
          </a:p>
          <a:p>
            <a:pPr marL="342900" indent="-342900">
              <a:spcBef>
                <a:spcPct val="0"/>
              </a:spcBef>
              <a:buFont typeface="+mj-lt"/>
              <a:buAutoNum type="arabicPeriod"/>
            </a:pPr>
            <a:r>
              <a:rPr lang="en-US" sz="1100" b="1" dirty="0"/>
              <a:t>[Platform and tooling] </a:t>
            </a:r>
            <a:r>
              <a:rPr lang="en-US" sz="1100" dirty="0"/>
              <a:t>unstructured data processing and management is early and has initially focused on targeted use cases; platform enablement and standardization have been less of a priority</a:t>
            </a:r>
            <a:endParaRPr lang="en-US" sz="1100" dirty="0">
              <a:cs typeface="Arial"/>
            </a:endParaRPr>
          </a:p>
          <a:p>
            <a:pPr>
              <a:spcBef>
                <a:spcPct val="0"/>
              </a:spcBef>
            </a:pPr>
            <a:r>
              <a:rPr lang="en-US" sz="1100" dirty="0"/>
              <a:t>As we wrap up the assessment, Client’s current approach to preparing unstructured data for GenAI supports only narrow use cases. To scale, Client will need to focus on three critical areas:</a:t>
            </a:r>
          </a:p>
          <a:p>
            <a:pPr marL="228600" indent="-228600">
              <a:spcBef>
                <a:spcPct val="0"/>
              </a:spcBef>
              <a:buFont typeface="+mj-lt"/>
              <a:buAutoNum type="alphaUcPeriod"/>
            </a:pPr>
            <a:r>
              <a:rPr lang="en-US" sz="1100" b="1" dirty="0"/>
              <a:t>Build standard pipeline capable of implementing observability, quality, and metadata </a:t>
            </a:r>
            <a:r>
              <a:rPr lang="en-US" sz="1100" dirty="0"/>
              <a:t>in the new ways GenAI demands, including completeness validation at ingestion, and standardized enrichment</a:t>
            </a:r>
          </a:p>
          <a:p>
            <a:pPr marL="228600" indent="-228600">
              <a:spcBef>
                <a:spcPct val="0"/>
              </a:spcBef>
              <a:buFont typeface="+mj-lt"/>
              <a:buAutoNum type="alphaUcPeriod"/>
            </a:pPr>
            <a:r>
              <a:rPr lang="en-US" sz="1100" b="1" dirty="0"/>
              <a:t>Establish consistent evidence standards, </a:t>
            </a:r>
            <a:r>
              <a:rPr lang="en-US" sz="1100" dirty="0"/>
              <a:t>including end-to-end lineage, tracking of sources and intermediate formats (e.g., transcripts), and shared or reusable data preparation services </a:t>
            </a:r>
          </a:p>
          <a:p>
            <a:pPr marL="228600" indent="-228600">
              <a:spcBef>
                <a:spcPct val="0"/>
              </a:spcBef>
              <a:buFont typeface="+mj-lt"/>
              <a:buAutoNum type="alphaUcPeriod"/>
            </a:pPr>
            <a:r>
              <a:rPr lang="en-US" sz="1100" b="1" dirty="0"/>
              <a:t>Provide multiple governed access paths </a:t>
            </a:r>
            <a:r>
              <a:rPr lang="en-US" sz="1100" dirty="0"/>
              <a:t>(e.g., vectors, keywords, APIs), including sensitivity tags and metadata-based filters, so teams can easily find, filter, and use trusted data while maintaining compliance</a:t>
            </a:r>
          </a:p>
          <a:p>
            <a:pPr>
              <a:spcBef>
                <a:spcPct val="0"/>
              </a:spcBef>
              <a:buNone/>
            </a:pPr>
            <a:r>
              <a:rPr lang="en-US" sz="1100" dirty="0"/>
              <a:t>Without these, current practices will become blockers and fragment implementation as teams largely invent separate solutions, limiting reuse, carrying forward manual compliance checks and slowing overall progress. </a:t>
            </a:r>
            <a:r>
              <a:rPr lang="en-US" sz="1100" b="1" dirty="0"/>
              <a:t>The transcript-summarization use case offers a practical pilot to “run water through the pipes</a:t>
            </a:r>
            <a:r>
              <a:rPr lang="en-US" sz="1100" dirty="0"/>
              <a:t>.” It connects multiple producers and consumers, applies enriched outputs, and drives consistent results from a central model, while demonstrating enterprise capabilities that scale.</a:t>
            </a:r>
            <a:endParaRPr lang="en-US" sz="1100" dirty="0">
              <a:cs typeface="Arial"/>
            </a:endParaRPr>
          </a:p>
        </p:txBody>
      </p:sp>
    </p:spTree>
    <p:custDataLst>
      <p:tags r:id="rId1"/>
    </p:custDataLst>
    <p:extLst>
      <p:ext uri="{BB962C8B-B14F-4D97-AF65-F5344CB8AC3E}">
        <p14:creationId xmlns:p14="http://schemas.microsoft.com/office/powerpoint/2010/main" val="3994802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57D69-7A3A-CC1C-11BB-21E71704215D}"/>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AEF30DF8-CF35-3592-CE81-D0BE6804B6DC}"/>
              </a:ext>
            </a:extLst>
          </p:cNvPr>
          <p:cNvGraphicFramePr>
            <a:graphicFrameLocks noChangeAspect="1"/>
          </p:cNvGraphicFramePr>
          <p:nvPr>
            <p:custDataLst>
              <p:tags r:id="rId2"/>
            </p:custDataLst>
            <p:extLst>
              <p:ext uri="{D42A27DB-BD31-4B8C-83A1-F6EECF244321}">
                <p14:modId xmlns:p14="http://schemas.microsoft.com/office/powerpoint/2010/main" val="2861270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8" name="Object 6" hidden="1">
                        <a:extLst>
                          <a:ext uri="{FF2B5EF4-FFF2-40B4-BE49-F238E27FC236}">
                            <a16:creationId xmlns:a16="http://schemas.microsoft.com/office/drawing/2014/main" id="{AEF30DF8-CF35-3592-CE81-D0BE6804B6D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2. Slide Title">
            <a:extLst>
              <a:ext uri="{FF2B5EF4-FFF2-40B4-BE49-F238E27FC236}">
                <a16:creationId xmlns:a16="http://schemas.microsoft.com/office/drawing/2014/main" id="{9E442AD3-07CF-DE29-3F6D-007A4BE7ED00}"/>
              </a:ext>
            </a:extLst>
          </p:cNvPr>
          <p:cNvSpPr>
            <a:spLocks noGrp="1"/>
          </p:cNvSpPr>
          <p:nvPr>
            <p:ph type="title"/>
            <p:custDataLst>
              <p:tags r:id="rId3"/>
            </p:custDataLst>
          </p:nvPr>
        </p:nvSpPr>
        <p:spPr/>
        <p:txBody>
          <a:bodyPr vert="horz"/>
          <a:lstStyle/>
          <a:p>
            <a:r>
              <a:rPr lang="en-US"/>
              <a:t>Content</a:t>
            </a:r>
          </a:p>
        </p:txBody>
      </p:sp>
      <p:sp>
        <p:nvSpPr>
          <p:cNvPr id="3" name="Subtitle 2">
            <a:extLst>
              <a:ext uri="{FF2B5EF4-FFF2-40B4-BE49-F238E27FC236}">
                <a16:creationId xmlns:a16="http://schemas.microsoft.com/office/drawing/2014/main" id="{8AE3415C-86B5-B421-ECA6-BF47392EA9F8}"/>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FA0E7123-AF65-1969-0209-9CA204B2FB18}"/>
              </a:ext>
            </a:extLst>
          </p:cNvPr>
          <p:cNvSpPr>
            <a:spLocks noGrp="1"/>
          </p:cNvSpPr>
          <p:nvPr>
            <p:ph type="body" sz="quarter" idx="17"/>
          </p:nvPr>
        </p:nvSpPr>
        <p:spPr/>
        <p:txBody>
          <a:bodyPr/>
          <a:lstStyle/>
          <a:p>
            <a:endParaRPr lang="en-US"/>
          </a:p>
        </p:txBody>
      </p:sp>
      <p:sp>
        <p:nvSpPr>
          <p:cNvPr id="17" name="Text Placeholder 4">
            <a:extLst>
              <a:ext uri="{FF2B5EF4-FFF2-40B4-BE49-F238E27FC236}">
                <a16:creationId xmlns:a16="http://schemas.microsoft.com/office/drawing/2014/main" id="{19C70CF2-79FC-FD3F-FAB2-FA425751B73D}"/>
              </a:ext>
            </a:extLst>
          </p:cNvPr>
          <p:cNvSpPr>
            <a:spLocks noGrp="1"/>
          </p:cNvSpPr>
          <p:nvPr>
            <p:custDataLst>
              <p:tags r:id="rId4"/>
            </p:custDataLst>
          </p:nvPr>
        </p:nvSpPr>
        <p:spPr bwMode="auto">
          <a:xfrm>
            <a:off x="5699125" y="2614613"/>
            <a:ext cx="2659063" cy="407988"/>
          </a:xfrm>
          <a:prstGeom prst="rect">
            <a:avLst/>
          </a:prstGeom>
          <a:solidFill>
            <a:schemeClr val="accent1"/>
          </a:solidFill>
          <a:ln>
            <a:noFill/>
          </a:ln>
          <a:effec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lvl="1" indent="0">
              <a:spcBef>
                <a:spcPct val="0"/>
              </a:spcBef>
              <a:spcAft>
                <a:spcPct val="0"/>
              </a:spcAft>
              <a:buNone/>
            </a:pPr>
            <a:r>
              <a:rPr lang="en-US" altLang="en-US" b="1">
                <a:solidFill>
                  <a:schemeClr val="tx2"/>
                </a:solidFill>
                <a:effectLst/>
                <a:cs typeface="+mn-cs"/>
              </a:rPr>
              <a:t>Rubric</a:t>
            </a:r>
            <a:endParaRPr lang="en-US" b="1">
              <a:solidFill>
                <a:schemeClr val="tx2"/>
              </a:solidFill>
              <a:cs typeface="+mn-cs"/>
            </a:endParaRPr>
          </a:p>
        </p:txBody>
      </p:sp>
      <p:sp>
        <p:nvSpPr>
          <p:cNvPr id="9" name="Text Placeholder 4">
            <a:hlinkClick r:id="rId11" action="ppaction://hlinksldjump"/>
            <a:extLst>
              <a:ext uri="{FF2B5EF4-FFF2-40B4-BE49-F238E27FC236}">
                <a16:creationId xmlns:a16="http://schemas.microsoft.com/office/drawing/2014/main" id="{5B0180A0-4442-3107-3A24-432CF7091E74}"/>
              </a:ext>
            </a:extLst>
          </p:cNvPr>
          <p:cNvSpPr>
            <a:spLocks noGrp="1"/>
          </p:cNvSpPr>
          <p:nvPr>
            <p:custDataLst>
              <p:tags r:id="rId5"/>
            </p:custDataLst>
          </p:nvPr>
        </p:nvSpPr>
        <p:spPr bwMode="auto">
          <a:xfrm>
            <a:off x="5699125" y="3022600"/>
            <a:ext cx="2659063"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effectLst/>
                <a:cs typeface="+mn-cs"/>
              </a:rPr>
              <a:t>Current state assessment</a:t>
            </a:r>
            <a:endParaRPr lang="en-US">
              <a:cs typeface="+mn-cs"/>
            </a:endParaRPr>
          </a:p>
        </p:txBody>
      </p:sp>
      <p:sp>
        <p:nvSpPr>
          <p:cNvPr id="11" name="Text Placeholder 4">
            <a:hlinkClick r:id="rId12" action="ppaction://hlinksldjump"/>
            <a:extLst>
              <a:ext uri="{FF2B5EF4-FFF2-40B4-BE49-F238E27FC236}">
                <a16:creationId xmlns:a16="http://schemas.microsoft.com/office/drawing/2014/main" id="{D82212A8-BBA1-02C1-350D-08E6B73321D4}"/>
              </a:ext>
            </a:extLst>
          </p:cNvPr>
          <p:cNvSpPr>
            <a:spLocks noGrp="1"/>
          </p:cNvSpPr>
          <p:nvPr>
            <p:custDataLst>
              <p:tags r:id="rId6"/>
            </p:custDataLst>
          </p:nvPr>
        </p:nvSpPr>
        <p:spPr bwMode="auto">
          <a:xfrm>
            <a:off x="5699125" y="3429000"/>
            <a:ext cx="2659063"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cs typeface="+mn-cs"/>
              </a:rPr>
              <a:t>Peer comparisons</a:t>
            </a:r>
          </a:p>
        </p:txBody>
      </p:sp>
      <p:sp>
        <p:nvSpPr>
          <p:cNvPr id="12" name="Text Placeholder 4">
            <a:hlinkClick r:id="rId13" action="ppaction://hlinksldjump"/>
            <a:extLst>
              <a:ext uri="{FF2B5EF4-FFF2-40B4-BE49-F238E27FC236}">
                <a16:creationId xmlns:a16="http://schemas.microsoft.com/office/drawing/2014/main" id="{23755C2E-4D04-9BB0-F7FE-347B0FE105AA}"/>
              </a:ext>
            </a:extLst>
          </p:cNvPr>
          <p:cNvSpPr>
            <a:spLocks noGrp="1"/>
          </p:cNvSpPr>
          <p:nvPr>
            <p:custDataLst>
              <p:tags r:id="rId7"/>
            </p:custDataLst>
          </p:nvPr>
        </p:nvSpPr>
        <p:spPr bwMode="auto">
          <a:xfrm>
            <a:off x="5699125" y="3835400"/>
            <a:ext cx="2659063"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effectLst/>
                <a:cs typeface="+mn-cs"/>
              </a:rPr>
              <a:t>Potential actions</a:t>
            </a:r>
            <a:endParaRPr lang="en-US">
              <a:cs typeface="+mn-cs"/>
            </a:endParaRPr>
          </a:p>
        </p:txBody>
      </p:sp>
    </p:spTree>
    <p:custDataLst>
      <p:tags r:id="rId1"/>
    </p:custDataLst>
    <p:extLst>
      <p:ext uri="{BB962C8B-B14F-4D97-AF65-F5344CB8AC3E}">
        <p14:creationId xmlns:p14="http://schemas.microsoft.com/office/powerpoint/2010/main" val="1309721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F55F-D0F3-CE78-B0B4-2EE351F6B8AC}"/>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8A16D84C-B564-1B69-EF15-416DE0E2A7EF}"/>
              </a:ext>
            </a:extLst>
          </p:cNvPr>
          <p:cNvGraphicFramePr>
            <a:graphicFrameLocks noChangeAspect="1"/>
          </p:cNvGraphicFramePr>
          <p:nvPr>
            <p:custDataLst>
              <p:tags r:id="rId2"/>
            </p:custDataLst>
            <p:extLst>
              <p:ext uri="{D42A27DB-BD31-4B8C-83A1-F6EECF244321}">
                <p14:modId xmlns:p14="http://schemas.microsoft.com/office/powerpoint/2010/main" val="25956528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2" imgW="7772400" imgH="10058400" progId="TCLayout.ActiveDocument.1">
                  <p:embed/>
                </p:oleObj>
              </mc:Choice>
              <mc:Fallback>
                <p:oleObj name="think-cell Slide" r:id="rId12" imgW="7772400" imgH="10058400" progId="TCLayout.ActiveDocument.1">
                  <p:embed/>
                  <p:pic>
                    <p:nvPicPr>
                      <p:cNvPr id="8" name="Object 6" hidden="1">
                        <a:extLst>
                          <a:ext uri="{FF2B5EF4-FFF2-40B4-BE49-F238E27FC236}">
                            <a16:creationId xmlns:a16="http://schemas.microsoft.com/office/drawing/2014/main" id="{8A16D84C-B564-1B69-EF15-416DE0E2A7EF}"/>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733AB72-FCCC-F5C6-9158-176493F31C09}"/>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a:spAutoFit/>
          </a:bodyPr>
          <a:lstStyle/>
          <a:p>
            <a:r>
              <a:rPr kumimoji="0" lang="en-CA" u="none" strike="noStrike" kern="1200" cap="none" spc="0" normalizeH="0" baseline="0" noProof="0">
                <a:ln w="6350" cap="flat">
                  <a:noFill/>
                  <a:miter lim="800000"/>
                </a:ln>
                <a:effectLst/>
                <a:uLnTx/>
                <a:uFillTx/>
                <a:ea typeface="+mj-lt"/>
                <a:cs typeface="+mj-lt"/>
              </a:rPr>
              <a:t>Reminder: </a:t>
            </a:r>
            <a:r>
              <a:rPr lang="en-CA">
                <a:ea typeface="+mj-lt"/>
                <a:cs typeface="+mj-lt"/>
              </a:rPr>
              <a:t>Assessment of data readiness, reviewed across six dimensions, for both traditional and generative AI</a:t>
            </a:r>
            <a:endParaRPr lang="en-US">
              <a:ea typeface="+mj-lt"/>
              <a:cs typeface="+mj-lt"/>
            </a:endParaRPr>
          </a:p>
        </p:txBody>
      </p:sp>
      <p:sp>
        <p:nvSpPr>
          <p:cNvPr id="11" name="Text Placeholder 10">
            <a:extLst>
              <a:ext uri="{FF2B5EF4-FFF2-40B4-BE49-F238E27FC236}">
                <a16:creationId xmlns:a16="http://schemas.microsoft.com/office/drawing/2014/main" id="{79FEB348-BF8C-0D25-C6B6-7D1A35223098}"/>
              </a:ext>
            </a:extLst>
          </p:cNvPr>
          <p:cNvSpPr>
            <a:spLocks noGrp="1"/>
          </p:cNvSpPr>
          <p:nvPr>
            <p:ph type="body" sz="quarter" idx="17"/>
          </p:nvPr>
        </p:nvSpPr>
        <p:spPr/>
        <p:txBody>
          <a:bodyPr/>
          <a:lstStyle/>
          <a:p>
            <a:endParaRPr lang="en-US"/>
          </a:p>
        </p:txBody>
      </p:sp>
      <p:sp>
        <p:nvSpPr>
          <p:cNvPr id="3" name="Subtitle 2">
            <a:extLst>
              <a:ext uri="{FF2B5EF4-FFF2-40B4-BE49-F238E27FC236}">
                <a16:creationId xmlns:a16="http://schemas.microsoft.com/office/drawing/2014/main" id="{F40EC5D4-7EAE-6BEA-51ED-B95E7EE4FE39}"/>
              </a:ext>
            </a:extLst>
          </p:cNvPr>
          <p:cNvSpPr>
            <a:spLocks noGrp="1"/>
          </p:cNvSpPr>
          <p:nvPr>
            <p:ph type="subTitle" idx="1"/>
          </p:nvPr>
        </p:nvSpPr>
        <p:spPr/>
        <p:txBody>
          <a:bodyPr/>
          <a:lstStyle/>
          <a:p>
            <a:endParaRPr lang="en-US"/>
          </a:p>
        </p:txBody>
      </p:sp>
      <p:sp>
        <p:nvSpPr>
          <p:cNvPr id="4" name="Rounded Rectangle 70">
            <a:extLst>
              <a:ext uri="{FF2B5EF4-FFF2-40B4-BE49-F238E27FC236}">
                <a16:creationId xmlns:a16="http://schemas.microsoft.com/office/drawing/2014/main" id="{3D9DB780-A419-3583-7DE9-2AD0CE8A3CAE}"/>
              </a:ext>
            </a:extLst>
          </p:cNvPr>
          <p:cNvSpPr>
            <a:spLocks/>
          </p:cNvSpPr>
          <p:nvPr/>
        </p:nvSpPr>
        <p:spPr>
          <a:xfrm>
            <a:off x="554736" y="1240631"/>
            <a:ext cx="3599825" cy="2505284"/>
          </a:xfrm>
          <a:prstGeom prst="roundRect">
            <a:avLst>
              <a:gd name="adj" fmla="val 8095"/>
            </a:avLst>
          </a:prstGeom>
          <a:solidFill>
            <a:schemeClr val="accent3"/>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Observability</a:t>
            </a:r>
          </a:p>
        </p:txBody>
      </p:sp>
      <p:sp>
        <p:nvSpPr>
          <p:cNvPr id="5" name="Rounded Rectangle 84">
            <a:extLst>
              <a:ext uri="{FF2B5EF4-FFF2-40B4-BE49-F238E27FC236}">
                <a16:creationId xmlns:a16="http://schemas.microsoft.com/office/drawing/2014/main" id="{63FEB92E-AA86-ADCB-368F-BF66D5926D85}"/>
              </a:ext>
            </a:extLst>
          </p:cNvPr>
          <p:cNvSpPr>
            <a:spLocks/>
          </p:cNvSpPr>
          <p:nvPr/>
        </p:nvSpPr>
        <p:spPr>
          <a:xfrm>
            <a:off x="8037439" y="1240631"/>
            <a:ext cx="3599825" cy="2505284"/>
          </a:xfrm>
          <a:prstGeom prst="roundRect">
            <a:avLst>
              <a:gd name="adj" fmla="val 809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oAutofit/>
          </a:bodyPr>
          <a:lstStyle/>
          <a:p>
            <a:pPr marL="0" marR="0" lvl="0" indent="0" algn="ctr" defTabSz="914400" rtl="0" eaLnBrk="1" fontAlgn="auto" latinLnBrk="0" hangingPunct="1">
              <a:lnSpc>
                <a:spcPts val="25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Metadata Management</a:t>
            </a:r>
          </a:p>
        </p:txBody>
      </p:sp>
      <p:sp>
        <p:nvSpPr>
          <p:cNvPr id="6" name="Rounded Rectangle 90">
            <a:extLst>
              <a:ext uri="{FF2B5EF4-FFF2-40B4-BE49-F238E27FC236}">
                <a16:creationId xmlns:a16="http://schemas.microsoft.com/office/drawing/2014/main" id="{E511F76E-23BE-D502-8734-B0FD17AB5280}"/>
              </a:ext>
            </a:extLst>
          </p:cNvPr>
          <p:cNvSpPr>
            <a:spLocks/>
          </p:cNvSpPr>
          <p:nvPr/>
        </p:nvSpPr>
        <p:spPr>
          <a:xfrm>
            <a:off x="8037439" y="3847927"/>
            <a:ext cx="3599825" cy="2505284"/>
          </a:xfrm>
          <a:prstGeom prst="roundRect">
            <a:avLst>
              <a:gd name="adj" fmla="val 8095"/>
            </a:avLst>
          </a:prstGeom>
          <a:solidFill>
            <a:srgbClr val="5078B1"/>
          </a:solidFill>
          <a:ln>
            <a:solidFill>
              <a:srgbClr val="5078B1"/>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oAutofit/>
          </a:bodyPr>
          <a:lstStyle/>
          <a:p>
            <a:pPr marL="0" marR="0" lvl="0" indent="0" algn="ctr" defTabSz="914400" rtl="0" eaLnBrk="1" fontAlgn="auto" latinLnBrk="0" hangingPunct="1">
              <a:lnSpc>
                <a:spcPts val="25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Platform &amp; Tooling</a:t>
            </a:r>
          </a:p>
        </p:txBody>
      </p:sp>
      <p:sp>
        <p:nvSpPr>
          <p:cNvPr id="7" name="Rounded Rectangle 76">
            <a:extLst>
              <a:ext uri="{FF2B5EF4-FFF2-40B4-BE49-F238E27FC236}">
                <a16:creationId xmlns:a16="http://schemas.microsoft.com/office/drawing/2014/main" id="{3587626B-C98B-78F4-4784-50EAB8E6623E}"/>
              </a:ext>
            </a:extLst>
          </p:cNvPr>
          <p:cNvSpPr>
            <a:spLocks/>
          </p:cNvSpPr>
          <p:nvPr/>
        </p:nvSpPr>
        <p:spPr>
          <a:xfrm>
            <a:off x="4296087" y="3847927"/>
            <a:ext cx="3599825" cy="2505284"/>
          </a:xfrm>
          <a:prstGeom prst="roundRect">
            <a:avLst>
              <a:gd name="adj" fmla="val 8095"/>
            </a:avLst>
          </a:prstGeom>
          <a:solidFill>
            <a:srgbClr val="A0ACB4"/>
          </a:solidFill>
          <a:ln>
            <a:solidFill>
              <a:srgbClr val="A0ACB4"/>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oAutofit/>
          </a:bodyPr>
          <a:lstStyle/>
          <a:p>
            <a:pPr marL="0" marR="0" lvl="0" indent="0" algn="ctr" defTabSz="914400" rtl="0" eaLnBrk="1" fontAlgn="auto" latinLnBrk="0" hangingPunct="1">
              <a:lnSpc>
                <a:spcPts val="25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Governance &amp; Controls </a:t>
            </a:r>
          </a:p>
        </p:txBody>
      </p:sp>
      <p:sp>
        <p:nvSpPr>
          <p:cNvPr id="9" name="Text Placeholder 2">
            <a:extLst>
              <a:ext uri="{FF2B5EF4-FFF2-40B4-BE49-F238E27FC236}">
                <a16:creationId xmlns:a16="http://schemas.microsoft.com/office/drawing/2014/main" id="{3D7FA2A0-A9DF-2663-6296-6A5A4034102D}"/>
              </a:ext>
            </a:extLst>
          </p:cNvPr>
          <p:cNvSpPr txBox="1">
            <a:spLocks/>
          </p:cNvSpPr>
          <p:nvPr/>
        </p:nvSpPr>
        <p:spPr>
          <a:xfrm>
            <a:off x="1348165" y="4307923"/>
            <a:ext cx="2592897" cy="385259"/>
          </a:xfrm>
          <a:prstGeom prst="rect">
            <a:avLst/>
          </a:prstGeom>
          <a:noFill/>
          <a:ln>
            <a:noFill/>
          </a:ln>
        </p:spPr>
        <p:txBody>
          <a:bodyPr vert="horz" wrap="square" lIns="0" tIns="45720" rIns="0" bIns="0" rtlCol="0" anchor="t">
            <a:noAutofit/>
          </a:bodyPr>
          <a:lstStyle>
            <a:lvl1pPr marL="0" indent="0" algn="l" defTabSz="1097280" rtl="0" eaLnBrk="1" latinLnBrk="0" hangingPunct="1">
              <a:lnSpc>
                <a:spcPct val="95000"/>
              </a:lnSpc>
              <a:spcBef>
                <a:spcPts val="1200"/>
              </a:spcBef>
              <a:buClr>
                <a:schemeClr val="tx2"/>
              </a:buClr>
              <a:buSzPct val="80000"/>
              <a:buFont typeface="Wingdings" panose="05000000000000000000" pitchFamily="2" charset="2"/>
              <a:buNone/>
              <a:defRPr sz="2400" kern="1200">
                <a:solidFill>
                  <a:schemeClr val="bg1"/>
                </a:solidFill>
                <a:latin typeface="+mn-lt"/>
                <a:ea typeface="+mn-ea"/>
                <a:cs typeface="+mn-cs"/>
              </a:defRPr>
            </a:lvl1pPr>
            <a:lvl2pPr marL="617220" indent="-270510" algn="l" defTabSz="1097280" rtl="0" eaLnBrk="1" latinLnBrk="0" hangingPunct="1">
              <a:lnSpc>
                <a:spcPct val="90000"/>
              </a:lnSpc>
              <a:spcBef>
                <a:spcPts val="1200"/>
              </a:spcBef>
              <a:buClr>
                <a:schemeClr val="bg2"/>
              </a:buClr>
              <a:buFont typeface="Charles Modern" panose="020B0503040503020204" pitchFamily="34" charset="0"/>
              <a:buChar char="–"/>
              <a:defRPr sz="2160" kern="1200">
                <a:solidFill>
                  <a:schemeClr val="tx1"/>
                </a:solidFill>
                <a:latin typeface="+mn-lt"/>
                <a:ea typeface="+mn-ea"/>
                <a:cs typeface="+mn-cs"/>
              </a:defRPr>
            </a:lvl2pPr>
            <a:lvl3pPr marL="962026" indent="-274320" algn="l" defTabSz="1097280" rtl="0" eaLnBrk="1" latinLnBrk="0" hangingPunct="1">
              <a:lnSpc>
                <a:spcPct val="90000"/>
              </a:lnSpc>
              <a:spcBef>
                <a:spcPts val="1200"/>
              </a:spcBef>
              <a:buClr>
                <a:schemeClr val="bg2"/>
              </a:buClr>
              <a:buFont typeface="Charles Modern" panose="020B0503040503020204" pitchFamily="34" charset="0"/>
              <a:buChar char="–"/>
              <a:defRPr sz="2160" kern="1200">
                <a:solidFill>
                  <a:schemeClr val="tx1"/>
                </a:solidFill>
                <a:latin typeface="+mn-lt"/>
                <a:ea typeface="+mn-ea"/>
                <a:cs typeface="+mn-cs"/>
              </a:defRPr>
            </a:lvl3pPr>
            <a:lvl4pPr marL="1906" indent="-1906" algn="l" defTabSz="1097280" rtl="0" eaLnBrk="1" latinLnBrk="0" hangingPunct="1">
              <a:lnSpc>
                <a:spcPct val="90000"/>
              </a:lnSpc>
              <a:spcBef>
                <a:spcPts val="2880"/>
              </a:spcBef>
              <a:buFont typeface="Arial" panose="020B0604020202020204" pitchFamily="34" charset="0"/>
              <a:buChar char="​"/>
              <a:defRPr sz="2880" kern="1200">
                <a:solidFill>
                  <a:schemeClr val="tx1"/>
                </a:solidFill>
                <a:latin typeface="+mn-lt"/>
                <a:ea typeface="+mn-ea"/>
                <a:cs typeface="+mn-cs"/>
              </a:defRPr>
            </a:lvl4pPr>
            <a:lvl5pPr marL="1906" indent="-1906" algn="l" defTabSz="1097280" rtl="0" eaLnBrk="1" latinLnBrk="0" hangingPunct="1">
              <a:lnSpc>
                <a:spcPct val="90000"/>
              </a:lnSpc>
              <a:spcBef>
                <a:spcPts val="2160"/>
              </a:spcBef>
              <a:buFont typeface="Arial" panose="020B0604020202020204" pitchFamily="34" charset="0"/>
              <a:buChar char="​"/>
              <a:defRPr sz="3360" kern="1200" baseline="0">
                <a:solidFill>
                  <a:schemeClr val="tx1"/>
                </a:solidFill>
                <a:latin typeface="+mn-lt"/>
                <a:ea typeface="+mn-ea"/>
                <a:cs typeface="+mn-cs"/>
              </a:defRPr>
            </a:lvl5pPr>
            <a:lvl6pPr marL="0" indent="1906" algn="l" defTabSz="1097280" rtl="0" eaLnBrk="1" latinLnBrk="0" hangingPunct="1">
              <a:lnSpc>
                <a:spcPct val="98000"/>
              </a:lnSpc>
              <a:spcBef>
                <a:spcPts val="0"/>
              </a:spcBef>
              <a:buFont typeface="Arial" panose="020B0604020202020204" pitchFamily="34" charset="0"/>
              <a:buChar char="​"/>
              <a:defRPr sz="1920" kern="1200">
                <a:solidFill>
                  <a:schemeClr val="tx1"/>
                </a:solidFill>
                <a:latin typeface="+mn-lt"/>
                <a:ea typeface="+mn-ea"/>
                <a:cs typeface="+mn-cs"/>
              </a:defRPr>
            </a:lvl6pPr>
            <a:lvl7pPr marL="1906" indent="-1906" algn="l" defTabSz="1097280" rtl="0" eaLnBrk="1" latinLnBrk="0" hangingPunct="1">
              <a:lnSpc>
                <a:spcPct val="90000"/>
              </a:lnSpc>
              <a:spcBef>
                <a:spcPts val="1200"/>
              </a:spcBef>
              <a:buFont typeface="Arial" panose="020B0604020202020204" pitchFamily="34" charset="0"/>
              <a:buChar char="​"/>
              <a:defRPr sz="2400" b="0" kern="1200">
                <a:solidFill>
                  <a:schemeClr val="tx2"/>
                </a:solidFill>
                <a:latin typeface="+mn-lt"/>
                <a:ea typeface="+mn-ea"/>
                <a:cs typeface="+mn-cs"/>
              </a:defRPr>
            </a:lvl7pPr>
            <a:lvl8pPr marL="0" indent="1906" algn="l" defTabSz="1097280" rtl="0" eaLnBrk="1" latinLnBrk="0" hangingPunct="1">
              <a:lnSpc>
                <a:spcPct val="90000"/>
              </a:lnSpc>
              <a:spcBef>
                <a:spcPts val="0"/>
              </a:spcBef>
              <a:buFont typeface="Arial" panose="020B0604020202020204" pitchFamily="34" charset="0"/>
              <a:buChar char="​"/>
              <a:defRPr sz="2160" kern="1200" cap="none" baseline="0">
                <a:solidFill>
                  <a:schemeClr val="tx1"/>
                </a:solidFill>
                <a:latin typeface="+mn-lt"/>
                <a:ea typeface="+mn-ea"/>
                <a:cs typeface="+mn-cs"/>
              </a:defRPr>
            </a:lvl8pPr>
            <a:lvl9pPr marL="1906" indent="-1906" algn="l" defTabSz="1097280" rtl="0" eaLnBrk="1" latinLnBrk="0" hangingPunct="1">
              <a:lnSpc>
                <a:spcPct val="75000"/>
              </a:lnSpc>
              <a:spcBef>
                <a:spcPts val="2160"/>
              </a:spcBef>
              <a:buFont typeface="Arial" panose="020B0604020202020204" pitchFamily="34" charset="0"/>
              <a:buChar char="​"/>
              <a:defRPr sz="6600" kern="1200">
                <a:solidFill>
                  <a:schemeClr val="tx2"/>
                </a:solidFill>
                <a:latin typeface="+mn-lt"/>
                <a:ea typeface="+mn-ea"/>
                <a:cs typeface="+mn-cs"/>
              </a:defRPr>
            </a:lvl9pPr>
          </a:lstStyle>
          <a:p>
            <a:pPr marL="0" marR="0" lvl="0" indent="0" algn="l" defTabSz="914363" rtl="0" eaLnBrk="1" fontAlgn="base" latinLnBrk="0" hangingPunct="1">
              <a:lnSpc>
                <a:spcPct val="95000"/>
              </a:lnSpc>
              <a:spcBef>
                <a:spcPts val="630"/>
              </a:spcBef>
              <a:spcAft>
                <a:spcPct val="0"/>
              </a:spcAft>
              <a:buClr>
                <a:srgbClr val="00A0DF"/>
              </a:buClr>
              <a:buSzPct val="80000"/>
              <a:buFont typeface="Wingdings" panose="05000000000000000000" pitchFamily="2" charset="2"/>
              <a:buNone/>
              <a:tabLst/>
              <a:defRPr/>
            </a:pPr>
            <a:endParaRPr kumimoji="0" lang="en-US" sz="1050" b="0" i="0" u="none" strike="noStrike" kern="1200" cap="none" spc="0" normalizeH="0" baseline="0" noProof="0">
              <a:ln>
                <a:noFill/>
              </a:ln>
              <a:solidFill>
                <a:srgbClr val="FFFFFF"/>
              </a:solidFill>
              <a:effectLst/>
              <a:uLnTx/>
              <a:uFillTx/>
              <a:latin typeface="Arial"/>
              <a:ea typeface="+mn-ea"/>
              <a:cs typeface="+mn-cs"/>
            </a:endParaRPr>
          </a:p>
        </p:txBody>
      </p:sp>
      <p:sp>
        <p:nvSpPr>
          <p:cNvPr id="10" name="Oval 9">
            <a:extLst>
              <a:ext uri="{FF2B5EF4-FFF2-40B4-BE49-F238E27FC236}">
                <a16:creationId xmlns:a16="http://schemas.microsoft.com/office/drawing/2014/main" id="{0D6AA94B-6713-7747-5F7A-D55C96D9C73F}"/>
              </a:ext>
            </a:extLst>
          </p:cNvPr>
          <p:cNvSpPr>
            <a:spLocks/>
          </p:cNvSpPr>
          <p:nvPr/>
        </p:nvSpPr>
        <p:spPr>
          <a:xfrm>
            <a:off x="733167" y="1339450"/>
            <a:ext cx="310907" cy="317828"/>
          </a:xfrm>
          <a:prstGeom prst="ellipse">
            <a:avLst/>
          </a:prstGeom>
          <a:solidFill>
            <a:schemeClr val="accent3"/>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A</a:t>
            </a:r>
          </a:p>
        </p:txBody>
      </p:sp>
      <p:sp>
        <p:nvSpPr>
          <p:cNvPr id="12" name="Oval 11">
            <a:extLst>
              <a:ext uri="{FF2B5EF4-FFF2-40B4-BE49-F238E27FC236}">
                <a16:creationId xmlns:a16="http://schemas.microsoft.com/office/drawing/2014/main" id="{785DC743-5AE5-6E6C-2F7D-FC8707E459D2}"/>
              </a:ext>
            </a:extLst>
          </p:cNvPr>
          <p:cNvSpPr>
            <a:spLocks/>
          </p:cNvSpPr>
          <p:nvPr/>
        </p:nvSpPr>
        <p:spPr>
          <a:xfrm>
            <a:off x="8215871" y="1339450"/>
            <a:ext cx="310907" cy="317828"/>
          </a:xfrm>
          <a:prstGeom prst="ellipse">
            <a:avLst/>
          </a:prstGeom>
          <a:solidFill>
            <a:schemeClr val="tx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C</a:t>
            </a:r>
          </a:p>
        </p:txBody>
      </p:sp>
      <p:sp>
        <p:nvSpPr>
          <p:cNvPr id="15" name="Rounded Rectangle 74">
            <a:extLst>
              <a:ext uri="{FF2B5EF4-FFF2-40B4-BE49-F238E27FC236}">
                <a16:creationId xmlns:a16="http://schemas.microsoft.com/office/drawing/2014/main" id="{62C8DED9-DDA0-7501-0E1A-DE9114134D26}"/>
              </a:ext>
            </a:extLst>
          </p:cNvPr>
          <p:cNvSpPr>
            <a:spLocks/>
          </p:cNvSpPr>
          <p:nvPr/>
        </p:nvSpPr>
        <p:spPr>
          <a:xfrm>
            <a:off x="554736" y="3847927"/>
            <a:ext cx="3599825" cy="2505284"/>
          </a:xfrm>
          <a:prstGeom prst="roundRect">
            <a:avLst>
              <a:gd name="adj" fmla="val 8095"/>
            </a:avLst>
          </a:prstGeom>
          <a:solidFill>
            <a:srgbClr val="005E83"/>
          </a:solidFill>
          <a:ln>
            <a:solidFill>
              <a:srgbClr val="005E83"/>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Data Lineage</a:t>
            </a:r>
          </a:p>
        </p:txBody>
      </p:sp>
      <p:sp>
        <p:nvSpPr>
          <p:cNvPr id="16" name="Oval 15">
            <a:extLst>
              <a:ext uri="{FF2B5EF4-FFF2-40B4-BE49-F238E27FC236}">
                <a16:creationId xmlns:a16="http://schemas.microsoft.com/office/drawing/2014/main" id="{793ADA29-5EE9-1FA4-E244-A2D1AC973CC6}"/>
              </a:ext>
            </a:extLst>
          </p:cNvPr>
          <p:cNvSpPr>
            <a:spLocks/>
          </p:cNvSpPr>
          <p:nvPr/>
        </p:nvSpPr>
        <p:spPr>
          <a:xfrm>
            <a:off x="733167" y="3971022"/>
            <a:ext cx="310907" cy="317828"/>
          </a:xfrm>
          <a:prstGeom prst="ellipse">
            <a:avLst/>
          </a:prstGeom>
          <a:solidFill>
            <a:srgbClr val="005E83"/>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D</a:t>
            </a:r>
          </a:p>
        </p:txBody>
      </p:sp>
      <p:sp>
        <p:nvSpPr>
          <p:cNvPr id="19" name="Oval 18">
            <a:extLst>
              <a:ext uri="{FF2B5EF4-FFF2-40B4-BE49-F238E27FC236}">
                <a16:creationId xmlns:a16="http://schemas.microsoft.com/office/drawing/2014/main" id="{FDABC88D-9176-57CD-E640-68DB83A71727}"/>
              </a:ext>
            </a:extLst>
          </p:cNvPr>
          <p:cNvSpPr>
            <a:spLocks/>
          </p:cNvSpPr>
          <p:nvPr/>
        </p:nvSpPr>
        <p:spPr>
          <a:xfrm>
            <a:off x="8215871" y="3971022"/>
            <a:ext cx="310907" cy="317828"/>
          </a:xfrm>
          <a:prstGeom prst="ellipse">
            <a:avLst/>
          </a:prstGeom>
          <a:solidFill>
            <a:srgbClr val="5078B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F</a:t>
            </a:r>
          </a:p>
        </p:txBody>
      </p:sp>
      <p:sp>
        <p:nvSpPr>
          <p:cNvPr id="20" name="Oval 19">
            <a:extLst>
              <a:ext uri="{FF2B5EF4-FFF2-40B4-BE49-F238E27FC236}">
                <a16:creationId xmlns:a16="http://schemas.microsoft.com/office/drawing/2014/main" id="{681CA1A4-C02A-3E75-78E5-D1016AC1AE52}"/>
              </a:ext>
            </a:extLst>
          </p:cNvPr>
          <p:cNvSpPr>
            <a:spLocks/>
          </p:cNvSpPr>
          <p:nvPr/>
        </p:nvSpPr>
        <p:spPr>
          <a:xfrm>
            <a:off x="4474518" y="3971022"/>
            <a:ext cx="310907" cy="317828"/>
          </a:xfrm>
          <a:prstGeom prst="ellipse">
            <a:avLst/>
          </a:prstGeom>
          <a:solidFill>
            <a:srgbClr val="A0ABB4"/>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E</a:t>
            </a:r>
          </a:p>
        </p:txBody>
      </p:sp>
      <p:sp>
        <p:nvSpPr>
          <p:cNvPr id="22" name="Rounded Rectangle 75">
            <a:extLst>
              <a:ext uri="{FF2B5EF4-FFF2-40B4-BE49-F238E27FC236}">
                <a16:creationId xmlns:a16="http://schemas.microsoft.com/office/drawing/2014/main" id="{5A7D0C2E-AB15-1B55-A182-A3F9F3DE00F1}"/>
              </a:ext>
            </a:extLst>
          </p:cNvPr>
          <p:cNvSpPr>
            <a:spLocks/>
          </p:cNvSpPr>
          <p:nvPr/>
        </p:nvSpPr>
        <p:spPr>
          <a:xfrm>
            <a:off x="4296087" y="1240631"/>
            <a:ext cx="3599825" cy="2505284"/>
          </a:xfrm>
          <a:prstGeom prst="roundRect">
            <a:avLst>
              <a:gd name="adj" fmla="val 8095"/>
            </a:avLst>
          </a:prstGeom>
          <a:solidFill>
            <a:srgbClr val="00A0DF"/>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noAutofit/>
          </a:bodyPr>
          <a:lstStyle/>
          <a:p>
            <a:pPr marL="0" marR="0" lvl="0" indent="0" algn="ctr" defTabSz="914400" rtl="0" eaLnBrk="1" fontAlgn="auto" latinLnBrk="0" hangingPunct="1">
              <a:lnSpc>
                <a:spcPts val="25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Data Type &amp; Quality</a:t>
            </a:r>
          </a:p>
        </p:txBody>
      </p:sp>
      <p:sp>
        <p:nvSpPr>
          <p:cNvPr id="23" name="Oval 22">
            <a:extLst>
              <a:ext uri="{FF2B5EF4-FFF2-40B4-BE49-F238E27FC236}">
                <a16:creationId xmlns:a16="http://schemas.microsoft.com/office/drawing/2014/main" id="{7867CAAB-0940-FC9F-918C-A47AFFF31F21}"/>
              </a:ext>
            </a:extLst>
          </p:cNvPr>
          <p:cNvSpPr>
            <a:spLocks/>
          </p:cNvSpPr>
          <p:nvPr/>
        </p:nvSpPr>
        <p:spPr>
          <a:xfrm>
            <a:off x="4474518" y="1339450"/>
            <a:ext cx="310907" cy="317828"/>
          </a:xfrm>
          <a:prstGeom prst="ellipse">
            <a:avLst/>
          </a:prstGeom>
          <a:solidFill>
            <a:srgbClr val="00A0DF"/>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B</a:t>
            </a:r>
          </a:p>
        </p:txBody>
      </p:sp>
      <p:sp>
        <p:nvSpPr>
          <p:cNvPr id="26" name="TextBox 25">
            <a:extLst>
              <a:ext uri="{FF2B5EF4-FFF2-40B4-BE49-F238E27FC236}">
                <a16:creationId xmlns:a16="http://schemas.microsoft.com/office/drawing/2014/main" id="{4A19E713-CE5B-8E5D-2FD8-252C987F6496}"/>
              </a:ext>
            </a:extLst>
          </p:cNvPr>
          <p:cNvSpPr txBox="1">
            <a:spLocks/>
          </p:cNvSpPr>
          <p:nvPr/>
        </p:nvSpPr>
        <p:spPr>
          <a:xfrm>
            <a:off x="733167" y="1811561"/>
            <a:ext cx="3242962" cy="80021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Logs, metrics, traces</a:t>
            </a:r>
          </a:p>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SLO and SLA monitoring</a:t>
            </a:r>
          </a:p>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Monitoring of anomaly detection and quality enforcement </a:t>
            </a:r>
          </a:p>
        </p:txBody>
      </p:sp>
      <p:sp>
        <p:nvSpPr>
          <p:cNvPr id="28" name="TextBox 27">
            <a:extLst>
              <a:ext uri="{FF2B5EF4-FFF2-40B4-BE49-F238E27FC236}">
                <a16:creationId xmlns:a16="http://schemas.microsoft.com/office/drawing/2014/main" id="{327ACB41-A9A9-1447-F8E7-8F3605FB20AE}"/>
              </a:ext>
            </a:extLst>
          </p:cNvPr>
          <p:cNvSpPr txBox="1">
            <a:spLocks/>
          </p:cNvSpPr>
          <p:nvPr/>
        </p:nvSpPr>
        <p:spPr>
          <a:xfrm>
            <a:off x="4474518" y="1811561"/>
            <a:ext cx="3242962" cy="138499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Validity and uniqueness</a:t>
            </a:r>
          </a:p>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Accuracy and consistency</a:t>
            </a:r>
          </a:p>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Completeness</a:t>
            </a:r>
          </a:p>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Freshness and timeliness</a:t>
            </a:r>
          </a:p>
          <a:p>
            <a:pPr marL="228600" marR="0" lvl="0" indent="-228600" algn="l" defTabSz="914400" rtl="0" eaLnBrk="1" fontAlgn="auto" latinLnBrk="0" hangingPunct="1">
              <a:lnSpc>
                <a:spcPct val="100000"/>
              </a:lnSpc>
              <a:spcBef>
                <a:spcPts val="300"/>
              </a:spcBef>
              <a:spcAft>
                <a:spcPts val="300"/>
              </a:spcAft>
              <a:buClr>
                <a:schemeClr val="bg1"/>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Sensitivity tags</a:t>
            </a:r>
          </a:p>
        </p:txBody>
      </p:sp>
      <p:sp>
        <p:nvSpPr>
          <p:cNvPr id="32" name="TextBox 31">
            <a:extLst>
              <a:ext uri="{FF2B5EF4-FFF2-40B4-BE49-F238E27FC236}">
                <a16:creationId xmlns:a16="http://schemas.microsoft.com/office/drawing/2014/main" id="{3EA38E71-EC5F-1E54-6A5C-0ED93B75F836}"/>
              </a:ext>
            </a:extLst>
          </p:cNvPr>
          <p:cNvSpPr txBox="1">
            <a:spLocks/>
          </p:cNvSpPr>
          <p:nvPr/>
        </p:nvSpPr>
        <p:spPr>
          <a:xfrm>
            <a:off x="8215871" y="1811561"/>
            <a:ext cx="3242962" cy="152349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Catalog</a:t>
            </a:r>
            <a:r>
              <a:rPr lang="en-US" sz="1400" dirty="0">
                <a:solidFill>
                  <a:srgbClr val="FFFFFF"/>
                </a:solidFill>
                <a:latin typeface="Arial"/>
              </a:rPr>
              <a:t> and</a:t>
            </a:r>
            <a:r>
              <a:rPr kumimoji="0" lang="en-US" sz="14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 glossary</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Knowledge management (e.g., ontology, taxonomy)</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Schemas and data contracts</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Context tags (e.g., client, account, portfolio, segment)</a:t>
            </a:r>
          </a:p>
        </p:txBody>
      </p:sp>
      <p:sp>
        <p:nvSpPr>
          <p:cNvPr id="34" name="TextBox 33">
            <a:extLst>
              <a:ext uri="{FF2B5EF4-FFF2-40B4-BE49-F238E27FC236}">
                <a16:creationId xmlns:a16="http://schemas.microsoft.com/office/drawing/2014/main" id="{4132A1F8-010C-D170-6BB3-B4C300AAF80A}"/>
              </a:ext>
            </a:extLst>
          </p:cNvPr>
          <p:cNvSpPr txBox="1">
            <a:spLocks/>
          </p:cNvSpPr>
          <p:nvPr/>
        </p:nvSpPr>
        <p:spPr>
          <a:xfrm>
            <a:off x="8215871" y="4443133"/>
            <a:ext cx="3242962" cy="166199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Ingestion and integration for structured and unstructured pipelines and labeling (extraction, chunking)</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Feature store, vector store, search</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DevOps and CI/CD for data, model across environments (e.g., dev, test, prod)</a:t>
            </a:r>
          </a:p>
        </p:txBody>
      </p:sp>
      <p:sp>
        <p:nvSpPr>
          <p:cNvPr id="36" name="TextBox 35">
            <a:extLst>
              <a:ext uri="{FF2B5EF4-FFF2-40B4-BE49-F238E27FC236}">
                <a16:creationId xmlns:a16="http://schemas.microsoft.com/office/drawing/2014/main" id="{975F617C-FBDD-668A-FC26-0FD80CF2789E}"/>
              </a:ext>
            </a:extLst>
          </p:cNvPr>
          <p:cNvSpPr txBox="1">
            <a:spLocks/>
          </p:cNvSpPr>
          <p:nvPr/>
        </p:nvSpPr>
        <p:spPr>
          <a:xfrm>
            <a:off x="4474518" y="4443133"/>
            <a:ext cx="3242962" cy="130805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Ownership and stewardship</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Access management</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Policies, standards, audit</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Security, privacy and risk management</a:t>
            </a:r>
          </a:p>
        </p:txBody>
      </p:sp>
      <p:sp>
        <p:nvSpPr>
          <p:cNvPr id="38" name="TextBox 37">
            <a:extLst>
              <a:ext uri="{FF2B5EF4-FFF2-40B4-BE49-F238E27FC236}">
                <a16:creationId xmlns:a16="http://schemas.microsoft.com/office/drawing/2014/main" id="{A7DC64D5-91C7-BD46-8246-E203D6A78020}"/>
              </a:ext>
            </a:extLst>
          </p:cNvPr>
          <p:cNvSpPr txBox="1">
            <a:spLocks/>
          </p:cNvSpPr>
          <p:nvPr/>
        </p:nvSpPr>
        <p:spPr>
          <a:xfrm>
            <a:off x="733167" y="4443133"/>
            <a:ext cx="3242962" cy="181588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End-to-end (e.g., source, transform, serve)</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Version and change (e.g., who, what, when) (data)</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Consent and purpose tagging</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Code and feature store (logic)</a:t>
            </a:r>
          </a:p>
          <a:p>
            <a:pPr marL="228600" marR="0" lvl="0" indent="-228600" algn="l" defTabSz="914400" rtl="0" eaLnBrk="1" fontAlgn="auto" latinLnBrk="0" hangingPunct="1">
              <a:lnSpc>
                <a:spcPct val="100000"/>
              </a:lnSpc>
              <a:spcBef>
                <a:spcPts val="300"/>
              </a:spcBef>
              <a:spcAft>
                <a:spcPts val="300"/>
              </a:spcAft>
              <a:buClr>
                <a:srgbClr val="FFFFFF"/>
              </a:buClr>
              <a:buSzPct val="100000"/>
              <a:buFont typeface="+mj-lt"/>
              <a:buAutoNum type="arabicPeriod"/>
              <a:tabLst/>
              <a:defRPr/>
            </a:pPr>
            <a:r>
              <a:rPr kumimoji="0" lang="en-US" sz="14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Model input traceability</a:t>
            </a:r>
          </a:p>
        </p:txBody>
      </p:sp>
      <p:cxnSp>
        <p:nvCxnSpPr>
          <p:cNvPr id="40" name="GreyLineSeparatorDefault 41">
            <a:extLst>
              <a:ext uri="{FF2B5EF4-FFF2-40B4-BE49-F238E27FC236}">
                <a16:creationId xmlns:a16="http://schemas.microsoft.com/office/drawing/2014/main" id="{4D446140-2385-5259-A996-0B957E757A56}"/>
              </a:ext>
            </a:extLst>
          </p:cNvPr>
          <p:cNvCxnSpPr>
            <a:cxnSpLocks/>
          </p:cNvCxnSpPr>
          <p:nvPr>
            <p:custDataLst>
              <p:tags r:id="rId4"/>
            </p:custDataLst>
          </p:nvPr>
        </p:nvCxnSpPr>
        <p:spPr>
          <a:xfrm>
            <a:off x="733167" y="1746825"/>
            <a:ext cx="3242962" cy="0"/>
          </a:xfrm>
          <a:prstGeom prst="straightConnector1">
            <a:avLst/>
          </a:prstGeom>
          <a:ln w="12700" cap="flat">
            <a:solidFill>
              <a:srgbClr val="FFFF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GreyLineSeparatorDefault 41">
            <a:extLst>
              <a:ext uri="{FF2B5EF4-FFF2-40B4-BE49-F238E27FC236}">
                <a16:creationId xmlns:a16="http://schemas.microsoft.com/office/drawing/2014/main" id="{5EF8DFD0-BE71-3A33-16B2-78F71F029CD7}"/>
              </a:ext>
            </a:extLst>
          </p:cNvPr>
          <p:cNvCxnSpPr>
            <a:cxnSpLocks/>
          </p:cNvCxnSpPr>
          <p:nvPr>
            <p:custDataLst>
              <p:tags r:id="rId5"/>
            </p:custDataLst>
          </p:nvPr>
        </p:nvCxnSpPr>
        <p:spPr>
          <a:xfrm>
            <a:off x="4474518" y="1746825"/>
            <a:ext cx="3242962" cy="0"/>
          </a:xfrm>
          <a:prstGeom prst="straightConnector1">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GreyLineSeparatorDefault 41">
            <a:extLst>
              <a:ext uri="{FF2B5EF4-FFF2-40B4-BE49-F238E27FC236}">
                <a16:creationId xmlns:a16="http://schemas.microsoft.com/office/drawing/2014/main" id="{672AAFC6-661E-2F97-760B-81089B28F898}"/>
              </a:ext>
            </a:extLst>
          </p:cNvPr>
          <p:cNvCxnSpPr>
            <a:cxnSpLocks/>
          </p:cNvCxnSpPr>
          <p:nvPr>
            <p:custDataLst>
              <p:tags r:id="rId6"/>
            </p:custDataLst>
          </p:nvPr>
        </p:nvCxnSpPr>
        <p:spPr>
          <a:xfrm>
            <a:off x="8215871" y="1746825"/>
            <a:ext cx="3242962" cy="0"/>
          </a:xfrm>
          <a:prstGeom prst="straightConnector1">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GreyLineSeparatorDefault 41">
            <a:extLst>
              <a:ext uri="{FF2B5EF4-FFF2-40B4-BE49-F238E27FC236}">
                <a16:creationId xmlns:a16="http://schemas.microsoft.com/office/drawing/2014/main" id="{93B17D55-048A-70B4-77A9-04D2330F9784}"/>
              </a:ext>
            </a:extLst>
          </p:cNvPr>
          <p:cNvCxnSpPr>
            <a:cxnSpLocks/>
          </p:cNvCxnSpPr>
          <p:nvPr>
            <p:custDataLst>
              <p:tags r:id="rId7"/>
            </p:custDataLst>
          </p:nvPr>
        </p:nvCxnSpPr>
        <p:spPr>
          <a:xfrm>
            <a:off x="733167" y="4371604"/>
            <a:ext cx="3242962" cy="0"/>
          </a:xfrm>
          <a:prstGeom prst="straightConnector1">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GreyLineSeparatorDefault 41">
            <a:extLst>
              <a:ext uri="{FF2B5EF4-FFF2-40B4-BE49-F238E27FC236}">
                <a16:creationId xmlns:a16="http://schemas.microsoft.com/office/drawing/2014/main" id="{5B2D8C0C-F236-D97D-A86A-6EFB4A0A0ADF}"/>
              </a:ext>
            </a:extLst>
          </p:cNvPr>
          <p:cNvCxnSpPr>
            <a:cxnSpLocks/>
          </p:cNvCxnSpPr>
          <p:nvPr>
            <p:custDataLst>
              <p:tags r:id="rId8"/>
            </p:custDataLst>
          </p:nvPr>
        </p:nvCxnSpPr>
        <p:spPr>
          <a:xfrm>
            <a:off x="4474518" y="4371604"/>
            <a:ext cx="3242962" cy="0"/>
          </a:xfrm>
          <a:prstGeom prst="straightConnector1">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7" name="GreyLineSeparatorDefault 41">
            <a:extLst>
              <a:ext uri="{FF2B5EF4-FFF2-40B4-BE49-F238E27FC236}">
                <a16:creationId xmlns:a16="http://schemas.microsoft.com/office/drawing/2014/main" id="{6C031B11-2F9C-7E3B-C090-50D78D40CB2B}"/>
              </a:ext>
            </a:extLst>
          </p:cNvPr>
          <p:cNvCxnSpPr>
            <a:cxnSpLocks/>
          </p:cNvCxnSpPr>
          <p:nvPr>
            <p:custDataLst>
              <p:tags r:id="rId9"/>
            </p:custDataLst>
          </p:nvPr>
        </p:nvCxnSpPr>
        <p:spPr>
          <a:xfrm>
            <a:off x="8215871" y="4371604"/>
            <a:ext cx="3242962" cy="0"/>
          </a:xfrm>
          <a:prstGeom prst="straightConnector1">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482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6BF1-7558-FF8A-759B-E9F40B3611C5}"/>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24DA4C4F-78AE-7CA7-1626-1F546E282B26}"/>
              </a:ext>
            </a:extLst>
          </p:cNvPr>
          <p:cNvGraphicFramePr>
            <a:graphicFrameLocks noChangeAspect="1"/>
          </p:cNvGraphicFramePr>
          <p:nvPr>
            <p:custDataLst>
              <p:tags r:id="rId2"/>
            </p:custDataLst>
            <p:extLst>
              <p:ext uri="{D42A27DB-BD31-4B8C-83A1-F6EECF244321}">
                <p14:modId xmlns:p14="http://schemas.microsoft.com/office/powerpoint/2010/main" val="1846533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5" name="Object 6" hidden="1">
                        <a:extLst>
                          <a:ext uri="{FF2B5EF4-FFF2-40B4-BE49-F238E27FC236}">
                            <a16:creationId xmlns:a16="http://schemas.microsoft.com/office/drawing/2014/main" id="{24DA4C4F-78AE-7CA7-1626-1F546E282B2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21FFD3DE-9A67-8D86-9E8B-68578A7FFE5F}"/>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dirty="0"/>
              <a:t>A. Observability dimension rubric</a:t>
            </a:r>
          </a:p>
        </p:txBody>
      </p:sp>
      <p:sp>
        <p:nvSpPr>
          <p:cNvPr id="6" name="Text Placeholder 5">
            <a:extLst>
              <a:ext uri="{FF2B5EF4-FFF2-40B4-BE49-F238E27FC236}">
                <a16:creationId xmlns:a16="http://schemas.microsoft.com/office/drawing/2014/main" id="{0B1C98DF-3253-1691-9DB0-C74C097B3B1B}"/>
              </a:ext>
            </a:extLst>
          </p:cNvPr>
          <p:cNvSpPr>
            <a:spLocks noGrp="1"/>
          </p:cNvSpPr>
          <p:nvPr>
            <p:ph type="body" sz="quarter" idx="17"/>
          </p:nvPr>
        </p:nvSpPr>
        <p:spPr/>
        <p:txBody>
          <a:bodyPr/>
          <a:lstStyle/>
          <a:p>
            <a:endParaRPr lang="en-US"/>
          </a:p>
        </p:txBody>
      </p:sp>
      <p:grpSp>
        <p:nvGrpSpPr>
          <p:cNvPr id="33" name="Group 32">
            <a:extLst>
              <a:ext uri="{FF2B5EF4-FFF2-40B4-BE49-F238E27FC236}">
                <a16:creationId xmlns:a16="http://schemas.microsoft.com/office/drawing/2014/main" id="{78EF1293-8175-4AEC-590A-82FEF224C619}"/>
              </a:ext>
            </a:extLst>
          </p:cNvPr>
          <p:cNvGrpSpPr/>
          <p:nvPr/>
        </p:nvGrpSpPr>
        <p:grpSpPr>
          <a:xfrm>
            <a:off x="9685463" y="502622"/>
            <a:ext cx="1951801" cy="197680"/>
            <a:chOff x="9807580" y="502622"/>
            <a:chExt cx="1951801" cy="197680"/>
          </a:xfrm>
        </p:grpSpPr>
        <p:sp>
          <p:nvSpPr>
            <p:cNvPr id="35" name="TextBox 34">
              <a:extLst>
                <a:ext uri="{FF2B5EF4-FFF2-40B4-BE49-F238E27FC236}">
                  <a16:creationId xmlns:a16="http://schemas.microsoft.com/office/drawing/2014/main" id="{5435B076-4D74-2B51-4507-50693DD6F44E}"/>
                </a:ext>
              </a:extLst>
            </p:cNvPr>
            <p:cNvSpPr txBox="1"/>
            <p:nvPr/>
          </p:nvSpPr>
          <p:spPr>
            <a:xfrm>
              <a:off x="9807580" y="502622"/>
              <a:ext cx="44076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1"/>
                  </a:solidFill>
                </a:rPr>
                <a:t>xxx</a:t>
              </a:r>
            </a:p>
          </p:txBody>
        </p:sp>
        <p:sp>
          <p:nvSpPr>
            <p:cNvPr id="37" name="TextBox 36">
              <a:extLst>
                <a:ext uri="{FF2B5EF4-FFF2-40B4-BE49-F238E27FC236}">
                  <a16:creationId xmlns:a16="http://schemas.microsoft.com/office/drawing/2014/main" id="{B6729C2B-0961-4887-AABD-2948B96172A3}"/>
                </a:ext>
              </a:extLst>
            </p:cNvPr>
            <p:cNvSpPr txBox="1"/>
            <p:nvPr/>
          </p:nvSpPr>
          <p:spPr>
            <a:xfrm>
              <a:off x="10139489" y="515636"/>
              <a:ext cx="161989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Pertinent to Gen AI only</a:t>
              </a:r>
            </a:p>
          </p:txBody>
        </p:sp>
      </p:grpSp>
      <p:grpSp>
        <p:nvGrpSpPr>
          <p:cNvPr id="16" name="Group 15">
            <a:extLst>
              <a:ext uri="{FF2B5EF4-FFF2-40B4-BE49-F238E27FC236}">
                <a16:creationId xmlns:a16="http://schemas.microsoft.com/office/drawing/2014/main" id="{EC695D1A-ACCB-2454-CC5F-BB0019E7FD93}"/>
              </a:ext>
            </a:extLst>
          </p:cNvPr>
          <p:cNvGrpSpPr/>
          <p:nvPr/>
        </p:nvGrpSpPr>
        <p:grpSpPr>
          <a:xfrm>
            <a:off x="554735" y="963254"/>
            <a:ext cx="11082529" cy="5503087"/>
            <a:chOff x="554735" y="963254"/>
            <a:chExt cx="11082529" cy="5503087"/>
          </a:xfrm>
        </p:grpSpPr>
        <p:cxnSp>
          <p:nvCxnSpPr>
            <p:cNvPr id="51" name="Straight Connector 50">
              <a:extLst>
                <a:ext uri="{FF2B5EF4-FFF2-40B4-BE49-F238E27FC236}">
                  <a16:creationId xmlns:a16="http://schemas.microsoft.com/office/drawing/2014/main" id="{3AED8FDA-68BD-FAC3-12BF-6FB5CBE428C7}"/>
                </a:ext>
              </a:extLst>
            </p:cNvPr>
            <p:cNvCxnSpPr>
              <a:cxnSpLocks/>
            </p:cNvCxnSpPr>
            <p:nvPr>
              <p:custDataLst>
                <p:tags r:id="rId4"/>
              </p:custDataLst>
            </p:nvPr>
          </p:nvCxnSpPr>
          <p:spPr>
            <a:xfrm>
              <a:off x="554736" y="3436867"/>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9630358-731A-65B8-14FA-9D5BE2FEDDEE}"/>
                </a:ext>
              </a:extLst>
            </p:cNvPr>
            <p:cNvCxnSpPr>
              <a:cxnSpLocks/>
            </p:cNvCxnSpPr>
            <p:nvPr>
              <p:custDataLst>
                <p:tags r:id="rId5"/>
              </p:custDataLst>
            </p:nvPr>
          </p:nvCxnSpPr>
          <p:spPr>
            <a:xfrm>
              <a:off x="554736" y="4679381"/>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5E0EA1A-7F6E-D34D-41A7-57FD75DE1751}"/>
                </a:ext>
              </a:extLst>
            </p:cNvPr>
            <p:cNvSpPr txBox="1">
              <a:spLocks/>
            </p:cNvSpPr>
            <p:nvPr/>
          </p:nvSpPr>
          <p:spPr>
            <a:xfrm>
              <a:off x="554736" y="1465240"/>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latin typeface="Arial"/>
                </a:rPr>
                <a:t>Logs, metrics, traces</a:t>
              </a:r>
            </a:p>
          </p:txBody>
        </p:sp>
        <p:sp>
          <p:nvSpPr>
            <p:cNvPr id="28" name="TextBox 27">
              <a:extLst>
                <a:ext uri="{FF2B5EF4-FFF2-40B4-BE49-F238E27FC236}">
                  <a16:creationId xmlns:a16="http://schemas.microsoft.com/office/drawing/2014/main" id="{64E45875-3DA7-D3FD-E9DC-702CBBD4071A}"/>
                </a:ext>
              </a:extLst>
            </p:cNvPr>
            <p:cNvSpPr txBox="1">
              <a:spLocks/>
            </p:cNvSpPr>
            <p:nvPr/>
          </p:nvSpPr>
          <p:spPr>
            <a:xfrm>
              <a:off x="6190072" y="1465240"/>
              <a:ext cx="1966490" cy="192360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dirty="0"/>
                <a:t>Standard logs across pipelines and models (e.g., input to output flow), with latency and volume metrics</a:t>
              </a:r>
            </a:p>
            <a:p>
              <a:pPr lvl="1">
                <a:buClr>
                  <a:srgbClr val="000000"/>
                </a:buClr>
                <a:defRPr/>
              </a:pPr>
              <a:r>
                <a:rPr lang="en-US" sz="1200" dirty="0"/>
                <a:t>Basic </a:t>
              </a:r>
              <a:r>
                <a:rPr lang="en-US" sz="1200" b="1" dirty="0">
                  <a:solidFill>
                    <a:schemeClr val="accent1"/>
                  </a:solidFill>
                </a:rPr>
                <a:t>metrics on costs</a:t>
              </a:r>
              <a:r>
                <a:rPr lang="en-US" sz="1200" dirty="0"/>
                <a:t>, latency, volume, throughput</a:t>
              </a:r>
            </a:p>
            <a:p>
              <a:pPr lvl="1">
                <a:buClr>
                  <a:srgbClr val="000000"/>
                </a:buClr>
                <a:defRPr/>
              </a:pPr>
              <a:r>
                <a:rPr lang="en-US" sz="1200" dirty="0"/>
                <a:t>Basic tracing from data input to output</a:t>
              </a:r>
            </a:p>
          </p:txBody>
        </p:sp>
        <p:sp>
          <p:nvSpPr>
            <p:cNvPr id="32" name="TextBox 31">
              <a:extLst>
                <a:ext uri="{FF2B5EF4-FFF2-40B4-BE49-F238E27FC236}">
                  <a16:creationId xmlns:a16="http://schemas.microsoft.com/office/drawing/2014/main" id="{240C8E11-99E1-E24D-31A7-B8C4E41B1EDB}"/>
                </a:ext>
              </a:extLst>
            </p:cNvPr>
            <p:cNvSpPr txBox="1">
              <a:spLocks/>
            </p:cNvSpPr>
            <p:nvPr/>
          </p:nvSpPr>
          <p:spPr>
            <a:xfrm>
              <a:off x="8295588" y="1465240"/>
              <a:ext cx="3341672"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Unified view across the full data lifecycle — from raw data to features, </a:t>
              </a:r>
              <a:r>
                <a:rPr kumimoji="0" lang="en-US" sz="1200" b="1" i="0" u="none" strike="noStrike" kern="1200" cap="none" spc="0" normalizeH="0" baseline="0" noProof="0" dirty="0">
                  <a:ln>
                    <a:noFill/>
                  </a:ln>
                  <a:solidFill>
                    <a:schemeClr val="accent1"/>
                  </a:solidFill>
                  <a:effectLst/>
                  <a:uLnTx/>
                  <a:uFillTx/>
                  <a:latin typeface="Arial"/>
                  <a:ea typeface="+mn-ea"/>
                  <a:cs typeface="+mn-cs"/>
                </a:rPr>
                <a:t>prompts, outputs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1" i="0" u="none" strike="noStrike" kern="1200" cap="none" spc="0" normalizeH="0" baseline="0" noProof="0" dirty="0">
                  <a:ln>
                    <a:noFill/>
                  </a:ln>
                  <a:solidFill>
                    <a:schemeClr val="accent1"/>
                  </a:solidFill>
                  <a:effectLst/>
                  <a:uLnTx/>
                  <a:uFillTx/>
                  <a:latin typeface="Arial"/>
                  <a:ea typeface="+mn-ea"/>
                  <a:cs typeface="+mn-cs"/>
                </a:rPr>
                <a:t>Metrics on usage costs (e.g. tokens/embeddings)</a:t>
              </a:r>
              <a:r>
                <a:rPr kumimoji="0" lang="en-US" sz="1200" b="0" i="0" u="none" strike="noStrike" kern="1200" cap="none" spc="0" normalizeH="0" baseline="0" noProof="0" dirty="0">
                  <a:ln>
                    <a:noFill/>
                  </a:ln>
                  <a:solidFill>
                    <a:srgbClr val="000000"/>
                  </a:solidFill>
                  <a:effectLst/>
                  <a:uLnTx/>
                  <a:uFillTx/>
                  <a:latin typeface="Arial"/>
                  <a:ea typeface="+mn-ea"/>
                  <a:cs typeface="+mn-cs"/>
                </a:rPr>
                <a:t>, quality, volume, latency, anomalies translated into business insights</a:t>
              </a:r>
            </a:p>
          </p:txBody>
        </p:sp>
        <p:sp>
          <p:nvSpPr>
            <p:cNvPr id="17" name="TextBox 16">
              <a:extLst>
                <a:ext uri="{FF2B5EF4-FFF2-40B4-BE49-F238E27FC236}">
                  <a16:creationId xmlns:a16="http://schemas.microsoft.com/office/drawing/2014/main" id="{B762261F-76EC-3830-9B3E-7AF738FA21BE}"/>
                </a:ext>
              </a:extLst>
            </p:cNvPr>
            <p:cNvSpPr txBox="1">
              <a:spLocks/>
            </p:cNvSpPr>
            <p:nvPr/>
          </p:nvSpPr>
          <p:spPr>
            <a:xfrm>
              <a:off x="1736201" y="1465240"/>
              <a:ext cx="2227118" cy="110799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System-generated records that capture events, performance measures, and end-to-end flows across data pipelines and model applications</a:t>
              </a:r>
              <a:endParaRPr lang="en-US" sz="1200">
                <a:solidFill>
                  <a:srgbClr val="000000"/>
                </a:solidFill>
              </a:endParaRPr>
            </a:p>
          </p:txBody>
        </p:sp>
        <p:sp>
          <p:nvSpPr>
            <p:cNvPr id="26" name="TextBox 25">
              <a:extLst>
                <a:ext uri="{FF2B5EF4-FFF2-40B4-BE49-F238E27FC236}">
                  <a16:creationId xmlns:a16="http://schemas.microsoft.com/office/drawing/2014/main" id="{8E8EEAE0-DF9C-9A41-EA35-AAB56843FA82}"/>
                </a:ext>
              </a:extLst>
            </p:cNvPr>
            <p:cNvSpPr txBox="1">
              <a:spLocks/>
            </p:cNvSpPr>
            <p:nvPr/>
          </p:nvSpPr>
          <p:spPr>
            <a:xfrm>
              <a:off x="4102347" y="1465240"/>
              <a:ext cx="1948697" cy="136960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Only basic system logs; no visibility into how data or models are used</a:t>
              </a:r>
            </a:p>
            <a:p>
              <a:pPr lvl="1">
                <a:buClr>
                  <a:srgbClr val="000000"/>
                </a:buClr>
                <a:defRPr/>
              </a:pPr>
              <a:r>
                <a:rPr lang="en-US" sz="1200">
                  <a:solidFill>
                    <a:srgbClr val="000000"/>
                  </a:solidFill>
                </a:rPr>
                <a:t>Basic uptime and storage metrics</a:t>
              </a:r>
            </a:p>
            <a:p>
              <a:pPr lvl="1">
                <a:buClr>
                  <a:srgbClr val="000000"/>
                </a:buClr>
                <a:defRPr/>
              </a:pPr>
              <a:r>
                <a:rPr lang="en-US" sz="1200">
                  <a:solidFill>
                    <a:srgbClr val="000000"/>
                  </a:solidFill>
                </a:rPr>
                <a:t>No tracing of data or models</a:t>
              </a:r>
            </a:p>
          </p:txBody>
        </p:sp>
        <p:sp>
          <p:nvSpPr>
            <p:cNvPr id="8" name="TextBox 7">
              <a:extLst>
                <a:ext uri="{FF2B5EF4-FFF2-40B4-BE49-F238E27FC236}">
                  <a16:creationId xmlns:a16="http://schemas.microsoft.com/office/drawing/2014/main" id="{F5D6F622-4E68-AD31-A51B-5AB546F4AF43}"/>
                </a:ext>
              </a:extLst>
            </p:cNvPr>
            <p:cNvSpPr txBox="1">
              <a:spLocks/>
            </p:cNvSpPr>
            <p:nvPr/>
          </p:nvSpPr>
          <p:spPr>
            <a:xfrm>
              <a:off x="554736" y="3484890"/>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SLO and SLA monitoring</a:t>
              </a:r>
            </a:p>
          </p:txBody>
        </p:sp>
        <p:sp>
          <p:nvSpPr>
            <p:cNvPr id="36" name="TextBox 35">
              <a:extLst>
                <a:ext uri="{FF2B5EF4-FFF2-40B4-BE49-F238E27FC236}">
                  <a16:creationId xmlns:a16="http://schemas.microsoft.com/office/drawing/2014/main" id="{91118E89-A846-D19B-5447-0E87666FFC16}"/>
                </a:ext>
              </a:extLst>
            </p:cNvPr>
            <p:cNvSpPr txBox="1">
              <a:spLocks/>
            </p:cNvSpPr>
            <p:nvPr/>
          </p:nvSpPr>
          <p:spPr>
            <a:xfrm>
              <a:off x="6190072" y="3484890"/>
              <a:ext cx="1966490"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Defined SLOs for pipelines and model services</a:t>
              </a:r>
            </a:p>
            <a:p>
              <a:pPr lvl="1">
                <a:buClr>
                  <a:srgbClr val="000000"/>
                </a:buClr>
                <a:defRPr/>
              </a:pPr>
              <a:r>
                <a:rPr lang="en-US" sz="1200">
                  <a:solidFill>
                    <a:srgbClr val="000000"/>
                  </a:solidFill>
                </a:rPr>
                <a:t>Uptime and latency are tracked against set thresholds</a:t>
              </a:r>
            </a:p>
          </p:txBody>
        </p:sp>
        <p:sp>
          <p:nvSpPr>
            <p:cNvPr id="38" name="TextBox 37">
              <a:extLst>
                <a:ext uri="{FF2B5EF4-FFF2-40B4-BE49-F238E27FC236}">
                  <a16:creationId xmlns:a16="http://schemas.microsoft.com/office/drawing/2014/main" id="{8F957FAD-DA1F-C77D-6BC7-FF6F251ADE24}"/>
                </a:ext>
              </a:extLst>
            </p:cNvPr>
            <p:cNvSpPr txBox="1">
              <a:spLocks/>
            </p:cNvSpPr>
            <p:nvPr/>
          </p:nvSpPr>
          <p:spPr>
            <a:xfrm>
              <a:off x="8295588" y="3484890"/>
              <a:ext cx="3341672" cy="77713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Comprehensive SLOs across data cycle – from raw data to fit-for-purpose, models</a:t>
              </a:r>
            </a:p>
            <a:p>
              <a:pPr lvl="1">
                <a:buClr>
                  <a:srgbClr val="000000"/>
                </a:buClr>
                <a:defRPr/>
              </a:pPr>
              <a:r>
                <a:rPr lang="en-US" sz="1200">
                  <a:solidFill>
                    <a:srgbClr val="000000"/>
                  </a:solidFill>
                </a:rPr>
                <a:t>Automated monitoring and proactive alerts tied to SLOs/SLAs</a:t>
              </a:r>
            </a:p>
          </p:txBody>
        </p:sp>
        <p:sp>
          <p:nvSpPr>
            <p:cNvPr id="18" name="TextBox 17">
              <a:extLst>
                <a:ext uri="{FF2B5EF4-FFF2-40B4-BE49-F238E27FC236}">
                  <a16:creationId xmlns:a16="http://schemas.microsoft.com/office/drawing/2014/main" id="{76CDCA9E-8BD5-88CD-EA67-982884A52551}"/>
                </a:ext>
              </a:extLst>
            </p:cNvPr>
            <p:cNvSpPr txBox="1">
              <a:spLocks/>
            </p:cNvSpPr>
            <p:nvPr/>
          </p:nvSpPr>
          <p:spPr>
            <a:xfrm>
              <a:off x="1736201" y="3484890"/>
              <a:ext cx="2227118" cy="9233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Processes for implementing and tracking </a:t>
              </a:r>
              <a:r>
                <a:rPr lang="en-US" sz="1200">
                  <a:solidFill>
                    <a:srgbClr val="000000"/>
                  </a:solidFill>
                </a:rPr>
                <a:t>SLO/SLAs (e.g., uptime, quality, freshness) to ensure performance commitments are consistently met</a:t>
              </a:r>
            </a:p>
          </p:txBody>
        </p:sp>
        <p:sp>
          <p:nvSpPr>
            <p:cNvPr id="34" name="TextBox 33">
              <a:extLst>
                <a:ext uri="{FF2B5EF4-FFF2-40B4-BE49-F238E27FC236}">
                  <a16:creationId xmlns:a16="http://schemas.microsoft.com/office/drawing/2014/main" id="{9F882EB7-59A1-C77E-B1A6-C0CB98C2E89F}"/>
                </a:ext>
              </a:extLst>
            </p:cNvPr>
            <p:cNvSpPr txBox="1">
              <a:spLocks/>
            </p:cNvSpPr>
            <p:nvPr/>
          </p:nvSpPr>
          <p:spPr>
            <a:xfrm>
              <a:off x="4102347" y="3484890"/>
              <a:ext cx="1948697"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No formal SLOs or SLAs</a:t>
              </a:r>
            </a:p>
            <a:p>
              <a:pPr lvl="1">
                <a:buClr>
                  <a:srgbClr val="000000"/>
                </a:buClr>
                <a:defRPr/>
              </a:pPr>
              <a:r>
                <a:rPr lang="en-US" sz="1200">
                  <a:solidFill>
                    <a:srgbClr val="000000"/>
                  </a:solidFill>
                </a:rPr>
                <a:t>Manual checks of availability</a:t>
              </a:r>
            </a:p>
          </p:txBody>
        </p:sp>
        <p:sp>
          <p:nvSpPr>
            <p:cNvPr id="10" name="TextBox 9">
              <a:extLst>
                <a:ext uri="{FF2B5EF4-FFF2-40B4-BE49-F238E27FC236}">
                  <a16:creationId xmlns:a16="http://schemas.microsoft.com/office/drawing/2014/main" id="{202ABBC3-0F6C-ECF2-585D-5EFA47F79046}"/>
                </a:ext>
              </a:extLst>
            </p:cNvPr>
            <p:cNvSpPr txBox="1">
              <a:spLocks/>
            </p:cNvSpPr>
            <p:nvPr/>
          </p:nvSpPr>
          <p:spPr>
            <a:xfrm>
              <a:off x="554736" y="4727403"/>
              <a:ext cx="1048257"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Monitoring of anomaly detection and quality enforcement</a:t>
              </a:r>
              <a:endParaRPr lang="en-US" sz="1200" b="1"/>
            </a:p>
          </p:txBody>
        </p:sp>
        <p:sp>
          <p:nvSpPr>
            <p:cNvPr id="42" name="TextBox 41">
              <a:extLst>
                <a:ext uri="{FF2B5EF4-FFF2-40B4-BE49-F238E27FC236}">
                  <a16:creationId xmlns:a16="http://schemas.microsoft.com/office/drawing/2014/main" id="{73106B23-D586-8A84-EEDA-9D23C041A78B}"/>
                </a:ext>
              </a:extLst>
            </p:cNvPr>
            <p:cNvSpPr txBox="1">
              <a:spLocks/>
            </p:cNvSpPr>
            <p:nvPr/>
          </p:nvSpPr>
          <p:spPr>
            <a:xfrm>
              <a:off x="6190072" y="4727403"/>
              <a:ext cx="1966490" cy="11849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Basic checks for validity, completeness, latency</a:t>
              </a:r>
            </a:p>
            <a:p>
              <a:pPr lvl="1">
                <a:buClr>
                  <a:srgbClr val="000000"/>
                </a:buClr>
                <a:defRPr/>
              </a:pPr>
              <a:r>
                <a:rPr lang="en-US" sz="1200">
                  <a:solidFill>
                    <a:srgbClr val="000000"/>
                  </a:solidFill>
                </a:rPr>
                <a:t>Ad hoc detection of unusual patterns</a:t>
              </a:r>
              <a:endParaRPr lang="en-US" sz="1200">
                <a:solidFill>
                  <a:srgbClr val="000000"/>
                </a:solidFill>
                <a:cs typeface="Arial"/>
              </a:endParaRPr>
            </a:p>
            <a:p>
              <a:pPr lvl="1">
                <a:buClr>
                  <a:srgbClr val="000000"/>
                </a:buClr>
                <a:defRPr/>
              </a:pPr>
              <a:r>
                <a:rPr lang="en-US" sz="1200">
                  <a:solidFill>
                    <a:srgbClr val="000000"/>
                  </a:solidFill>
                  <a:cs typeface="Arial"/>
                </a:rPr>
                <a:t>User provided feedback integrated into model</a:t>
              </a:r>
            </a:p>
          </p:txBody>
        </p:sp>
        <p:sp>
          <p:nvSpPr>
            <p:cNvPr id="44" name="TextBox 43">
              <a:extLst>
                <a:ext uri="{FF2B5EF4-FFF2-40B4-BE49-F238E27FC236}">
                  <a16:creationId xmlns:a16="http://schemas.microsoft.com/office/drawing/2014/main" id="{6E1D6E38-8B29-47A6-F701-406E7CF0DD70}"/>
                </a:ext>
              </a:extLst>
            </p:cNvPr>
            <p:cNvSpPr txBox="1">
              <a:spLocks/>
            </p:cNvSpPr>
            <p:nvPr/>
          </p:nvSpPr>
          <p:spPr>
            <a:xfrm>
              <a:off x="8295588" y="4727403"/>
              <a:ext cx="3341672" cy="173893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Automated anomaly detection on data, features, </a:t>
              </a:r>
              <a:r>
                <a:rPr lang="en-US" sz="1200" b="1">
                  <a:solidFill>
                    <a:schemeClr val="accent1"/>
                  </a:solidFill>
                </a:rPr>
                <a:t>model outputs linked to business KPIs</a:t>
              </a:r>
              <a:endParaRPr lang="en-US" sz="1200" b="1">
                <a:solidFill>
                  <a:schemeClr val="accent1"/>
                </a:solidFill>
                <a:cs typeface="Arial"/>
              </a:endParaRPr>
            </a:p>
            <a:p>
              <a:pPr lvl="1">
                <a:buClr>
                  <a:srgbClr val="000000"/>
                </a:buClr>
                <a:defRPr/>
              </a:pPr>
              <a:r>
                <a:rPr lang="en-US" sz="1200">
                  <a:solidFill>
                    <a:srgbClr val="000000"/>
                  </a:solidFill>
                </a:rPr>
                <a:t>Continuous automated monitoring across all layers (e.g., DQ, </a:t>
              </a:r>
              <a:r>
                <a:rPr lang="en-US" sz="1200" b="1">
                  <a:solidFill>
                    <a:schemeClr val="accent1"/>
                  </a:solidFill>
                </a:rPr>
                <a:t>schema drift</a:t>
              </a:r>
              <a:r>
                <a:rPr lang="en-US" sz="1200">
                  <a:solidFill>
                    <a:srgbClr val="000000"/>
                  </a:solidFill>
                </a:rPr>
                <a:t>) of metrics with real-time alerting for high-risk events</a:t>
              </a:r>
            </a:p>
            <a:p>
              <a:pPr lvl="1">
                <a:buClr>
                  <a:srgbClr val="000000"/>
                </a:buClr>
                <a:defRPr/>
              </a:pPr>
              <a:r>
                <a:rPr lang="en-US" sz="1200" b="1">
                  <a:solidFill>
                    <a:schemeClr val="accent1"/>
                  </a:solidFill>
                  <a:cs typeface="Arial"/>
                </a:rPr>
                <a:t>Model behavior changes monitoring when looking at incoming data </a:t>
              </a:r>
              <a:r>
                <a:rPr lang="en-US" sz="1200">
                  <a:solidFill>
                    <a:srgbClr val="000000"/>
                  </a:solidFill>
                  <a:cs typeface="Arial"/>
                </a:rPr>
                <a:t>(e.g. going past established guardrails)</a:t>
              </a:r>
            </a:p>
          </p:txBody>
        </p:sp>
        <p:sp>
          <p:nvSpPr>
            <p:cNvPr id="19" name="TextBox 18">
              <a:extLst>
                <a:ext uri="{FF2B5EF4-FFF2-40B4-BE49-F238E27FC236}">
                  <a16:creationId xmlns:a16="http://schemas.microsoft.com/office/drawing/2014/main" id="{AE54F4FE-8C92-FC30-5D78-416525DF24B3}"/>
                </a:ext>
              </a:extLst>
            </p:cNvPr>
            <p:cNvSpPr txBox="1">
              <a:spLocks/>
            </p:cNvSpPr>
            <p:nvPr/>
          </p:nvSpPr>
          <p:spPr>
            <a:xfrm>
              <a:off x="1736201" y="4727403"/>
              <a:ext cx="2227118" cy="73866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Automated processes that document enforcement of data quality checks that proactively identify and measure issues</a:t>
              </a:r>
            </a:p>
          </p:txBody>
        </p:sp>
        <p:sp>
          <p:nvSpPr>
            <p:cNvPr id="2" name="TextBox 1">
              <a:extLst>
                <a:ext uri="{FF2B5EF4-FFF2-40B4-BE49-F238E27FC236}">
                  <a16:creationId xmlns:a16="http://schemas.microsoft.com/office/drawing/2014/main" id="{66685BC6-A414-34ED-D406-3B39DB188104}"/>
                </a:ext>
              </a:extLst>
            </p:cNvPr>
            <p:cNvSpPr txBox="1">
              <a:spLocks/>
            </p:cNvSpPr>
            <p:nvPr/>
          </p:nvSpPr>
          <p:spPr>
            <a:xfrm>
              <a:off x="4102347" y="4727403"/>
              <a:ext cx="1948697"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No systematic monitoring of anomalies or data quality</a:t>
              </a:r>
            </a:p>
            <a:p>
              <a:pPr lvl="1">
                <a:buClr>
                  <a:srgbClr val="000000"/>
                </a:buClr>
                <a:defRPr/>
              </a:pPr>
              <a:r>
                <a:rPr lang="en-US" sz="1200">
                  <a:solidFill>
                    <a:srgbClr val="000000"/>
                  </a:solidFill>
                </a:rPr>
                <a:t>Issues found reactively</a:t>
              </a:r>
            </a:p>
          </p:txBody>
        </p:sp>
        <p:cxnSp>
          <p:nvCxnSpPr>
            <p:cNvPr id="12" name="Straight Connector 11">
              <a:extLst>
                <a:ext uri="{FF2B5EF4-FFF2-40B4-BE49-F238E27FC236}">
                  <a16:creationId xmlns:a16="http://schemas.microsoft.com/office/drawing/2014/main" id="{526947CA-401E-CA55-8D31-FA2BFA0F095A}"/>
                </a:ext>
              </a:extLst>
            </p:cNvPr>
            <p:cNvCxnSpPr>
              <a:cxnSpLocks/>
            </p:cNvCxnSpPr>
            <p:nvPr>
              <p:custDataLst>
                <p:tags r:id="rId6"/>
              </p:custDataLst>
            </p:nvPr>
          </p:nvCxnSpPr>
          <p:spPr>
            <a:xfrm>
              <a:off x="554735" y="1424688"/>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D5381A1-6A34-0DE8-4221-83D65234A244}"/>
                </a:ext>
              </a:extLst>
            </p:cNvPr>
            <p:cNvSpPr txBox="1">
              <a:spLocks/>
            </p:cNvSpPr>
            <p:nvPr/>
          </p:nvSpPr>
          <p:spPr>
            <a:xfrm>
              <a:off x="554736" y="963254"/>
              <a:ext cx="1042437" cy="430887"/>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Sub-Dimension</a:t>
              </a:r>
            </a:p>
          </p:txBody>
        </p:sp>
        <p:sp>
          <p:nvSpPr>
            <p:cNvPr id="20" name="TextBox 19">
              <a:extLst>
                <a:ext uri="{FF2B5EF4-FFF2-40B4-BE49-F238E27FC236}">
                  <a16:creationId xmlns:a16="http://schemas.microsoft.com/office/drawing/2014/main" id="{09815673-34C3-5C1C-D257-0471B9F6BE5D}"/>
                </a:ext>
              </a:extLst>
            </p:cNvPr>
            <p:cNvSpPr txBox="1">
              <a:spLocks/>
            </p:cNvSpPr>
            <p:nvPr/>
          </p:nvSpPr>
          <p:spPr>
            <a:xfrm>
              <a:off x="8295588" y="1178697"/>
              <a:ext cx="3341672" cy="215444"/>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High</a:t>
              </a:r>
            </a:p>
          </p:txBody>
        </p:sp>
        <p:sp>
          <p:nvSpPr>
            <p:cNvPr id="41" name="TextBox 40">
              <a:extLst>
                <a:ext uri="{FF2B5EF4-FFF2-40B4-BE49-F238E27FC236}">
                  <a16:creationId xmlns:a16="http://schemas.microsoft.com/office/drawing/2014/main" id="{C1EFCDF4-B721-721C-5121-B01908B76619}"/>
                </a:ext>
              </a:extLst>
            </p:cNvPr>
            <p:cNvSpPr txBox="1">
              <a:spLocks/>
            </p:cNvSpPr>
            <p:nvPr/>
          </p:nvSpPr>
          <p:spPr>
            <a:xfrm>
              <a:off x="6190072" y="1178697"/>
              <a:ext cx="1966490" cy="215444"/>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Medium</a:t>
              </a:r>
            </a:p>
          </p:txBody>
        </p:sp>
        <p:sp>
          <p:nvSpPr>
            <p:cNvPr id="43" name="TextBox 42">
              <a:extLst>
                <a:ext uri="{FF2B5EF4-FFF2-40B4-BE49-F238E27FC236}">
                  <a16:creationId xmlns:a16="http://schemas.microsoft.com/office/drawing/2014/main" id="{FDE3E7B5-E3F9-CF28-C242-BC4C5036C9EE}"/>
                </a:ext>
              </a:extLst>
            </p:cNvPr>
            <p:cNvSpPr txBox="1">
              <a:spLocks/>
            </p:cNvSpPr>
            <p:nvPr/>
          </p:nvSpPr>
          <p:spPr>
            <a:xfrm>
              <a:off x="1736201" y="1178697"/>
              <a:ext cx="2227118"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Description</a:t>
              </a:r>
            </a:p>
          </p:txBody>
        </p:sp>
        <p:sp>
          <p:nvSpPr>
            <p:cNvPr id="45" name="TextBox 44">
              <a:extLst>
                <a:ext uri="{FF2B5EF4-FFF2-40B4-BE49-F238E27FC236}">
                  <a16:creationId xmlns:a16="http://schemas.microsoft.com/office/drawing/2014/main" id="{DD479023-86B9-A6D4-42D7-BAF85A52F697}"/>
                </a:ext>
              </a:extLst>
            </p:cNvPr>
            <p:cNvSpPr txBox="1">
              <a:spLocks/>
            </p:cNvSpPr>
            <p:nvPr/>
          </p:nvSpPr>
          <p:spPr>
            <a:xfrm>
              <a:off x="4102347" y="1178697"/>
              <a:ext cx="1948697"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Low</a:t>
              </a:r>
            </a:p>
          </p:txBody>
        </p:sp>
      </p:grpSp>
    </p:spTree>
    <p:custDataLst>
      <p:tags r:id="rId1"/>
    </p:custDataLst>
    <p:extLst>
      <p:ext uri="{BB962C8B-B14F-4D97-AF65-F5344CB8AC3E}">
        <p14:creationId xmlns:p14="http://schemas.microsoft.com/office/powerpoint/2010/main" val="3575969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D96D-AE7E-7CC5-AA9D-8E2B8BDC627F}"/>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05D18AE8-C9C0-5C9F-66E4-5BD6D73946C0}"/>
              </a:ext>
            </a:extLst>
          </p:cNvPr>
          <p:cNvGraphicFramePr>
            <a:graphicFrameLocks noChangeAspect="1"/>
          </p:cNvGraphicFramePr>
          <p:nvPr>
            <p:custDataLst>
              <p:tags r:id="rId2"/>
            </p:custDataLst>
            <p:extLst>
              <p:ext uri="{D42A27DB-BD31-4B8C-83A1-F6EECF244321}">
                <p14:modId xmlns:p14="http://schemas.microsoft.com/office/powerpoint/2010/main" val="14598503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4" imgH="405" progId="TCLayout.ActiveDocument.1">
                  <p:embed/>
                </p:oleObj>
              </mc:Choice>
              <mc:Fallback>
                <p:oleObj name="think-cell Slide" r:id="rId11" imgW="404" imgH="405" progId="TCLayout.ActiveDocument.1">
                  <p:embed/>
                  <p:pic>
                    <p:nvPicPr>
                      <p:cNvPr id="5" name="Object 6" hidden="1">
                        <a:extLst>
                          <a:ext uri="{FF2B5EF4-FFF2-40B4-BE49-F238E27FC236}">
                            <a16:creationId xmlns:a16="http://schemas.microsoft.com/office/drawing/2014/main" id="{05D18AE8-C9C0-5C9F-66E4-5BD6D73946C0}"/>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70582323-F885-9969-655F-82412CF85F50}"/>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a:t>B. Data Type &amp; Quality dimension rubric</a:t>
            </a:r>
          </a:p>
        </p:txBody>
      </p:sp>
      <p:sp>
        <p:nvSpPr>
          <p:cNvPr id="6" name="Text Placeholder 5">
            <a:extLst>
              <a:ext uri="{FF2B5EF4-FFF2-40B4-BE49-F238E27FC236}">
                <a16:creationId xmlns:a16="http://schemas.microsoft.com/office/drawing/2014/main" id="{85052157-2EE9-3796-FDFF-92E913EE0C4E}"/>
              </a:ext>
            </a:extLst>
          </p:cNvPr>
          <p:cNvSpPr>
            <a:spLocks noGrp="1"/>
          </p:cNvSpPr>
          <p:nvPr>
            <p:ph type="body" sz="quarter" idx="17"/>
          </p:nvPr>
        </p:nvSpPr>
        <p:spPr/>
        <p:txBody>
          <a:bodyPr/>
          <a:lstStyle/>
          <a:p>
            <a:endParaRPr lang="en-US"/>
          </a:p>
        </p:txBody>
      </p:sp>
      <p:grpSp>
        <p:nvGrpSpPr>
          <p:cNvPr id="40" name="Group 39">
            <a:extLst>
              <a:ext uri="{FF2B5EF4-FFF2-40B4-BE49-F238E27FC236}">
                <a16:creationId xmlns:a16="http://schemas.microsoft.com/office/drawing/2014/main" id="{A1D35517-BEB0-5E76-5233-9E4A6A1DF748}"/>
              </a:ext>
            </a:extLst>
          </p:cNvPr>
          <p:cNvGrpSpPr/>
          <p:nvPr/>
        </p:nvGrpSpPr>
        <p:grpSpPr>
          <a:xfrm>
            <a:off x="9685463" y="502622"/>
            <a:ext cx="1951801" cy="197680"/>
            <a:chOff x="9807580" y="502622"/>
            <a:chExt cx="1951801" cy="197680"/>
          </a:xfrm>
        </p:grpSpPr>
        <p:sp>
          <p:nvSpPr>
            <p:cNvPr id="41" name="TextBox 40">
              <a:extLst>
                <a:ext uri="{FF2B5EF4-FFF2-40B4-BE49-F238E27FC236}">
                  <a16:creationId xmlns:a16="http://schemas.microsoft.com/office/drawing/2014/main" id="{8EE25D0C-4284-2B9D-3085-6C7A6C79E990}"/>
                </a:ext>
              </a:extLst>
            </p:cNvPr>
            <p:cNvSpPr txBox="1"/>
            <p:nvPr/>
          </p:nvSpPr>
          <p:spPr>
            <a:xfrm>
              <a:off x="9807580" y="502622"/>
              <a:ext cx="44076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1"/>
                  </a:solidFill>
                </a:rPr>
                <a:t>xxx</a:t>
              </a:r>
            </a:p>
          </p:txBody>
        </p:sp>
        <p:sp>
          <p:nvSpPr>
            <p:cNvPr id="43" name="TextBox 42">
              <a:extLst>
                <a:ext uri="{FF2B5EF4-FFF2-40B4-BE49-F238E27FC236}">
                  <a16:creationId xmlns:a16="http://schemas.microsoft.com/office/drawing/2014/main" id="{E5453A45-803E-0B85-4DF5-74830119DEF7}"/>
                </a:ext>
              </a:extLst>
            </p:cNvPr>
            <p:cNvSpPr txBox="1"/>
            <p:nvPr/>
          </p:nvSpPr>
          <p:spPr>
            <a:xfrm>
              <a:off x="10139489" y="515636"/>
              <a:ext cx="161989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Pertinent to Gen AI only</a:t>
              </a:r>
            </a:p>
          </p:txBody>
        </p:sp>
      </p:grpSp>
      <p:grpSp>
        <p:nvGrpSpPr>
          <p:cNvPr id="9" name="Group 8">
            <a:extLst>
              <a:ext uri="{FF2B5EF4-FFF2-40B4-BE49-F238E27FC236}">
                <a16:creationId xmlns:a16="http://schemas.microsoft.com/office/drawing/2014/main" id="{2DEE2D5B-A539-362A-C8F2-AA373F4212D4}"/>
              </a:ext>
            </a:extLst>
          </p:cNvPr>
          <p:cNvGrpSpPr/>
          <p:nvPr/>
        </p:nvGrpSpPr>
        <p:grpSpPr>
          <a:xfrm>
            <a:off x="554735" y="963254"/>
            <a:ext cx="11082529" cy="5417703"/>
            <a:chOff x="554735" y="855532"/>
            <a:chExt cx="11082529" cy="5417703"/>
          </a:xfrm>
        </p:grpSpPr>
        <p:cxnSp>
          <p:nvCxnSpPr>
            <p:cNvPr id="51" name="Straight Connector 50">
              <a:extLst>
                <a:ext uri="{FF2B5EF4-FFF2-40B4-BE49-F238E27FC236}">
                  <a16:creationId xmlns:a16="http://schemas.microsoft.com/office/drawing/2014/main" id="{BF17078A-223A-82AA-89F9-B5F216C3677C}"/>
                </a:ext>
              </a:extLst>
            </p:cNvPr>
            <p:cNvCxnSpPr>
              <a:cxnSpLocks/>
            </p:cNvCxnSpPr>
            <p:nvPr>
              <p:custDataLst>
                <p:tags r:id="rId4"/>
              </p:custDataLst>
            </p:nvPr>
          </p:nvCxnSpPr>
          <p:spPr>
            <a:xfrm>
              <a:off x="554736" y="2171076"/>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4DBA041-6A9D-43B3-8B07-7DE5C2E4B188}"/>
                </a:ext>
              </a:extLst>
            </p:cNvPr>
            <p:cNvCxnSpPr>
              <a:cxnSpLocks/>
            </p:cNvCxnSpPr>
            <p:nvPr>
              <p:custDataLst>
                <p:tags r:id="rId5"/>
              </p:custDataLst>
            </p:nvPr>
          </p:nvCxnSpPr>
          <p:spPr>
            <a:xfrm>
              <a:off x="554736" y="3205722"/>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EBAE6A-0E33-75D2-B769-03DE2737B430}"/>
                </a:ext>
              </a:extLst>
            </p:cNvPr>
            <p:cNvCxnSpPr>
              <a:cxnSpLocks/>
            </p:cNvCxnSpPr>
            <p:nvPr>
              <p:custDataLst>
                <p:tags r:id="rId6"/>
              </p:custDataLst>
            </p:nvPr>
          </p:nvCxnSpPr>
          <p:spPr>
            <a:xfrm>
              <a:off x="554736" y="4240368"/>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BC0857D-C5FA-13AC-76AD-6847B228CE11}"/>
                </a:ext>
              </a:extLst>
            </p:cNvPr>
            <p:cNvCxnSpPr>
              <a:cxnSpLocks/>
            </p:cNvCxnSpPr>
            <p:nvPr>
              <p:custDataLst>
                <p:tags r:id="rId7"/>
              </p:custDataLst>
            </p:nvPr>
          </p:nvCxnSpPr>
          <p:spPr>
            <a:xfrm>
              <a:off x="554736" y="5275014"/>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29629FD-4D2C-F700-65CA-485245AE1A38}"/>
                </a:ext>
              </a:extLst>
            </p:cNvPr>
            <p:cNvCxnSpPr>
              <a:cxnSpLocks/>
            </p:cNvCxnSpPr>
            <p:nvPr>
              <p:custDataLst>
                <p:tags r:id="rId8"/>
              </p:custDataLst>
            </p:nvPr>
          </p:nvCxnSpPr>
          <p:spPr>
            <a:xfrm>
              <a:off x="554735" y="131696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8C8A1C-15F3-1C9D-2384-690B64530DB8}"/>
                </a:ext>
              </a:extLst>
            </p:cNvPr>
            <p:cNvSpPr txBox="1">
              <a:spLocks/>
            </p:cNvSpPr>
            <p:nvPr/>
          </p:nvSpPr>
          <p:spPr>
            <a:xfrm>
              <a:off x="554736" y="855532"/>
              <a:ext cx="1042437" cy="430887"/>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Sub-Dimension</a:t>
              </a:r>
            </a:p>
          </p:txBody>
        </p:sp>
        <p:sp>
          <p:nvSpPr>
            <p:cNvPr id="15" name="TextBox 14">
              <a:extLst>
                <a:ext uri="{FF2B5EF4-FFF2-40B4-BE49-F238E27FC236}">
                  <a16:creationId xmlns:a16="http://schemas.microsoft.com/office/drawing/2014/main" id="{91BA155C-A7B3-BBD5-D777-E2DF12511594}"/>
                </a:ext>
              </a:extLst>
            </p:cNvPr>
            <p:cNvSpPr txBox="1">
              <a:spLocks/>
            </p:cNvSpPr>
            <p:nvPr/>
          </p:nvSpPr>
          <p:spPr>
            <a:xfrm>
              <a:off x="8295588" y="1070975"/>
              <a:ext cx="3341672"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High</a:t>
              </a:r>
            </a:p>
          </p:txBody>
        </p:sp>
        <p:sp>
          <p:nvSpPr>
            <p:cNvPr id="14" name="TextBox 13">
              <a:extLst>
                <a:ext uri="{FF2B5EF4-FFF2-40B4-BE49-F238E27FC236}">
                  <a16:creationId xmlns:a16="http://schemas.microsoft.com/office/drawing/2014/main" id="{4996CC6A-7509-7956-9C73-DDCCFCCE9F07}"/>
                </a:ext>
              </a:extLst>
            </p:cNvPr>
            <p:cNvSpPr txBox="1">
              <a:spLocks/>
            </p:cNvSpPr>
            <p:nvPr/>
          </p:nvSpPr>
          <p:spPr>
            <a:xfrm>
              <a:off x="554736" y="1357518"/>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Validity and uniqueness</a:t>
              </a:r>
            </a:p>
          </p:txBody>
        </p:sp>
        <p:sp>
          <p:nvSpPr>
            <p:cNvPr id="28" name="TextBox 27">
              <a:extLst>
                <a:ext uri="{FF2B5EF4-FFF2-40B4-BE49-F238E27FC236}">
                  <a16:creationId xmlns:a16="http://schemas.microsoft.com/office/drawing/2014/main" id="{54D91290-D3A4-092A-23F1-F2DCDD2EF404}"/>
                </a:ext>
              </a:extLst>
            </p:cNvPr>
            <p:cNvSpPr txBox="1">
              <a:spLocks/>
            </p:cNvSpPr>
            <p:nvPr/>
          </p:nvSpPr>
          <p:spPr>
            <a:xfrm>
              <a:off x="6190072" y="1357518"/>
              <a:ext cx="1966490"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Basic rules for valid ranges and formats</a:t>
              </a:r>
            </a:p>
            <a:p>
              <a:pPr lvl="1">
                <a:buClr>
                  <a:srgbClr val="000000"/>
                </a:buClr>
                <a:defRPr/>
              </a:pPr>
              <a:r>
                <a:rPr lang="en-US" sz="1200">
                  <a:solidFill>
                    <a:srgbClr val="000000"/>
                  </a:solidFill>
                </a:rPr>
                <a:t>Deduplication for key datasets</a:t>
              </a:r>
            </a:p>
          </p:txBody>
        </p:sp>
        <p:sp>
          <p:nvSpPr>
            <p:cNvPr id="32" name="TextBox 31">
              <a:extLst>
                <a:ext uri="{FF2B5EF4-FFF2-40B4-BE49-F238E27FC236}">
                  <a16:creationId xmlns:a16="http://schemas.microsoft.com/office/drawing/2014/main" id="{1BCB17B8-26F9-B124-BB43-4C079C1DC28F}"/>
                </a:ext>
              </a:extLst>
            </p:cNvPr>
            <p:cNvSpPr txBox="1">
              <a:spLocks/>
            </p:cNvSpPr>
            <p:nvPr/>
          </p:nvSpPr>
          <p:spPr>
            <a:xfrm>
              <a:off x="8295588" y="1357518"/>
              <a:ext cx="3341672" cy="77713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Automated checks across </a:t>
              </a:r>
              <a:r>
                <a:rPr lang="en-US" sz="1200" b="1">
                  <a:solidFill>
                    <a:schemeClr val="accent1"/>
                  </a:solidFill>
                </a:rPr>
                <a:t>features, documents, and retrieved content</a:t>
              </a:r>
            </a:p>
            <a:p>
              <a:pPr lvl="1">
                <a:buClr>
                  <a:srgbClr val="000000"/>
                </a:buClr>
                <a:defRPr/>
              </a:pPr>
              <a:r>
                <a:rPr lang="en-US" sz="1200"/>
                <a:t>Blocking and flagging of invalid or duplicate data with lineage and alerts</a:t>
              </a:r>
              <a:endParaRPr lang="en-US" sz="1200">
                <a:solidFill>
                  <a:srgbClr val="000000"/>
                </a:solidFill>
                <a:cs typeface="Arial"/>
              </a:endParaRPr>
            </a:p>
          </p:txBody>
        </p:sp>
        <p:sp>
          <p:nvSpPr>
            <p:cNvPr id="17" name="TextBox 16">
              <a:extLst>
                <a:ext uri="{FF2B5EF4-FFF2-40B4-BE49-F238E27FC236}">
                  <a16:creationId xmlns:a16="http://schemas.microsoft.com/office/drawing/2014/main" id="{EDF263EF-2BD2-CB12-8990-1EE37C26FB71}"/>
                </a:ext>
              </a:extLst>
            </p:cNvPr>
            <p:cNvSpPr txBox="1">
              <a:spLocks/>
            </p:cNvSpPr>
            <p:nvPr/>
          </p:nvSpPr>
          <p:spPr>
            <a:xfrm>
              <a:off x="1736201" y="1357518"/>
              <a:ext cx="2227118"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Ensure data is unique and conforms to expected formats, structures, and ranges </a:t>
              </a:r>
            </a:p>
          </p:txBody>
        </p:sp>
        <p:sp>
          <p:nvSpPr>
            <p:cNvPr id="26" name="TextBox 25">
              <a:extLst>
                <a:ext uri="{FF2B5EF4-FFF2-40B4-BE49-F238E27FC236}">
                  <a16:creationId xmlns:a16="http://schemas.microsoft.com/office/drawing/2014/main" id="{25A339DB-69B1-67B7-BA2D-6F1AB19851D9}"/>
                </a:ext>
              </a:extLst>
            </p:cNvPr>
            <p:cNvSpPr txBox="1">
              <a:spLocks/>
            </p:cNvSpPr>
            <p:nvPr/>
          </p:nvSpPr>
          <p:spPr>
            <a:xfrm>
              <a:off x="4102347" y="1357518"/>
              <a:ext cx="1948697"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No systematic validation</a:t>
              </a:r>
            </a:p>
            <a:p>
              <a:pPr lvl="1">
                <a:buClr>
                  <a:srgbClr val="000000"/>
                </a:buClr>
                <a:defRPr/>
              </a:pPr>
              <a:r>
                <a:rPr lang="en-US" sz="1200">
                  <a:solidFill>
                    <a:srgbClr val="000000"/>
                  </a:solidFill>
                </a:rPr>
                <a:t>Bad or duplicate data flows into AI use</a:t>
              </a:r>
            </a:p>
          </p:txBody>
        </p:sp>
        <p:sp>
          <p:nvSpPr>
            <p:cNvPr id="8" name="TextBox 7">
              <a:extLst>
                <a:ext uri="{FF2B5EF4-FFF2-40B4-BE49-F238E27FC236}">
                  <a16:creationId xmlns:a16="http://schemas.microsoft.com/office/drawing/2014/main" id="{AB2CC26C-9CF3-6024-8FCC-C9C4AB0B1021}"/>
                </a:ext>
              </a:extLst>
            </p:cNvPr>
            <p:cNvSpPr txBox="1">
              <a:spLocks/>
            </p:cNvSpPr>
            <p:nvPr/>
          </p:nvSpPr>
          <p:spPr>
            <a:xfrm>
              <a:off x="554736" y="2207498"/>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Accuracy and consistency</a:t>
              </a:r>
            </a:p>
          </p:txBody>
        </p:sp>
        <p:sp>
          <p:nvSpPr>
            <p:cNvPr id="36" name="TextBox 35">
              <a:extLst>
                <a:ext uri="{FF2B5EF4-FFF2-40B4-BE49-F238E27FC236}">
                  <a16:creationId xmlns:a16="http://schemas.microsoft.com/office/drawing/2014/main" id="{3067EFD6-FA32-A551-23CC-1B2988668B75}"/>
                </a:ext>
              </a:extLst>
            </p:cNvPr>
            <p:cNvSpPr txBox="1">
              <a:spLocks/>
            </p:cNvSpPr>
            <p:nvPr/>
          </p:nvSpPr>
          <p:spPr>
            <a:xfrm>
              <a:off x="6190072" y="2207498"/>
              <a:ext cx="1966490" cy="96180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Spot checks or rules to confirm correctness</a:t>
              </a:r>
            </a:p>
            <a:p>
              <a:pPr lvl="1">
                <a:buClr>
                  <a:srgbClr val="000000"/>
                </a:buClr>
                <a:defRPr/>
              </a:pPr>
              <a:r>
                <a:rPr lang="en-US" sz="1200"/>
                <a:t>Alignment of core business terms in key systems</a:t>
              </a:r>
              <a:endParaRPr lang="en-US" sz="1200">
                <a:solidFill>
                  <a:srgbClr val="000000"/>
                </a:solidFill>
              </a:endParaRPr>
            </a:p>
          </p:txBody>
        </p:sp>
        <p:sp>
          <p:nvSpPr>
            <p:cNvPr id="38" name="TextBox 37">
              <a:extLst>
                <a:ext uri="{FF2B5EF4-FFF2-40B4-BE49-F238E27FC236}">
                  <a16:creationId xmlns:a16="http://schemas.microsoft.com/office/drawing/2014/main" id="{E2EBD710-8999-19C8-2275-BBC0541D2796}"/>
                </a:ext>
              </a:extLst>
            </p:cNvPr>
            <p:cNvSpPr txBox="1">
              <a:spLocks/>
            </p:cNvSpPr>
            <p:nvPr/>
          </p:nvSpPr>
          <p:spPr>
            <a:xfrm>
              <a:off x="8295588" y="2207498"/>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Automated validation of accuracy using reference sources and reconciliation</a:t>
              </a:r>
            </a:p>
            <a:p>
              <a:pPr lvl="1">
                <a:buClr>
                  <a:srgbClr val="000000"/>
                </a:buClr>
                <a:defRPr/>
              </a:pPr>
              <a:r>
                <a:rPr lang="en-US" sz="1200">
                  <a:solidFill>
                    <a:srgbClr val="000000"/>
                  </a:solidFill>
                </a:rPr>
                <a:t>Consistent definitions across </a:t>
              </a:r>
              <a:r>
                <a:rPr lang="en-US" sz="1200" b="1">
                  <a:solidFill>
                    <a:schemeClr val="accent1"/>
                  </a:solidFill>
                </a:rPr>
                <a:t>features, documents, and retrieved content </a:t>
              </a:r>
              <a:r>
                <a:rPr lang="en-US" sz="1200">
                  <a:solidFill>
                    <a:srgbClr val="000000"/>
                  </a:solidFill>
                </a:rPr>
                <a:t>with lineage and alerts</a:t>
              </a:r>
              <a:endParaRPr lang="en-US" sz="1200">
                <a:solidFill>
                  <a:srgbClr val="000000"/>
                </a:solidFill>
                <a:cs typeface="Arial"/>
              </a:endParaRPr>
            </a:p>
          </p:txBody>
        </p:sp>
        <p:sp>
          <p:nvSpPr>
            <p:cNvPr id="18" name="TextBox 17">
              <a:extLst>
                <a:ext uri="{FF2B5EF4-FFF2-40B4-BE49-F238E27FC236}">
                  <a16:creationId xmlns:a16="http://schemas.microsoft.com/office/drawing/2014/main" id="{A30EB7D8-1FAC-6D74-80BC-306D7BC4787C}"/>
                </a:ext>
              </a:extLst>
            </p:cNvPr>
            <p:cNvSpPr txBox="1">
              <a:spLocks/>
            </p:cNvSpPr>
            <p:nvPr/>
          </p:nvSpPr>
          <p:spPr>
            <a:xfrm>
              <a:off x="1736201" y="2207498"/>
              <a:ext cx="2227118"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Verify data accuracy and consistency (e.g., relationship mapping cross-domain consistency, cross-walk logic) across data stores</a:t>
              </a:r>
            </a:p>
          </p:txBody>
        </p:sp>
        <p:sp>
          <p:nvSpPr>
            <p:cNvPr id="34" name="TextBox 33">
              <a:extLst>
                <a:ext uri="{FF2B5EF4-FFF2-40B4-BE49-F238E27FC236}">
                  <a16:creationId xmlns:a16="http://schemas.microsoft.com/office/drawing/2014/main" id="{69599BAA-EFD1-2FEF-B3C4-22CFB68FB237}"/>
                </a:ext>
              </a:extLst>
            </p:cNvPr>
            <p:cNvSpPr txBox="1">
              <a:spLocks/>
            </p:cNvSpPr>
            <p:nvPr/>
          </p:nvSpPr>
          <p:spPr>
            <a:xfrm>
              <a:off x="4102347" y="2207498"/>
              <a:ext cx="1948697"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No verification of data accuracy</a:t>
              </a:r>
            </a:p>
            <a:p>
              <a:pPr lvl="1">
                <a:buClr>
                  <a:srgbClr val="000000"/>
                </a:buClr>
                <a:defRPr/>
              </a:pPr>
              <a:r>
                <a:rPr lang="en-US" sz="1200">
                  <a:solidFill>
                    <a:srgbClr val="000000"/>
                  </a:solidFill>
                </a:rPr>
                <a:t>Inconsistent definitions across datasets</a:t>
              </a:r>
            </a:p>
          </p:txBody>
        </p:sp>
        <p:sp>
          <p:nvSpPr>
            <p:cNvPr id="10" name="TextBox 9">
              <a:extLst>
                <a:ext uri="{FF2B5EF4-FFF2-40B4-BE49-F238E27FC236}">
                  <a16:creationId xmlns:a16="http://schemas.microsoft.com/office/drawing/2014/main" id="{EB42C514-4326-5B84-3B0D-57D93319A0FF}"/>
                </a:ext>
              </a:extLst>
            </p:cNvPr>
            <p:cNvSpPr txBox="1">
              <a:spLocks/>
            </p:cNvSpPr>
            <p:nvPr/>
          </p:nvSpPr>
          <p:spPr>
            <a:xfrm>
              <a:off x="554736" y="3242144"/>
              <a:ext cx="1048257"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Completeness</a:t>
              </a:r>
            </a:p>
          </p:txBody>
        </p:sp>
        <p:sp>
          <p:nvSpPr>
            <p:cNvPr id="42" name="TextBox 41">
              <a:extLst>
                <a:ext uri="{FF2B5EF4-FFF2-40B4-BE49-F238E27FC236}">
                  <a16:creationId xmlns:a16="http://schemas.microsoft.com/office/drawing/2014/main" id="{A0599074-FA1B-B368-7383-FC572EE7FB22}"/>
                </a:ext>
              </a:extLst>
            </p:cNvPr>
            <p:cNvSpPr txBox="1">
              <a:spLocks/>
            </p:cNvSpPr>
            <p:nvPr/>
          </p:nvSpPr>
          <p:spPr>
            <a:xfrm>
              <a:off x="6190072" y="3242144"/>
              <a:ext cx="1966490"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Basic checks for priority fields and coverage</a:t>
              </a:r>
            </a:p>
            <a:p>
              <a:pPr lvl="1">
                <a:buClr>
                  <a:srgbClr val="000000"/>
                </a:buClr>
                <a:defRPr/>
              </a:pPr>
              <a:r>
                <a:rPr lang="en-US" sz="1200"/>
                <a:t>Inconsistent application of fills or defaults</a:t>
              </a:r>
              <a:endParaRPr lang="en-US" sz="1200">
                <a:solidFill>
                  <a:srgbClr val="000000"/>
                </a:solidFill>
              </a:endParaRPr>
            </a:p>
          </p:txBody>
        </p:sp>
        <p:sp>
          <p:nvSpPr>
            <p:cNvPr id="44" name="TextBox 43">
              <a:extLst>
                <a:ext uri="{FF2B5EF4-FFF2-40B4-BE49-F238E27FC236}">
                  <a16:creationId xmlns:a16="http://schemas.microsoft.com/office/drawing/2014/main" id="{9F99F81E-FE2C-BAA1-3CE4-EF0ADE84CBB4}"/>
                </a:ext>
              </a:extLst>
            </p:cNvPr>
            <p:cNvSpPr txBox="1">
              <a:spLocks/>
            </p:cNvSpPr>
            <p:nvPr/>
          </p:nvSpPr>
          <p:spPr>
            <a:xfrm>
              <a:off x="8295588" y="3242144"/>
              <a:ext cx="3341672" cy="77713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Automated monitoring for missing data across</a:t>
              </a:r>
              <a:r>
                <a:rPr lang="en-US" sz="1200" b="1">
                  <a:solidFill>
                    <a:schemeClr val="tx2"/>
                  </a:solidFill>
                </a:rPr>
                <a:t> </a:t>
              </a:r>
              <a:r>
                <a:rPr lang="en-US" sz="1200" b="1">
                  <a:solidFill>
                    <a:schemeClr val="accent1"/>
                  </a:solidFill>
                </a:rPr>
                <a:t>features, documents, and embeddings</a:t>
              </a:r>
              <a:endParaRPr lang="en-US" sz="1200" b="1">
                <a:solidFill>
                  <a:schemeClr val="accent1"/>
                </a:solidFill>
                <a:cs typeface="Arial"/>
              </a:endParaRPr>
            </a:p>
            <a:p>
              <a:pPr lvl="1">
                <a:buClr>
                  <a:srgbClr val="000000"/>
                </a:buClr>
                <a:defRPr/>
              </a:pPr>
              <a:r>
                <a:rPr lang="en-US" sz="1200"/>
                <a:t>Early detection of gaps</a:t>
              </a:r>
              <a:r>
                <a:rPr lang="en-US" sz="1200">
                  <a:solidFill>
                    <a:srgbClr val="000000"/>
                  </a:solidFill>
                </a:rPr>
                <a:t> with lineage and alerts, ensuring </a:t>
              </a:r>
              <a:r>
                <a:rPr lang="en-US" sz="1200" b="1">
                  <a:solidFill>
                    <a:schemeClr val="accent1"/>
                  </a:solidFill>
                </a:rPr>
                <a:t>full coverage </a:t>
              </a:r>
              <a:r>
                <a:rPr lang="en-US" sz="1200"/>
                <a:t>for AI use</a:t>
              </a:r>
              <a:endParaRPr lang="en-US" sz="1200">
                <a:cs typeface="Arial"/>
              </a:endParaRPr>
            </a:p>
          </p:txBody>
        </p:sp>
        <p:sp>
          <p:nvSpPr>
            <p:cNvPr id="19" name="TextBox 18">
              <a:extLst>
                <a:ext uri="{FF2B5EF4-FFF2-40B4-BE49-F238E27FC236}">
                  <a16:creationId xmlns:a16="http://schemas.microsoft.com/office/drawing/2014/main" id="{2BDE4DC4-4AB0-9CA9-F02A-1094BB5A7FCD}"/>
                </a:ext>
              </a:extLst>
            </p:cNvPr>
            <p:cNvSpPr txBox="1">
              <a:spLocks/>
            </p:cNvSpPr>
            <p:nvPr/>
          </p:nvSpPr>
          <p:spPr>
            <a:xfrm>
              <a:off x="1736201" y="3242144"/>
              <a:ext cx="2227118"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Identify gaps or missing values in data</a:t>
              </a:r>
            </a:p>
          </p:txBody>
        </p:sp>
        <p:sp>
          <p:nvSpPr>
            <p:cNvPr id="2" name="TextBox 1">
              <a:extLst>
                <a:ext uri="{FF2B5EF4-FFF2-40B4-BE49-F238E27FC236}">
                  <a16:creationId xmlns:a16="http://schemas.microsoft.com/office/drawing/2014/main" id="{529826A8-A21F-0D67-269D-C0EA01B14C75}"/>
                </a:ext>
              </a:extLst>
            </p:cNvPr>
            <p:cNvSpPr txBox="1">
              <a:spLocks/>
            </p:cNvSpPr>
            <p:nvPr/>
          </p:nvSpPr>
          <p:spPr>
            <a:xfrm>
              <a:off x="4102347" y="3242144"/>
              <a:ext cx="1948697" cy="96180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Missing values and gaps in features, records, or documents</a:t>
              </a:r>
            </a:p>
            <a:p>
              <a:pPr lvl="1">
                <a:buClr>
                  <a:srgbClr val="000000"/>
                </a:buClr>
                <a:defRPr/>
              </a:pPr>
              <a:r>
                <a:rPr lang="en-US" sz="1200"/>
                <a:t>Reliance on partial data for models and retrieval</a:t>
              </a:r>
              <a:endParaRPr lang="en-US" sz="1200">
                <a:solidFill>
                  <a:srgbClr val="000000"/>
                </a:solidFill>
              </a:endParaRPr>
            </a:p>
          </p:txBody>
        </p:sp>
        <p:sp>
          <p:nvSpPr>
            <p:cNvPr id="23" name="TextBox 22">
              <a:extLst>
                <a:ext uri="{FF2B5EF4-FFF2-40B4-BE49-F238E27FC236}">
                  <a16:creationId xmlns:a16="http://schemas.microsoft.com/office/drawing/2014/main" id="{AD7EE9C8-9A9E-66EC-9C38-CAA57A3E109E}"/>
                </a:ext>
              </a:extLst>
            </p:cNvPr>
            <p:cNvSpPr txBox="1">
              <a:spLocks/>
            </p:cNvSpPr>
            <p:nvPr/>
          </p:nvSpPr>
          <p:spPr>
            <a:xfrm>
              <a:off x="554736" y="4276790"/>
              <a:ext cx="104825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Freshness and timeliness</a:t>
              </a:r>
            </a:p>
          </p:txBody>
        </p:sp>
        <p:sp>
          <p:nvSpPr>
            <p:cNvPr id="24" name="TextBox 23">
              <a:extLst>
                <a:ext uri="{FF2B5EF4-FFF2-40B4-BE49-F238E27FC236}">
                  <a16:creationId xmlns:a16="http://schemas.microsoft.com/office/drawing/2014/main" id="{21559564-D788-D3E7-B8D3-9C9750701428}"/>
                </a:ext>
              </a:extLst>
            </p:cNvPr>
            <p:cNvSpPr txBox="1">
              <a:spLocks/>
            </p:cNvSpPr>
            <p:nvPr/>
          </p:nvSpPr>
          <p:spPr>
            <a:xfrm>
              <a:off x="6190072" y="4276790"/>
              <a:ext cx="1966490"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Defined update intervals for priority datasets</a:t>
              </a:r>
            </a:p>
            <a:p>
              <a:pPr lvl="1">
                <a:buClr>
                  <a:srgbClr val="000000"/>
                </a:buClr>
                <a:defRPr/>
              </a:pPr>
              <a:r>
                <a:rPr lang="en-US" sz="1200">
                  <a:solidFill>
                    <a:srgbClr val="000000"/>
                  </a:solidFill>
                </a:rPr>
                <a:t>Basic checks for late or outdated records</a:t>
              </a:r>
            </a:p>
          </p:txBody>
        </p:sp>
        <p:sp>
          <p:nvSpPr>
            <p:cNvPr id="25" name="TextBox 24">
              <a:extLst>
                <a:ext uri="{FF2B5EF4-FFF2-40B4-BE49-F238E27FC236}">
                  <a16:creationId xmlns:a16="http://schemas.microsoft.com/office/drawing/2014/main" id="{72266D29-FC43-25C2-579E-D840ABA66A2E}"/>
                </a:ext>
              </a:extLst>
            </p:cNvPr>
            <p:cNvSpPr txBox="1">
              <a:spLocks/>
            </p:cNvSpPr>
            <p:nvPr/>
          </p:nvSpPr>
          <p:spPr>
            <a:xfrm>
              <a:off x="8295588" y="4276790"/>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Automated monitoring of timely delivery of data/</a:t>
              </a:r>
              <a:r>
                <a:rPr lang="en-US" sz="1200" b="1">
                  <a:solidFill>
                    <a:schemeClr val="accent1"/>
                  </a:solidFill>
                </a:rPr>
                <a:t>unstructured data </a:t>
              </a:r>
              <a:r>
                <a:rPr lang="en-US" sz="1200">
                  <a:solidFill>
                    <a:srgbClr val="000000"/>
                  </a:solidFill>
                </a:rPr>
                <a:t>with full visibility </a:t>
              </a:r>
              <a:r>
                <a:rPr lang="en-US" sz="1200" b="1">
                  <a:solidFill>
                    <a:schemeClr val="accent1"/>
                  </a:solidFill>
                </a:rPr>
                <a:t>captured in data catalogue</a:t>
              </a:r>
              <a:endParaRPr lang="en-US" sz="1200" b="1">
                <a:solidFill>
                  <a:schemeClr val="accent1"/>
                </a:solidFill>
                <a:cs typeface="Arial"/>
              </a:endParaRPr>
            </a:p>
            <a:p>
              <a:pPr lvl="1">
                <a:buClr>
                  <a:srgbClr val="000000"/>
                </a:buClr>
                <a:defRPr/>
              </a:pPr>
              <a:r>
                <a:rPr lang="en-US" sz="1200">
                  <a:solidFill>
                    <a:srgbClr val="000000"/>
                  </a:solidFill>
                </a:rPr>
                <a:t>Alerts ensuring </a:t>
              </a:r>
              <a:r>
                <a:rPr lang="en-US" sz="1200" b="1">
                  <a:solidFill>
                    <a:schemeClr val="accent1"/>
                  </a:solidFill>
                </a:rPr>
                <a:t>freshness requirements for training and retrieval</a:t>
              </a:r>
              <a:endParaRPr lang="en-US" sz="1200" b="1">
                <a:solidFill>
                  <a:schemeClr val="accent1"/>
                </a:solidFill>
                <a:cs typeface="Arial"/>
              </a:endParaRPr>
            </a:p>
          </p:txBody>
        </p:sp>
        <p:sp>
          <p:nvSpPr>
            <p:cNvPr id="27" name="TextBox 26">
              <a:extLst>
                <a:ext uri="{FF2B5EF4-FFF2-40B4-BE49-F238E27FC236}">
                  <a16:creationId xmlns:a16="http://schemas.microsoft.com/office/drawing/2014/main" id="{3EFBFBE5-174A-15E4-9F59-18B84191D0B7}"/>
                </a:ext>
              </a:extLst>
            </p:cNvPr>
            <p:cNvSpPr txBox="1">
              <a:spLocks/>
            </p:cNvSpPr>
            <p:nvPr/>
          </p:nvSpPr>
          <p:spPr>
            <a:xfrm>
              <a:off x="1736201" y="4276790"/>
              <a:ext cx="2227118"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Ensure that data </a:t>
              </a:r>
              <a:r>
                <a:rPr lang="en-US" sz="1200"/>
                <a:t>is delivered within defined latency windows and remains up to date, with applied shelf-life and versioning rules to prevent use of stale data</a:t>
              </a:r>
              <a:endParaRPr lang="en-US" sz="1200">
                <a:solidFill>
                  <a:srgbClr val="000000"/>
                </a:solidFill>
              </a:endParaRPr>
            </a:p>
          </p:txBody>
        </p:sp>
        <p:sp>
          <p:nvSpPr>
            <p:cNvPr id="29" name="TextBox 28">
              <a:extLst>
                <a:ext uri="{FF2B5EF4-FFF2-40B4-BE49-F238E27FC236}">
                  <a16:creationId xmlns:a16="http://schemas.microsoft.com/office/drawing/2014/main" id="{73EC6D11-4AE9-DBC2-F209-976BA230D4ED}"/>
                </a:ext>
              </a:extLst>
            </p:cNvPr>
            <p:cNvSpPr txBox="1">
              <a:spLocks/>
            </p:cNvSpPr>
            <p:nvPr/>
          </p:nvSpPr>
          <p:spPr>
            <a:xfrm>
              <a:off x="4102347" y="4276790"/>
              <a:ext cx="1948697" cy="77713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dirty="0"/>
                <a:t>Infrequent updates with no monitoring of latency</a:t>
              </a:r>
            </a:p>
            <a:p>
              <a:pPr lvl="1">
                <a:buClr>
                  <a:srgbClr val="000000"/>
                </a:buClr>
                <a:defRPr/>
              </a:pPr>
              <a:r>
                <a:rPr lang="en-US" sz="1200" dirty="0"/>
                <a:t>Use of stale inputs for models and retrieval</a:t>
              </a:r>
              <a:endParaRPr lang="en-US" sz="1200" dirty="0">
                <a:solidFill>
                  <a:srgbClr val="000000"/>
                </a:solidFill>
              </a:endParaRPr>
            </a:p>
          </p:txBody>
        </p:sp>
        <p:sp>
          <p:nvSpPr>
            <p:cNvPr id="37" name="TextBox 36">
              <a:extLst>
                <a:ext uri="{FF2B5EF4-FFF2-40B4-BE49-F238E27FC236}">
                  <a16:creationId xmlns:a16="http://schemas.microsoft.com/office/drawing/2014/main" id="{9E543DCD-AAD8-E817-6E88-57464FD0345C}"/>
                </a:ext>
              </a:extLst>
            </p:cNvPr>
            <p:cNvSpPr txBox="1">
              <a:spLocks/>
            </p:cNvSpPr>
            <p:nvPr/>
          </p:nvSpPr>
          <p:spPr>
            <a:xfrm>
              <a:off x="554736" y="5311433"/>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Sensitivity tags</a:t>
              </a:r>
            </a:p>
          </p:txBody>
        </p:sp>
        <p:sp>
          <p:nvSpPr>
            <p:cNvPr id="33" name="TextBox 32">
              <a:extLst>
                <a:ext uri="{FF2B5EF4-FFF2-40B4-BE49-F238E27FC236}">
                  <a16:creationId xmlns:a16="http://schemas.microsoft.com/office/drawing/2014/main" id="{D9FDBDBD-9F81-FF12-79FB-083AFAF6A84A}"/>
                </a:ext>
              </a:extLst>
            </p:cNvPr>
            <p:cNvSpPr txBox="1">
              <a:spLocks/>
            </p:cNvSpPr>
            <p:nvPr/>
          </p:nvSpPr>
          <p:spPr>
            <a:xfrm>
              <a:off x="6190072" y="5311433"/>
              <a:ext cx="1966490" cy="96180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Basic reviews for demographic coverage and fairness</a:t>
              </a:r>
            </a:p>
            <a:p>
              <a:pPr lvl="1">
                <a:buClr>
                  <a:srgbClr val="000000"/>
                </a:buClr>
                <a:defRPr/>
              </a:pPr>
              <a:r>
                <a:rPr lang="en-US" sz="1200"/>
                <a:t>Flagging of sensitive fields in core datasets</a:t>
              </a:r>
              <a:endParaRPr lang="en-US" sz="1200">
                <a:solidFill>
                  <a:srgbClr val="000000"/>
                </a:solidFill>
              </a:endParaRPr>
            </a:p>
          </p:txBody>
        </p:sp>
        <p:sp>
          <p:nvSpPr>
            <p:cNvPr id="31" name="TextBox 30">
              <a:extLst>
                <a:ext uri="{FF2B5EF4-FFF2-40B4-BE49-F238E27FC236}">
                  <a16:creationId xmlns:a16="http://schemas.microsoft.com/office/drawing/2014/main" id="{A55C0999-99EC-135C-6CB5-A015C79BDE13}"/>
                </a:ext>
              </a:extLst>
            </p:cNvPr>
            <p:cNvSpPr txBox="1">
              <a:spLocks/>
            </p:cNvSpPr>
            <p:nvPr/>
          </p:nvSpPr>
          <p:spPr>
            <a:xfrm>
              <a:off x="8295588" y="5311433"/>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Systematic monitoring of </a:t>
              </a:r>
              <a:r>
                <a:rPr lang="en-US" sz="1200" b="1">
                  <a:solidFill>
                    <a:schemeClr val="accent1"/>
                  </a:solidFill>
                </a:rPr>
                <a:t>representativeness and bias across features, documents, and retrievals</a:t>
              </a:r>
              <a:endParaRPr lang="en-US" sz="1200" b="1">
                <a:solidFill>
                  <a:schemeClr val="accent1"/>
                </a:solidFill>
                <a:cs typeface="Arial"/>
              </a:endParaRPr>
            </a:p>
            <a:p>
              <a:pPr lvl="1">
                <a:buClr>
                  <a:srgbClr val="000000"/>
                </a:buClr>
                <a:defRPr/>
              </a:pPr>
              <a:r>
                <a:rPr lang="en-US" sz="1200">
                  <a:solidFill>
                    <a:srgbClr val="000000"/>
                  </a:solidFill>
                </a:rPr>
                <a:t>Consistent tagging </a:t>
              </a:r>
              <a:r>
                <a:rPr lang="en-US" sz="1200" b="1">
                  <a:solidFill>
                    <a:schemeClr val="accent1"/>
                  </a:solidFill>
                </a:rPr>
                <a:t>of sensitive data</a:t>
              </a:r>
              <a:r>
                <a:rPr lang="en-US" sz="1200" b="1">
                  <a:solidFill>
                    <a:schemeClr val="tx2"/>
                  </a:solidFill>
                </a:rPr>
                <a:t> </a:t>
              </a:r>
              <a:r>
                <a:rPr lang="en-US" sz="1200">
                  <a:solidFill>
                    <a:srgbClr val="000000"/>
                  </a:solidFill>
                </a:rPr>
                <a:t>and PII with lineage and alerts to guide </a:t>
              </a:r>
              <a:r>
                <a:rPr lang="en-US" sz="1200" b="1">
                  <a:solidFill>
                    <a:schemeClr val="accent1"/>
                  </a:solidFill>
                </a:rPr>
                <a:t>safe AI use</a:t>
              </a:r>
              <a:endParaRPr lang="en-US" sz="1200" b="1">
                <a:solidFill>
                  <a:schemeClr val="accent1"/>
                </a:solidFill>
                <a:cs typeface="Arial"/>
              </a:endParaRPr>
            </a:p>
          </p:txBody>
        </p:sp>
        <p:sp>
          <p:nvSpPr>
            <p:cNvPr id="39" name="TextBox 38">
              <a:extLst>
                <a:ext uri="{FF2B5EF4-FFF2-40B4-BE49-F238E27FC236}">
                  <a16:creationId xmlns:a16="http://schemas.microsoft.com/office/drawing/2014/main" id="{AEC5F691-E33C-7624-4D6F-97B090FF8E13}"/>
                </a:ext>
              </a:extLst>
            </p:cNvPr>
            <p:cNvSpPr txBox="1">
              <a:spLocks/>
            </p:cNvSpPr>
            <p:nvPr/>
          </p:nvSpPr>
          <p:spPr>
            <a:xfrm>
              <a:off x="1736201" y="5311433"/>
              <a:ext cx="2227118"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Identify and track sensitive data (e.g., PII, corporate IP, financial records); guaranteeing representativeness and unbiasedness </a:t>
              </a:r>
            </a:p>
          </p:txBody>
        </p:sp>
        <p:sp>
          <p:nvSpPr>
            <p:cNvPr id="35" name="TextBox 34">
              <a:extLst>
                <a:ext uri="{FF2B5EF4-FFF2-40B4-BE49-F238E27FC236}">
                  <a16:creationId xmlns:a16="http://schemas.microsoft.com/office/drawing/2014/main" id="{8663FD36-E588-BF2F-9AD9-761F126C3889}"/>
                </a:ext>
              </a:extLst>
            </p:cNvPr>
            <p:cNvSpPr txBox="1">
              <a:spLocks/>
            </p:cNvSpPr>
            <p:nvPr/>
          </p:nvSpPr>
          <p:spPr>
            <a:xfrm>
              <a:off x="4102347" y="5311433"/>
              <a:ext cx="1948697" cy="96180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No awareness of population coverage or bias</a:t>
              </a:r>
            </a:p>
            <a:p>
              <a:pPr lvl="1">
                <a:buClr>
                  <a:srgbClr val="000000"/>
                </a:buClr>
                <a:defRPr/>
              </a:pPr>
              <a:r>
                <a:rPr lang="en-US" sz="1200">
                  <a:solidFill>
                    <a:srgbClr val="000000"/>
                  </a:solidFill>
                </a:rPr>
                <a:t>Sensitive content and PII not identified</a:t>
              </a:r>
            </a:p>
          </p:txBody>
        </p:sp>
        <p:sp>
          <p:nvSpPr>
            <p:cNvPr id="56" name="TextBox 55">
              <a:extLst>
                <a:ext uri="{FF2B5EF4-FFF2-40B4-BE49-F238E27FC236}">
                  <a16:creationId xmlns:a16="http://schemas.microsoft.com/office/drawing/2014/main" id="{74C89922-9830-CA0F-A863-58210C0B3C5C}"/>
                </a:ext>
              </a:extLst>
            </p:cNvPr>
            <p:cNvSpPr txBox="1">
              <a:spLocks/>
            </p:cNvSpPr>
            <p:nvPr/>
          </p:nvSpPr>
          <p:spPr>
            <a:xfrm>
              <a:off x="6190072" y="1070975"/>
              <a:ext cx="1966490"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Medium</a:t>
              </a:r>
            </a:p>
          </p:txBody>
        </p:sp>
        <p:sp>
          <p:nvSpPr>
            <p:cNvPr id="57" name="TextBox 56">
              <a:extLst>
                <a:ext uri="{FF2B5EF4-FFF2-40B4-BE49-F238E27FC236}">
                  <a16:creationId xmlns:a16="http://schemas.microsoft.com/office/drawing/2014/main" id="{C3DB2300-1D0B-9022-04B0-1384DD054F5C}"/>
                </a:ext>
              </a:extLst>
            </p:cNvPr>
            <p:cNvSpPr txBox="1">
              <a:spLocks/>
            </p:cNvSpPr>
            <p:nvPr/>
          </p:nvSpPr>
          <p:spPr>
            <a:xfrm>
              <a:off x="1736201" y="1070975"/>
              <a:ext cx="2227118"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Description</a:t>
              </a:r>
            </a:p>
          </p:txBody>
        </p:sp>
        <p:sp>
          <p:nvSpPr>
            <p:cNvPr id="58" name="TextBox 57">
              <a:extLst>
                <a:ext uri="{FF2B5EF4-FFF2-40B4-BE49-F238E27FC236}">
                  <a16:creationId xmlns:a16="http://schemas.microsoft.com/office/drawing/2014/main" id="{3FA393E0-BB3E-0578-0D72-FC161044C783}"/>
                </a:ext>
              </a:extLst>
            </p:cNvPr>
            <p:cNvSpPr txBox="1">
              <a:spLocks/>
            </p:cNvSpPr>
            <p:nvPr/>
          </p:nvSpPr>
          <p:spPr>
            <a:xfrm>
              <a:off x="4102347" y="1070975"/>
              <a:ext cx="1948697"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Low</a:t>
              </a:r>
            </a:p>
          </p:txBody>
        </p:sp>
      </p:grpSp>
    </p:spTree>
    <p:custDataLst>
      <p:tags r:id="rId1"/>
    </p:custDataLst>
    <p:extLst>
      <p:ext uri="{BB962C8B-B14F-4D97-AF65-F5344CB8AC3E}">
        <p14:creationId xmlns:p14="http://schemas.microsoft.com/office/powerpoint/2010/main" val="403844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A05BC-CA15-4D62-E788-1C05655DEB34}"/>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901BCD36-944B-DD88-D72C-11FB7E2E7690}"/>
              </a:ext>
            </a:extLst>
          </p:cNvPr>
          <p:cNvGraphicFramePr>
            <a:graphicFrameLocks noChangeAspect="1"/>
          </p:cNvGraphicFramePr>
          <p:nvPr>
            <p:custDataLst>
              <p:tags r:id="rId2"/>
            </p:custDataLst>
            <p:extLst>
              <p:ext uri="{D42A27DB-BD31-4B8C-83A1-F6EECF244321}">
                <p14:modId xmlns:p14="http://schemas.microsoft.com/office/powerpoint/2010/main" val="3810390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04" imgH="405" progId="TCLayout.ActiveDocument.1">
                  <p:embed/>
                </p:oleObj>
              </mc:Choice>
              <mc:Fallback>
                <p:oleObj name="think-cell Slide" r:id="rId10" imgW="404" imgH="405" progId="TCLayout.ActiveDocument.1">
                  <p:embed/>
                  <p:pic>
                    <p:nvPicPr>
                      <p:cNvPr id="5" name="Object 6" hidden="1">
                        <a:extLst>
                          <a:ext uri="{FF2B5EF4-FFF2-40B4-BE49-F238E27FC236}">
                            <a16:creationId xmlns:a16="http://schemas.microsoft.com/office/drawing/2014/main" id="{901BCD36-944B-DD88-D72C-11FB7E2E769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48058ED4-6E75-EEC4-3002-7C0FE6F99342}"/>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a:t>C. Metadata Management dimension rubric</a:t>
            </a:r>
          </a:p>
        </p:txBody>
      </p:sp>
      <p:sp>
        <p:nvSpPr>
          <p:cNvPr id="6" name="Text Placeholder 5">
            <a:extLst>
              <a:ext uri="{FF2B5EF4-FFF2-40B4-BE49-F238E27FC236}">
                <a16:creationId xmlns:a16="http://schemas.microsoft.com/office/drawing/2014/main" id="{A175844D-9393-70FE-13A9-36C439375DE4}"/>
              </a:ext>
            </a:extLst>
          </p:cNvPr>
          <p:cNvSpPr>
            <a:spLocks noGrp="1"/>
          </p:cNvSpPr>
          <p:nvPr>
            <p:ph type="body" sz="quarter" idx="17"/>
          </p:nvPr>
        </p:nvSpPr>
        <p:spPr/>
        <p:txBody>
          <a:bodyPr/>
          <a:lstStyle/>
          <a:p>
            <a:endParaRPr lang="en-US"/>
          </a:p>
        </p:txBody>
      </p:sp>
      <p:grpSp>
        <p:nvGrpSpPr>
          <p:cNvPr id="9" name="Group 8">
            <a:extLst>
              <a:ext uri="{FF2B5EF4-FFF2-40B4-BE49-F238E27FC236}">
                <a16:creationId xmlns:a16="http://schemas.microsoft.com/office/drawing/2014/main" id="{50A23386-F248-CA89-4953-FBACC5A3EC82}"/>
              </a:ext>
            </a:extLst>
          </p:cNvPr>
          <p:cNvGrpSpPr/>
          <p:nvPr/>
        </p:nvGrpSpPr>
        <p:grpSpPr>
          <a:xfrm>
            <a:off x="554735" y="963254"/>
            <a:ext cx="11082529" cy="5194209"/>
            <a:chOff x="554735" y="855532"/>
            <a:chExt cx="11082529" cy="5194209"/>
          </a:xfrm>
        </p:grpSpPr>
        <p:cxnSp>
          <p:nvCxnSpPr>
            <p:cNvPr id="51" name="Straight Connector 50">
              <a:extLst>
                <a:ext uri="{FF2B5EF4-FFF2-40B4-BE49-F238E27FC236}">
                  <a16:creationId xmlns:a16="http://schemas.microsoft.com/office/drawing/2014/main" id="{73FF4F30-867F-A116-B37F-A39E7B06F336}"/>
                </a:ext>
              </a:extLst>
            </p:cNvPr>
            <p:cNvCxnSpPr>
              <a:cxnSpLocks/>
            </p:cNvCxnSpPr>
            <p:nvPr>
              <p:custDataLst>
                <p:tags r:id="rId4"/>
              </p:custDataLst>
            </p:nvPr>
          </p:nvCxnSpPr>
          <p:spPr>
            <a:xfrm>
              <a:off x="554736" y="2552489"/>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A4D9365-E7F3-C53A-AC5E-10EB702FB814}"/>
                </a:ext>
              </a:extLst>
            </p:cNvPr>
            <p:cNvCxnSpPr>
              <a:cxnSpLocks/>
            </p:cNvCxnSpPr>
            <p:nvPr>
              <p:custDataLst>
                <p:tags r:id="rId5"/>
              </p:custDataLst>
            </p:nvPr>
          </p:nvCxnSpPr>
          <p:spPr>
            <a:xfrm>
              <a:off x="554736" y="3795963"/>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D640EE0-66F7-5453-59FE-F164D687D7D4}"/>
                </a:ext>
              </a:extLst>
            </p:cNvPr>
            <p:cNvCxnSpPr>
              <a:cxnSpLocks/>
            </p:cNvCxnSpPr>
            <p:nvPr>
              <p:custDataLst>
                <p:tags r:id="rId6"/>
              </p:custDataLst>
            </p:nvPr>
          </p:nvCxnSpPr>
          <p:spPr>
            <a:xfrm>
              <a:off x="554736" y="5039437"/>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CD968BC-CF20-B57F-64DB-2F9380FA3141}"/>
                </a:ext>
              </a:extLst>
            </p:cNvPr>
            <p:cNvSpPr txBox="1">
              <a:spLocks/>
            </p:cNvSpPr>
            <p:nvPr/>
          </p:nvSpPr>
          <p:spPr>
            <a:xfrm>
              <a:off x="554736" y="1357518"/>
              <a:ext cx="1042437" cy="5078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100" b="1">
                  <a:solidFill>
                    <a:srgbClr val="000000"/>
                  </a:solidFill>
                  <a:latin typeface="Arial"/>
                </a:rPr>
                <a:t>Catalog and glossary</a:t>
              </a:r>
            </a:p>
          </p:txBody>
        </p:sp>
        <p:sp>
          <p:nvSpPr>
            <p:cNvPr id="32" name="TextBox 31">
              <a:extLst>
                <a:ext uri="{FF2B5EF4-FFF2-40B4-BE49-F238E27FC236}">
                  <a16:creationId xmlns:a16="http://schemas.microsoft.com/office/drawing/2014/main" id="{6EFD780C-5D19-1528-8BC5-B7BC17B4DC2B}"/>
                </a:ext>
              </a:extLst>
            </p:cNvPr>
            <p:cNvSpPr txBox="1">
              <a:spLocks/>
            </p:cNvSpPr>
            <p:nvPr/>
          </p:nvSpPr>
          <p:spPr>
            <a:xfrm>
              <a:off x="8295588" y="1357518"/>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Enterprise-wide catalog covering structured, </a:t>
              </a:r>
              <a:r>
                <a:rPr kumimoji="0" lang="en-US" sz="1200" b="1" i="0" u="none" strike="noStrike" kern="1200" cap="none" spc="0" normalizeH="0" baseline="0" noProof="0">
                  <a:ln>
                    <a:noFill/>
                  </a:ln>
                  <a:solidFill>
                    <a:schemeClr val="accent1"/>
                  </a:solidFill>
                  <a:effectLst/>
                  <a:uLnTx/>
                  <a:uFillTx/>
                  <a:latin typeface="Arial"/>
                  <a:ea typeface="+mn-ea"/>
                  <a:cs typeface="+mn-cs"/>
                </a:rPr>
                <a:t>unstructured, and AI-specific assets </a:t>
              </a:r>
              <a:r>
                <a:rPr kumimoji="0" lang="en-US" sz="1200" b="0" i="0" u="none" strike="noStrike" kern="1200" cap="none" spc="0" normalizeH="0" baseline="0" noProof="0">
                  <a:ln>
                    <a:noFill/>
                  </a:ln>
                  <a:solidFill>
                    <a:srgbClr val="000000"/>
                  </a:solidFill>
                  <a:effectLst/>
                  <a:uLnTx/>
                  <a:uFillTx/>
                  <a:latin typeface="Arial"/>
                  <a:ea typeface="+mn-ea"/>
                  <a:cs typeface="+mn-cs"/>
                </a:rPr>
                <a:t>(documents, </a:t>
              </a:r>
              <a:r>
                <a:rPr kumimoji="0" lang="en-US" sz="1200" b="1" i="0" u="none" strike="noStrike" kern="1200" cap="none" spc="0" normalizeH="0" baseline="0" noProof="0">
                  <a:ln>
                    <a:noFill/>
                  </a:ln>
                  <a:solidFill>
                    <a:schemeClr val="accent1"/>
                  </a:solidFill>
                  <a:effectLst/>
                  <a:uLnTx/>
                  <a:uFillTx/>
                  <a:latin typeface="Arial"/>
                  <a:ea typeface="+mn-ea"/>
                  <a:cs typeface="+mn-cs"/>
                </a:rPr>
                <a:t>embeddings, prompts</a:t>
              </a:r>
              <a:r>
                <a:rPr kumimoji="0" lang="en-US" sz="1200" b="0" i="0" u="none" strike="noStrike" kern="1200" cap="none" spc="0" normalizeH="0" baseline="0" noProof="0">
                  <a:ln>
                    <a:noFill/>
                  </a:ln>
                  <a:solidFill>
                    <a:srgbClr val="000000"/>
                  </a:solidFill>
                  <a:effectLst/>
                  <a:uLnTx/>
                  <a:uFillTx/>
                  <a:latin typeface="Arial"/>
                  <a:ea typeface="+mn-ea"/>
                  <a:cs typeface="+mn-cs"/>
                </a:rPr>
                <a:t>)</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Automated glossary with consistently applied definitions integrated with lineage</a:t>
              </a:r>
            </a:p>
          </p:txBody>
        </p:sp>
        <p:sp>
          <p:nvSpPr>
            <p:cNvPr id="8" name="TextBox 7">
              <a:extLst>
                <a:ext uri="{FF2B5EF4-FFF2-40B4-BE49-F238E27FC236}">
                  <a16:creationId xmlns:a16="http://schemas.microsoft.com/office/drawing/2014/main" id="{AC86B06A-24EA-0697-AB7C-8149C1B71783}"/>
                </a:ext>
              </a:extLst>
            </p:cNvPr>
            <p:cNvSpPr txBox="1">
              <a:spLocks/>
            </p:cNvSpPr>
            <p:nvPr/>
          </p:nvSpPr>
          <p:spPr>
            <a:xfrm>
              <a:off x="554736" y="2600992"/>
              <a:ext cx="104243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Knowledge</a:t>
              </a:r>
              <a:r>
                <a:rPr lang="en-US" sz="1200"/>
                <a:t> </a:t>
              </a:r>
              <a:r>
                <a:rPr lang="en-US" sz="1200" b="1"/>
                <a:t>Management</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98596AE9-890E-1E82-AB1E-EA0F71D1039D}"/>
                </a:ext>
              </a:extLst>
            </p:cNvPr>
            <p:cNvSpPr txBox="1">
              <a:spLocks/>
            </p:cNvSpPr>
            <p:nvPr/>
          </p:nvSpPr>
          <p:spPr>
            <a:xfrm>
              <a:off x="8295588" y="2600992"/>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Integrated </a:t>
              </a:r>
              <a:r>
                <a:rPr kumimoji="0" lang="en-US" sz="1200" b="1" i="0" u="none" strike="noStrike" kern="1200" cap="none" spc="0" normalizeH="0" baseline="0" noProof="0">
                  <a:ln>
                    <a:noFill/>
                  </a:ln>
                  <a:solidFill>
                    <a:schemeClr val="accent1"/>
                  </a:solidFill>
                  <a:effectLst/>
                  <a:uLnTx/>
                  <a:uFillTx/>
                  <a:latin typeface="Arial"/>
                  <a:ea typeface="+mn-ea"/>
                  <a:cs typeface="+mn-cs"/>
                </a:rPr>
                <a:t>knowledge models capturing entities, relationships, and hierarchies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Standardized hierarchies across features, </a:t>
              </a:r>
              <a:r>
                <a:rPr kumimoji="0" lang="en-US" sz="1200" b="1" i="0" u="none" strike="noStrike" kern="1200" cap="none" spc="0" normalizeH="0" baseline="0" noProof="0">
                  <a:ln>
                    <a:noFill/>
                  </a:ln>
                  <a:solidFill>
                    <a:schemeClr val="accent1"/>
                  </a:solidFill>
                  <a:effectLst/>
                  <a:uLnTx/>
                  <a:uFillTx/>
                  <a:latin typeface="Arial"/>
                  <a:ea typeface="+mn-ea"/>
                  <a:cs typeface="+mn-cs"/>
                </a:rPr>
                <a:t>documents, and retrieval</a:t>
              </a:r>
              <a:r>
                <a:rPr kumimoji="0" lang="en-US" sz="1200" b="1" i="0" u="none" strike="noStrike" kern="1200" cap="none" spc="0" normalizeH="0" baseline="0" noProof="0">
                  <a:ln>
                    <a:noFill/>
                  </a:ln>
                  <a:solidFill>
                    <a:schemeClr val="tx2"/>
                  </a:solidFill>
                  <a:effectLst/>
                  <a:uLnTx/>
                  <a:uFillTx/>
                  <a:latin typeface="Arial"/>
                  <a:ea typeface="+mn-ea"/>
                  <a:cs typeface="+mn-cs"/>
                </a:rPr>
                <a:t> </a:t>
              </a:r>
              <a:r>
                <a:rPr kumimoji="0" lang="en-US" sz="1200" b="0" i="0" u="none" strike="noStrike" kern="1200" cap="none" spc="0" normalizeH="0" baseline="0" noProof="0">
                  <a:ln>
                    <a:noFill/>
                  </a:ln>
                  <a:solidFill>
                    <a:srgbClr val="000000"/>
                  </a:solidFill>
                  <a:effectLst/>
                  <a:uLnTx/>
                  <a:uFillTx/>
                  <a:latin typeface="Arial"/>
                  <a:ea typeface="+mn-ea"/>
                  <a:cs typeface="+mn-cs"/>
                </a:rPr>
                <a:t>improving AI and GenAI discovery</a:t>
              </a:r>
            </a:p>
          </p:txBody>
        </p:sp>
        <p:sp>
          <p:nvSpPr>
            <p:cNvPr id="10" name="TextBox 9">
              <a:extLst>
                <a:ext uri="{FF2B5EF4-FFF2-40B4-BE49-F238E27FC236}">
                  <a16:creationId xmlns:a16="http://schemas.microsoft.com/office/drawing/2014/main" id="{33A13A49-CF3E-3EBF-8C34-5FA09D2D49EA}"/>
                </a:ext>
              </a:extLst>
            </p:cNvPr>
            <p:cNvSpPr txBox="1">
              <a:spLocks/>
            </p:cNvSpPr>
            <p:nvPr/>
          </p:nvSpPr>
          <p:spPr>
            <a:xfrm>
              <a:off x="554736" y="3844466"/>
              <a:ext cx="104243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Schemas and data contracts</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4" name="TextBox 43">
              <a:extLst>
                <a:ext uri="{FF2B5EF4-FFF2-40B4-BE49-F238E27FC236}">
                  <a16:creationId xmlns:a16="http://schemas.microsoft.com/office/drawing/2014/main" id="{F0AB2B18-ED61-14DD-0450-F395FC99EAEC}"/>
                </a:ext>
              </a:extLst>
            </p:cNvPr>
            <p:cNvSpPr txBox="1">
              <a:spLocks/>
            </p:cNvSpPr>
            <p:nvPr/>
          </p:nvSpPr>
          <p:spPr>
            <a:xfrm>
              <a:off x="8295588" y="3844466"/>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Formal schemas and contracts across structured, </a:t>
              </a:r>
              <a:r>
                <a:rPr lang="en-US" sz="1200" b="1">
                  <a:solidFill>
                    <a:schemeClr val="accent1"/>
                  </a:solidFill>
                  <a:latin typeface="Arial"/>
                </a:rPr>
                <a:t>unstructured, and AI-specific data </a:t>
              </a:r>
              <a:r>
                <a:rPr kumimoji="0" lang="en-US" sz="1200" b="0" i="0" u="none" strike="noStrike" kern="1200" cap="none" spc="0" normalizeH="0" baseline="0" noProof="0">
                  <a:ln>
                    <a:noFill/>
                  </a:ln>
                  <a:solidFill>
                    <a:srgbClr val="000000"/>
                  </a:solidFill>
                  <a:effectLst/>
                  <a:uLnTx/>
                  <a:uFillTx/>
                  <a:latin typeface="Arial"/>
                  <a:ea typeface="+mn-ea"/>
                  <a:cs typeface="+mn-cs"/>
                </a:rPr>
                <a:t>(documents, </a:t>
              </a:r>
              <a:r>
                <a:rPr kumimoji="0" lang="en-US" sz="1200" b="1" i="0" u="none" strike="noStrike" kern="1200" cap="none" spc="0" normalizeH="0" baseline="0" noProof="0">
                  <a:ln>
                    <a:noFill/>
                  </a:ln>
                  <a:solidFill>
                    <a:schemeClr val="accent1"/>
                  </a:solidFill>
                  <a:effectLst/>
                  <a:uLnTx/>
                  <a:uFillTx/>
                  <a:latin typeface="Arial"/>
                  <a:ea typeface="+mn-ea"/>
                  <a:cs typeface="+mn-cs"/>
                </a:rPr>
                <a:t>embeddings, prompts</a:t>
              </a:r>
              <a:r>
                <a:rPr kumimoji="0" lang="en-US" sz="1200" b="0" i="0" u="none" strike="noStrike" kern="1200" cap="none" spc="0" normalizeH="0" baseline="0" noProof="0">
                  <a:ln>
                    <a:noFill/>
                  </a:ln>
                  <a:solidFill>
                    <a:srgbClr val="000000"/>
                  </a:solidFill>
                  <a:effectLst/>
                  <a:uLnTx/>
                  <a:uFillTx/>
                  <a:latin typeface="Arial"/>
                  <a:ea typeface="+mn-ea"/>
                  <a:cs typeface="+mn-cs"/>
                </a:rPr>
                <a:t>)</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Automated validation and enforcement with lineage and versioning</a:t>
              </a:r>
            </a:p>
          </p:txBody>
        </p:sp>
        <p:sp>
          <p:nvSpPr>
            <p:cNvPr id="29" name="TextBox 28">
              <a:extLst>
                <a:ext uri="{FF2B5EF4-FFF2-40B4-BE49-F238E27FC236}">
                  <a16:creationId xmlns:a16="http://schemas.microsoft.com/office/drawing/2014/main" id="{668A3034-00C7-15FC-CD03-842638D998BB}"/>
                </a:ext>
              </a:extLst>
            </p:cNvPr>
            <p:cNvSpPr txBox="1">
              <a:spLocks/>
            </p:cNvSpPr>
            <p:nvPr/>
          </p:nvSpPr>
          <p:spPr>
            <a:xfrm>
              <a:off x="554736" y="5087939"/>
              <a:ext cx="1042437"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Context tags</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0" name="TextBox 49">
              <a:extLst>
                <a:ext uri="{FF2B5EF4-FFF2-40B4-BE49-F238E27FC236}">
                  <a16:creationId xmlns:a16="http://schemas.microsoft.com/office/drawing/2014/main" id="{10D39C4E-D6EA-D76B-3CFB-FB6D4A667EFA}"/>
                </a:ext>
              </a:extLst>
            </p:cNvPr>
            <p:cNvSpPr txBox="1">
              <a:spLocks/>
            </p:cNvSpPr>
            <p:nvPr/>
          </p:nvSpPr>
          <p:spPr>
            <a:xfrm>
              <a:off x="8295588" y="5087939"/>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Automated tagging of datasets, </a:t>
              </a:r>
              <a:r>
                <a:rPr kumimoji="0" lang="en-US" sz="1200" b="1" i="0" u="none" strike="noStrike" kern="1200" cap="none" spc="0" normalizeH="0" baseline="0" noProof="0">
                  <a:ln>
                    <a:noFill/>
                  </a:ln>
                  <a:solidFill>
                    <a:schemeClr val="accent1"/>
                  </a:solidFill>
                  <a:effectLst/>
                  <a:uLnTx/>
                  <a:uFillTx/>
                  <a:latin typeface="Arial"/>
                  <a:ea typeface="+mn-ea"/>
                  <a:cs typeface="+mn-cs"/>
                </a:rPr>
                <a:t>documents, and embeddings</a:t>
              </a:r>
              <a:r>
                <a:rPr kumimoji="0" lang="en-US" sz="1200" b="0" i="0" u="none" strike="noStrike" kern="1200" cap="none" spc="0" normalizeH="0" baseline="0" noProof="0">
                  <a:ln>
                    <a:noFill/>
                  </a:ln>
                  <a:solidFill>
                    <a:schemeClr val="accent1"/>
                  </a:solidFill>
                  <a:effectLst/>
                  <a:uLnTx/>
                  <a:uFillTx/>
                  <a:latin typeface="Arial"/>
                  <a:ea typeface="+mn-ea"/>
                  <a:cs typeface="+mn-cs"/>
                </a:rPr>
                <a:t> </a:t>
              </a:r>
              <a:r>
                <a:rPr kumimoji="0" lang="en-US" sz="1200" b="0" i="0" u="none" strike="noStrike" kern="1200" cap="none" spc="0" normalizeH="0" baseline="0" noProof="0">
                  <a:ln>
                    <a:noFill/>
                  </a:ln>
                  <a:solidFill>
                    <a:srgbClr val="000000"/>
                  </a:solidFill>
                  <a:effectLst/>
                  <a:uLnTx/>
                  <a:uFillTx/>
                  <a:latin typeface="Arial"/>
                  <a:ea typeface="+mn-ea"/>
                  <a:cs typeface="+mn-cs"/>
                </a:rPr>
                <a:t>with high accuracy and business context (e.g., client, account)</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Consistent and traceable tagging to support search, governance, and </a:t>
              </a:r>
              <a:r>
                <a:rPr kumimoji="0" lang="en-US" sz="1200" b="1" i="0" u="none" strike="noStrike" kern="1200" cap="none" spc="0" normalizeH="0" baseline="0" noProof="0">
                  <a:ln>
                    <a:noFill/>
                  </a:ln>
                  <a:solidFill>
                    <a:schemeClr val="accent1"/>
                  </a:solidFill>
                  <a:effectLst/>
                  <a:uLnTx/>
                  <a:uFillTx/>
                  <a:latin typeface="Arial"/>
                  <a:ea typeface="+mn-ea"/>
                  <a:cs typeface="+mn-cs"/>
                </a:rPr>
                <a:t>GenAI retrieval</a:t>
              </a:r>
            </a:p>
          </p:txBody>
        </p:sp>
        <p:cxnSp>
          <p:nvCxnSpPr>
            <p:cNvPr id="3" name="Straight Connector 2">
              <a:extLst>
                <a:ext uri="{FF2B5EF4-FFF2-40B4-BE49-F238E27FC236}">
                  <a16:creationId xmlns:a16="http://schemas.microsoft.com/office/drawing/2014/main" id="{A0858074-5A7A-26EE-9897-4E524CEB7391}"/>
                </a:ext>
              </a:extLst>
            </p:cNvPr>
            <p:cNvCxnSpPr>
              <a:cxnSpLocks/>
            </p:cNvCxnSpPr>
            <p:nvPr>
              <p:custDataLst>
                <p:tags r:id="rId7"/>
              </p:custDataLst>
            </p:nvPr>
          </p:nvCxnSpPr>
          <p:spPr>
            <a:xfrm>
              <a:off x="554735" y="131696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300E12E-5FC0-1697-C71A-BAB961C055B1}"/>
                </a:ext>
              </a:extLst>
            </p:cNvPr>
            <p:cNvSpPr txBox="1">
              <a:spLocks/>
            </p:cNvSpPr>
            <p:nvPr/>
          </p:nvSpPr>
          <p:spPr>
            <a:xfrm>
              <a:off x="554736" y="855532"/>
              <a:ext cx="1042437" cy="430887"/>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Sub-Dimension</a:t>
              </a:r>
            </a:p>
          </p:txBody>
        </p:sp>
        <p:sp>
          <p:nvSpPr>
            <p:cNvPr id="28" name="TextBox 27">
              <a:extLst>
                <a:ext uri="{FF2B5EF4-FFF2-40B4-BE49-F238E27FC236}">
                  <a16:creationId xmlns:a16="http://schemas.microsoft.com/office/drawing/2014/main" id="{D14ED684-6AB6-934E-6C34-21B79A6D9E29}"/>
                </a:ext>
              </a:extLst>
            </p:cNvPr>
            <p:cNvSpPr txBox="1">
              <a:spLocks/>
            </p:cNvSpPr>
            <p:nvPr/>
          </p:nvSpPr>
          <p:spPr>
            <a:xfrm>
              <a:off x="6190072" y="1357518"/>
              <a:ext cx="1966490"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Basic catalog with limited dataset coverage and adoption</a:t>
              </a:r>
              <a:endParaRPr kumimoji="0" lang="en-US" sz="1200" i="0" u="none" strike="noStrike" kern="1200" cap="none" spc="0" normalizeH="0" baseline="0" noProof="0">
                <a:ln>
                  <a:noFill/>
                </a:ln>
                <a:solidFill>
                  <a:srgbClr val="000000"/>
                </a:solidFill>
                <a:effectLst/>
                <a:uLnTx/>
                <a:uFillTx/>
                <a:latin typeface="Arial"/>
                <a:ea typeface="+mn-ea"/>
                <a:cs typeface="+mn-cs"/>
              </a:endParaRP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Arial"/>
                  <a:ea typeface="+mn-ea"/>
                  <a:cs typeface="+mn-cs"/>
                </a:rPr>
                <a:t>Manual glossary of core definitions and sources</a:t>
              </a:r>
            </a:p>
          </p:txBody>
        </p:sp>
        <p:sp>
          <p:nvSpPr>
            <p:cNvPr id="36" name="TextBox 35">
              <a:extLst>
                <a:ext uri="{FF2B5EF4-FFF2-40B4-BE49-F238E27FC236}">
                  <a16:creationId xmlns:a16="http://schemas.microsoft.com/office/drawing/2014/main" id="{FF0968E8-EE79-BB67-17C3-C9520A0C587C}"/>
                </a:ext>
              </a:extLst>
            </p:cNvPr>
            <p:cNvSpPr txBox="1">
              <a:spLocks/>
            </p:cNvSpPr>
            <p:nvPr/>
          </p:nvSpPr>
          <p:spPr>
            <a:xfrm>
              <a:off x="6190072" y="2600992"/>
              <a:ext cx="1966490"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Basic taxonomy or ontology </a:t>
              </a:r>
              <a:r>
                <a:rPr lang="en-US" sz="1200">
                  <a:solidFill>
                    <a:srgbClr val="000000"/>
                  </a:solidFill>
                  <a:latin typeface="Arial"/>
                </a:rPr>
                <a:t>covering</a:t>
              </a:r>
              <a:r>
                <a:rPr kumimoji="0" lang="en-US" sz="1200" b="0" i="0" u="none" strike="noStrike" kern="1200" cap="none" spc="0" normalizeH="0" baseline="0" noProof="0">
                  <a:ln>
                    <a:noFill/>
                  </a:ln>
                  <a:solidFill>
                    <a:srgbClr val="000000"/>
                  </a:solidFill>
                  <a:effectLst/>
                  <a:uLnTx/>
                  <a:uFillTx/>
                  <a:latin typeface="Arial"/>
                  <a:ea typeface="+mn-ea"/>
                  <a:cs typeface="+mn-cs"/>
                </a:rPr>
                <a:t> priority domains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Partial definitions and hierarchies with limited coverage</a:t>
              </a:r>
            </a:p>
          </p:txBody>
        </p:sp>
        <p:sp>
          <p:nvSpPr>
            <p:cNvPr id="42" name="TextBox 41">
              <a:extLst>
                <a:ext uri="{FF2B5EF4-FFF2-40B4-BE49-F238E27FC236}">
                  <a16:creationId xmlns:a16="http://schemas.microsoft.com/office/drawing/2014/main" id="{B41C47C1-8A74-0CD5-E020-6CCEDDC1C7DA}"/>
                </a:ext>
              </a:extLst>
            </p:cNvPr>
            <p:cNvSpPr txBox="1">
              <a:spLocks/>
            </p:cNvSpPr>
            <p:nvPr/>
          </p:nvSpPr>
          <p:spPr>
            <a:xfrm>
              <a:off x="6190072" y="3844466"/>
              <a:ext cx="1966490"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Defined schemas for priority datasets and features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Basic data contracts between producers and consumers</a:t>
              </a:r>
            </a:p>
          </p:txBody>
        </p:sp>
        <p:sp>
          <p:nvSpPr>
            <p:cNvPr id="48" name="TextBox 47">
              <a:extLst>
                <a:ext uri="{FF2B5EF4-FFF2-40B4-BE49-F238E27FC236}">
                  <a16:creationId xmlns:a16="http://schemas.microsoft.com/office/drawing/2014/main" id="{6B88D5F7-55B4-8268-8538-7EED0D73EA78}"/>
                </a:ext>
              </a:extLst>
            </p:cNvPr>
            <p:cNvSpPr txBox="1">
              <a:spLocks/>
            </p:cNvSpPr>
            <p:nvPr/>
          </p:nvSpPr>
          <p:spPr>
            <a:xfrm>
              <a:off x="6190072" y="5087939"/>
              <a:ext cx="1966490"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Basic manual tagging for priority domains (e.g., client, account)</a:t>
              </a:r>
            </a:p>
            <a:p>
              <a:pPr lvl="1">
                <a:buClr>
                  <a:srgbClr val="000000"/>
                </a:buClr>
                <a:defRPr/>
              </a:pPr>
              <a:r>
                <a:rPr lang="en-US" sz="1200" dirty="0"/>
                <a:t>Inconsistent maintenance of tags across systems</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TextBox 11">
              <a:extLst>
                <a:ext uri="{FF2B5EF4-FFF2-40B4-BE49-F238E27FC236}">
                  <a16:creationId xmlns:a16="http://schemas.microsoft.com/office/drawing/2014/main" id="{89567204-7FF2-A088-0A2D-8C7105EE1091}"/>
                </a:ext>
              </a:extLst>
            </p:cNvPr>
            <p:cNvSpPr txBox="1">
              <a:spLocks/>
            </p:cNvSpPr>
            <p:nvPr/>
          </p:nvSpPr>
          <p:spPr>
            <a:xfrm>
              <a:off x="6190072" y="1070975"/>
              <a:ext cx="1966490" cy="215444"/>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Medium</a:t>
              </a:r>
            </a:p>
          </p:txBody>
        </p:sp>
        <p:sp>
          <p:nvSpPr>
            <p:cNvPr id="13" name="TextBox 12">
              <a:extLst>
                <a:ext uri="{FF2B5EF4-FFF2-40B4-BE49-F238E27FC236}">
                  <a16:creationId xmlns:a16="http://schemas.microsoft.com/office/drawing/2014/main" id="{058DD29E-BA00-2E86-09B9-20D0C7D59B7A}"/>
                </a:ext>
              </a:extLst>
            </p:cNvPr>
            <p:cNvSpPr txBox="1">
              <a:spLocks/>
            </p:cNvSpPr>
            <p:nvPr/>
          </p:nvSpPr>
          <p:spPr>
            <a:xfrm>
              <a:off x="8295588" y="1070975"/>
              <a:ext cx="3341672" cy="215444"/>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High</a:t>
              </a:r>
            </a:p>
          </p:txBody>
        </p:sp>
        <p:sp>
          <p:nvSpPr>
            <p:cNvPr id="17" name="TextBox 16">
              <a:extLst>
                <a:ext uri="{FF2B5EF4-FFF2-40B4-BE49-F238E27FC236}">
                  <a16:creationId xmlns:a16="http://schemas.microsoft.com/office/drawing/2014/main" id="{281DE004-9649-FBAB-0F72-A22E0F8341C7}"/>
                </a:ext>
              </a:extLst>
            </p:cNvPr>
            <p:cNvSpPr txBox="1">
              <a:spLocks/>
            </p:cNvSpPr>
            <p:nvPr/>
          </p:nvSpPr>
          <p:spPr>
            <a:xfrm>
              <a:off x="1736201" y="1357518"/>
              <a:ext cx="2227118" cy="73866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Centralized catalog and glossary of data assets, ensuring consistent definitions and sources</a:t>
              </a:r>
              <a:endParaRPr lang="en-US" sz="1200">
                <a:solidFill>
                  <a:srgbClr val="000000"/>
                </a:solidFill>
              </a:endParaRPr>
            </a:p>
          </p:txBody>
        </p:sp>
        <p:sp>
          <p:nvSpPr>
            <p:cNvPr id="18" name="TextBox 17">
              <a:extLst>
                <a:ext uri="{FF2B5EF4-FFF2-40B4-BE49-F238E27FC236}">
                  <a16:creationId xmlns:a16="http://schemas.microsoft.com/office/drawing/2014/main" id="{BB13023F-2ABC-911F-479C-3D36DAF076F3}"/>
                </a:ext>
              </a:extLst>
            </p:cNvPr>
            <p:cNvSpPr txBox="1">
              <a:spLocks/>
            </p:cNvSpPr>
            <p:nvPr/>
          </p:nvSpPr>
          <p:spPr>
            <a:xfrm>
              <a:off x="1736201" y="2600992"/>
              <a:ext cx="2227118"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Taxonomies and ontologies that define entities, relationships, and hierarchies for organizing and retrieving data</a:t>
              </a:r>
              <a:endParaRPr lang="en-US" sz="1200">
                <a:solidFill>
                  <a:srgbClr val="000000"/>
                </a:solidFill>
              </a:endParaRPr>
            </a:p>
          </p:txBody>
        </p:sp>
        <p:sp>
          <p:nvSpPr>
            <p:cNvPr id="19" name="TextBox 18">
              <a:extLst>
                <a:ext uri="{FF2B5EF4-FFF2-40B4-BE49-F238E27FC236}">
                  <a16:creationId xmlns:a16="http://schemas.microsoft.com/office/drawing/2014/main" id="{FAF7114A-14A6-5D69-5A95-665EC4050FDC}"/>
                </a:ext>
              </a:extLst>
            </p:cNvPr>
            <p:cNvSpPr txBox="1">
              <a:spLocks/>
            </p:cNvSpPr>
            <p:nvPr/>
          </p:nvSpPr>
          <p:spPr>
            <a:xfrm>
              <a:off x="1736201" y="3844466"/>
              <a:ext cx="2227118"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dirty="0"/>
                <a:t>Defined rules and agreements on data structures between producers and consumers, with validation and enforcement</a:t>
              </a:r>
              <a:endParaRPr lang="en-US" sz="1200" dirty="0">
                <a:solidFill>
                  <a:srgbClr val="000000"/>
                </a:solidFill>
              </a:endParaRPr>
            </a:p>
          </p:txBody>
        </p:sp>
        <p:sp>
          <p:nvSpPr>
            <p:cNvPr id="20" name="TextBox 19">
              <a:extLst>
                <a:ext uri="{FF2B5EF4-FFF2-40B4-BE49-F238E27FC236}">
                  <a16:creationId xmlns:a16="http://schemas.microsoft.com/office/drawing/2014/main" id="{50789FF8-92A8-5138-DB75-8CF987A863A2}"/>
                </a:ext>
              </a:extLst>
            </p:cNvPr>
            <p:cNvSpPr txBox="1">
              <a:spLocks/>
            </p:cNvSpPr>
            <p:nvPr/>
          </p:nvSpPr>
          <p:spPr>
            <a:xfrm>
              <a:off x="1736201" y="5087939"/>
              <a:ext cx="2227118"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Standardized tagging of datasets and content for organization, governance, and AI/GenAI retrieval</a:t>
              </a:r>
              <a:endParaRPr lang="en-US" sz="1200">
                <a:solidFill>
                  <a:srgbClr val="000000"/>
                </a:solidFill>
              </a:endParaRPr>
            </a:p>
          </p:txBody>
        </p:sp>
        <p:sp>
          <p:nvSpPr>
            <p:cNvPr id="15" name="TextBox 14">
              <a:extLst>
                <a:ext uri="{FF2B5EF4-FFF2-40B4-BE49-F238E27FC236}">
                  <a16:creationId xmlns:a16="http://schemas.microsoft.com/office/drawing/2014/main" id="{CD36B0AB-236C-4D82-D179-35F4D49A9CCD}"/>
                </a:ext>
              </a:extLst>
            </p:cNvPr>
            <p:cNvSpPr txBox="1">
              <a:spLocks/>
            </p:cNvSpPr>
            <p:nvPr/>
          </p:nvSpPr>
          <p:spPr>
            <a:xfrm>
              <a:off x="1736201" y="1070975"/>
              <a:ext cx="2227118"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Description</a:t>
              </a:r>
            </a:p>
          </p:txBody>
        </p:sp>
        <p:sp>
          <p:nvSpPr>
            <p:cNvPr id="26" name="TextBox 25">
              <a:extLst>
                <a:ext uri="{FF2B5EF4-FFF2-40B4-BE49-F238E27FC236}">
                  <a16:creationId xmlns:a16="http://schemas.microsoft.com/office/drawing/2014/main" id="{933743C2-669C-8A72-8479-596646F832C1}"/>
                </a:ext>
              </a:extLst>
            </p:cNvPr>
            <p:cNvSpPr txBox="1">
              <a:spLocks/>
            </p:cNvSpPr>
            <p:nvPr/>
          </p:nvSpPr>
          <p:spPr>
            <a:xfrm>
              <a:off x="4102347" y="1357518"/>
              <a:ext cx="1948697"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Arial"/>
                  <a:ea typeface="+mn-ea"/>
                  <a:cs typeface="+mn-cs"/>
                </a:rPr>
                <a:t>No central catalog or one with very low adoption</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lang="en-US" sz="1200">
                  <a:solidFill>
                    <a:srgbClr val="000000"/>
                  </a:solidFill>
                  <a:latin typeface="Arial"/>
                </a:rPr>
                <a:t>Inconsistent </a:t>
              </a:r>
              <a:r>
                <a:rPr kumimoji="0" lang="en-US" sz="1200" i="0" u="none" strike="noStrike" kern="1200" cap="none" spc="0" normalizeH="0" baseline="0" noProof="0">
                  <a:ln>
                    <a:noFill/>
                  </a:ln>
                  <a:solidFill>
                    <a:srgbClr val="000000"/>
                  </a:solidFill>
                  <a:effectLst/>
                  <a:uLnTx/>
                  <a:uFillTx/>
                  <a:latin typeface="Arial"/>
                  <a:ea typeface="+mn-ea"/>
                  <a:cs typeface="+mn-cs"/>
                </a:rPr>
                <a:t>definitions and sources across teams</a:t>
              </a:r>
            </a:p>
          </p:txBody>
        </p:sp>
        <p:sp>
          <p:nvSpPr>
            <p:cNvPr id="34" name="TextBox 33">
              <a:extLst>
                <a:ext uri="{FF2B5EF4-FFF2-40B4-BE49-F238E27FC236}">
                  <a16:creationId xmlns:a16="http://schemas.microsoft.com/office/drawing/2014/main" id="{99AE87AC-433B-7BC9-2351-E31322639CAA}"/>
                </a:ext>
              </a:extLst>
            </p:cNvPr>
            <p:cNvSpPr txBox="1">
              <a:spLocks/>
            </p:cNvSpPr>
            <p:nvPr/>
          </p:nvSpPr>
          <p:spPr>
            <a:xfrm>
              <a:off x="4102347" y="2600992"/>
              <a:ext cx="1948697"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No formal taxonomy or ontology</a:t>
              </a:r>
            </a:p>
            <a:p>
              <a:pPr lvl="1">
                <a:buClr>
                  <a:srgbClr val="000000"/>
                </a:buClr>
                <a:defRPr/>
              </a:pPr>
              <a:r>
                <a:rPr lang="en-US" sz="1200"/>
                <a:t>Data grouped only by storage location or source system</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40" name="TextBox 39">
              <a:extLst>
                <a:ext uri="{FF2B5EF4-FFF2-40B4-BE49-F238E27FC236}">
                  <a16:creationId xmlns:a16="http://schemas.microsoft.com/office/drawing/2014/main" id="{85B28E21-01CA-E928-9121-52DBE9FF27F6}"/>
                </a:ext>
              </a:extLst>
            </p:cNvPr>
            <p:cNvSpPr txBox="1">
              <a:spLocks/>
            </p:cNvSpPr>
            <p:nvPr/>
          </p:nvSpPr>
          <p:spPr>
            <a:xfrm>
              <a:off x="4102347" y="3844466"/>
              <a:ext cx="1948697"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Informal or undocumented schemas</a:t>
              </a:r>
            </a:p>
            <a:p>
              <a:pPr lvl="1">
                <a:buClr>
                  <a:srgbClr val="000000"/>
                </a:buClr>
                <a:defRPr/>
              </a:pPr>
              <a:r>
                <a:rPr lang="en-US" sz="1200"/>
                <a:t>Uncontrolled schema modifications with no impact assessment</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46" name="TextBox 45">
              <a:extLst>
                <a:ext uri="{FF2B5EF4-FFF2-40B4-BE49-F238E27FC236}">
                  <a16:creationId xmlns:a16="http://schemas.microsoft.com/office/drawing/2014/main" id="{8E14EAC2-3E74-7571-1A9C-7CE072F3E4DB}"/>
                </a:ext>
              </a:extLst>
            </p:cNvPr>
            <p:cNvSpPr txBox="1">
              <a:spLocks/>
            </p:cNvSpPr>
            <p:nvPr/>
          </p:nvSpPr>
          <p:spPr>
            <a:xfrm>
              <a:off x="4102347" y="5087939"/>
              <a:ext cx="1948697" cy="77713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No consistent tagging of data or content</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Reliance on file names, folders, or system labels</a:t>
              </a:r>
            </a:p>
          </p:txBody>
        </p:sp>
        <p:sp>
          <p:nvSpPr>
            <p:cNvPr id="21" name="TextBox 20">
              <a:extLst>
                <a:ext uri="{FF2B5EF4-FFF2-40B4-BE49-F238E27FC236}">
                  <a16:creationId xmlns:a16="http://schemas.microsoft.com/office/drawing/2014/main" id="{7A9270E6-7EA7-0678-6A72-609685253538}"/>
                </a:ext>
              </a:extLst>
            </p:cNvPr>
            <p:cNvSpPr txBox="1">
              <a:spLocks/>
            </p:cNvSpPr>
            <p:nvPr/>
          </p:nvSpPr>
          <p:spPr>
            <a:xfrm>
              <a:off x="4102347" y="1070975"/>
              <a:ext cx="1948697" cy="215444"/>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Low</a:t>
              </a:r>
            </a:p>
          </p:txBody>
        </p:sp>
      </p:grpSp>
      <p:grpSp>
        <p:nvGrpSpPr>
          <p:cNvPr id="22" name="Group 21">
            <a:extLst>
              <a:ext uri="{FF2B5EF4-FFF2-40B4-BE49-F238E27FC236}">
                <a16:creationId xmlns:a16="http://schemas.microsoft.com/office/drawing/2014/main" id="{A83D404D-21B4-0854-E828-275804E94553}"/>
              </a:ext>
            </a:extLst>
          </p:cNvPr>
          <p:cNvGrpSpPr/>
          <p:nvPr/>
        </p:nvGrpSpPr>
        <p:grpSpPr>
          <a:xfrm>
            <a:off x="9685463" y="502622"/>
            <a:ext cx="1951801" cy="197680"/>
            <a:chOff x="9807580" y="502622"/>
            <a:chExt cx="1951801" cy="197680"/>
          </a:xfrm>
        </p:grpSpPr>
        <p:sp>
          <p:nvSpPr>
            <p:cNvPr id="23" name="TextBox 22">
              <a:extLst>
                <a:ext uri="{FF2B5EF4-FFF2-40B4-BE49-F238E27FC236}">
                  <a16:creationId xmlns:a16="http://schemas.microsoft.com/office/drawing/2014/main" id="{BCDC9216-0562-277E-83C8-A3084D00E2E4}"/>
                </a:ext>
              </a:extLst>
            </p:cNvPr>
            <p:cNvSpPr txBox="1"/>
            <p:nvPr/>
          </p:nvSpPr>
          <p:spPr>
            <a:xfrm>
              <a:off x="9807580" y="502622"/>
              <a:ext cx="44076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1"/>
                  </a:solidFill>
                </a:rPr>
                <a:t>xxx</a:t>
              </a:r>
            </a:p>
          </p:txBody>
        </p:sp>
        <p:sp>
          <p:nvSpPr>
            <p:cNvPr id="24" name="TextBox 23">
              <a:extLst>
                <a:ext uri="{FF2B5EF4-FFF2-40B4-BE49-F238E27FC236}">
                  <a16:creationId xmlns:a16="http://schemas.microsoft.com/office/drawing/2014/main" id="{5BE35C29-D139-5402-0898-A5EB395D95DA}"/>
                </a:ext>
              </a:extLst>
            </p:cNvPr>
            <p:cNvSpPr txBox="1"/>
            <p:nvPr/>
          </p:nvSpPr>
          <p:spPr>
            <a:xfrm>
              <a:off x="10139489" y="515636"/>
              <a:ext cx="161989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Pertinent to Gen AI only</a:t>
              </a:r>
            </a:p>
          </p:txBody>
        </p:sp>
      </p:grpSp>
    </p:spTree>
    <p:custDataLst>
      <p:tags r:id="rId1"/>
    </p:custDataLst>
    <p:extLst>
      <p:ext uri="{BB962C8B-B14F-4D97-AF65-F5344CB8AC3E}">
        <p14:creationId xmlns:p14="http://schemas.microsoft.com/office/powerpoint/2010/main" val="87153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AE5C6-C600-963F-7409-EB8396A3FC61}"/>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67488877-FC31-AA5B-AF8B-C09690BE73AA}"/>
              </a:ext>
            </a:extLst>
          </p:cNvPr>
          <p:cNvGraphicFramePr>
            <a:graphicFrameLocks noChangeAspect="1"/>
          </p:cNvGraphicFramePr>
          <p:nvPr>
            <p:custDataLst>
              <p:tags r:id="rId2"/>
            </p:custDataLst>
            <p:extLst>
              <p:ext uri="{D42A27DB-BD31-4B8C-83A1-F6EECF244321}">
                <p14:modId xmlns:p14="http://schemas.microsoft.com/office/powerpoint/2010/main" val="1504086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4" imgH="405" progId="TCLayout.ActiveDocument.1">
                  <p:embed/>
                </p:oleObj>
              </mc:Choice>
              <mc:Fallback>
                <p:oleObj name="think-cell Slide" r:id="rId11" imgW="404" imgH="405" progId="TCLayout.ActiveDocument.1">
                  <p:embed/>
                  <p:pic>
                    <p:nvPicPr>
                      <p:cNvPr id="5" name="Object 6" hidden="1">
                        <a:extLst>
                          <a:ext uri="{FF2B5EF4-FFF2-40B4-BE49-F238E27FC236}">
                            <a16:creationId xmlns:a16="http://schemas.microsoft.com/office/drawing/2014/main" id="{67488877-FC31-AA5B-AF8B-C09690BE73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B7E32F41-5946-BF5C-8164-9E19870F7837}"/>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a:t>D. Data Lineage dimension rubric</a:t>
            </a:r>
          </a:p>
        </p:txBody>
      </p:sp>
      <p:sp>
        <p:nvSpPr>
          <p:cNvPr id="7" name="Text Placeholder 6">
            <a:extLst>
              <a:ext uri="{FF2B5EF4-FFF2-40B4-BE49-F238E27FC236}">
                <a16:creationId xmlns:a16="http://schemas.microsoft.com/office/drawing/2014/main" id="{3EE12410-412F-6B4F-47C3-77986855BC5D}"/>
              </a:ext>
            </a:extLst>
          </p:cNvPr>
          <p:cNvSpPr>
            <a:spLocks noGrp="1"/>
          </p:cNvSpPr>
          <p:nvPr>
            <p:ph type="body" sz="quarter" idx="17"/>
          </p:nvPr>
        </p:nvSpPr>
        <p:spPr/>
        <p:txBody>
          <a:bodyPr/>
          <a:lstStyle/>
          <a:p>
            <a:endParaRPr lang="en-US"/>
          </a:p>
        </p:txBody>
      </p:sp>
      <p:grpSp>
        <p:nvGrpSpPr>
          <p:cNvPr id="11" name="Group 10">
            <a:extLst>
              <a:ext uri="{FF2B5EF4-FFF2-40B4-BE49-F238E27FC236}">
                <a16:creationId xmlns:a16="http://schemas.microsoft.com/office/drawing/2014/main" id="{281AEE36-C166-D08A-C308-C7A328D2C5C7}"/>
              </a:ext>
            </a:extLst>
          </p:cNvPr>
          <p:cNvGrpSpPr/>
          <p:nvPr/>
        </p:nvGrpSpPr>
        <p:grpSpPr>
          <a:xfrm>
            <a:off x="554735" y="963254"/>
            <a:ext cx="11082529" cy="5496018"/>
            <a:chOff x="554735" y="855532"/>
            <a:chExt cx="11082529" cy="5496018"/>
          </a:xfrm>
        </p:grpSpPr>
        <p:cxnSp>
          <p:nvCxnSpPr>
            <p:cNvPr id="51" name="Straight Connector 50">
              <a:extLst>
                <a:ext uri="{FF2B5EF4-FFF2-40B4-BE49-F238E27FC236}">
                  <a16:creationId xmlns:a16="http://schemas.microsoft.com/office/drawing/2014/main" id="{D042151C-09D3-B25C-A557-200FC8A7340F}"/>
                </a:ext>
              </a:extLst>
            </p:cNvPr>
            <p:cNvCxnSpPr>
              <a:cxnSpLocks/>
            </p:cNvCxnSpPr>
            <p:nvPr>
              <p:custDataLst>
                <p:tags r:id="rId4"/>
              </p:custDataLst>
            </p:nvPr>
          </p:nvCxnSpPr>
          <p:spPr>
            <a:xfrm>
              <a:off x="554736" y="2123157"/>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A45D9C0-DA60-E18B-FE16-1F3BB0852B89}"/>
                </a:ext>
              </a:extLst>
            </p:cNvPr>
            <p:cNvCxnSpPr>
              <a:cxnSpLocks/>
            </p:cNvCxnSpPr>
            <p:nvPr>
              <p:custDataLst>
                <p:tags r:id="rId5"/>
              </p:custDataLst>
            </p:nvPr>
          </p:nvCxnSpPr>
          <p:spPr>
            <a:xfrm>
              <a:off x="554736" y="3108131"/>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CE973FC-19EA-ECC2-4C63-A233B1E2B9EA}"/>
                </a:ext>
              </a:extLst>
            </p:cNvPr>
            <p:cNvCxnSpPr>
              <a:cxnSpLocks/>
            </p:cNvCxnSpPr>
            <p:nvPr>
              <p:custDataLst>
                <p:tags r:id="rId6"/>
              </p:custDataLst>
            </p:nvPr>
          </p:nvCxnSpPr>
          <p:spPr>
            <a:xfrm>
              <a:off x="554736" y="4093105"/>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92079C6-9C76-E244-1214-283CC5AA7B1C}"/>
                </a:ext>
              </a:extLst>
            </p:cNvPr>
            <p:cNvCxnSpPr>
              <a:cxnSpLocks/>
            </p:cNvCxnSpPr>
            <p:nvPr>
              <p:custDataLst>
                <p:tags r:id="rId7"/>
              </p:custDataLst>
            </p:nvPr>
          </p:nvCxnSpPr>
          <p:spPr>
            <a:xfrm>
              <a:off x="554736" y="5247356"/>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BC610C9-DEAA-9D5F-35B6-61A5783497FF}"/>
                </a:ext>
              </a:extLst>
            </p:cNvPr>
            <p:cNvSpPr txBox="1">
              <a:spLocks/>
            </p:cNvSpPr>
            <p:nvPr/>
          </p:nvSpPr>
          <p:spPr>
            <a:xfrm>
              <a:off x="554736" y="1357518"/>
              <a:ext cx="1042437" cy="36933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End-to-end </a:t>
              </a:r>
              <a:r>
                <a:rPr lang="en-US" sz="1200" b="1">
                  <a:solidFill>
                    <a:srgbClr val="000000"/>
                  </a:solidFill>
                  <a:latin typeface="Arial"/>
                </a:rPr>
                <a:t>data</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8" name="TextBox 27">
              <a:extLst>
                <a:ext uri="{FF2B5EF4-FFF2-40B4-BE49-F238E27FC236}">
                  <a16:creationId xmlns:a16="http://schemas.microsoft.com/office/drawing/2014/main" id="{2C9580C6-6C87-D7F3-56D2-32AC93496B7A}"/>
                </a:ext>
              </a:extLst>
            </p:cNvPr>
            <p:cNvSpPr txBox="1">
              <a:spLocks/>
            </p:cNvSpPr>
            <p:nvPr/>
          </p:nvSpPr>
          <p:spPr>
            <a:xfrm>
              <a:off x="4102347" y="1357518"/>
              <a:ext cx="1948697"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No visibility into how data </a:t>
              </a:r>
              <a:r>
                <a:rPr kumimoji="0" lang="en-US" sz="1100" b="0" i="0" u="none" strike="noStrike" kern="1200" cap="none" spc="-30" normalizeH="0" noProof="0">
                  <a:ln>
                    <a:noFill/>
                  </a:ln>
                  <a:solidFill>
                    <a:srgbClr val="000000"/>
                  </a:solidFill>
                  <a:effectLst/>
                  <a:uLnTx/>
                  <a:uFillTx/>
                  <a:latin typeface="Arial"/>
                  <a:ea typeface="+mn-ea"/>
                  <a:cs typeface="+mn-cs"/>
                </a:rPr>
                <a:t>moves from source to model</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Teams rely on tribal know-ledge or manual checks</a:t>
              </a:r>
            </a:p>
          </p:txBody>
        </p:sp>
        <p:sp>
          <p:nvSpPr>
            <p:cNvPr id="69" name="TextBox 68">
              <a:extLst>
                <a:ext uri="{FF2B5EF4-FFF2-40B4-BE49-F238E27FC236}">
                  <a16:creationId xmlns:a16="http://schemas.microsoft.com/office/drawing/2014/main" id="{993E679D-7B2B-55D8-0294-DD4A503257C9}"/>
                </a:ext>
              </a:extLst>
            </p:cNvPr>
            <p:cNvSpPr txBox="1">
              <a:spLocks/>
            </p:cNvSpPr>
            <p:nvPr/>
          </p:nvSpPr>
          <p:spPr>
            <a:xfrm>
              <a:off x="6190072" y="1357518"/>
              <a:ext cx="1966490"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Partial lineage documented for key datasets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Basic visibility into sources and major transformations</a:t>
              </a:r>
            </a:p>
          </p:txBody>
        </p:sp>
        <p:sp>
          <p:nvSpPr>
            <p:cNvPr id="80" name="TextBox 79">
              <a:extLst>
                <a:ext uri="{FF2B5EF4-FFF2-40B4-BE49-F238E27FC236}">
                  <a16:creationId xmlns:a16="http://schemas.microsoft.com/office/drawing/2014/main" id="{7103D712-F49D-0EDC-B836-905DD1600064}"/>
                </a:ext>
              </a:extLst>
            </p:cNvPr>
            <p:cNvSpPr txBox="1">
              <a:spLocks/>
            </p:cNvSpPr>
            <p:nvPr/>
          </p:nvSpPr>
          <p:spPr>
            <a:xfrm>
              <a:off x="8295588" y="1357518"/>
              <a:ext cx="3341672" cy="67710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Automated lineage across the full data lifecycle from raw sources through transformations into structured and </a:t>
              </a:r>
              <a:r>
                <a:rPr kumimoji="0" lang="en-US" sz="1100" b="1" i="0" u="none" strike="noStrike" kern="1200" cap="none" spc="0" normalizeH="0" baseline="0" noProof="0">
                  <a:ln>
                    <a:noFill/>
                  </a:ln>
                  <a:solidFill>
                    <a:schemeClr val="accent1"/>
                  </a:solidFill>
                  <a:effectLst/>
                  <a:uLnTx/>
                  <a:uFillTx/>
                  <a:latin typeface="Arial"/>
                  <a:ea typeface="+mn-ea"/>
                  <a:cs typeface="+mn-cs"/>
                </a:rPr>
                <a:t>unstructured data, embeddings, and model use</a:t>
              </a:r>
            </a:p>
          </p:txBody>
        </p:sp>
        <p:sp>
          <p:nvSpPr>
            <p:cNvPr id="12" name="TextBox 11">
              <a:extLst>
                <a:ext uri="{FF2B5EF4-FFF2-40B4-BE49-F238E27FC236}">
                  <a16:creationId xmlns:a16="http://schemas.microsoft.com/office/drawing/2014/main" id="{E0CBF19C-6DD4-C308-04C9-2BCBC77120F5}"/>
                </a:ext>
              </a:extLst>
            </p:cNvPr>
            <p:cNvSpPr txBox="1">
              <a:spLocks/>
            </p:cNvSpPr>
            <p:nvPr/>
          </p:nvSpPr>
          <p:spPr>
            <a:xfrm>
              <a:off x="1736201" y="1357518"/>
              <a:ext cx="2227118"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100"/>
                <a:t>Visibility and lineage of data flow from raw sources through transformations into model use</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grpSp>
          <p:nvGrpSpPr>
            <p:cNvPr id="40" name="Group 39">
              <a:extLst>
                <a:ext uri="{FF2B5EF4-FFF2-40B4-BE49-F238E27FC236}">
                  <a16:creationId xmlns:a16="http://schemas.microsoft.com/office/drawing/2014/main" id="{FB7EAA44-3B9C-3A4F-37A4-20FAC30CD196}"/>
                </a:ext>
              </a:extLst>
            </p:cNvPr>
            <p:cNvGrpSpPr/>
            <p:nvPr/>
          </p:nvGrpSpPr>
          <p:grpSpPr>
            <a:xfrm>
              <a:off x="554736" y="2173215"/>
              <a:ext cx="11082524" cy="884858"/>
              <a:chOff x="554736" y="2390048"/>
              <a:chExt cx="11082524" cy="884858"/>
            </a:xfrm>
          </p:grpSpPr>
          <p:sp>
            <p:nvSpPr>
              <p:cNvPr id="8" name="TextBox 7">
                <a:extLst>
                  <a:ext uri="{FF2B5EF4-FFF2-40B4-BE49-F238E27FC236}">
                    <a16:creationId xmlns:a16="http://schemas.microsoft.com/office/drawing/2014/main" id="{0E8A920A-D276-84AE-F38E-A375B809BE6D}"/>
                  </a:ext>
                </a:extLst>
              </p:cNvPr>
              <p:cNvSpPr txBox="1">
                <a:spLocks/>
              </p:cNvSpPr>
              <p:nvPr/>
            </p:nvSpPr>
            <p:spPr>
              <a:xfrm>
                <a:off x="554736" y="2390048"/>
                <a:ext cx="104243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Version and change (data)</a:t>
                </a:r>
              </a:p>
            </p:txBody>
          </p:sp>
          <p:sp>
            <p:nvSpPr>
              <p:cNvPr id="34" name="TextBox 33">
                <a:extLst>
                  <a:ext uri="{FF2B5EF4-FFF2-40B4-BE49-F238E27FC236}">
                    <a16:creationId xmlns:a16="http://schemas.microsoft.com/office/drawing/2014/main" id="{C50CC9FF-20A6-01AB-F322-CFA709B8893F}"/>
                  </a:ext>
                </a:extLst>
              </p:cNvPr>
              <p:cNvSpPr txBox="1">
                <a:spLocks/>
              </p:cNvSpPr>
              <p:nvPr/>
            </p:nvSpPr>
            <p:spPr>
              <a:xfrm>
                <a:off x="4102347" y="2390048"/>
                <a:ext cx="1948697"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No tracking of versions or changes to data, features, or models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Consumers unaware when data shifts</a:t>
                </a:r>
              </a:p>
            </p:txBody>
          </p:sp>
          <p:sp>
            <p:nvSpPr>
              <p:cNvPr id="71" name="TextBox 70">
                <a:extLst>
                  <a:ext uri="{FF2B5EF4-FFF2-40B4-BE49-F238E27FC236}">
                    <a16:creationId xmlns:a16="http://schemas.microsoft.com/office/drawing/2014/main" id="{B6239BF2-DD6C-9B19-4AB5-B64EFB820D96}"/>
                  </a:ext>
                </a:extLst>
              </p:cNvPr>
              <p:cNvSpPr txBox="1">
                <a:spLocks/>
              </p:cNvSpPr>
              <p:nvPr/>
            </p:nvSpPr>
            <p:spPr>
              <a:xfrm>
                <a:off x="6190072" y="2390048"/>
                <a:ext cx="1966490"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Basic versioning of key datasets and features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Manual records of who made changes and when</a:t>
                </a:r>
              </a:p>
            </p:txBody>
          </p:sp>
          <p:sp>
            <p:nvSpPr>
              <p:cNvPr id="82" name="TextBox 81">
                <a:extLst>
                  <a:ext uri="{FF2B5EF4-FFF2-40B4-BE49-F238E27FC236}">
                    <a16:creationId xmlns:a16="http://schemas.microsoft.com/office/drawing/2014/main" id="{F6FCDB1E-6F27-C363-B9D0-3E56415303DA}"/>
                  </a:ext>
                </a:extLst>
              </p:cNvPr>
              <p:cNvSpPr txBox="1">
                <a:spLocks/>
              </p:cNvSpPr>
              <p:nvPr/>
            </p:nvSpPr>
            <p:spPr>
              <a:xfrm>
                <a:off x="8295588" y="2390048"/>
                <a:ext cx="3341672"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Automated version control across structured and </a:t>
                </a:r>
                <a:r>
                  <a:rPr kumimoji="0" lang="en-US" sz="1100" b="1" i="0" u="none" strike="noStrike" kern="1200" cap="none" spc="0" normalizeH="0" baseline="0" noProof="0">
                    <a:ln>
                      <a:noFill/>
                    </a:ln>
                    <a:solidFill>
                      <a:schemeClr val="accent1"/>
                    </a:solidFill>
                    <a:effectLst/>
                    <a:uLnTx/>
                    <a:uFillTx/>
                    <a:latin typeface="Arial"/>
                    <a:ea typeface="+mn-ea"/>
                    <a:cs typeface="+mn-cs"/>
                  </a:rPr>
                  <a:t>unstructured data, embeddings, and models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Complete change history with who, what, when recorded and linked to lineage</a:t>
                </a:r>
              </a:p>
            </p:txBody>
          </p:sp>
          <p:sp>
            <p:nvSpPr>
              <p:cNvPr id="26" name="TextBox 25">
                <a:extLst>
                  <a:ext uri="{FF2B5EF4-FFF2-40B4-BE49-F238E27FC236}">
                    <a16:creationId xmlns:a16="http://schemas.microsoft.com/office/drawing/2014/main" id="{E2FAB4DD-C8F5-B73E-44B2-4FC6827EF980}"/>
                  </a:ext>
                </a:extLst>
              </p:cNvPr>
              <p:cNvSpPr txBox="1">
                <a:spLocks/>
              </p:cNvSpPr>
              <p:nvPr/>
            </p:nvSpPr>
            <p:spPr>
              <a:xfrm>
                <a:off x="1736201" y="2390048"/>
                <a:ext cx="2227118"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100"/>
                  <a:t>Version control of datasets, features, and models with traceable change history</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147DE98E-3522-3BA0-D3CC-081C8DC6292B}"/>
                </a:ext>
              </a:extLst>
            </p:cNvPr>
            <p:cNvGrpSpPr/>
            <p:nvPr/>
          </p:nvGrpSpPr>
          <p:grpSpPr>
            <a:xfrm>
              <a:off x="554736" y="3158189"/>
              <a:ext cx="11082524" cy="884858"/>
              <a:chOff x="554736" y="3237912"/>
              <a:chExt cx="11082524" cy="884858"/>
            </a:xfrm>
          </p:grpSpPr>
          <p:sp>
            <p:nvSpPr>
              <p:cNvPr id="10" name="TextBox 9">
                <a:extLst>
                  <a:ext uri="{FF2B5EF4-FFF2-40B4-BE49-F238E27FC236}">
                    <a16:creationId xmlns:a16="http://schemas.microsoft.com/office/drawing/2014/main" id="{2EEC084C-4053-BA9D-8F4D-FB6D5937A07F}"/>
                  </a:ext>
                </a:extLst>
              </p:cNvPr>
              <p:cNvSpPr txBox="1">
                <a:spLocks/>
              </p:cNvSpPr>
              <p:nvPr/>
            </p:nvSpPr>
            <p:spPr>
              <a:xfrm>
                <a:off x="554736" y="3237912"/>
                <a:ext cx="104243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Consent and purpose tagging</a:t>
                </a:r>
              </a:p>
            </p:txBody>
          </p:sp>
          <p:sp>
            <p:nvSpPr>
              <p:cNvPr id="45" name="TextBox 44">
                <a:extLst>
                  <a:ext uri="{FF2B5EF4-FFF2-40B4-BE49-F238E27FC236}">
                    <a16:creationId xmlns:a16="http://schemas.microsoft.com/office/drawing/2014/main" id="{32E0E9AA-7732-BE61-5DA9-535C909AE0FB}"/>
                  </a:ext>
                </a:extLst>
              </p:cNvPr>
              <p:cNvSpPr txBox="1">
                <a:spLocks/>
              </p:cNvSpPr>
              <p:nvPr/>
            </p:nvSpPr>
            <p:spPr>
              <a:xfrm>
                <a:off x="4102347" y="3237912"/>
                <a:ext cx="1948697"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No tracking of consent or purpose for data use</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Data reused for AI without restrictions</a:t>
                </a:r>
              </a:p>
            </p:txBody>
          </p:sp>
          <p:sp>
            <p:nvSpPr>
              <p:cNvPr id="73" name="TextBox 72">
                <a:extLst>
                  <a:ext uri="{FF2B5EF4-FFF2-40B4-BE49-F238E27FC236}">
                    <a16:creationId xmlns:a16="http://schemas.microsoft.com/office/drawing/2014/main" id="{0AD6C46E-AB87-BFFB-1051-B5394028B1D0}"/>
                  </a:ext>
                </a:extLst>
              </p:cNvPr>
              <p:cNvSpPr txBox="1">
                <a:spLocks/>
              </p:cNvSpPr>
              <p:nvPr/>
            </p:nvSpPr>
            <p:spPr>
              <a:xfrm>
                <a:off x="6190072" y="3237912"/>
                <a:ext cx="1966490"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Consent and purpose recorded for key datasets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Applied manually and inconsistently enforced</a:t>
                </a:r>
              </a:p>
            </p:txBody>
          </p:sp>
          <p:sp>
            <p:nvSpPr>
              <p:cNvPr id="86" name="TextBox 85">
                <a:extLst>
                  <a:ext uri="{FF2B5EF4-FFF2-40B4-BE49-F238E27FC236}">
                    <a16:creationId xmlns:a16="http://schemas.microsoft.com/office/drawing/2014/main" id="{601539CC-9C37-5FD7-14AA-4246AADF952C}"/>
                  </a:ext>
                </a:extLst>
              </p:cNvPr>
              <p:cNvSpPr txBox="1">
                <a:spLocks/>
              </p:cNvSpPr>
              <p:nvPr/>
            </p:nvSpPr>
            <p:spPr>
              <a:xfrm>
                <a:off x="8295588" y="3237912"/>
                <a:ext cx="3341672"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Consent and purpose metadata integrated across structured and </a:t>
                </a:r>
                <a:r>
                  <a:rPr kumimoji="0" lang="en-US" sz="1100" b="1" i="0" u="none" strike="noStrike" kern="1200" cap="none" spc="0" normalizeH="0" baseline="0" noProof="0">
                    <a:ln>
                      <a:noFill/>
                    </a:ln>
                    <a:solidFill>
                      <a:schemeClr val="accent1"/>
                    </a:solidFill>
                    <a:effectLst/>
                    <a:uLnTx/>
                    <a:uFillTx/>
                    <a:latin typeface="Arial"/>
                    <a:ea typeface="+mn-ea"/>
                    <a:cs typeface="+mn-cs"/>
                  </a:rPr>
                  <a:t>unstructured data, embeddings, and models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Automated checks prevent use beyond approved purposes with lineage and alerts</a:t>
                </a:r>
              </a:p>
            </p:txBody>
          </p:sp>
          <p:sp>
            <p:nvSpPr>
              <p:cNvPr id="27" name="TextBox 26">
                <a:extLst>
                  <a:ext uri="{FF2B5EF4-FFF2-40B4-BE49-F238E27FC236}">
                    <a16:creationId xmlns:a16="http://schemas.microsoft.com/office/drawing/2014/main" id="{2F118628-9DC6-408E-1917-14D52733293A}"/>
                  </a:ext>
                </a:extLst>
              </p:cNvPr>
              <p:cNvSpPr txBox="1">
                <a:spLocks/>
              </p:cNvSpPr>
              <p:nvPr/>
            </p:nvSpPr>
            <p:spPr>
              <a:xfrm>
                <a:off x="1736201" y="3237912"/>
                <a:ext cx="2227118"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100"/>
                  <a:t>Metadata tracking to ensure data is only used for approved purposes with lineage and alerts</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2" name="Group 41">
              <a:extLst>
                <a:ext uri="{FF2B5EF4-FFF2-40B4-BE49-F238E27FC236}">
                  <a16:creationId xmlns:a16="http://schemas.microsoft.com/office/drawing/2014/main" id="{84B69B33-6FB6-704E-50EC-7AE958241D79}"/>
                </a:ext>
              </a:extLst>
            </p:cNvPr>
            <p:cNvGrpSpPr/>
            <p:nvPr/>
          </p:nvGrpSpPr>
          <p:grpSpPr>
            <a:xfrm>
              <a:off x="554736" y="4143163"/>
              <a:ext cx="11082524" cy="1054135"/>
              <a:chOff x="554736" y="4085776"/>
              <a:chExt cx="11082524" cy="1054135"/>
            </a:xfrm>
          </p:grpSpPr>
          <p:sp>
            <p:nvSpPr>
              <p:cNvPr id="29" name="TextBox 28">
                <a:extLst>
                  <a:ext uri="{FF2B5EF4-FFF2-40B4-BE49-F238E27FC236}">
                    <a16:creationId xmlns:a16="http://schemas.microsoft.com/office/drawing/2014/main" id="{9D01A75F-9E42-315F-613C-3FAFF7E0C50C}"/>
                  </a:ext>
                </a:extLst>
              </p:cNvPr>
              <p:cNvSpPr txBox="1">
                <a:spLocks/>
              </p:cNvSpPr>
              <p:nvPr/>
            </p:nvSpPr>
            <p:spPr>
              <a:xfrm>
                <a:off x="554736" y="4085776"/>
                <a:ext cx="104243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Code and feature store (logic)</a:t>
                </a:r>
              </a:p>
            </p:txBody>
          </p:sp>
          <p:sp>
            <p:nvSpPr>
              <p:cNvPr id="56" name="TextBox 55">
                <a:extLst>
                  <a:ext uri="{FF2B5EF4-FFF2-40B4-BE49-F238E27FC236}">
                    <a16:creationId xmlns:a16="http://schemas.microsoft.com/office/drawing/2014/main" id="{AE983F33-D12D-EB12-0044-8B721236DC21}"/>
                  </a:ext>
                </a:extLst>
              </p:cNvPr>
              <p:cNvSpPr txBox="1">
                <a:spLocks/>
              </p:cNvSpPr>
              <p:nvPr/>
            </p:nvSpPr>
            <p:spPr>
              <a:xfrm>
                <a:off x="4102347" y="4085776"/>
                <a:ext cx="1948697" cy="105413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kumimoji="0" lang="en-US" sz="1100" b="0" i="0" u="none" strike="noStrike" kern="1200" cap="none" spc="0" normalizeH="0" baseline="0" noProof="0">
                    <a:ln>
                      <a:noFill/>
                    </a:ln>
                    <a:solidFill>
                      <a:srgbClr val="000000"/>
                    </a:solidFill>
                    <a:effectLst/>
                    <a:uLnTx/>
                    <a:uFillTx/>
                    <a:latin typeface="Arial"/>
                    <a:ea typeface="+mn-ea"/>
                    <a:cs typeface="+mn-cs"/>
                  </a:rPr>
                  <a:t>No consistent </a:t>
                </a:r>
                <a:r>
                  <a:rPr lang="en-US" sz="1100">
                    <a:solidFill>
                      <a:srgbClr val="000000"/>
                    </a:solidFill>
                    <a:latin typeface="Arial"/>
                  </a:rPr>
                  <a:t>code version control or code linkage to data</a:t>
                </a:r>
                <a:endParaRPr lang="en-US" sz="1100" b="0" i="0" u="none" strike="noStrike" kern="1200" cap="none" spc="0" normalizeH="0" baseline="0" noProof="0">
                  <a:ln>
                    <a:noFill/>
                  </a:ln>
                  <a:solidFill>
                    <a:srgbClr val="000000"/>
                  </a:solidFill>
                  <a:effectLst/>
                  <a:uLnTx/>
                  <a:uFillTx/>
                  <a:latin typeface="Arial"/>
                  <a:cs typeface="Arial"/>
                </a:endParaRPr>
              </a:p>
              <a:p>
                <a:pPr lvl="1">
                  <a:buClr>
                    <a:srgbClr val="000000"/>
                  </a:buClr>
                  <a:defRPr/>
                </a:pPr>
                <a:r>
                  <a:rPr kumimoji="0" lang="en-US" sz="1100" b="0" i="0" u="none" strike="noStrike" kern="1200" cap="none" spc="0" normalizeH="0" baseline="0" noProof="0">
                    <a:ln>
                      <a:noFill/>
                    </a:ln>
                    <a:solidFill>
                      <a:srgbClr val="000000"/>
                    </a:solidFill>
                    <a:effectLst/>
                    <a:uLnTx/>
                    <a:uFillTx/>
                    <a:latin typeface="Arial"/>
                    <a:ea typeface="+mn-ea"/>
                    <a:cs typeface="+mn-cs"/>
                  </a:rPr>
                  <a:t>Reliance on</a:t>
                </a:r>
                <a:r>
                  <a:rPr lang="en-US" sz="1100">
                    <a:solidFill>
                      <a:srgbClr val="000000"/>
                    </a:solidFill>
                    <a:latin typeface="Arial"/>
                  </a:rPr>
                  <a:t> manual</a:t>
                </a:r>
                <a:r>
                  <a:rPr kumimoji="0" lang="en-US" sz="1100" b="0" i="0" u="none" strike="noStrike" kern="1200" cap="none" spc="0" normalizeH="0" baseline="0" noProof="0">
                    <a:ln>
                      <a:noFill/>
                    </a:ln>
                    <a:solidFill>
                      <a:srgbClr val="000000"/>
                    </a:solidFill>
                    <a:effectLst/>
                    <a:uLnTx/>
                    <a:uFillTx/>
                    <a:latin typeface="Arial"/>
                    <a:ea typeface="+mn-ea"/>
                    <a:cs typeface="+mn-cs"/>
                  </a:rPr>
                  <a:t> </a:t>
                </a:r>
                <a:r>
                  <a:rPr lang="en-US" sz="1100">
                    <a:solidFill>
                      <a:srgbClr val="000000"/>
                    </a:solidFill>
                    <a:latin typeface="Arial"/>
                  </a:rPr>
                  <a:t>check of code/logic to identify linkage </a:t>
                </a:r>
                <a:endParaRPr lang="en-US" sz="1100" b="0" i="0" u="none" strike="noStrike" kern="1200" cap="none" spc="0" normalizeH="0" baseline="0" noProof="0">
                  <a:ln>
                    <a:noFill/>
                  </a:ln>
                  <a:solidFill>
                    <a:srgbClr val="000000"/>
                  </a:solidFill>
                  <a:effectLst/>
                  <a:uLnTx/>
                  <a:uFillTx/>
                  <a:latin typeface="Arial"/>
                  <a:cs typeface="Arial"/>
                </a:endParaRPr>
              </a:p>
            </p:txBody>
          </p:sp>
          <p:sp>
            <p:nvSpPr>
              <p:cNvPr id="76" name="TextBox 75">
                <a:extLst>
                  <a:ext uri="{FF2B5EF4-FFF2-40B4-BE49-F238E27FC236}">
                    <a16:creationId xmlns:a16="http://schemas.microsoft.com/office/drawing/2014/main" id="{096DD59F-1BA2-BEDF-A8CB-FEF411409A5C}"/>
                  </a:ext>
                </a:extLst>
              </p:cNvPr>
              <p:cNvSpPr txBox="1">
                <a:spLocks/>
              </p:cNvSpPr>
              <p:nvPr/>
            </p:nvSpPr>
            <p:spPr>
              <a:xfrm>
                <a:off x="6190072" y="4085776"/>
                <a:ext cx="1966490"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a:solidFill>
                      <a:srgbClr val="000000"/>
                    </a:solidFill>
                    <a:latin typeface="Arial"/>
                  </a:rPr>
                  <a:t>Separate</a:t>
                </a:r>
                <a:r>
                  <a:rPr kumimoji="0" lang="en-US" sz="1100" b="0" i="0" u="none" strike="noStrike" kern="1200" cap="none" spc="0" normalizeH="0" baseline="0" noProof="0">
                    <a:ln>
                      <a:noFill/>
                    </a:ln>
                    <a:solidFill>
                      <a:srgbClr val="000000"/>
                    </a:solidFill>
                    <a:effectLst/>
                    <a:uLnTx/>
                    <a:uFillTx/>
                    <a:latin typeface="Arial"/>
                    <a:ea typeface="+mn-ea"/>
                    <a:cs typeface="+mn-cs"/>
                  </a:rPr>
                  <a:t> </a:t>
                </a:r>
                <a:r>
                  <a:rPr lang="en-US" sz="1100">
                    <a:solidFill>
                      <a:srgbClr val="000000"/>
                    </a:solidFill>
                    <a:latin typeface="Arial"/>
                  </a:rPr>
                  <a:t>version control of code and data</a:t>
                </a: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lvl="1">
                  <a:buClr>
                    <a:srgbClr val="000000"/>
                  </a:buClr>
                  <a:defRPr/>
                </a:pPr>
                <a:r>
                  <a:rPr lang="en-US" sz="1100">
                    <a:solidFill>
                      <a:srgbClr val="000000"/>
                    </a:solidFill>
                    <a:latin typeface="Arial"/>
                  </a:rPr>
                  <a:t>Manual linkage of code and data</a:t>
                </a:r>
                <a:r>
                  <a:rPr kumimoji="0" lang="en-US" sz="1100" b="0" i="0" u="none" strike="noStrike" kern="1200" cap="none" spc="0" normalizeH="0" baseline="0" noProof="0">
                    <a:ln>
                      <a:noFill/>
                    </a:ln>
                    <a:solidFill>
                      <a:srgbClr val="000000"/>
                    </a:solidFill>
                    <a:effectLst/>
                    <a:uLnTx/>
                    <a:uFillTx/>
                    <a:latin typeface="Arial"/>
                    <a:ea typeface="+mn-ea"/>
                    <a:cs typeface="+mn-cs"/>
                  </a:rPr>
                  <a:t> and inconsistently maintained</a:t>
                </a:r>
                <a:endParaRPr lang="en-US" sz="1100" b="0" i="0" u="none" strike="noStrike" kern="1200" cap="none" spc="0" normalizeH="0" baseline="0" noProof="0">
                  <a:ln>
                    <a:noFill/>
                  </a:ln>
                  <a:solidFill>
                    <a:srgbClr val="000000"/>
                  </a:solidFill>
                  <a:effectLst/>
                  <a:uLnTx/>
                  <a:uFillTx/>
                  <a:latin typeface="Arial"/>
                  <a:cs typeface="Arial"/>
                </a:endParaRPr>
              </a:p>
            </p:txBody>
          </p:sp>
          <p:sp>
            <p:nvSpPr>
              <p:cNvPr id="84" name="TextBox 83">
                <a:extLst>
                  <a:ext uri="{FF2B5EF4-FFF2-40B4-BE49-F238E27FC236}">
                    <a16:creationId xmlns:a16="http://schemas.microsoft.com/office/drawing/2014/main" id="{D70F0FCA-A407-45BB-22BA-1DB24658245B}"/>
                  </a:ext>
                </a:extLst>
              </p:cNvPr>
              <p:cNvSpPr txBox="1">
                <a:spLocks/>
              </p:cNvSpPr>
              <p:nvPr/>
            </p:nvSpPr>
            <p:spPr>
              <a:xfrm>
                <a:off x="8295588" y="4085776"/>
                <a:ext cx="3341672"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kumimoji="0" lang="en-US" sz="1100" b="0" i="0" u="none" strike="noStrike" kern="1200" cap="none" spc="0" normalizeH="0" baseline="0" noProof="0">
                    <a:ln>
                      <a:noFill/>
                    </a:ln>
                    <a:solidFill>
                      <a:srgbClr val="000000"/>
                    </a:solidFill>
                    <a:effectLst/>
                    <a:uLnTx/>
                    <a:uFillTx/>
                    <a:latin typeface="Arial"/>
                    <a:ea typeface="+mn-ea"/>
                    <a:cs typeface="+mn-cs"/>
                  </a:rPr>
                  <a:t>Automated</a:t>
                </a:r>
                <a:r>
                  <a:rPr lang="en-US" sz="1100">
                    <a:solidFill>
                      <a:srgbClr val="000000"/>
                    </a:solidFill>
                    <a:latin typeface="Arial"/>
                  </a:rPr>
                  <a:t> lineage tracking between code and data (feature store, </a:t>
                </a:r>
                <a:r>
                  <a:rPr lang="en-US" sz="1100" b="1">
                    <a:solidFill>
                      <a:schemeClr val="accent1"/>
                    </a:solidFill>
                    <a:latin typeface="Arial"/>
                  </a:rPr>
                  <a:t>unstructured</a:t>
                </a:r>
                <a:r>
                  <a:rPr kumimoji="0" lang="en-US" sz="1100" b="1" i="0" u="none" strike="noStrike" kern="1200" cap="none" spc="0" normalizeH="0" baseline="0" noProof="0">
                    <a:ln>
                      <a:noFill/>
                    </a:ln>
                    <a:solidFill>
                      <a:schemeClr val="accent1"/>
                    </a:solidFill>
                    <a:effectLst/>
                    <a:uLnTx/>
                    <a:uFillTx/>
                    <a:latin typeface="Arial"/>
                    <a:ea typeface="+mn-ea"/>
                    <a:cs typeface="+mn-cs"/>
                  </a:rPr>
                  <a:t> data and semantic overlay for structured fields</a:t>
                </a:r>
                <a:r>
                  <a:rPr lang="en-US" sz="1100" b="1">
                    <a:solidFill>
                      <a:schemeClr val="accent1"/>
                    </a:solidFill>
                    <a:latin typeface="Arial"/>
                  </a:rPr>
                  <a:t>)</a:t>
                </a:r>
              </a:p>
              <a:p>
                <a:pPr lvl="1">
                  <a:buClr>
                    <a:srgbClr val="000000"/>
                  </a:buClr>
                  <a:defRPr/>
                </a:pPr>
                <a:r>
                  <a:rPr lang="en-US" sz="1100">
                    <a:solidFill>
                      <a:srgbClr val="000000"/>
                    </a:solidFill>
                    <a:latin typeface="Arial"/>
                  </a:rPr>
                  <a:t>Automated code version control for CI/CD</a:t>
                </a:r>
              </a:p>
            </p:txBody>
          </p:sp>
          <p:sp>
            <p:nvSpPr>
              <p:cNvPr id="30" name="TextBox 29">
                <a:extLst>
                  <a:ext uri="{FF2B5EF4-FFF2-40B4-BE49-F238E27FC236}">
                    <a16:creationId xmlns:a16="http://schemas.microsoft.com/office/drawing/2014/main" id="{FEEF419D-0E0B-6F5A-B13E-E30129A3224C}"/>
                  </a:ext>
                </a:extLst>
              </p:cNvPr>
              <p:cNvSpPr txBox="1">
                <a:spLocks/>
              </p:cNvSpPr>
              <p:nvPr/>
            </p:nvSpPr>
            <p:spPr>
              <a:xfrm>
                <a:off x="1736201" y="4085776"/>
                <a:ext cx="2227118"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100"/>
                  <a:t>Centralized version control and linkage between code and data for reuse and consistency</a:t>
                </a:r>
                <a:endParaRPr lang="en-US" sz="1100" b="0" i="0" u="none" strike="noStrike" kern="1200" cap="none" spc="0" normalizeH="0" baseline="0" noProof="0">
                  <a:ln>
                    <a:noFill/>
                  </a:ln>
                  <a:solidFill>
                    <a:srgbClr val="000000"/>
                  </a:solidFill>
                  <a:effectLst/>
                  <a:uLnTx/>
                  <a:uFillTx/>
                  <a:latin typeface="Arial"/>
                  <a:cs typeface="Arial"/>
                </a:endParaRPr>
              </a:p>
            </p:txBody>
          </p:sp>
        </p:grpSp>
        <p:grpSp>
          <p:nvGrpSpPr>
            <p:cNvPr id="43" name="Group 42">
              <a:extLst>
                <a:ext uri="{FF2B5EF4-FFF2-40B4-BE49-F238E27FC236}">
                  <a16:creationId xmlns:a16="http://schemas.microsoft.com/office/drawing/2014/main" id="{3239E7B3-896C-BCDA-75BE-DA3A8C308BBE}"/>
                </a:ext>
              </a:extLst>
            </p:cNvPr>
            <p:cNvGrpSpPr/>
            <p:nvPr/>
          </p:nvGrpSpPr>
          <p:grpSpPr>
            <a:xfrm>
              <a:off x="554736" y="5297415"/>
              <a:ext cx="11082524" cy="1054135"/>
              <a:chOff x="554736" y="5118304"/>
              <a:chExt cx="11082524" cy="1054135"/>
            </a:xfrm>
          </p:grpSpPr>
          <p:sp>
            <p:nvSpPr>
              <p:cNvPr id="31" name="TextBox 30">
                <a:extLst>
                  <a:ext uri="{FF2B5EF4-FFF2-40B4-BE49-F238E27FC236}">
                    <a16:creationId xmlns:a16="http://schemas.microsoft.com/office/drawing/2014/main" id="{B4C88B30-51D6-6BD1-2FA7-236343513FA1}"/>
                  </a:ext>
                </a:extLst>
              </p:cNvPr>
              <p:cNvSpPr txBox="1">
                <a:spLocks/>
              </p:cNvSpPr>
              <p:nvPr/>
            </p:nvSpPr>
            <p:spPr>
              <a:xfrm>
                <a:off x="554736" y="5118304"/>
                <a:ext cx="104243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Model input traceability</a:t>
                </a:r>
              </a:p>
            </p:txBody>
          </p:sp>
          <p:sp>
            <p:nvSpPr>
              <p:cNvPr id="67" name="TextBox 66">
                <a:extLst>
                  <a:ext uri="{FF2B5EF4-FFF2-40B4-BE49-F238E27FC236}">
                    <a16:creationId xmlns:a16="http://schemas.microsoft.com/office/drawing/2014/main" id="{BC9C336A-3A44-8928-098A-DAC0A028671B}"/>
                  </a:ext>
                </a:extLst>
              </p:cNvPr>
              <p:cNvSpPr txBox="1">
                <a:spLocks/>
              </p:cNvSpPr>
              <p:nvPr/>
            </p:nvSpPr>
            <p:spPr>
              <a:xfrm>
                <a:off x="4102347" y="5118304"/>
                <a:ext cx="1948697" cy="105413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No tracking of which data trained or fine tuned a model</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1" i="0" u="none" strike="noStrike" kern="1200" cap="none" spc="0" normalizeH="0" baseline="0" noProof="0">
                    <a:ln>
                      <a:noFill/>
                    </a:ln>
                    <a:solidFill>
                      <a:schemeClr val="accent1"/>
                    </a:solidFill>
                    <a:effectLst/>
                    <a:uLnTx/>
                    <a:uFillTx/>
                    <a:latin typeface="Arial"/>
                    <a:ea typeface="+mn-ea"/>
                    <a:cs typeface="+mn-cs"/>
                  </a:rPr>
                  <a:t>No record of which documents were embedded or retrieved</a:t>
                </a:r>
              </a:p>
            </p:txBody>
          </p:sp>
          <p:sp>
            <p:nvSpPr>
              <p:cNvPr id="78" name="TextBox 77">
                <a:extLst>
                  <a:ext uri="{FF2B5EF4-FFF2-40B4-BE49-F238E27FC236}">
                    <a16:creationId xmlns:a16="http://schemas.microsoft.com/office/drawing/2014/main" id="{C4901CB8-1BEC-A1E4-1A48-B9B7BB6A6415}"/>
                  </a:ext>
                </a:extLst>
              </p:cNvPr>
              <p:cNvSpPr txBox="1">
                <a:spLocks/>
              </p:cNvSpPr>
              <p:nvPr/>
            </p:nvSpPr>
            <p:spPr>
              <a:xfrm>
                <a:off x="6190072" y="5118304"/>
                <a:ext cx="1966490"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Basic logs of training datasets and </a:t>
                </a:r>
                <a:r>
                  <a:rPr kumimoji="0" lang="en-US" sz="1100" b="1" i="0" u="none" strike="noStrike" kern="1200" cap="none" spc="0" normalizeH="0" baseline="0" noProof="0">
                    <a:ln>
                      <a:noFill/>
                    </a:ln>
                    <a:solidFill>
                      <a:schemeClr val="accent1"/>
                    </a:solidFill>
                    <a:effectLst/>
                    <a:uLnTx/>
                    <a:uFillTx/>
                    <a:latin typeface="Arial"/>
                    <a:ea typeface="+mn-ea"/>
                    <a:cs typeface="+mn-cs"/>
                  </a:rPr>
                  <a:t>retrieval sources</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Records stored manually or in separate systems</a:t>
                </a:r>
              </a:p>
            </p:txBody>
          </p:sp>
          <p:sp>
            <p:nvSpPr>
              <p:cNvPr id="88" name="TextBox 87">
                <a:extLst>
                  <a:ext uri="{FF2B5EF4-FFF2-40B4-BE49-F238E27FC236}">
                    <a16:creationId xmlns:a16="http://schemas.microsoft.com/office/drawing/2014/main" id="{A2D967D6-A4C1-ADFB-71DF-0C5B04127046}"/>
                  </a:ext>
                </a:extLst>
              </p:cNvPr>
              <p:cNvSpPr txBox="1">
                <a:spLocks/>
              </p:cNvSpPr>
              <p:nvPr/>
            </p:nvSpPr>
            <p:spPr>
              <a:xfrm>
                <a:off x="8295588" y="5118304"/>
                <a:ext cx="3341672" cy="105413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Automated lineage links models to the exact datasets, </a:t>
                </a:r>
                <a:r>
                  <a:rPr kumimoji="0" lang="en-US" sz="1100" b="1" i="0" u="none" strike="noStrike" kern="1200" cap="none" spc="0" normalizeH="0" baseline="0" noProof="0">
                    <a:ln>
                      <a:noFill/>
                    </a:ln>
                    <a:solidFill>
                      <a:schemeClr val="accent1"/>
                    </a:solidFill>
                    <a:effectLst/>
                    <a:uLnTx/>
                    <a:uFillTx/>
                    <a:latin typeface="Arial"/>
                    <a:ea typeface="+mn-ea"/>
                    <a:cs typeface="+mn-cs"/>
                  </a:rPr>
                  <a:t>documents, chunks, and embeddings used for training, fine tuning, and retrieval</a:t>
                </a:r>
              </a:p>
              <a:p>
                <a:pPr marL="228600" marR="0" lvl="1" indent="-228600" algn="l" defTabSz="914400" rtl="0" eaLnBrk="1" fontAlgn="auto" latinLnBrk="0" hangingPunct="1">
                  <a:lnSpc>
                    <a:spcPct val="100000"/>
                  </a:lnSpc>
                  <a:spcBef>
                    <a:spcPts val="0"/>
                  </a:spcBef>
                  <a:spcAft>
                    <a:spcPts val="300"/>
                  </a:spcAft>
                  <a:buClr>
                    <a:srgbClr val="000000"/>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Full trace shows what data was included and when, supporting audit, reproducibility, and safe unlearning</a:t>
                </a:r>
              </a:p>
            </p:txBody>
          </p:sp>
          <p:sp>
            <p:nvSpPr>
              <p:cNvPr id="32" name="TextBox 31">
                <a:extLst>
                  <a:ext uri="{FF2B5EF4-FFF2-40B4-BE49-F238E27FC236}">
                    <a16:creationId xmlns:a16="http://schemas.microsoft.com/office/drawing/2014/main" id="{EC627C57-00C1-CFAD-C287-30674A1114DE}"/>
                  </a:ext>
                </a:extLst>
              </p:cNvPr>
              <p:cNvSpPr txBox="1">
                <a:spLocks/>
              </p:cNvSpPr>
              <p:nvPr/>
            </p:nvSpPr>
            <p:spPr>
              <a:xfrm>
                <a:off x="1736201" y="5118304"/>
                <a:ext cx="2227118" cy="67710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100"/>
                  <a:t>Ability to trace exactly which datasets, documents, or embeddings were used in model training, fine-tuning, or retrieval</a:t>
                </a:r>
                <a:endParaRPr kumimoji="0" lang="en-US" sz="1100" b="1" i="0" u="none" strike="noStrike" kern="1200" cap="none" spc="0" normalizeH="0" baseline="0" noProof="0">
                  <a:ln>
                    <a:noFill/>
                  </a:ln>
                  <a:solidFill>
                    <a:schemeClr val="accent1"/>
                  </a:solidFill>
                  <a:effectLst/>
                  <a:uLnTx/>
                  <a:uFillTx/>
                  <a:latin typeface="Arial"/>
                  <a:ea typeface="+mn-ea"/>
                  <a:cs typeface="+mn-cs"/>
                </a:endParaRPr>
              </a:p>
            </p:txBody>
          </p:sp>
        </p:grpSp>
        <p:cxnSp>
          <p:nvCxnSpPr>
            <p:cNvPr id="2" name="Straight Connector 1">
              <a:extLst>
                <a:ext uri="{FF2B5EF4-FFF2-40B4-BE49-F238E27FC236}">
                  <a16:creationId xmlns:a16="http://schemas.microsoft.com/office/drawing/2014/main" id="{D592E8D6-810F-BA10-1BD2-25E1A52A04CC}"/>
                </a:ext>
              </a:extLst>
            </p:cNvPr>
            <p:cNvCxnSpPr>
              <a:cxnSpLocks/>
            </p:cNvCxnSpPr>
            <p:nvPr>
              <p:custDataLst>
                <p:tags r:id="rId8"/>
              </p:custDataLst>
            </p:nvPr>
          </p:nvCxnSpPr>
          <p:spPr>
            <a:xfrm>
              <a:off x="554735" y="131696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B483BD0-D851-8316-72B6-F00E8A85055C}"/>
                </a:ext>
              </a:extLst>
            </p:cNvPr>
            <p:cNvSpPr txBox="1">
              <a:spLocks/>
            </p:cNvSpPr>
            <p:nvPr/>
          </p:nvSpPr>
          <p:spPr>
            <a:xfrm>
              <a:off x="554736" y="855532"/>
              <a:ext cx="1042437" cy="430887"/>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Sub-Dimension</a:t>
              </a:r>
            </a:p>
          </p:txBody>
        </p:sp>
        <p:sp>
          <p:nvSpPr>
            <p:cNvPr id="13" name="TextBox 12">
              <a:extLst>
                <a:ext uri="{FF2B5EF4-FFF2-40B4-BE49-F238E27FC236}">
                  <a16:creationId xmlns:a16="http://schemas.microsoft.com/office/drawing/2014/main" id="{3DAC416A-1389-99E5-66E8-ECB2CFB0A8FC}"/>
                </a:ext>
              </a:extLst>
            </p:cNvPr>
            <p:cNvSpPr txBox="1">
              <a:spLocks/>
            </p:cNvSpPr>
            <p:nvPr/>
          </p:nvSpPr>
          <p:spPr>
            <a:xfrm>
              <a:off x="6190072" y="1070975"/>
              <a:ext cx="1966490"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Medium</a:t>
              </a:r>
            </a:p>
          </p:txBody>
        </p:sp>
        <p:sp>
          <p:nvSpPr>
            <p:cNvPr id="15" name="TextBox 14">
              <a:extLst>
                <a:ext uri="{FF2B5EF4-FFF2-40B4-BE49-F238E27FC236}">
                  <a16:creationId xmlns:a16="http://schemas.microsoft.com/office/drawing/2014/main" id="{9E0CA72B-C300-F56C-A694-AE0435E49099}"/>
                </a:ext>
              </a:extLst>
            </p:cNvPr>
            <p:cNvSpPr txBox="1">
              <a:spLocks/>
            </p:cNvSpPr>
            <p:nvPr/>
          </p:nvSpPr>
          <p:spPr>
            <a:xfrm>
              <a:off x="8295588" y="1070975"/>
              <a:ext cx="3341672"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High</a:t>
              </a:r>
            </a:p>
          </p:txBody>
        </p:sp>
        <p:sp>
          <p:nvSpPr>
            <p:cNvPr id="16" name="TextBox 15">
              <a:extLst>
                <a:ext uri="{FF2B5EF4-FFF2-40B4-BE49-F238E27FC236}">
                  <a16:creationId xmlns:a16="http://schemas.microsoft.com/office/drawing/2014/main" id="{7834C4DA-8C2F-9306-EB51-79F9CA20C632}"/>
                </a:ext>
              </a:extLst>
            </p:cNvPr>
            <p:cNvSpPr txBox="1">
              <a:spLocks/>
            </p:cNvSpPr>
            <p:nvPr/>
          </p:nvSpPr>
          <p:spPr>
            <a:xfrm>
              <a:off x="1736201" y="1070975"/>
              <a:ext cx="2227118" cy="215444"/>
            </a:xfrm>
            <a:prstGeom prst="rect">
              <a:avLst/>
            </a:prstGeom>
          </p:spPr>
          <p:txBody>
            <a:bodyPr vert="horz" wrap="square" lIns="0" tIns="0" rIns="0" bIns="0" rtlCol="0" anchor="b" anchorCtr="0">
              <a:sp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Description</a:t>
              </a:r>
            </a:p>
          </p:txBody>
        </p:sp>
        <p:sp>
          <p:nvSpPr>
            <p:cNvPr id="17" name="TextBox 16">
              <a:extLst>
                <a:ext uri="{FF2B5EF4-FFF2-40B4-BE49-F238E27FC236}">
                  <a16:creationId xmlns:a16="http://schemas.microsoft.com/office/drawing/2014/main" id="{9D7EB76B-21CF-4461-3F82-E7E6F782D946}"/>
                </a:ext>
              </a:extLst>
            </p:cNvPr>
            <p:cNvSpPr txBox="1">
              <a:spLocks/>
            </p:cNvSpPr>
            <p:nvPr/>
          </p:nvSpPr>
          <p:spPr>
            <a:xfrm>
              <a:off x="4102347" y="1070975"/>
              <a:ext cx="1948697"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Low</a:t>
              </a:r>
            </a:p>
          </p:txBody>
        </p:sp>
      </p:grpSp>
      <p:grpSp>
        <p:nvGrpSpPr>
          <p:cNvPr id="19" name="Group 18">
            <a:extLst>
              <a:ext uri="{FF2B5EF4-FFF2-40B4-BE49-F238E27FC236}">
                <a16:creationId xmlns:a16="http://schemas.microsoft.com/office/drawing/2014/main" id="{44ED3CAE-90EE-9C71-14C7-49F5FCF7880E}"/>
              </a:ext>
            </a:extLst>
          </p:cNvPr>
          <p:cNvGrpSpPr/>
          <p:nvPr/>
        </p:nvGrpSpPr>
        <p:grpSpPr>
          <a:xfrm>
            <a:off x="9685463" y="502622"/>
            <a:ext cx="1951801" cy="197680"/>
            <a:chOff x="9807580" y="502622"/>
            <a:chExt cx="1951801" cy="197680"/>
          </a:xfrm>
        </p:grpSpPr>
        <p:sp>
          <p:nvSpPr>
            <p:cNvPr id="20" name="TextBox 19">
              <a:extLst>
                <a:ext uri="{FF2B5EF4-FFF2-40B4-BE49-F238E27FC236}">
                  <a16:creationId xmlns:a16="http://schemas.microsoft.com/office/drawing/2014/main" id="{743B9B1C-467C-F169-35EA-E3B071E56A33}"/>
                </a:ext>
              </a:extLst>
            </p:cNvPr>
            <p:cNvSpPr txBox="1"/>
            <p:nvPr/>
          </p:nvSpPr>
          <p:spPr>
            <a:xfrm>
              <a:off x="9807580" y="502622"/>
              <a:ext cx="44076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1"/>
                  </a:solidFill>
                </a:rPr>
                <a:t>xxx</a:t>
              </a:r>
            </a:p>
          </p:txBody>
        </p:sp>
        <p:sp>
          <p:nvSpPr>
            <p:cNvPr id="21" name="TextBox 20">
              <a:extLst>
                <a:ext uri="{FF2B5EF4-FFF2-40B4-BE49-F238E27FC236}">
                  <a16:creationId xmlns:a16="http://schemas.microsoft.com/office/drawing/2014/main" id="{524F7669-77A9-D527-5FE0-B1863FD2CE43}"/>
                </a:ext>
              </a:extLst>
            </p:cNvPr>
            <p:cNvSpPr txBox="1"/>
            <p:nvPr/>
          </p:nvSpPr>
          <p:spPr>
            <a:xfrm>
              <a:off x="10139489" y="515636"/>
              <a:ext cx="161989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Pertinent to Gen AI only</a:t>
              </a:r>
            </a:p>
          </p:txBody>
        </p:sp>
      </p:grpSp>
    </p:spTree>
    <p:custDataLst>
      <p:tags r:id="rId1"/>
    </p:custDataLst>
    <p:extLst>
      <p:ext uri="{BB962C8B-B14F-4D97-AF65-F5344CB8AC3E}">
        <p14:creationId xmlns:p14="http://schemas.microsoft.com/office/powerpoint/2010/main" val="4045910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F2F73-39C0-C94F-D646-A63C9509E39E}"/>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0EBE424-E209-D4A5-42A0-6DF54F6BF54B}"/>
              </a:ext>
            </a:extLst>
          </p:cNvPr>
          <p:cNvGraphicFramePr>
            <a:graphicFrameLocks noChangeAspect="1"/>
          </p:cNvGraphicFramePr>
          <p:nvPr>
            <p:custDataLst>
              <p:tags r:id="rId2"/>
            </p:custDataLst>
            <p:extLst>
              <p:ext uri="{D42A27DB-BD31-4B8C-83A1-F6EECF244321}">
                <p14:modId xmlns:p14="http://schemas.microsoft.com/office/powerpoint/2010/main" val="997541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04" imgH="405" progId="TCLayout.ActiveDocument.1">
                  <p:embed/>
                </p:oleObj>
              </mc:Choice>
              <mc:Fallback>
                <p:oleObj name="think-cell Slide" r:id="rId10" imgW="404" imgH="405" progId="TCLayout.ActiveDocument.1">
                  <p:embed/>
                  <p:pic>
                    <p:nvPicPr>
                      <p:cNvPr id="5" name="Object 6" hidden="1">
                        <a:extLst>
                          <a:ext uri="{FF2B5EF4-FFF2-40B4-BE49-F238E27FC236}">
                            <a16:creationId xmlns:a16="http://schemas.microsoft.com/office/drawing/2014/main" id="{40EBE424-E209-D4A5-42A0-6DF54F6BF54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B64334A7-7CF0-4AF9-326B-019A577F1B3E}"/>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a:t>E. Governance &amp; Controls dimension rubric</a:t>
            </a:r>
          </a:p>
        </p:txBody>
      </p:sp>
      <p:sp>
        <p:nvSpPr>
          <p:cNvPr id="3" name="Text Placeholder 2">
            <a:extLst>
              <a:ext uri="{FF2B5EF4-FFF2-40B4-BE49-F238E27FC236}">
                <a16:creationId xmlns:a16="http://schemas.microsoft.com/office/drawing/2014/main" id="{2F185ACD-F25F-51C8-354D-23406F3EAF66}"/>
              </a:ext>
            </a:extLst>
          </p:cNvPr>
          <p:cNvSpPr>
            <a:spLocks noGrp="1"/>
          </p:cNvSpPr>
          <p:nvPr>
            <p:ph type="body" sz="quarter" idx="17"/>
          </p:nvPr>
        </p:nvSpPr>
        <p:spPr/>
        <p:txBody>
          <a:bodyPr/>
          <a:lstStyle/>
          <a:p>
            <a:endParaRPr lang="en-US"/>
          </a:p>
        </p:txBody>
      </p:sp>
      <p:grpSp>
        <p:nvGrpSpPr>
          <p:cNvPr id="11" name="Group 10">
            <a:extLst>
              <a:ext uri="{FF2B5EF4-FFF2-40B4-BE49-F238E27FC236}">
                <a16:creationId xmlns:a16="http://schemas.microsoft.com/office/drawing/2014/main" id="{64B2384B-88E7-ED8F-6D16-AF6F3CB0294D}"/>
              </a:ext>
            </a:extLst>
          </p:cNvPr>
          <p:cNvGrpSpPr/>
          <p:nvPr/>
        </p:nvGrpSpPr>
        <p:grpSpPr>
          <a:xfrm>
            <a:off x="554735" y="963254"/>
            <a:ext cx="11082529" cy="5536912"/>
            <a:chOff x="554735" y="855532"/>
            <a:chExt cx="11082529" cy="5536912"/>
          </a:xfrm>
        </p:grpSpPr>
        <p:cxnSp>
          <p:nvCxnSpPr>
            <p:cNvPr id="51" name="Straight Connector 50">
              <a:extLst>
                <a:ext uri="{FF2B5EF4-FFF2-40B4-BE49-F238E27FC236}">
                  <a16:creationId xmlns:a16="http://schemas.microsoft.com/office/drawing/2014/main" id="{46E241F2-6106-DF3C-B92C-7D73476C5B26}"/>
                </a:ext>
              </a:extLst>
            </p:cNvPr>
            <p:cNvCxnSpPr>
              <a:cxnSpLocks/>
            </p:cNvCxnSpPr>
            <p:nvPr>
              <p:custDataLst>
                <p:tags r:id="rId4"/>
              </p:custDataLst>
            </p:nvPr>
          </p:nvCxnSpPr>
          <p:spPr>
            <a:xfrm>
              <a:off x="554736" y="2578828"/>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D3F23C4-3C40-AB26-9B0B-FCEFE3EB9762}"/>
                </a:ext>
              </a:extLst>
            </p:cNvPr>
            <p:cNvCxnSpPr>
              <a:cxnSpLocks/>
            </p:cNvCxnSpPr>
            <p:nvPr>
              <p:custDataLst>
                <p:tags r:id="rId5"/>
              </p:custDataLst>
            </p:nvPr>
          </p:nvCxnSpPr>
          <p:spPr>
            <a:xfrm>
              <a:off x="554736" y="4059646"/>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B7E1269-7CDB-8A9A-CF5F-20F3F1874166}"/>
                </a:ext>
              </a:extLst>
            </p:cNvPr>
            <p:cNvCxnSpPr>
              <a:cxnSpLocks/>
            </p:cNvCxnSpPr>
            <p:nvPr>
              <p:custDataLst>
                <p:tags r:id="rId6"/>
              </p:custDataLst>
            </p:nvPr>
          </p:nvCxnSpPr>
          <p:spPr>
            <a:xfrm>
              <a:off x="554736" y="5171132"/>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3165C8EE-EC91-51C7-DA63-A1DB11D8BE43}"/>
                </a:ext>
              </a:extLst>
            </p:cNvPr>
            <p:cNvGrpSpPr/>
            <p:nvPr/>
          </p:nvGrpSpPr>
          <p:grpSpPr>
            <a:xfrm>
              <a:off x="554736" y="1357518"/>
              <a:ext cx="11082524" cy="1146468"/>
              <a:chOff x="554736" y="1621064"/>
              <a:chExt cx="11082524" cy="1146468"/>
            </a:xfrm>
          </p:grpSpPr>
          <p:sp>
            <p:nvSpPr>
              <p:cNvPr id="14" name="TextBox 13">
                <a:extLst>
                  <a:ext uri="{FF2B5EF4-FFF2-40B4-BE49-F238E27FC236}">
                    <a16:creationId xmlns:a16="http://schemas.microsoft.com/office/drawing/2014/main" id="{7475DB33-D560-1471-890A-DA0CC88CAFB2}"/>
                  </a:ext>
                </a:extLst>
              </p:cNvPr>
              <p:cNvSpPr txBox="1">
                <a:spLocks/>
              </p:cNvSpPr>
              <p:nvPr/>
            </p:nvSpPr>
            <p:spPr>
              <a:xfrm>
                <a:off x="554736" y="1621064"/>
                <a:ext cx="104825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Ownership and stewardship</a:t>
                </a:r>
              </a:p>
            </p:txBody>
          </p:sp>
          <p:sp>
            <p:nvSpPr>
              <p:cNvPr id="28" name="TextBox 27">
                <a:extLst>
                  <a:ext uri="{FF2B5EF4-FFF2-40B4-BE49-F238E27FC236}">
                    <a16:creationId xmlns:a16="http://schemas.microsoft.com/office/drawing/2014/main" id="{2800F431-B9C3-833D-D5C8-6B3371526713}"/>
                  </a:ext>
                </a:extLst>
              </p:cNvPr>
              <p:cNvSpPr txBox="1">
                <a:spLocks/>
              </p:cNvSpPr>
              <p:nvPr/>
            </p:nvSpPr>
            <p:spPr>
              <a:xfrm>
                <a:off x="4102347" y="1621064"/>
                <a:ext cx="1948697"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Absence of clear ownership for datasets or models​</a:t>
                </a:r>
              </a:p>
              <a:p>
                <a:pPr lvl="1">
                  <a:buClr>
                    <a:srgbClr val="000000"/>
                  </a:buClr>
                  <a:defRPr/>
                </a:pPr>
                <a:r>
                  <a:rPr lang="en-US" sz="1200">
                    <a:solidFill>
                      <a:srgbClr val="000000"/>
                    </a:solidFill>
                  </a:rPr>
                  <a:t>Ad hoc resolution of issues without defined stewardship​</a:t>
                </a:r>
              </a:p>
            </p:txBody>
          </p:sp>
          <p:sp>
            <p:nvSpPr>
              <p:cNvPr id="69" name="TextBox 68">
                <a:extLst>
                  <a:ext uri="{FF2B5EF4-FFF2-40B4-BE49-F238E27FC236}">
                    <a16:creationId xmlns:a16="http://schemas.microsoft.com/office/drawing/2014/main" id="{768ACCEA-E847-A821-2FE8-A3D5F2AB7552}"/>
                  </a:ext>
                </a:extLst>
              </p:cNvPr>
              <p:cNvSpPr txBox="1">
                <a:spLocks/>
              </p:cNvSpPr>
              <p:nvPr/>
            </p:nvSpPr>
            <p:spPr>
              <a:xfrm>
                <a:off x="6190072" y="1621064"/>
                <a:ext cx="1966490"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Named owners for priority data domains</a:t>
                </a:r>
              </a:p>
              <a:p>
                <a:pPr lvl="1">
                  <a:buClr>
                    <a:srgbClr val="000000"/>
                  </a:buClr>
                  <a:defRPr/>
                </a:pPr>
                <a:r>
                  <a:rPr lang="en-US" sz="1200">
                    <a:solidFill>
                      <a:srgbClr val="000000"/>
                    </a:solidFill>
                  </a:rPr>
                  <a:t>Basic stewardship roles with inconsistent responsibilities and low accountability </a:t>
                </a:r>
              </a:p>
            </p:txBody>
          </p:sp>
          <p:sp>
            <p:nvSpPr>
              <p:cNvPr id="80" name="TextBox 79">
                <a:extLst>
                  <a:ext uri="{FF2B5EF4-FFF2-40B4-BE49-F238E27FC236}">
                    <a16:creationId xmlns:a16="http://schemas.microsoft.com/office/drawing/2014/main" id="{BB7ABABE-8B52-0F18-746D-AB9ED5EEC54D}"/>
                  </a:ext>
                </a:extLst>
              </p:cNvPr>
              <p:cNvSpPr txBox="1">
                <a:spLocks/>
              </p:cNvSpPr>
              <p:nvPr/>
            </p:nvSpPr>
            <p:spPr>
              <a:xfrm>
                <a:off x="8295588" y="1621064"/>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Formal ownership across</a:t>
                </a:r>
                <a:r>
                  <a:rPr lang="en-US" sz="1200" b="1">
                    <a:solidFill>
                      <a:schemeClr val="tx2"/>
                    </a:solidFill>
                  </a:rPr>
                  <a:t> </a:t>
                </a:r>
                <a:r>
                  <a:rPr lang="en-US" sz="1200"/>
                  <a:t>structured</a:t>
                </a:r>
                <a:r>
                  <a:rPr lang="en-US" sz="1200" b="1">
                    <a:solidFill>
                      <a:schemeClr val="tx2"/>
                    </a:solidFill>
                  </a:rPr>
                  <a:t> </a:t>
                </a:r>
                <a:r>
                  <a:rPr lang="en-US" sz="1200"/>
                  <a:t>and</a:t>
                </a:r>
                <a:r>
                  <a:rPr lang="en-US" sz="1200" b="1">
                    <a:solidFill>
                      <a:schemeClr val="tx2"/>
                    </a:solidFill>
                  </a:rPr>
                  <a:t> </a:t>
                </a:r>
                <a:r>
                  <a:rPr lang="en-US" sz="1200" b="1">
                    <a:solidFill>
                      <a:schemeClr val="accent1"/>
                    </a:solidFill>
                  </a:rPr>
                  <a:t>unstructured data, embeddings, and models</a:t>
                </a:r>
              </a:p>
              <a:p>
                <a:pPr lvl="1">
                  <a:buClr>
                    <a:srgbClr val="000000"/>
                  </a:buClr>
                  <a:defRPr/>
                </a:pPr>
                <a:r>
                  <a:rPr lang="en-US" sz="1200">
                    <a:solidFill>
                      <a:srgbClr val="000000"/>
                    </a:solidFill>
                  </a:rPr>
                  <a:t>Clear stewardship and accountability for (e.g., quality, </a:t>
                </a:r>
                <a:r>
                  <a:rPr lang="en-US" sz="1200" b="1">
                    <a:solidFill>
                      <a:schemeClr val="accent1"/>
                    </a:solidFill>
                  </a:rPr>
                  <a:t>compliance) </a:t>
                </a:r>
                <a:r>
                  <a:rPr lang="en-US" sz="1200">
                    <a:solidFill>
                      <a:srgbClr val="000000"/>
                    </a:solidFill>
                  </a:rPr>
                  <a:t>with escalation paths</a:t>
                </a:r>
                <a:endParaRPr lang="en-US" sz="1200">
                  <a:solidFill>
                    <a:srgbClr val="000000"/>
                  </a:solidFill>
                  <a:cs typeface="Arial"/>
                </a:endParaRPr>
              </a:p>
            </p:txBody>
          </p:sp>
          <p:sp>
            <p:nvSpPr>
              <p:cNvPr id="12" name="TextBox 11">
                <a:extLst>
                  <a:ext uri="{FF2B5EF4-FFF2-40B4-BE49-F238E27FC236}">
                    <a16:creationId xmlns:a16="http://schemas.microsoft.com/office/drawing/2014/main" id="{FA14B6E2-00F1-0BF7-0A98-FF3BFA5F0520}"/>
                  </a:ext>
                </a:extLst>
              </p:cNvPr>
              <p:cNvSpPr txBox="1">
                <a:spLocks/>
              </p:cNvSpPr>
              <p:nvPr/>
            </p:nvSpPr>
            <p:spPr>
              <a:xfrm>
                <a:off x="1736201" y="1621064"/>
                <a:ext cx="2227118"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Defined accountability for datasets, models, and features, with stewardship and ownership roles ensuring quality, compliance, and lifecycle management</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3" name="Group 32">
              <a:extLst>
                <a:ext uri="{FF2B5EF4-FFF2-40B4-BE49-F238E27FC236}">
                  <a16:creationId xmlns:a16="http://schemas.microsoft.com/office/drawing/2014/main" id="{85D8B5A5-5A79-897C-8230-788AEDA37DE9}"/>
                </a:ext>
              </a:extLst>
            </p:cNvPr>
            <p:cNvGrpSpPr/>
            <p:nvPr/>
          </p:nvGrpSpPr>
          <p:grpSpPr>
            <a:xfrm>
              <a:off x="554736" y="2653670"/>
              <a:ext cx="11082524" cy="1331134"/>
              <a:chOff x="554736" y="2648879"/>
              <a:chExt cx="11082524" cy="1331134"/>
            </a:xfrm>
          </p:grpSpPr>
          <p:sp>
            <p:nvSpPr>
              <p:cNvPr id="8" name="TextBox 7">
                <a:extLst>
                  <a:ext uri="{FF2B5EF4-FFF2-40B4-BE49-F238E27FC236}">
                    <a16:creationId xmlns:a16="http://schemas.microsoft.com/office/drawing/2014/main" id="{23C97638-A48F-2020-1080-0775852CFB63}"/>
                  </a:ext>
                </a:extLst>
              </p:cNvPr>
              <p:cNvSpPr txBox="1">
                <a:spLocks/>
              </p:cNvSpPr>
              <p:nvPr/>
            </p:nvSpPr>
            <p:spPr>
              <a:xfrm>
                <a:off x="554736" y="2648879"/>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Access management </a:t>
                </a:r>
              </a:p>
            </p:txBody>
          </p:sp>
          <p:sp>
            <p:nvSpPr>
              <p:cNvPr id="34" name="TextBox 33">
                <a:extLst>
                  <a:ext uri="{FF2B5EF4-FFF2-40B4-BE49-F238E27FC236}">
                    <a16:creationId xmlns:a16="http://schemas.microsoft.com/office/drawing/2014/main" id="{BB072D4E-7F25-E011-D2EE-203F2149294B}"/>
                  </a:ext>
                </a:extLst>
              </p:cNvPr>
              <p:cNvSpPr txBox="1">
                <a:spLocks/>
              </p:cNvSpPr>
              <p:nvPr/>
            </p:nvSpPr>
            <p:spPr>
              <a:xfrm>
                <a:off x="4102347" y="2648879"/>
                <a:ext cx="1948697"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dirty="0"/>
                  <a:t>No centralized control or visibility into access rights</a:t>
                </a:r>
                <a:endParaRPr lang="en-US" sz="1200" dirty="0">
                  <a:solidFill>
                    <a:srgbClr val="000000"/>
                  </a:solidFill>
                </a:endParaRPr>
              </a:p>
              <a:p>
                <a:pPr lvl="1">
                  <a:buClr>
                    <a:srgbClr val="000000"/>
                  </a:buClr>
                  <a:defRPr/>
                </a:pPr>
                <a:r>
                  <a:rPr lang="en-US" sz="1200" dirty="0"/>
                  <a:t>Ad hoc access management through personal requests</a:t>
                </a:r>
                <a:endParaRPr lang="en-US" sz="1200" dirty="0">
                  <a:solidFill>
                    <a:srgbClr val="000000"/>
                  </a:solidFill>
                </a:endParaRPr>
              </a:p>
            </p:txBody>
          </p:sp>
          <p:sp>
            <p:nvSpPr>
              <p:cNvPr id="71" name="TextBox 70">
                <a:extLst>
                  <a:ext uri="{FF2B5EF4-FFF2-40B4-BE49-F238E27FC236}">
                    <a16:creationId xmlns:a16="http://schemas.microsoft.com/office/drawing/2014/main" id="{FE2233A6-1173-F74F-4680-67CCC0F8A742}"/>
                  </a:ext>
                </a:extLst>
              </p:cNvPr>
              <p:cNvSpPr txBox="1">
                <a:spLocks/>
              </p:cNvSpPr>
              <p:nvPr/>
            </p:nvSpPr>
            <p:spPr>
              <a:xfrm>
                <a:off x="6190072" y="2648879"/>
                <a:ext cx="1966490" cy="13311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Standardized process for requesting and granting access</a:t>
                </a:r>
                <a:endParaRPr lang="en-US" sz="1200">
                  <a:solidFill>
                    <a:srgbClr val="000000"/>
                  </a:solidFill>
                  <a:cs typeface="Arial"/>
                </a:endParaRPr>
              </a:p>
              <a:p>
                <a:pPr lvl="1">
                  <a:buClr>
                    <a:srgbClr val="000000"/>
                  </a:buClr>
                  <a:defRPr/>
                </a:pPr>
                <a:r>
                  <a:rPr lang="en-US" sz="1200"/>
                  <a:t>Role-based access control applied inconsistently across systems and </a:t>
                </a:r>
                <a:r>
                  <a:rPr lang="en-US" sz="1200" b="1">
                    <a:solidFill>
                      <a:schemeClr val="accent1"/>
                    </a:solidFill>
                  </a:rPr>
                  <a:t>models</a:t>
                </a:r>
              </a:p>
            </p:txBody>
          </p:sp>
          <p:sp>
            <p:nvSpPr>
              <p:cNvPr id="82" name="TextBox 81">
                <a:extLst>
                  <a:ext uri="{FF2B5EF4-FFF2-40B4-BE49-F238E27FC236}">
                    <a16:creationId xmlns:a16="http://schemas.microsoft.com/office/drawing/2014/main" id="{43CF0B95-7E10-A548-4194-FFA7E1C29C48}"/>
                  </a:ext>
                </a:extLst>
              </p:cNvPr>
              <p:cNvSpPr txBox="1">
                <a:spLocks/>
              </p:cNvSpPr>
              <p:nvPr/>
            </p:nvSpPr>
            <p:spPr>
              <a:xfrm>
                <a:off x="8295588" y="2648879"/>
                <a:ext cx="3341672"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Automated approval workflows and continuous monitoring of access rights</a:t>
                </a:r>
                <a:endParaRPr lang="en-US" sz="1200">
                  <a:solidFill>
                    <a:srgbClr val="000000"/>
                  </a:solidFill>
                  <a:cs typeface="Arial"/>
                </a:endParaRPr>
              </a:p>
              <a:p>
                <a:pPr lvl="1">
                  <a:buClr>
                    <a:srgbClr val="000000"/>
                  </a:buClr>
                  <a:defRPr/>
                </a:pPr>
                <a:r>
                  <a:rPr lang="en-US" sz="1200"/>
                  <a:t>Role-based access control across structured, </a:t>
                </a:r>
                <a:r>
                  <a:rPr lang="en-US" sz="1200" b="1">
                    <a:solidFill>
                      <a:schemeClr val="accent1"/>
                    </a:solidFill>
                  </a:rPr>
                  <a:t>unstructured, and AI-specific data (features, documents, embeddings, models)</a:t>
                </a:r>
                <a:endParaRPr lang="en-US" sz="1200" b="1">
                  <a:solidFill>
                    <a:schemeClr val="accent1"/>
                  </a:solidFill>
                  <a:cs typeface="Arial"/>
                </a:endParaRPr>
              </a:p>
            </p:txBody>
          </p:sp>
          <p:sp>
            <p:nvSpPr>
              <p:cNvPr id="26" name="TextBox 25">
                <a:extLst>
                  <a:ext uri="{FF2B5EF4-FFF2-40B4-BE49-F238E27FC236}">
                    <a16:creationId xmlns:a16="http://schemas.microsoft.com/office/drawing/2014/main" id="{AAB23B8B-7F3F-D69C-50F7-D62E21BD30D0}"/>
                  </a:ext>
                </a:extLst>
              </p:cNvPr>
              <p:cNvSpPr txBox="1">
                <a:spLocks/>
              </p:cNvSpPr>
              <p:nvPr/>
            </p:nvSpPr>
            <p:spPr>
              <a:xfrm>
                <a:off x="1736201" y="2648879"/>
                <a:ext cx="2227118"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kumimoji="0" lang="en-US" sz="1200" b="0" i="0" u="none" strike="noStrike" kern="1200" cap="none" spc="0" normalizeH="0" baseline="0" noProof="0">
                    <a:ln>
                      <a:noFill/>
                    </a:ln>
                    <a:solidFill>
                      <a:srgbClr val="000000"/>
                    </a:solidFill>
                    <a:effectLst/>
                    <a:uLnTx/>
                    <a:uFillTx/>
                    <a:latin typeface="Arial"/>
                    <a:ea typeface="+mn-ea"/>
                    <a:cs typeface="+mn-cs"/>
                  </a:rPr>
                  <a:t>Processes and controls for </a:t>
                </a:r>
                <a:r>
                  <a:rPr lang="en-US" sz="1200">
                    <a:solidFill>
                      <a:srgbClr val="000000"/>
                    </a:solidFill>
                    <a:latin typeface="Arial"/>
                  </a:rPr>
                  <a:t>governing data and model access and usage</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5" name="Group 34">
              <a:extLst>
                <a:ext uri="{FF2B5EF4-FFF2-40B4-BE49-F238E27FC236}">
                  <a16:creationId xmlns:a16="http://schemas.microsoft.com/office/drawing/2014/main" id="{A7E916CC-284A-2F01-1BAA-A0CC4E44F3E2}"/>
                </a:ext>
              </a:extLst>
            </p:cNvPr>
            <p:cNvGrpSpPr/>
            <p:nvPr/>
          </p:nvGrpSpPr>
          <p:grpSpPr>
            <a:xfrm>
              <a:off x="554736" y="4134488"/>
              <a:ext cx="11082524" cy="961802"/>
              <a:chOff x="554736" y="3641603"/>
              <a:chExt cx="11082524" cy="961802"/>
            </a:xfrm>
          </p:grpSpPr>
          <p:sp>
            <p:nvSpPr>
              <p:cNvPr id="10" name="TextBox 9">
                <a:extLst>
                  <a:ext uri="{FF2B5EF4-FFF2-40B4-BE49-F238E27FC236}">
                    <a16:creationId xmlns:a16="http://schemas.microsoft.com/office/drawing/2014/main" id="{49D0590F-8894-1181-DEB7-8AEB23A11E9D}"/>
                  </a:ext>
                </a:extLst>
              </p:cNvPr>
              <p:cNvSpPr txBox="1">
                <a:spLocks/>
              </p:cNvSpPr>
              <p:nvPr/>
            </p:nvSpPr>
            <p:spPr>
              <a:xfrm>
                <a:off x="554736" y="3641603"/>
                <a:ext cx="104825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Policies, standards, audit</a:t>
                </a:r>
              </a:p>
            </p:txBody>
          </p:sp>
          <p:sp>
            <p:nvSpPr>
              <p:cNvPr id="45" name="TextBox 44">
                <a:extLst>
                  <a:ext uri="{FF2B5EF4-FFF2-40B4-BE49-F238E27FC236}">
                    <a16:creationId xmlns:a16="http://schemas.microsoft.com/office/drawing/2014/main" id="{BE5BD3A3-8770-BE77-6EE0-1E8698B65EB1}"/>
                  </a:ext>
                </a:extLst>
              </p:cNvPr>
              <p:cNvSpPr txBox="1">
                <a:spLocks/>
              </p:cNvSpPr>
              <p:nvPr/>
            </p:nvSpPr>
            <p:spPr>
              <a:xfrm>
                <a:off x="4102347" y="3641603"/>
                <a:ext cx="1948697" cy="77713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Few or no written policies for data use in AI</a:t>
                </a:r>
              </a:p>
              <a:p>
                <a:pPr lvl="1">
                  <a:buClr>
                    <a:srgbClr val="000000"/>
                  </a:buClr>
                  <a:defRPr/>
                </a:pPr>
                <a:r>
                  <a:rPr lang="en-US" sz="1200"/>
                  <a:t>Lack of compliance auditing</a:t>
                </a:r>
                <a:endParaRPr lang="en-US" sz="1200">
                  <a:solidFill>
                    <a:srgbClr val="000000"/>
                  </a:solidFill>
                </a:endParaRPr>
              </a:p>
            </p:txBody>
          </p:sp>
          <p:sp>
            <p:nvSpPr>
              <p:cNvPr id="73" name="TextBox 72">
                <a:extLst>
                  <a:ext uri="{FF2B5EF4-FFF2-40B4-BE49-F238E27FC236}">
                    <a16:creationId xmlns:a16="http://schemas.microsoft.com/office/drawing/2014/main" id="{51FC2ACE-0C59-AE92-8314-9C8858253262}"/>
                  </a:ext>
                </a:extLst>
              </p:cNvPr>
              <p:cNvSpPr txBox="1">
                <a:spLocks/>
              </p:cNvSpPr>
              <p:nvPr/>
            </p:nvSpPr>
            <p:spPr>
              <a:xfrm>
                <a:off x="6190072" y="3641603"/>
                <a:ext cx="1966490"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Documented policies and standards for priority datasets</a:t>
                </a:r>
              </a:p>
              <a:p>
                <a:pPr lvl="1">
                  <a:buClr>
                    <a:srgbClr val="000000"/>
                  </a:buClr>
                  <a:defRPr/>
                </a:pPr>
                <a:r>
                  <a:rPr lang="en-US" sz="1200"/>
                  <a:t>Manual and infrequent compliance audits</a:t>
                </a:r>
                <a:endParaRPr lang="en-US" sz="1200">
                  <a:solidFill>
                    <a:srgbClr val="000000"/>
                  </a:solidFill>
                </a:endParaRPr>
              </a:p>
            </p:txBody>
          </p:sp>
          <p:sp>
            <p:nvSpPr>
              <p:cNvPr id="86" name="TextBox 85">
                <a:extLst>
                  <a:ext uri="{FF2B5EF4-FFF2-40B4-BE49-F238E27FC236}">
                    <a16:creationId xmlns:a16="http://schemas.microsoft.com/office/drawing/2014/main" id="{99B69940-D1AD-86ED-E231-89842CB8D0D2}"/>
                  </a:ext>
                </a:extLst>
              </p:cNvPr>
              <p:cNvSpPr txBox="1">
                <a:spLocks/>
              </p:cNvSpPr>
              <p:nvPr/>
            </p:nvSpPr>
            <p:spPr>
              <a:xfrm>
                <a:off x="8295588" y="3641603"/>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Comprehensive policies and standards for</a:t>
                </a:r>
                <a:r>
                  <a:rPr lang="en-US" sz="1200">
                    <a:solidFill>
                      <a:schemeClr val="accent1"/>
                    </a:solidFill>
                  </a:rPr>
                  <a:t> </a:t>
                </a:r>
                <a:r>
                  <a:rPr lang="en-US" sz="1200"/>
                  <a:t>structured and </a:t>
                </a:r>
                <a:r>
                  <a:rPr lang="en-US" sz="1200" b="1">
                    <a:solidFill>
                      <a:schemeClr val="accent1"/>
                    </a:solidFill>
                  </a:rPr>
                  <a:t>unstructured data, embeddings, and models</a:t>
                </a:r>
                <a:endParaRPr lang="en-US" sz="1200" b="1">
                  <a:solidFill>
                    <a:schemeClr val="accent1"/>
                  </a:solidFill>
                  <a:cs typeface="Arial"/>
                </a:endParaRPr>
              </a:p>
              <a:p>
                <a:pPr lvl="1">
                  <a:buClr>
                    <a:srgbClr val="000000"/>
                  </a:buClr>
                  <a:defRPr/>
                </a:pPr>
                <a:r>
                  <a:rPr lang="en-US" sz="1200">
                    <a:solidFill>
                      <a:srgbClr val="000000"/>
                    </a:solidFill>
                  </a:rPr>
                  <a:t>Automated audit trails and regular reviews ensuring </a:t>
                </a:r>
                <a:r>
                  <a:rPr lang="en-US" sz="1200" b="1">
                    <a:solidFill>
                      <a:schemeClr val="accent1"/>
                    </a:solidFill>
                  </a:rPr>
                  <a:t>compliance and accountability</a:t>
                </a:r>
                <a:endParaRPr lang="en-US" sz="1200" b="1">
                  <a:solidFill>
                    <a:schemeClr val="accent1"/>
                  </a:solidFill>
                  <a:cs typeface="Arial"/>
                </a:endParaRPr>
              </a:p>
            </p:txBody>
          </p:sp>
          <p:sp>
            <p:nvSpPr>
              <p:cNvPr id="27" name="TextBox 26">
                <a:extLst>
                  <a:ext uri="{FF2B5EF4-FFF2-40B4-BE49-F238E27FC236}">
                    <a16:creationId xmlns:a16="http://schemas.microsoft.com/office/drawing/2014/main" id="{43F38031-484E-31B4-0DF7-40E3E16B27DB}"/>
                  </a:ext>
                </a:extLst>
              </p:cNvPr>
              <p:cNvSpPr txBox="1">
                <a:spLocks/>
              </p:cNvSpPr>
              <p:nvPr/>
            </p:nvSpPr>
            <p:spPr>
              <a:xfrm>
                <a:off x="1736201" y="3641603"/>
                <a:ext cx="2227118"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kumimoji="0" lang="en-US" sz="1200" b="0" i="0" u="none" strike="noStrike" kern="1200" cap="none" spc="0" normalizeH="0" baseline="0" noProof="0">
                    <a:ln>
                      <a:noFill/>
                    </a:ln>
                    <a:solidFill>
                      <a:srgbClr val="000000"/>
                    </a:solidFill>
                    <a:effectLst/>
                    <a:uLnTx/>
                    <a:uFillTx/>
                    <a:latin typeface="Arial"/>
                    <a:ea typeface="+mn-ea"/>
                    <a:cs typeface="+mn-cs"/>
                  </a:rPr>
                  <a:t>Documented rules </a:t>
                </a:r>
                <a:r>
                  <a:rPr lang="en-US" sz="1200">
                    <a:solidFill>
                      <a:srgbClr val="000000"/>
                    </a:solidFill>
                    <a:latin typeface="Arial"/>
                  </a:rPr>
                  <a:t>that govern data, intermediaries, and models, with regular audits that ensure regulatory and risk compliance </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1" name="Group 30">
              <a:extLst>
                <a:ext uri="{FF2B5EF4-FFF2-40B4-BE49-F238E27FC236}">
                  <a16:creationId xmlns:a16="http://schemas.microsoft.com/office/drawing/2014/main" id="{D3068EC5-32C9-9DD4-C995-8D1BBB0DA72B}"/>
                </a:ext>
              </a:extLst>
            </p:cNvPr>
            <p:cNvGrpSpPr/>
            <p:nvPr/>
          </p:nvGrpSpPr>
          <p:grpSpPr>
            <a:xfrm>
              <a:off x="554736" y="5245976"/>
              <a:ext cx="11082524" cy="1146468"/>
              <a:chOff x="554736" y="4496676"/>
              <a:chExt cx="11082524" cy="1146468"/>
            </a:xfrm>
          </p:grpSpPr>
          <p:sp>
            <p:nvSpPr>
              <p:cNvPr id="29" name="TextBox 28">
                <a:extLst>
                  <a:ext uri="{FF2B5EF4-FFF2-40B4-BE49-F238E27FC236}">
                    <a16:creationId xmlns:a16="http://schemas.microsoft.com/office/drawing/2014/main" id="{BFD1CBAF-A044-CEB6-0C40-9A483D464A1E}"/>
                  </a:ext>
                </a:extLst>
              </p:cNvPr>
              <p:cNvSpPr txBox="1">
                <a:spLocks/>
              </p:cNvSpPr>
              <p:nvPr/>
            </p:nvSpPr>
            <p:spPr>
              <a:xfrm>
                <a:off x="554736" y="4496676"/>
                <a:ext cx="104825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Security, privacy and risk management</a:t>
                </a:r>
              </a:p>
            </p:txBody>
          </p:sp>
          <p:sp>
            <p:nvSpPr>
              <p:cNvPr id="56" name="TextBox 55">
                <a:extLst>
                  <a:ext uri="{FF2B5EF4-FFF2-40B4-BE49-F238E27FC236}">
                    <a16:creationId xmlns:a16="http://schemas.microsoft.com/office/drawing/2014/main" id="{52D60BF2-4AAF-1C8A-BC5B-7F6443BF977D}"/>
                  </a:ext>
                </a:extLst>
              </p:cNvPr>
              <p:cNvSpPr txBox="1">
                <a:spLocks/>
              </p:cNvSpPr>
              <p:nvPr/>
            </p:nvSpPr>
            <p:spPr>
              <a:xfrm>
                <a:off x="4102347" y="4496676"/>
                <a:ext cx="1948697"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cs typeface="Arial" panose="020B0604020202020204" pitchFamily="34" charset="0"/>
                  </a:rPr>
                  <a:t>Minimal controls for securing data used in AI</a:t>
                </a:r>
              </a:p>
              <a:p>
                <a:pPr lvl="1">
                  <a:buClr>
                    <a:srgbClr val="000000"/>
                  </a:buClr>
                  <a:defRPr/>
                </a:pPr>
                <a:r>
                  <a:rPr lang="en-US" sz="1200"/>
                  <a:t>PII and sensitive data frequently unmanaged or exposed</a:t>
                </a:r>
                <a:endParaRPr lang="en-US" sz="1200">
                  <a:solidFill>
                    <a:srgbClr val="000000"/>
                  </a:solidFill>
                  <a:cs typeface="Arial" panose="020B0604020202020204" pitchFamily="34" charset="0"/>
                </a:endParaRPr>
              </a:p>
            </p:txBody>
          </p:sp>
          <p:sp>
            <p:nvSpPr>
              <p:cNvPr id="76" name="TextBox 75">
                <a:extLst>
                  <a:ext uri="{FF2B5EF4-FFF2-40B4-BE49-F238E27FC236}">
                    <a16:creationId xmlns:a16="http://schemas.microsoft.com/office/drawing/2014/main" id="{065D14DF-3DC7-05DD-7F0A-56BD9E0F3628}"/>
                  </a:ext>
                </a:extLst>
              </p:cNvPr>
              <p:cNvSpPr txBox="1">
                <a:spLocks/>
              </p:cNvSpPr>
              <p:nvPr/>
            </p:nvSpPr>
            <p:spPr>
              <a:xfrm>
                <a:off x="6190072" y="4496676"/>
                <a:ext cx="1966490"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Basic security measures (e.g., encryption)</a:t>
                </a:r>
              </a:p>
              <a:p>
                <a:pPr lvl="1">
                  <a:buClr>
                    <a:srgbClr val="000000"/>
                  </a:buClr>
                  <a:defRPr/>
                </a:pPr>
                <a:r>
                  <a:rPr lang="en-US" sz="1200"/>
                  <a:t>Manual processes for managing privacy and sensitive data risks</a:t>
                </a:r>
                <a:endParaRPr lang="en-US" sz="1200">
                  <a:solidFill>
                    <a:srgbClr val="000000"/>
                  </a:solidFill>
                </a:endParaRPr>
              </a:p>
            </p:txBody>
          </p:sp>
          <p:sp>
            <p:nvSpPr>
              <p:cNvPr id="84" name="TextBox 83">
                <a:extLst>
                  <a:ext uri="{FF2B5EF4-FFF2-40B4-BE49-F238E27FC236}">
                    <a16:creationId xmlns:a16="http://schemas.microsoft.com/office/drawing/2014/main" id="{985B77EB-0053-3570-0509-B31A19ABE1F7}"/>
                  </a:ext>
                </a:extLst>
              </p:cNvPr>
              <p:cNvSpPr txBox="1">
                <a:spLocks/>
              </p:cNvSpPr>
              <p:nvPr/>
            </p:nvSpPr>
            <p:spPr>
              <a:xfrm>
                <a:off x="8295588" y="4496676"/>
                <a:ext cx="3341672"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Automated security controls preventing </a:t>
                </a:r>
                <a:r>
                  <a:rPr lang="en-US" sz="1200" b="1">
                    <a:solidFill>
                      <a:schemeClr val="accent1"/>
                    </a:solidFill>
                  </a:rPr>
                  <a:t>unauthorized use in training or retrieval</a:t>
                </a:r>
                <a:r>
                  <a:rPr lang="en-US" sz="1200">
                    <a:solidFill>
                      <a:srgbClr val="000000"/>
                    </a:solidFill>
                  </a:rPr>
                  <a:t> with </a:t>
                </a:r>
                <a:r>
                  <a:rPr lang="en-US" sz="1200" b="1">
                    <a:solidFill>
                      <a:schemeClr val="accent1"/>
                    </a:solidFill>
                  </a:rPr>
                  <a:t>continuous risk monitoring</a:t>
                </a:r>
              </a:p>
              <a:p>
                <a:pPr lvl="1">
                  <a:buClr>
                    <a:srgbClr val="000000"/>
                  </a:buClr>
                  <a:defRPr/>
                </a:pPr>
                <a:r>
                  <a:rPr lang="en-US" sz="1200"/>
                  <a:t>Continuous protection of PII and sensitive data through tagging, masking, and monitoring</a:t>
                </a:r>
                <a:endParaRPr lang="en-US" sz="1200" b="1">
                  <a:solidFill>
                    <a:schemeClr val="accent1"/>
                  </a:solidFill>
                  <a:cs typeface="Arial"/>
                </a:endParaRPr>
              </a:p>
            </p:txBody>
          </p:sp>
          <p:sp>
            <p:nvSpPr>
              <p:cNvPr id="30" name="TextBox 29">
                <a:extLst>
                  <a:ext uri="{FF2B5EF4-FFF2-40B4-BE49-F238E27FC236}">
                    <a16:creationId xmlns:a16="http://schemas.microsoft.com/office/drawing/2014/main" id="{D0A4ACBD-B1C0-4F6A-AA5D-778C81907EC1}"/>
                  </a:ext>
                </a:extLst>
              </p:cNvPr>
              <p:cNvSpPr txBox="1">
                <a:spLocks/>
              </p:cNvSpPr>
              <p:nvPr/>
            </p:nvSpPr>
            <p:spPr>
              <a:xfrm>
                <a:off x="1736201" y="4496676"/>
                <a:ext cx="2227118"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Safeguards that protect sensitive information and AI assets through embedded security controls, continuous risk monitoring, and proactive data tagging and masking</a:t>
                </a:r>
                <a:endParaRPr lang="en-US" sz="1200" b="0" i="0" u="none" strike="noStrike" kern="1200" cap="none" spc="0" normalizeH="0" baseline="0" noProof="0">
                  <a:ln>
                    <a:noFill/>
                  </a:ln>
                  <a:solidFill>
                    <a:srgbClr val="000000"/>
                  </a:solidFill>
                  <a:effectLst/>
                  <a:uLnTx/>
                  <a:uFillTx/>
                  <a:latin typeface="Arial"/>
                  <a:cs typeface="Arial"/>
                </a:endParaRPr>
              </a:p>
            </p:txBody>
          </p:sp>
        </p:grpSp>
        <p:cxnSp>
          <p:nvCxnSpPr>
            <p:cNvPr id="6" name="Straight Connector 5">
              <a:extLst>
                <a:ext uri="{FF2B5EF4-FFF2-40B4-BE49-F238E27FC236}">
                  <a16:creationId xmlns:a16="http://schemas.microsoft.com/office/drawing/2014/main" id="{2E9136F0-508A-2774-1A49-B83CE1B7BB90}"/>
                </a:ext>
              </a:extLst>
            </p:cNvPr>
            <p:cNvCxnSpPr>
              <a:cxnSpLocks/>
            </p:cNvCxnSpPr>
            <p:nvPr>
              <p:custDataLst>
                <p:tags r:id="rId7"/>
              </p:custDataLst>
            </p:nvPr>
          </p:nvCxnSpPr>
          <p:spPr>
            <a:xfrm>
              <a:off x="554735" y="131696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0E255AA-D0CE-BEFC-F1EF-D1322AA20B64}"/>
                </a:ext>
              </a:extLst>
            </p:cNvPr>
            <p:cNvSpPr txBox="1">
              <a:spLocks/>
            </p:cNvSpPr>
            <p:nvPr/>
          </p:nvSpPr>
          <p:spPr>
            <a:xfrm>
              <a:off x="554736" y="855532"/>
              <a:ext cx="1042437" cy="430887"/>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Sub-Dimension</a:t>
              </a:r>
            </a:p>
          </p:txBody>
        </p:sp>
        <p:sp>
          <p:nvSpPr>
            <p:cNvPr id="13" name="TextBox 12">
              <a:extLst>
                <a:ext uri="{FF2B5EF4-FFF2-40B4-BE49-F238E27FC236}">
                  <a16:creationId xmlns:a16="http://schemas.microsoft.com/office/drawing/2014/main" id="{35BA5389-F995-8264-40D5-5CD0E4AD9016}"/>
                </a:ext>
              </a:extLst>
            </p:cNvPr>
            <p:cNvSpPr txBox="1">
              <a:spLocks/>
            </p:cNvSpPr>
            <p:nvPr/>
          </p:nvSpPr>
          <p:spPr>
            <a:xfrm>
              <a:off x="6190072" y="1070975"/>
              <a:ext cx="1966490"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Medium</a:t>
              </a:r>
            </a:p>
          </p:txBody>
        </p:sp>
        <p:sp>
          <p:nvSpPr>
            <p:cNvPr id="15" name="TextBox 14">
              <a:extLst>
                <a:ext uri="{FF2B5EF4-FFF2-40B4-BE49-F238E27FC236}">
                  <a16:creationId xmlns:a16="http://schemas.microsoft.com/office/drawing/2014/main" id="{18F5FB44-D313-C0CE-60BD-160ACECF7BFA}"/>
                </a:ext>
              </a:extLst>
            </p:cNvPr>
            <p:cNvSpPr txBox="1">
              <a:spLocks/>
            </p:cNvSpPr>
            <p:nvPr/>
          </p:nvSpPr>
          <p:spPr>
            <a:xfrm>
              <a:off x="8295588" y="1070975"/>
              <a:ext cx="3341672"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High</a:t>
              </a:r>
            </a:p>
          </p:txBody>
        </p:sp>
        <p:sp>
          <p:nvSpPr>
            <p:cNvPr id="17" name="TextBox 16">
              <a:extLst>
                <a:ext uri="{FF2B5EF4-FFF2-40B4-BE49-F238E27FC236}">
                  <a16:creationId xmlns:a16="http://schemas.microsoft.com/office/drawing/2014/main" id="{81DEBC48-98B9-EB63-6F68-A4846A3941E5}"/>
                </a:ext>
              </a:extLst>
            </p:cNvPr>
            <p:cNvSpPr txBox="1">
              <a:spLocks/>
            </p:cNvSpPr>
            <p:nvPr/>
          </p:nvSpPr>
          <p:spPr>
            <a:xfrm>
              <a:off x="1736201" y="1070975"/>
              <a:ext cx="2227118"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Description</a:t>
              </a:r>
            </a:p>
          </p:txBody>
        </p:sp>
        <p:sp>
          <p:nvSpPr>
            <p:cNvPr id="18" name="TextBox 17">
              <a:extLst>
                <a:ext uri="{FF2B5EF4-FFF2-40B4-BE49-F238E27FC236}">
                  <a16:creationId xmlns:a16="http://schemas.microsoft.com/office/drawing/2014/main" id="{46D7A10F-FF10-B5A5-CEBC-88D38B88AD00}"/>
                </a:ext>
              </a:extLst>
            </p:cNvPr>
            <p:cNvSpPr txBox="1">
              <a:spLocks/>
            </p:cNvSpPr>
            <p:nvPr/>
          </p:nvSpPr>
          <p:spPr>
            <a:xfrm>
              <a:off x="4102347" y="1070975"/>
              <a:ext cx="1948697"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Low</a:t>
              </a:r>
            </a:p>
          </p:txBody>
        </p:sp>
      </p:grpSp>
      <p:grpSp>
        <p:nvGrpSpPr>
          <p:cNvPr id="19" name="Group 18">
            <a:extLst>
              <a:ext uri="{FF2B5EF4-FFF2-40B4-BE49-F238E27FC236}">
                <a16:creationId xmlns:a16="http://schemas.microsoft.com/office/drawing/2014/main" id="{9876146A-B62B-D4A7-ED2D-E09146FBF3F3}"/>
              </a:ext>
            </a:extLst>
          </p:cNvPr>
          <p:cNvGrpSpPr/>
          <p:nvPr/>
        </p:nvGrpSpPr>
        <p:grpSpPr>
          <a:xfrm>
            <a:off x="9685463" y="502622"/>
            <a:ext cx="1951801" cy="197680"/>
            <a:chOff x="9807580" y="502622"/>
            <a:chExt cx="1951801" cy="197680"/>
          </a:xfrm>
        </p:grpSpPr>
        <p:sp>
          <p:nvSpPr>
            <p:cNvPr id="20" name="TextBox 19">
              <a:extLst>
                <a:ext uri="{FF2B5EF4-FFF2-40B4-BE49-F238E27FC236}">
                  <a16:creationId xmlns:a16="http://schemas.microsoft.com/office/drawing/2014/main" id="{C645F764-CA33-0E92-6932-7895CC0982B4}"/>
                </a:ext>
              </a:extLst>
            </p:cNvPr>
            <p:cNvSpPr txBox="1"/>
            <p:nvPr/>
          </p:nvSpPr>
          <p:spPr>
            <a:xfrm>
              <a:off x="9807580" y="502622"/>
              <a:ext cx="44076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1"/>
                  </a:solidFill>
                </a:rPr>
                <a:t>xxx</a:t>
              </a:r>
            </a:p>
          </p:txBody>
        </p:sp>
        <p:sp>
          <p:nvSpPr>
            <p:cNvPr id="21" name="TextBox 20">
              <a:extLst>
                <a:ext uri="{FF2B5EF4-FFF2-40B4-BE49-F238E27FC236}">
                  <a16:creationId xmlns:a16="http://schemas.microsoft.com/office/drawing/2014/main" id="{48F6CA5A-0E5E-7720-E297-2CA1695DFBA8}"/>
                </a:ext>
              </a:extLst>
            </p:cNvPr>
            <p:cNvSpPr txBox="1"/>
            <p:nvPr/>
          </p:nvSpPr>
          <p:spPr>
            <a:xfrm>
              <a:off x="10139489" y="515636"/>
              <a:ext cx="161989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Pertinent to Gen AI only</a:t>
              </a:r>
            </a:p>
          </p:txBody>
        </p:sp>
      </p:grpSp>
    </p:spTree>
    <p:custDataLst>
      <p:tags r:id="rId1"/>
    </p:custDataLst>
    <p:extLst>
      <p:ext uri="{BB962C8B-B14F-4D97-AF65-F5344CB8AC3E}">
        <p14:creationId xmlns:p14="http://schemas.microsoft.com/office/powerpoint/2010/main" val="2084761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4F28F-129F-D084-A7B9-E9FA870848DB}"/>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09B3DAD-3D93-B88A-CACC-A25104948857}"/>
              </a:ext>
            </a:extLst>
          </p:cNvPr>
          <p:cNvGraphicFramePr>
            <a:graphicFrameLocks noChangeAspect="1"/>
          </p:cNvGraphicFramePr>
          <p:nvPr>
            <p:custDataLst>
              <p:tags r:id="rId2"/>
            </p:custDataLst>
            <p:extLst>
              <p:ext uri="{D42A27DB-BD31-4B8C-83A1-F6EECF244321}">
                <p14:modId xmlns:p14="http://schemas.microsoft.com/office/powerpoint/2010/main" val="3483998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04" imgH="405" progId="TCLayout.ActiveDocument.1">
                  <p:embed/>
                </p:oleObj>
              </mc:Choice>
              <mc:Fallback>
                <p:oleObj name="think-cell Slide" r:id="rId10" imgW="404" imgH="405" progId="TCLayout.ActiveDocument.1">
                  <p:embed/>
                  <p:pic>
                    <p:nvPicPr>
                      <p:cNvPr id="5" name="Object 6" hidden="1">
                        <a:extLst>
                          <a:ext uri="{FF2B5EF4-FFF2-40B4-BE49-F238E27FC236}">
                            <a16:creationId xmlns:a16="http://schemas.microsoft.com/office/drawing/2014/main" id="{B09B3DAD-3D93-B88A-CACC-A251049488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356F76F2-75E2-6869-7091-BE5D02C7CE53}"/>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a:t>F. Platform &amp; Tooling dimension rubric</a:t>
            </a:r>
          </a:p>
        </p:txBody>
      </p:sp>
      <p:sp>
        <p:nvSpPr>
          <p:cNvPr id="13" name="Text Placeholder 12">
            <a:extLst>
              <a:ext uri="{FF2B5EF4-FFF2-40B4-BE49-F238E27FC236}">
                <a16:creationId xmlns:a16="http://schemas.microsoft.com/office/drawing/2014/main" id="{C369B3CA-A692-3413-A710-A377C5492F84}"/>
              </a:ext>
            </a:extLst>
          </p:cNvPr>
          <p:cNvSpPr>
            <a:spLocks noGrp="1"/>
          </p:cNvSpPr>
          <p:nvPr>
            <p:ph type="body" sz="quarter" idx="17"/>
          </p:nvPr>
        </p:nvSpPr>
        <p:spPr/>
        <p:txBody>
          <a:bodyPr/>
          <a:lstStyle/>
          <a:p>
            <a:endParaRPr lang="en-US"/>
          </a:p>
        </p:txBody>
      </p:sp>
      <p:sp>
        <p:nvSpPr>
          <p:cNvPr id="12" name="4. Footnote">
            <a:extLst>
              <a:ext uri="{FF2B5EF4-FFF2-40B4-BE49-F238E27FC236}">
                <a16:creationId xmlns:a16="http://schemas.microsoft.com/office/drawing/2014/main" id="{70383DCD-F9DB-73D5-F3FF-502AE2379F71}"/>
              </a:ext>
            </a:extLst>
          </p:cNvPr>
          <p:cNvSpPr txBox="1"/>
          <p:nvPr>
            <p:custDataLst>
              <p:tags r:id="rId4"/>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fr-FR"/>
              <a:t>1.	Continous Ingestion (CI), Continous Deployment (CD)</a:t>
            </a:r>
            <a:endParaRPr lang="en-US"/>
          </a:p>
        </p:txBody>
      </p:sp>
      <p:grpSp>
        <p:nvGrpSpPr>
          <p:cNvPr id="23" name="Group 22">
            <a:extLst>
              <a:ext uri="{FF2B5EF4-FFF2-40B4-BE49-F238E27FC236}">
                <a16:creationId xmlns:a16="http://schemas.microsoft.com/office/drawing/2014/main" id="{076385C3-9C5A-CCD5-E7CA-0C3883585EB1}"/>
              </a:ext>
            </a:extLst>
          </p:cNvPr>
          <p:cNvGrpSpPr/>
          <p:nvPr/>
        </p:nvGrpSpPr>
        <p:grpSpPr>
          <a:xfrm>
            <a:off x="554735" y="963254"/>
            <a:ext cx="11082529" cy="5009506"/>
            <a:chOff x="554735" y="855532"/>
            <a:chExt cx="11082529" cy="5009506"/>
          </a:xfrm>
        </p:grpSpPr>
        <p:cxnSp>
          <p:nvCxnSpPr>
            <p:cNvPr id="51" name="Straight Connector 50">
              <a:extLst>
                <a:ext uri="{FF2B5EF4-FFF2-40B4-BE49-F238E27FC236}">
                  <a16:creationId xmlns:a16="http://schemas.microsoft.com/office/drawing/2014/main" id="{8CC6E7E2-3C1A-8B16-EC48-DD7892C5A574}"/>
                </a:ext>
              </a:extLst>
            </p:cNvPr>
            <p:cNvCxnSpPr>
              <a:cxnSpLocks/>
            </p:cNvCxnSpPr>
            <p:nvPr>
              <p:custDataLst>
                <p:tags r:id="rId5"/>
              </p:custDataLst>
            </p:nvPr>
          </p:nvCxnSpPr>
          <p:spPr>
            <a:xfrm>
              <a:off x="554736" y="3030702"/>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6097EA5-4111-3D4A-7662-AD3C08E4EB0E}"/>
                </a:ext>
              </a:extLst>
            </p:cNvPr>
            <p:cNvCxnSpPr>
              <a:cxnSpLocks/>
            </p:cNvCxnSpPr>
            <p:nvPr>
              <p:custDataLst>
                <p:tags r:id="rId6"/>
              </p:custDataLst>
            </p:nvPr>
          </p:nvCxnSpPr>
          <p:spPr>
            <a:xfrm>
              <a:off x="554736" y="4414994"/>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5D49D250-D2DA-3466-7AD5-24B93F93CAFC}"/>
                </a:ext>
              </a:extLst>
            </p:cNvPr>
            <p:cNvGrpSpPr/>
            <p:nvPr/>
          </p:nvGrpSpPr>
          <p:grpSpPr>
            <a:xfrm>
              <a:off x="554736" y="1357518"/>
              <a:ext cx="11082524" cy="1554272"/>
              <a:chOff x="554736" y="1681806"/>
              <a:chExt cx="11082524" cy="1554272"/>
            </a:xfrm>
          </p:grpSpPr>
          <p:sp>
            <p:nvSpPr>
              <p:cNvPr id="14" name="TextBox 13">
                <a:extLst>
                  <a:ext uri="{FF2B5EF4-FFF2-40B4-BE49-F238E27FC236}">
                    <a16:creationId xmlns:a16="http://schemas.microsoft.com/office/drawing/2014/main" id="{F0C089F6-57B6-DB5F-397F-4B0603F7C7E7}"/>
                  </a:ext>
                </a:extLst>
              </p:cNvPr>
              <p:cNvSpPr txBox="1">
                <a:spLocks/>
              </p:cNvSpPr>
              <p:nvPr/>
            </p:nvSpPr>
            <p:spPr>
              <a:xfrm>
                <a:off x="554736" y="1681806"/>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761970" fontAlgn="base">
                  <a:spcBef>
                    <a:spcPts val="630"/>
                  </a:spcBef>
                  <a:spcAft>
                    <a:spcPct val="0"/>
                  </a:spcAft>
                  <a:buClrTx/>
                  <a:buSzTx/>
                  <a:buNone/>
                  <a:defRPr/>
                </a:pPr>
                <a:r>
                  <a:rPr lang="en-US" sz="1200" b="1">
                    <a:solidFill>
                      <a:srgbClr val="000000"/>
                    </a:solidFill>
                  </a:rPr>
                  <a:t>Ingestion and integration</a:t>
                </a:r>
                <a:endParaRPr lang="en-US" sz="1200">
                  <a:solidFill>
                    <a:srgbClr val="000000"/>
                  </a:solidFill>
                </a:endParaRPr>
              </a:p>
            </p:txBody>
          </p:sp>
          <p:sp>
            <p:nvSpPr>
              <p:cNvPr id="28" name="TextBox 27">
                <a:extLst>
                  <a:ext uri="{FF2B5EF4-FFF2-40B4-BE49-F238E27FC236}">
                    <a16:creationId xmlns:a16="http://schemas.microsoft.com/office/drawing/2014/main" id="{52CD0111-FC3B-6180-A78D-B5E508C8E1AF}"/>
                  </a:ext>
                </a:extLst>
              </p:cNvPr>
              <p:cNvSpPr txBox="1">
                <a:spLocks/>
              </p:cNvSpPr>
              <p:nvPr/>
            </p:nvSpPr>
            <p:spPr>
              <a:xfrm>
                <a:off x="6190072" y="1681806"/>
                <a:ext cx="1966490" cy="155427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Standard pipelines for structured and </a:t>
                </a:r>
                <a:r>
                  <a:rPr lang="en-US" sz="1200" b="1">
                    <a:solidFill>
                      <a:schemeClr val="accent1"/>
                    </a:solidFill>
                  </a:rPr>
                  <a:t>unstructured data</a:t>
                </a:r>
                <a:endParaRPr lang="en-US" sz="1200" b="1">
                  <a:solidFill>
                    <a:schemeClr val="accent1"/>
                  </a:solidFill>
                  <a:cs typeface="Arial"/>
                </a:endParaRPr>
              </a:p>
              <a:p>
                <a:pPr lvl="1">
                  <a:buClr>
                    <a:srgbClr val="000000"/>
                  </a:buClr>
                  <a:defRPr/>
                </a:pPr>
                <a:r>
                  <a:rPr lang="en-US" sz="1200"/>
                  <a:t>Basic </a:t>
                </a:r>
                <a:r>
                  <a:rPr lang="en-US" sz="1200" b="1">
                    <a:solidFill>
                      <a:schemeClr val="accent1"/>
                    </a:solidFill>
                  </a:rPr>
                  <a:t>extraction and chunking of documents and transcripts</a:t>
                </a:r>
                <a:endParaRPr lang="en-US" sz="1200" b="1">
                  <a:solidFill>
                    <a:schemeClr val="accent1"/>
                  </a:solidFill>
                  <a:cs typeface="Arial"/>
                </a:endParaRPr>
              </a:p>
              <a:p>
                <a:pPr lvl="1">
                  <a:buClr>
                    <a:srgbClr val="000000"/>
                  </a:buClr>
                  <a:defRPr/>
                </a:pPr>
                <a:r>
                  <a:rPr lang="en-US" sz="1200">
                    <a:solidFill>
                      <a:srgbClr val="000000"/>
                    </a:solidFill>
                  </a:rPr>
                  <a:t>Manual labeling of training datasets</a:t>
                </a:r>
                <a:endParaRPr lang="en-US" sz="1200">
                  <a:solidFill>
                    <a:srgbClr val="000000"/>
                  </a:solidFill>
                  <a:cs typeface="Arial"/>
                </a:endParaRPr>
              </a:p>
            </p:txBody>
          </p:sp>
          <p:sp>
            <p:nvSpPr>
              <p:cNvPr id="32" name="TextBox 31">
                <a:extLst>
                  <a:ext uri="{FF2B5EF4-FFF2-40B4-BE49-F238E27FC236}">
                    <a16:creationId xmlns:a16="http://schemas.microsoft.com/office/drawing/2014/main" id="{A320A12A-6CFC-379B-E702-ED5A2AE1D231}"/>
                  </a:ext>
                </a:extLst>
              </p:cNvPr>
              <p:cNvSpPr txBox="1">
                <a:spLocks/>
              </p:cNvSpPr>
              <p:nvPr/>
            </p:nvSpPr>
            <p:spPr>
              <a:xfrm>
                <a:off x="8295588" y="1681806"/>
                <a:ext cx="3341672" cy="11849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Automated ingestion pipelines</a:t>
                </a:r>
                <a:r>
                  <a:rPr lang="en-US" sz="1200" b="1">
                    <a:solidFill>
                      <a:schemeClr val="tx2"/>
                    </a:solidFill>
                  </a:rPr>
                  <a:t> </a:t>
                </a:r>
                <a:r>
                  <a:rPr lang="en-US" sz="1200">
                    <a:solidFill>
                      <a:srgbClr val="000000"/>
                    </a:solidFill>
                  </a:rPr>
                  <a:t>for </a:t>
                </a:r>
                <a:r>
                  <a:rPr lang="en-US" sz="1200"/>
                  <a:t>structured, </a:t>
                </a:r>
                <a:r>
                  <a:rPr lang="en-US" sz="1200" b="1">
                    <a:solidFill>
                      <a:schemeClr val="accent1"/>
                    </a:solidFill>
                  </a:rPr>
                  <a:t>unstructured</a:t>
                </a:r>
                <a:r>
                  <a:rPr lang="en-US" sz="1200" b="1">
                    <a:solidFill>
                      <a:schemeClr val="tx2"/>
                    </a:solidFill>
                  </a:rPr>
                  <a:t>, </a:t>
                </a:r>
                <a:r>
                  <a:rPr lang="en-US" sz="1200"/>
                  <a:t>and streaming data</a:t>
                </a:r>
                <a:endParaRPr lang="en-US" sz="1200">
                  <a:cs typeface="Arial"/>
                </a:endParaRPr>
              </a:p>
              <a:p>
                <a:pPr lvl="1">
                  <a:buClr>
                    <a:srgbClr val="000000"/>
                  </a:buClr>
                  <a:defRPr/>
                </a:pPr>
                <a:r>
                  <a:rPr lang="en-US" sz="1200">
                    <a:solidFill>
                      <a:srgbClr val="000000"/>
                    </a:solidFill>
                  </a:rPr>
                  <a:t>Reliable </a:t>
                </a:r>
                <a:r>
                  <a:rPr lang="en-US" sz="1200" b="1">
                    <a:solidFill>
                      <a:schemeClr val="accent1"/>
                    </a:solidFill>
                  </a:rPr>
                  <a:t>extraction, parsing, and chunking </a:t>
                </a:r>
                <a:r>
                  <a:rPr lang="en-US" sz="1200">
                    <a:solidFill>
                      <a:srgbClr val="000000"/>
                    </a:solidFill>
                  </a:rPr>
                  <a:t>at scale</a:t>
                </a:r>
                <a:endParaRPr lang="en-US" sz="1200">
                  <a:solidFill>
                    <a:srgbClr val="000000"/>
                  </a:solidFill>
                  <a:cs typeface="Arial"/>
                </a:endParaRPr>
              </a:p>
              <a:p>
                <a:pPr lvl="1">
                  <a:buClr>
                    <a:srgbClr val="000000"/>
                  </a:buClr>
                  <a:defRPr/>
                </a:pPr>
                <a:r>
                  <a:rPr lang="en-US" sz="1200"/>
                  <a:t>Tool-assisted labeling with quality checks for training and evaluation datasets</a:t>
                </a:r>
                <a:endParaRPr lang="en-US" sz="1200">
                  <a:solidFill>
                    <a:srgbClr val="000000"/>
                  </a:solidFill>
                  <a:cs typeface="Arial"/>
                </a:endParaRPr>
              </a:p>
            </p:txBody>
          </p:sp>
          <p:sp>
            <p:nvSpPr>
              <p:cNvPr id="17" name="TextBox 16">
                <a:extLst>
                  <a:ext uri="{FF2B5EF4-FFF2-40B4-BE49-F238E27FC236}">
                    <a16:creationId xmlns:a16="http://schemas.microsoft.com/office/drawing/2014/main" id="{CEC0E0C4-2D06-FC1D-9257-FAA44F98A74B}"/>
                  </a:ext>
                </a:extLst>
              </p:cNvPr>
              <p:cNvSpPr txBox="1">
                <a:spLocks/>
              </p:cNvSpPr>
              <p:nvPr/>
            </p:nvSpPr>
            <p:spPr>
              <a:xfrm>
                <a:off x="1736201" y="1681806"/>
                <a:ext cx="2227118"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Pipelines that capture, transform, and prepare structured, </a:t>
                </a:r>
                <a:r>
                  <a:rPr lang="en-US" sz="1200" b="1">
                    <a:solidFill>
                      <a:schemeClr val="accent1"/>
                    </a:solidFill>
                  </a:rPr>
                  <a:t>unstructured</a:t>
                </a:r>
                <a:r>
                  <a:rPr lang="en-US" sz="1200">
                    <a:solidFill>
                      <a:srgbClr val="000000"/>
                    </a:solidFill>
                  </a:rPr>
                  <a:t>, and streaming data</a:t>
                </a:r>
              </a:p>
            </p:txBody>
          </p:sp>
          <p:sp>
            <p:nvSpPr>
              <p:cNvPr id="26" name="TextBox 25">
                <a:extLst>
                  <a:ext uri="{FF2B5EF4-FFF2-40B4-BE49-F238E27FC236}">
                    <a16:creationId xmlns:a16="http://schemas.microsoft.com/office/drawing/2014/main" id="{008F0503-A017-6C34-F5F3-5D3F7AC89B63}"/>
                  </a:ext>
                </a:extLst>
              </p:cNvPr>
              <p:cNvSpPr txBox="1">
                <a:spLocks/>
              </p:cNvSpPr>
              <p:nvPr/>
            </p:nvSpPr>
            <p:spPr>
              <a:xfrm>
                <a:off x="4102347" y="1681806"/>
                <a:ext cx="1948697" cy="136960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Ad hoc scripts for structured data ingestion</a:t>
                </a:r>
                <a:endParaRPr lang="en-US" sz="1200">
                  <a:solidFill>
                    <a:srgbClr val="000000"/>
                  </a:solidFill>
                </a:endParaRPr>
              </a:p>
              <a:p>
                <a:pPr lvl="1">
                  <a:buClr>
                    <a:srgbClr val="000000"/>
                  </a:buClr>
                  <a:defRPr/>
                </a:pPr>
                <a:r>
                  <a:rPr lang="en-US" sz="1200"/>
                  <a:t>Manual handling of </a:t>
                </a:r>
                <a:r>
                  <a:rPr lang="en-US" sz="1200" b="1">
                    <a:solidFill>
                      <a:schemeClr val="accent1"/>
                    </a:solidFill>
                  </a:rPr>
                  <a:t>unstructured files</a:t>
                </a:r>
                <a:r>
                  <a:rPr lang="en-US" sz="1200"/>
                  <a:t> with little consistency</a:t>
                </a:r>
              </a:p>
              <a:p>
                <a:pPr lvl="1">
                  <a:buClr>
                    <a:srgbClr val="000000"/>
                  </a:buClr>
                  <a:defRPr/>
                </a:pPr>
                <a:r>
                  <a:rPr lang="en-US" sz="1200">
                    <a:solidFill>
                      <a:srgbClr val="000000"/>
                    </a:solidFill>
                    <a:cs typeface="Arial"/>
                  </a:rPr>
                  <a:t>Limited labeling of training datasets</a:t>
                </a:r>
              </a:p>
            </p:txBody>
          </p:sp>
        </p:grpSp>
        <p:grpSp>
          <p:nvGrpSpPr>
            <p:cNvPr id="37" name="Group 36">
              <a:extLst>
                <a:ext uri="{FF2B5EF4-FFF2-40B4-BE49-F238E27FC236}">
                  <a16:creationId xmlns:a16="http://schemas.microsoft.com/office/drawing/2014/main" id="{7CE1F627-9FF2-4D61-113C-B7004AE3363C}"/>
                </a:ext>
              </a:extLst>
            </p:cNvPr>
            <p:cNvGrpSpPr/>
            <p:nvPr/>
          </p:nvGrpSpPr>
          <p:grpSpPr>
            <a:xfrm>
              <a:off x="554736" y="3149614"/>
              <a:ext cx="11082524" cy="1146468"/>
              <a:chOff x="554736" y="3233053"/>
              <a:chExt cx="11082524" cy="1146468"/>
            </a:xfrm>
          </p:grpSpPr>
          <p:sp>
            <p:nvSpPr>
              <p:cNvPr id="8" name="TextBox 7">
                <a:extLst>
                  <a:ext uri="{FF2B5EF4-FFF2-40B4-BE49-F238E27FC236}">
                    <a16:creationId xmlns:a16="http://schemas.microsoft.com/office/drawing/2014/main" id="{56D42385-C11F-5AEF-51E6-EF9042C57B88}"/>
                  </a:ext>
                </a:extLst>
              </p:cNvPr>
              <p:cNvSpPr txBox="1">
                <a:spLocks/>
              </p:cNvSpPr>
              <p:nvPr/>
            </p:nvSpPr>
            <p:spPr>
              <a:xfrm>
                <a:off x="554736" y="3233053"/>
                <a:ext cx="104825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Feature store, vector store, search</a:t>
                </a:r>
              </a:p>
            </p:txBody>
          </p:sp>
          <p:sp>
            <p:nvSpPr>
              <p:cNvPr id="36" name="TextBox 35">
                <a:extLst>
                  <a:ext uri="{FF2B5EF4-FFF2-40B4-BE49-F238E27FC236}">
                    <a16:creationId xmlns:a16="http://schemas.microsoft.com/office/drawing/2014/main" id="{15D6DD42-94AF-FB87-CE62-1C881C9CD02A}"/>
                  </a:ext>
                </a:extLst>
              </p:cNvPr>
              <p:cNvSpPr txBox="1">
                <a:spLocks/>
              </p:cNvSpPr>
              <p:nvPr/>
            </p:nvSpPr>
            <p:spPr>
              <a:xfrm>
                <a:off x="6190072" y="3233053"/>
                <a:ext cx="1966490"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Feature or</a:t>
                </a:r>
                <a:r>
                  <a:rPr lang="en-US" sz="1200">
                    <a:solidFill>
                      <a:schemeClr val="accent1"/>
                    </a:solidFill>
                  </a:rPr>
                  <a:t> </a:t>
                </a:r>
                <a:r>
                  <a:rPr lang="en-US" sz="1200" b="1">
                    <a:solidFill>
                      <a:schemeClr val="accent1"/>
                    </a:solidFill>
                  </a:rPr>
                  <a:t>vector store</a:t>
                </a:r>
                <a:r>
                  <a:rPr lang="en-US" sz="1200">
                    <a:solidFill>
                      <a:srgbClr val="000000"/>
                    </a:solidFill>
                  </a:rPr>
                  <a:t> in place for priority use cases</a:t>
                </a:r>
              </a:p>
              <a:p>
                <a:pPr lvl="1">
                  <a:buClr>
                    <a:srgbClr val="000000"/>
                  </a:buClr>
                  <a:defRPr/>
                </a:pPr>
                <a:r>
                  <a:rPr lang="en-US" sz="1200" b="1">
                    <a:solidFill>
                      <a:schemeClr val="accent1"/>
                    </a:solidFill>
                  </a:rPr>
                  <a:t>Basic search with limited consistency across teams</a:t>
                </a:r>
              </a:p>
            </p:txBody>
          </p:sp>
          <p:sp>
            <p:nvSpPr>
              <p:cNvPr id="38" name="TextBox 37">
                <a:extLst>
                  <a:ext uri="{FF2B5EF4-FFF2-40B4-BE49-F238E27FC236}">
                    <a16:creationId xmlns:a16="http://schemas.microsoft.com/office/drawing/2014/main" id="{5FFC209F-715E-DA55-BA87-C3C97806789A}"/>
                  </a:ext>
                </a:extLst>
              </p:cNvPr>
              <p:cNvSpPr txBox="1">
                <a:spLocks/>
              </p:cNvSpPr>
              <p:nvPr/>
            </p:nvSpPr>
            <p:spPr>
              <a:xfrm>
                <a:off x="8295588" y="3233053"/>
                <a:ext cx="3341672"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Enterprise-grade feature and</a:t>
                </a:r>
                <a:r>
                  <a:rPr lang="en-US" sz="1200" b="1">
                    <a:solidFill>
                      <a:schemeClr val="accent1"/>
                    </a:solidFill>
                  </a:rPr>
                  <a:t> vector stores</a:t>
                </a:r>
                <a:r>
                  <a:rPr lang="en-US" sz="1200">
                    <a:solidFill>
                      <a:srgbClr val="000000"/>
                    </a:solidFill>
                  </a:rPr>
                  <a:t> </a:t>
                </a:r>
                <a:r>
                  <a:rPr lang="en-US" sz="1200" b="1">
                    <a:solidFill>
                      <a:schemeClr val="accent1"/>
                    </a:solidFill>
                  </a:rPr>
                  <a:t>with governance and lineage</a:t>
                </a:r>
              </a:p>
              <a:p>
                <a:pPr lvl="1">
                  <a:buClr>
                    <a:srgbClr val="000000"/>
                  </a:buClr>
                  <a:defRPr/>
                </a:pPr>
                <a:r>
                  <a:rPr lang="en-US" sz="1200" b="1">
                    <a:solidFill>
                      <a:schemeClr val="accent1"/>
                    </a:solidFill>
                  </a:rPr>
                  <a:t>Optimized search and retrieval across structured features, documents, and embeddings for training, RAG, and evaluation</a:t>
                </a:r>
              </a:p>
            </p:txBody>
          </p:sp>
          <p:sp>
            <p:nvSpPr>
              <p:cNvPr id="18" name="TextBox 17">
                <a:extLst>
                  <a:ext uri="{FF2B5EF4-FFF2-40B4-BE49-F238E27FC236}">
                    <a16:creationId xmlns:a16="http://schemas.microsoft.com/office/drawing/2014/main" id="{BE449142-2058-9DE5-BA54-37C910B08783}"/>
                  </a:ext>
                </a:extLst>
              </p:cNvPr>
              <p:cNvSpPr txBox="1">
                <a:spLocks/>
              </p:cNvSpPr>
              <p:nvPr/>
            </p:nvSpPr>
            <p:spPr>
              <a:xfrm>
                <a:off x="1736201" y="3233053"/>
                <a:ext cx="2227118"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t>Centralized repositories enabling reuse, governance, and retrieval of features or </a:t>
                </a:r>
                <a:r>
                  <a:rPr lang="en-US" sz="1200" b="1">
                    <a:solidFill>
                      <a:schemeClr val="accent1"/>
                    </a:solidFill>
                  </a:rPr>
                  <a:t>embeddings</a:t>
                </a:r>
              </a:p>
            </p:txBody>
          </p:sp>
          <p:sp>
            <p:nvSpPr>
              <p:cNvPr id="34" name="TextBox 33">
                <a:extLst>
                  <a:ext uri="{FF2B5EF4-FFF2-40B4-BE49-F238E27FC236}">
                    <a16:creationId xmlns:a16="http://schemas.microsoft.com/office/drawing/2014/main" id="{54A31F17-3B84-45E0-4D41-59C3F277CD25}"/>
                  </a:ext>
                </a:extLst>
              </p:cNvPr>
              <p:cNvSpPr txBox="1">
                <a:spLocks/>
              </p:cNvSpPr>
              <p:nvPr/>
            </p:nvSpPr>
            <p:spPr>
              <a:xfrm>
                <a:off x="4102347" y="3233053"/>
                <a:ext cx="1948697"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Absence of central feature or </a:t>
                </a:r>
                <a:r>
                  <a:rPr lang="en-US" sz="1200" b="1">
                    <a:solidFill>
                      <a:schemeClr val="accent1"/>
                    </a:solidFill>
                  </a:rPr>
                  <a:t>vector stores</a:t>
                </a:r>
              </a:p>
              <a:p>
                <a:pPr lvl="1">
                  <a:buClr>
                    <a:srgbClr val="000000"/>
                  </a:buClr>
                  <a:defRPr/>
                </a:pPr>
                <a:r>
                  <a:rPr lang="en-US" sz="1200" b="1">
                    <a:solidFill>
                      <a:schemeClr val="accent1"/>
                    </a:solidFill>
                  </a:rPr>
                  <a:t>Team-managed datasets without reuse or shared search capabilities</a:t>
                </a:r>
              </a:p>
            </p:txBody>
          </p:sp>
        </p:grpSp>
        <p:grpSp>
          <p:nvGrpSpPr>
            <p:cNvPr id="39" name="Group 38">
              <a:extLst>
                <a:ext uri="{FF2B5EF4-FFF2-40B4-BE49-F238E27FC236}">
                  <a16:creationId xmlns:a16="http://schemas.microsoft.com/office/drawing/2014/main" id="{1EA34278-149B-1DB4-C3C0-8898C1F7E65C}"/>
                </a:ext>
              </a:extLst>
            </p:cNvPr>
            <p:cNvGrpSpPr/>
            <p:nvPr/>
          </p:nvGrpSpPr>
          <p:grpSpPr>
            <a:xfrm>
              <a:off x="554736" y="4533904"/>
              <a:ext cx="11082524" cy="1331134"/>
              <a:chOff x="554736" y="4368804"/>
              <a:chExt cx="11082524" cy="1331134"/>
            </a:xfrm>
          </p:grpSpPr>
          <p:sp>
            <p:nvSpPr>
              <p:cNvPr id="10" name="TextBox 9">
                <a:extLst>
                  <a:ext uri="{FF2B5EF4-FFF2-40B4-BE49-F238E27FC236}">
                    <a16:creationId xmlns:a16="http://schemas.microsoft.com/office/drawing/2014/main" id="{42C6AFD5-3509-D17E-1606-74A177D53567}"/>
                  </a:ext>
                </a:extLst>
              </p:cNvPr>
              <p:cNvSpPr txBox="1">
                <a:spLocks/>
              </p:cNvSpPr>
              <p:nvPr/>
            </p:nvSpPr>
            <p:spPr>
              <a:xfrm>
                <a:off x="554736" y="4368804"/>
                <a:ext cx="1048257"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DevOps and CI/CD</a:t>
                </a:r>
              </a:p>
            </p:txBody>
          </p:sp>
          <p:sp>
            <p:nvSpPr>
              <p:cNvPr id="42" name="TextBox 41">
                <a:extLst>
                  <a:ext uri="{FF2B5EF4-FFF2-40B4-BE49-F238E27FC236}">
                    <a16:creationId xmlns:a16="http://schemas.microsoft.com/office/drawing/2014/main" id="{17B16330-CDEC-3C2A-85A7-130741707234}"/>
                  </a:ext>
                </a:extLst>
              </p:cNvPr>
              <p:cNvSpPr txBox="1">
                <a:spLocks/>
              </p:cNvSpPr>
              <p:nvPr/>
            </p:nvSpPr>
            <p:spPr>
              <a:xfrm>
                <a:off x="6190072" y="4368804"/>
                <a:ext cx="1966490" cy="114646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Basic CI/CD</a:t>
                </a:r>
                <a:r>
                  <a:rPr lang="en-US" sz="1200" baseline="30000"/>
                  <a:t>1</a:t>
                </a:r>
                <a:r>
                  <a:rPr lang="en-US" sz="1200"/>
                  <a:t> pipelines for prioritized ETL, model and applications</a:t>
                </a:r>
                <a:endParaRPr lang="en-US" sz="1200">
                  <a:cs typeface="Arial"/>
                </a:endParaRPr>
              </a:p>
              <a:p>
                <a:pPr lvl="1">
                  <a:buClr>
                    <a:srgbClr val="000000"/>
                  </a:buClr>
                  <a:defRPr/>
                </a:pPr>
                <a:r>
                  <a:rPr lang="en-US" sz="1200">
                    <a:solidFill>
                      <a:srgbClr val="000000"/>
                    </a:solidFill>
                  </a:rPr>
                  <a:t>Separate environments with partly manual processes</a:t>
                </a:r>
                <a:endParaRPr lang="en-US" sz="1200">
                  <a:solidFill>
                    <a:srgbClr val="000000"/>
                  </a:solidFill>
                  <a:cs typeface="Arial"/>
                </a:endParaRPr>
              </a:p>
            </p:txBody>
          </p:sp>
          <p:sp>
            <p:nvSpPr>
              <p:cNvPr id="44" name="TextBox 43">
                <a:extLst>
                  <a:ext uri="{FF2B5EF4-FFF2-40B4-BE49-F238E27FC236}">
                    <a16:creationId xmlns:a16="http://schemas.microsoft.com/office/drawing/2014/main" id="{9161373C-6102-B5C3-52A3-2D37D520E44A}"/>
                  </a:ext>
                </a:extLst>
              </p:cNvPr>
              <p:cNvSpPr txBox="1">
                <a:spLocks/>
              </p:cNvSpPr>
              <p:nvPr/>
            </p:nvSpPr>
            <p:spPr>
              <a:xfrm>
                <a:off x="8295588" y="4368804"/>
                <a:ext cx="3341672" cy="96180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t>Automated CI/CD</a:t>
                </a:r>
                <a:r>
                  <a:rPr lang="en-US" sz="1200" baseline="30000"/>
                  <a:t>1</a:t>
                </a:r>
                <a:r>
                  <a:rPr lang="en-US" sz="1200"/>
                  <a:t> across ETL, model, and applications</a:t>
                </a:r>
                <a:endParaRPr lang="en-US" sz="1200">
                  <a:cs typeface="Arial"/>
                </a:endParaRPr>
              </a:p>
              <a:p>
                <a:pPr lvl="1">
                  <a:buClr>
                    <a:srgbClr val="000000"/>
                  </a:buClr>
                  <a:defRPr/>
                </a:pPr>
                <a:r>
                  <a:rPr lang="en-US" sz="1200">
                    <a:solidFill>
                      <a:srgbClr val="000000"/>
                    </a:solidFill>
                  </a:rPr>
                  <a:t>Consistent dev, test, and prod environments with </a:t>
                </a:r>
                <a:r>
                  <a:rPr lang="en-US" sz="1200"/>
                  <a:t>monitoring, testing, and rollback for reliable AI and </a:t>
                </a:r>
                <a:r>
                  <a:rPr lang="en-US" sz="1200" err="1"/>
                  <a:t>GenAI</a:t>
                </a:r>
                <a:r>
                  <a:rPr lang="en-US" sz="1200"/>
                  <a:t> deployment</a:t>
                </a:r>
                <a:endParaRPr lang="en-US" sz="1200">
                  <a:cs typeface="Arial"/>
                </a:endParaRPr>
              </a:p>
            </p:txBody>
          </p:sp>
          <p:sp>
            <p:nvSpPr>
              <p:cNvPr id="19" name="TextBox 18">
                <a:extLst>
                  <a:ext uri="{FF2B5EF4-FFF2-40B4-BE49-F238E27FC236}">
                    <a16:creationId xmlns:a16="http://schemas.microsoft.com/office/drawing/2014/main" id="{6A88DB4A-1412-7DBF-581D-F39B103AD2B2}"/>
                  </a:ext>
                </a:extLst>
              </p:cNvPr>
              <p:cNvSpPr txBox="1">
                <a:spLocks/>
              </p:cNvSpPr>
              <p:nvPr/>
            </p:nvSpPr>
            <p:spPr>
              <a:xfrm>
                <a:off x="1736201" y="4368804"/>
                <a:ext cx="2227118"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Clr>
                    <a:srgbClr val="000000"/>
                  </a:buClr>
                  <a:buNone/>
                  <a:defRPr/>
                </a:pPr>
                <a:r>
                  <a:rPr lang="en-US" sz="1200">
                    <a:solidFill>
                      <a:srgbClr val="000000"/>
                    </a:solidFill>
                  </a:rPr>
                  <a:t>Standardized CI/CD pipeline and environment versioning for developing, testing, and deploying AI/</a:t>
                </a:r>
                <a:r>
                  <a:rPr lang="en-US" sz="1200" err="1">
                    <a:solidFill>
                      <a:srgbClr val="000000"/>
                    </a:solidFill>
                  </a:rPr>
                  <a:t>GenAI</a:t>
                </a:r>
                <a:r>
                  <a:rPr lang="en-US" sz="1200">
                    <a:solidFill>
                      <a:srgbClr val="000000"/>
                    </a:solidFill>
                  </a:rPr>
                  <a:t> solutions at scale</a:t>
                </a:r>
              </a:p>
            </p:txBody>
          </p:sp>
          <p:sp>
            <p:nvSpPr>
              <p:cNvPr id="2" name="TextBox 1">
                <a:extLst>
                  <a:ext uri="{FF2B5EF4-FFF2-40B4-BE49-F238E27FC236}">
                    <a16:creationId xmlns:a16="http://schemas.microsoft.com/office/drawing/2014/main" id="{0A74B914-FEDD-6D86-407D-C4E2D3F816DB}"/>
                  </a:ext>
                </a:extLst>
              </p:cNvPr>
              <p:cNvSpPr txBox="1">
                <a:spLocks/>
              </p:cNvSpPr>
              <p:nvPr/>
            </p:nvSpPr>
            <p:spPr>
              <a:xfrm>
                <a:off x="4102347" y="4368804"/>
                <a:ext cx="1948697" cy="13311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200">
                    <a:solidFill>
                      <a:srgbClr val="000000"/>
                    </a:solidFill>
                  </a:rPr>
                  <a:t>Manual deployment of ETL, model, and applications</a:t>
                </a:r>
                <a:endParaRPr lang="en-US" sz="1200">
                  <a:solidFill>
                    <a:srgbClr val="000000"/>
                  </a:solidFill>
                  <a:cs typeface="Arial"/>
                </a:endParaRPr>
              </a:p>
              <a:p>
                <a:pPr lvl="1">
                  <a:buClr>
                    <a:srgbClr val="000000"/>
                  </a:buClr>
                  <a:defRPr/>
                </a:pPr>
                <a:r>
                  <a:rPr lang="en-US" sz="1200">
                    <a:solidFill>
                      <a:srgbClr val="000000"/>
                    </a:solidFill>
                  </a:rPr>
                  <a:t>No environment versioning for development, testing, or production</a:t>
                </a:r>
                <a:endParaRPr lang="en-US" sz="1200">
                  <a:solidFill>
                    <a:srgbClr val="000000"/>
                  </a:solidFill>
                  <a:cs typeface="Arial"/>
                </a:endParaRPr>
              </a:p>
            </p:txBody>
          </p:sp>
        </p:grpSp>
        <p:cxnSp>
          <p:nvCxnSpPr>
            <p:cNvPr id="6" name="Straight Connector 5">
              <a:extLst>
                <a:ext uri="{FF2B5EF4-FFF2-40B4-BE49-F238E27FC236}">
                  <a16:creationId xmlns:a16="http://schemas.microsoft.com/office/drawing/2014/main" id="{FA206A1F-831C-EEF0-83C6-58FB06ED93E9}"/>
                </a:ext>
              </a:extLst>
            </p:cNvPr>
            <p:cNvCxnSpPr>
              <a:cxnSpLocks/>
            </p:cNvCxnSpPr>
            <p:nvPr>
              <p:custDataLst>
                <p:tags r:id="rId7"/>
              </p:custDataLst>
            </p:nvPr>
          </p:nvCxnSpPr>
          <p:spPr>
            <a:xfrm>
              <a:off x="554735" y="131696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59A17EF-9DDB-B31B-C59D-6C8EE6F4D7E5}"/>
                </a:ext>
              </a:extLst>
            </p:cNvPr>
            <p:cNvSpPr txBox="1">
              <a:spLocks/>
            </p:cNvSpPr>
            <p:nvPr/>
          </p:nvSpPr>
          <p:spPr>
            <a:xfrm>
              <a:off x="554736" y="855532"/>
              <a:ext cx="1042437" cy="430887"/>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Sub-Dimension</a:t>
              </a:r>
            </a:p>
          </p:txBody>
        </p:sp>
        <p:sp>
          <p:nvSpPr>
            <p:cNvPr id="9" name="TextBox 8">
              <a:extLst>
                <a:ext uri="{FF2B5EF4-FFF2-40B4-BE49-F238E27FC236}">
                  <a16:creationId xmlns:a16="http://schemas.microsoft.com/office/drawing/2014/main" id="{D710E242-E6B7-9D58-4DA0-5D20E303289B}"/>
                </a:ext>
              </a:extLst>
            </p:cNvPr>
            <p:cNvSpPr txBox="1">
              <a:spLocks/>
            </p:cNvSpPr>
            <p:nvPr/>
          </p:nvSpPr>
          <p:spPr>
            <a:xfrm>
              <a:off x="6190072" y="1070975"/>
              <a:ext cx="1966490"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Medium</a:t>
              </a:r>
            </a:p>
          </p:txBody>
        </p:sp>
        <p:sp>
          <p:nvSpPr>
            <p:cNvPr id="11" name="TextBox 10">
              <a:extLst>
                <a:ext uri="{FF2B5EF4-FFF2-40B4-BE49-F238E27FC236}">
                  <a16:creationId xmlns:a16="http://schemas.microsoft.com/office/drawing/2014/main" id="{66B53D52-D05A-8744-2DF3-66F377B95C94}"/>
                </a:ext>
              </a:extLst>
            </p:cNvPr>
            <p:cNvSpPr txBox="1">
              <a:spLocks/>
            </p:cNvSpPr>
            <p:nvPr/>
          </p:nvSpPr>
          <p:spPr>
            <a:xfrm>
              <a:off x="8295588" y="1070975"/>
              <a:ext cx="3341672"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High</a:t>
              </a:r>
            </a:p>
          </p:txBody>
        </p:sp>
        <p:sp>
          <p:nvSpPr>
            <p:cNvPr id="15" name="TextBox 14">
              <a:extLst>
                <a:ext uri="{FF2B5EF4-FFF2-40B4-BE49-F238E27FC236}">
                  <a16:creationId xmlns:a16="http://schemas.microsoft.com/office/drawing/2014/main" id="{905E10E8-5471-48C3-1D51-BB9189EE7572}"/>
                </a:ext>
              </a:extLst>
            </p:cNvPr>
            <p:cNvSpPr txBox="1">
              <a:spLocks/>
            </p:cNvSpPr>
            <p:nvPr/>
          </p:nvSpPr>
          <p:spPr>
            <a:xfrm>
              <a:off x="1736201" y="1070975"/>
              <a:ext cx="2227118"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Description</a:t>
              </a:r>
            </a:p>
          </p:txBody>
        </p:sp>
        <p:sp>
          <p:nvSpPr>
            <p:cNvPr id="20" name="TextBox 19">
              <a:extLst>
                <a:ext uri="{FF2B5EF4-FFF2-40B4-BE49-F238E27FC236}">
                  <a16:creationId xmlns:a16="http://schemas.microsoft.com/office/drawing/2014/main" id="{3928B65A-3CA7-338C-6F17-1241C7113CAA}"/>
                </a:ext>
              </a:extLst>
            </p:cNvPr>
            <p:cNvSpPr txBox="1">
              <a:spLocks/>
            </p:cNvSpPr>
            <p:nvPr/>
          </p:nvSpPr>
          <p:spPr>
            <a:xfrm>
              <a:off x="4102347" y="1070975"/>
              <a:ext cx="1948697" cy="215444"/>
            </a:xfrm>
            <a:prstGeom prst="rect">
              <a:avLst/>
            </a:prstGeom>
          </p:spPr>
          <p:txBody>
            <a:bodyPr vert="horz" wrap="square" lIns="0" tIns="0" rIns="0" bIns="0" rtlCol="0" anchor="b" anchorCtr="0">
              <a:noAutofit/>
            </a:bodyPr>
            <a:lstStyle>
              <a:defPPr>
                <a:defRPr lang="en-US"/>
              </a:defPPr>
              <a:lvl1pPr marR="0" lvl="0" indent="0" fontAlgn="auto">
                <a:lnSpc>
                  <a:spcPct val="100000"/>
                </a:lnSpc>
                <a:spcBef>
                  <a:spcPts val="300"/>
                </a:spcBef>
                <a:spcAft>
                  <a:spcPts val="300"/>
                </a:spcAft>
                <a:buClr>
                  <a:srgbClr val="000000"/>
                </a:buClr>
                <a:buSzPct val="100000"/>
                <a:buFont typeface="Segoe UI" panose="020B0502040204020203" pitchFamily="34" charset="0"/>
                <a:buChar char="​"/>
                <a:tabLst/>
                <a:defRPr kumimoji="0" sz="1400" b="1"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Low</a:t>
              </a:r>
            </a:p>
          </p:txBody>
        </p:sp>
      </p:grpSp>
      <p:grpSp>
        <p:nvGrpSpPr>
          <p:cNvPr id="21" name="Group 20">
            <a:extLst>
              <a:ext uri="{FF2B5EF4-FFF2-40B4-BE49-F238E27FC236}">
                <a16:creationId xmlns:a16="http://schemas.microsoft.com/office/drawing/2014/main" id="{62E08168-CBE2-3182-B2FE-119EE8C36DDD}"/>
              </a:ext>
            </a:extLst>
          </p:cNvPr>
          <p:cNvGrpSpPr/>
          <p:nvPr/>
        </p:nvGrpSpPr>
        <p:grpSpPr>
          <a:xfrm>
            <a:off x="9685463" y="502622"/>
            <a:ext cx="1951801" cy="197680"/>
            <a:chOff x="9807580" y="502622"/>
            <a:chExt cx="1951801" cy="197680"/>
          </a:xfrm>
        </p:grpSpPr>
        <p:sp>
          <p:nvSpPr>
            <p:cNvPr id="22" name="TextBox 21">
              <a:extLst>
                <a:ext uri="{FF2B5EF4-FFF2-40B4-BE49-F238E27FC236}">
                  <a16:creationId xmlns:a16="http://schemas.microsoft.com/office/drawing/2014/main" id="{3D557992-7423-D7E5-43CA-50133BC687EB}"/>
                </a:ext>
              </a:extLst>
            </p:cNvPr>
            <p:cNvSpPr txBox="1"/>
            <p:nvPr/>
          </p:nvSpPr>
          <p:spPr>
            <a:xfrm>
              <a:off x="9807580" y="502622"/>
              <a:ext cx="44076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1"/>
                  </a:solidFill>
                </a:rPr>
                <a:t>xxx</a:t>
              </a:r>
            </a:p>
          </p:txBody>
        </p:sp>
        <p:sp>
          <p:nvSpPr>
            <p:cNvPr id="33" name="TextBox 32">
              <a:extLst>
                <a:ext uri="{FF2B5EF4-FFF2-40B4-BE49-F238E27FC236}">
                  <a16:creationId xmlns:a16="http://schemas.microsoft.com/office/drawing/2014/main" id="{91FB20EC-1BA8-7434-2CFC-296234A6BDD8}"/>
                </a:ext>
              </a:extLst>
            </p:cNvPr>
            <p:cNvSpPr txBox="1"/>
            <p:nvPr/>
          </p:nvSpPr>
          <p:spPr>
            <a:xfrm>
              <a:off x="10139489" y="515636"/>
              <a:ext cx="1619892"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Pertinent to Gen AI only</a:t>
              </a:r>
            </a:p>
          </p:txBody>
        </p:sp>
      </p:grpSp>
    </p:spTree>
    <p:custDataLst>
      <p:tags r:id="rId1"/>
    </p:custDataLst>
    <p:extLst>
      <p:ext uri="{BB962C8B-B14F-4D97-AF65-F5344CB8AC3E}">
        <p14:creationId xmlns:p14="http://schemas.microsoft.com/office/powerpoint/2010/main" val="99661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C7B8DF-197C-64FA-0164-1B759DEDA24A}"/>
              </a:ext>
            </a:extLst>
          </p:cNvPr>
          <p:cNvGraphicFramePr>
            <a:graphicFrameLocks noChangeAspect="1"/>
          </p:cNvGraphicFramePr>
          <p:nvPr>
            <p:custDataLst>
              <p:tags r:id="rId2"/>
            </p:custDataLst>
            <p:extLst>
              <p:ext uri="{D42A27DB-BD31-4B8C-83A1-F6EECF244321}">
                <p14:modId xmlns:p14="http://schemas.microsoft.com/office/powerpoint/2010/main" val="24309125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5" progId="TCLayout.ActiveDocument.1">
                  <p:embed/>
                </p:oleObj>
              </mc:Choice>
              <mc:Fallback>
                <p:oleObj name="think-cell Slide" r:id="rId8" imgW="404" imgH="405" progId="TCLayout.ActiveDocument.1">
                  <p:embed/>
                  <p:pic>
                    <p:nvPicPr>
                      <p:cNvPr id="8" name="think-cell data - do not delete" hidden="1">
                        <a:extLst>
                          <a:ext uri="{FF2B5EF4-FFF2-40B4-BE49-F238E27FC236}">
                            <a16:creationId xmlns:a16="http://schemas.microsoft.com/office/drawing/2014/main" id="{F8C7B8DF-197C-64FA-0164-1B759DEDA24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512FCBA2-A220-1A07-848B-C835AB1A0B4E}"/>
              </a:ext>
            </a:extLst>
          </p:cNvPr>
          <p:cNvSpPr>
            <a:spLocks noGrp="1"/>
          </p:cNvSpPr>
          <p:nvPr>
            <p:ph type="title"/>
          </p:nvPr>
        </p:nvSpPr>
        <p:spPr/>
        <p:txBody>
          <a:bodyPr vert="horz"/>
          <a:lstStyle/>
          <a:p>
            <a:r>
              <a:rPr lang="en-US"/>
              <a:t>Content</a:t>
            </a:r>
          </a:p>
        </p:txBody>
      </p:sp>
      <p:sp>
        <p:nvSpPr>
          <p:cNvPr id="2" name="Subtitle 1">
            <a:extLst>
              <a:ext uri="{FF2B5EF4-FFF2-40B4-BE49-F238E27FC236}">
                <a16:creationId xmlns:a16="http://schemas.microsoft.com/office/drawing/2014/main" id="{9F83A4AF-E39C-1C48-9B8B-D719DAD2E5EF}"/>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5ADA0B9C-A582-C377-E16A-7A327DAA1B9A}"/>
              </a:ext>
            </a:extLst>
          </p:cNvPr>
          <p:cNvSpPr>
            <a:spLocks noGrp="1"/>
          </p:cNvSpPr>
          <p:nvPr>
            <p:ph type="body" sz="quarter" idx="17"/>
          </p:nvPr>
        </p:nvSpPr>
        <p:spPr/>
        <p:txBody>
          <a:bodyPr/>
          <a:lstStyle/>
          <a:p>
            <a:endParaRPr lang="en-US"/>
          </a:p>
        </p:txBody>
      </p:sp>
      <p:sp>
        <p:nvSpPr>
          <p:cNvPr id="4" name="Text Placeholder 4">
            <a:hlinkClick r:id="rId10" action="ppaction://hlinksldjump"/>
            <a:extLst>
              <a:ext uri="{FF2B5EF4-FFF2-40B4-BE49-F238E27FC236}">
                <a16:creationId xmlns:a16="http://schemas.microsoft.com/office/drawing/2014/main" id="{FBA1DFFA-C4DD-E97C-F476-E5490CA77D35}"/>
              </a:ext>
            </a:extLst>
          </p:cNvPr>
          <p:cNvSpPr>
            <a:spLocks noGrp="1"/>
          </p:cNvSpPr>
          <p:nvPr>
            <p:custDataLst>
              <p:tags r:id="rId3"/>
            </p:custDataLst>
          </p:nvPr>
        </p:nvSpPr>
        <p:spPr bwMode="auto">
          <a:xfrm>
            <a:off x="5699125" y="2614613"/>
            <a:ext cx="2659063"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lvl="1" indent="0">
              <a:spcBef>
                <a:spcPct val="0"/>
              </a:spcBef>
              <a:spcAft>
                <a:spcPct val="0"/>
              </a:spcAft>
              <a:buNone/>
            </a:pPr>
            <a:r>
              <a:rPr lang="en-US" altLang="en-US">
                <a:effectLst/>
                <a:cs typeface="+mn-cs"/>
              </a:rPr>
              <a:t>Rubric</a:t>
            </a:r>
            <a:endParaRPr lang="en-US">
              <a:cs typeface="+mn-cs"/>
            </a:endParaRPr>
          </a:p>
        </p:txBody>
      </p:sp>
      <p:sp>
        <p:nvSpPr>
          <p:cNvPr id="9" name="Text Placeholder 4">
            <a:extLst>
              <a:ext uri="{FF2B5EF4-FFF2-40B4-BE49-F238E27FC236}">
                <a16:creationId xmlns:a16="http://schemas.microsoft.com/office/drawing/2014/main" id="{527CFE11-CC6A-B769-0857-81665FD9E08A}"/>
              </a:ext>
            </a:extLst>
          </p:cNvPr>
          <p:cNvSpPr>
            <a:spLocks noGrp="1"/>
          </p:cNvSpPr>
          <p:nvPr>
            <p:custDataLst>
              <p:tags r:id="rId4"/>
            </p:custDataLst>
          </p:nvPr>
        </p:nvSpPr>
        <p:spPr bwMode="auto">
          <a:xfrm>
            <a:off x="5699125" y="3022600"/>
            <a:ext cx="2659063" cy="406400"/>
          </a:xfrm>
          <a:prstGeom prst="rect">
            <a:avLst/>
          </a:prstGeom>
          <a:solidFill>
            <a:schemeClr val="accent1"/>
          </a:solidFill>
          <a:ln>
            <a:noFill/>
          </a:ln>
          <a:effec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b="1">
                <a:solidFill>
                  <a:schemeClr val="tx2"/>
                </a:solidFill>
                <a:effectLst/>
                <a:cs typeface="+mn-cs"/>
              </a:rPr>
              <a:t>Current state assessment</a:t>
            </a:r>
            <a:endParaRPr lang="en-US" b="1">
              <a:solidFill>
                <a:schemeClr val="tx2"/>
              </a:solidFill>
              <a:cs typeface="+mn-cs"/>
            </a:endParaRPr>
          </a:p>
        </p:txBody>
      </p:sp>
      <p:sp>
        <p:nvSpPr>
          <p:cNvPr id="11" name="Text Placeholder 4">
            <a:hlinkClick r:id="rId11" action="ppaction://hlinksldjump"/>
            <a:extLst>
              <a:ext uri="{FF2B5EF4-FFF2-40B4-BE49-F238E27FC236}">
                <a16:creationId xmlns:a16="http://schemas.microsoft.com/office/drawing/2014/main" id="{CD55D042-A3F3-DBA5-0E0C-978EAA40B23B}"/>
              </a:ext>
            </a:extLst>
          </p:cNvPr>
          <p:cNvSpPr>
            <a:spLocks noGrp="1"/>
          </p:cNvSpPr>
          <p:nvPr>
            <p:custDataLst>
              <p:tags r:id="rId5"/>
            </p:custDataLst>
          </p:nvPr>
        </p:nvSpPr>
        <p:spPr bwMode="auto">
          <a:xfrm>
            <a:off x="5699125" y="3429000"/>
            <a:ext cx="2659063"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cs typeface="+mn-cs"/>
              </a:rPr>
              <a:t>Peer comparisons</a:t>
            </a:r>
          </a:p>
        </p:txBody>
      </p:sp>
      <p:sp>
        <p:nvSpPr>
          <p:cNvPr id="13" name="Text Placeholder 4">
            <a:hlinkClick r:id="rId12" action="ppaction://hlinksldjump"/>
            <a:extLst>
              <a:ext uri="{FF2B5EF4-FFF2-40B4-BE49-F238E27FC236}">
                <a16:creationId xmlns:a16="http://schemas.microsoft.com/office/drawing/2014/main" id="{D03423FC-7523-F360-1C5E-BAA709FC8740}"/>
              </a:ext>
            </a:extLst>
          </p:cNvPr>
          <p:cNvSpPr>
            <a:spLocks noGrp="1"/>
          </p:cNvSpPr>
          <p:nvPr>
            <p:custDataLst>
              <p:tags r:id="rId6"/>
            </p:custDataLst>
          </p:nvPr>
        </p:nvSpPr>
        <p:spPr bwMode="auto">
          <a:xfrm>
            <a:off x="5699125" y="3835400"/>
            <a:ext cx="2659063"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effectLst/>
                <a:cs typeface="+mn-cs"/>
              </a:rPr>
              <a:t>Potential actions</a:t>
            </a:r>
            <a:endParaRPr lang="en-US">
              <a:cs typeface="+mn-cs"/>
            </a:endParaRPr>
          </a:p>
        </p:txBody>
      </p:sp>
    </p:spTree>
    <p:custDataLst>
      <p:tags r:id="rId1"/>
    </p:custDataLst>
    <p:extLst>
      <p:ext uri="{BB962C8B-B14F-4D97-AF65-F5344CB8AC3E}">
        <p14:creationId xmlns:p14="http://schemas.microsoft.com/office/powerpoint/2010/main" val="167900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F0320-F040-C0FD-EDCD-12ADE14A6CEE}"/>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4700C9E-6946-FBCF-D0D9-1E92A20008C8}"/>
              </a:ext>
            </a:extLst>
          </p:cNvPr>
          <p:cNvGraphicFramePr>
            <a:graphicFrameLocks noChangeAspect="1"/>
          </p:cNvGraphicFramePr>
          <p:nvPr>
            <p:custDataLst>
              <p:tags r:id="rId2"/>
            </p:custDataLst>
            <p:extLst>
              <p:ext uri="{D42A27DB-BD31-4B8C-83A1-F6EECF244321}">
                <p14:modId xmlns:p14="http://schemas.microsoft.com/office/powerpoint/2010/main" val="3393927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04" imgH="405" progId="TCLayout.ActiveDocument.1">
                  <p:embed/>
                </p:oleObj>
              </mc:Choice>
              <mc:Fallback>
                <p:oleObj name="think-cell Slide" r:id="rId35" imgW="404" imgH="405" progId="TCLayout.ActiveDocument.1">
                  <p:embed/>
                  <p:pic>
                    <p:nvPicPr>
                      <p:cNvPr id="5" name="Object 6" hidden="1">
                        <a:extLst>
                          <a:ext uri="{FF2B5EF4-FFF2-40B4-BE49-F238E27FC236}">
                            <a16:creationId xmlns:a16="http://schemas.microsoft.com/office/drawing/2014/main" id="{44700C9E-6946-FBCF-D0D9-1E92A20008C8}"/>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128" name="Rectangle 127">
            <a:extLst>
              <a:ext uri="{FF2B5EF4-FFF2-40B4-BE49-F238E27FC236}">
                <a16:creationId xmlns:a16="http://schemas.microsoft.com/office/drawing/2014/main" id="{E2357C95-B81E-3578-33FB-25560AD4A555}"/>
              </a:ext>
            </a:extLst>
          </p:cNvPr>
          <p:cNvSpPr>
            <a:spLocks/>
          </p:cNvSpPr>
          <p:nvPr/>
        </p:nvSpPr>
        <p:spPr>
          <a:xfrm>
            <a:off x="484496" y="4531947"/>
            <a:ext cx="11193353" cy="1600121"/>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 name="2. Slide Title">
            <a:extLst>
              <a:ext uri="{FF2B5EF4-FFF2-40B4-BE49-F238E27FC236}">
                <a16:creationId xmlns:a16="http://schemas.microsoft.com/office/drawing/2014/main" id="{F67C9CF2-E722-00B3-2146-5A8A98F0487C}"/>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a:t>A. Observability dimension observations and implications</a:t>
            </a:r>
          </a:p>
        </p:txBody>
      </p:sp>
      <p:sp>
        <p:nvSpPr>
          <p:cNvPr id="15" name="Text Placeholder 14">
            <a:extLst>
              <a:ext uri="{FF2B5EF4-FFF2-40B4-BE49-F238E27FC236}">
                <a16:creationId xmlns:a16="http://schemas.microsoft.com/office/drawing/2014/main" id="{4C970203-8DDE-3DA1-E17E-C52BC08153CC}"/>
              </a:ext>
            </a:extLst>
          </p:cNvPr>
          <p:cNvSpPr>
            <a:spLocks noGrp="1"/>
          </p:cNvSpPr>
          <p:nvPr>
            <p:ph type="body" sz="quarter" idx="17"/>
          </p:nvPr>
        </p:nvSpPr>
        <p:spPr/>
        <p:txBody>
          <a:bodyPr/>
          <a:lstStyle/>
          <a:p>
            <a:endParaRPr lang="en-US"/>
          </a:p>
        </p:txBody>
      </p:sp>
      <p:cxnSp>
        <p:nvCxnSpPr>
          <p:cNvPr id="6" name="Straight Connector 5">
            <a:extLst>
              <a:ext uri="{FF2B5EF4-FFF2-40B4-BE49-F238E27FC236}">
                <a16:creationId xmlns:a16="http://schemas.microsoft.com/office/drawing/2014/main" id="{AE2212C6-1EC8-6139-77B5-81783E87655F}"/>
              </a:ext>
            </a:extLst>
          </p:cNvPr>
          <p:cNvCxnSpPr>
            <a:cxnSpLocks/>
          </p:cNvCxnSpPr>
          <p:nvPr>
            <p:custDataLst>
              <p:tags r:id="rId4"/>
            </p:custDataLst>
          </p:nvPr>
        </p:nvCxnSpPr>
        <p:spPr>
          <a:xfrm>
            <a:off x="539908" y="3317006"/>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6588BEA-FE68-EBD1-E5ED-A8F995B9832B}"/>
              </a:ext>
            </a:extLst>
          </p:cNvPr>
          <p:cNvCxnSpPr>
            <a:cxnSpLocks/>
          </p:cNvCxnSpPr>
          <p:nvPr>
            <p:custDataLst>
              <p:tags r:id="rId5"/>
            </p:custDataLst>
          </p:nvPr>
        </p:nvCxnSpPr>
        <p:spPr>
          <a:xfrm>
            <a:off x="539908" y="4502855"/>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EF6BEE-6EC4-71D4-92A2-B26C3C247CB1}"/>
              </a:ext>
            </a:extLst>
          </p:cNvPr>
          <p:cNvCxnSpPr>
            <a:cxnSpLocks/>
          </p:cNvCxnSpPr>
          <p:nvPr>
            <p:custDataLst>
              <p:tags r:id="rId6"/>
            </p:custDataLst>
          </p:nvPr>
        </p:nvCxnSpPr>
        <p:spPr>
          <a:xfrm>
            <a:off x="539908" y="1867209"/>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02353863-9933-C468-F7E8-B1B093F46898}"/>
              </a:ext>
            </a:extLst>
          </p:cNvPr>
          <p:cNvSpPr txBox="1">
            <a:spLocks/>
          </p:cNvSpPr>
          <p:nvPr/>
        </p:nvSpPr>
        <p:spPr>
          <a:xfrm>
            <a:off x="1677535"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rgbClr val="000000"/>
              </a:buClr>
              <a:defRPr/>
            </a:pPr>
            <a:r>
              <a:rPr lang="en-US" sz="1200" b="1">
                <a:solidFill>
                  <a:srgbClr val="000000"/>
                </a:solidFill>
                <a:latin typeface="Arial"/>
                <a:cs typeface="Arial"/>
              </a:rPr>
              <a:t>Traditional</a:t>
            </a:r>
            <a:r>
              <a:rPr kumimoji="0" lang="en-US" sz="1200" b="1" i="0" u="none" strike="noStrike" kern="1200" cap="none" spc="0" normalizeH="0" baseline="0" noProof="0">
                <a:ln>
                  <a:noFill/>
                </a:ln>
                <a:solidFill>
                  <a:srgbClr val="000000"/>
                </a:solidFill>
                <a:effectLst/>
                <a:uLnTx/>
                <a:uFillTx/>
                <a:latin typeface="Arial"/>
                <a:cs typeface="Arial"/>
              </a:rPr>
              <a:t> AI</a:t>
            </a:r>
            <a:endParaRPr lang="en-US" sz="1200">
              <a:cs typeface="Arial"/>
            </a:endParaRPr>
          </a:p>
        </p:txBody>
      </p:sp>
      <p:sp>
        <p:nvSpPr>
          <p:cNvPr id="93" name="TextBox 92">
            <a:extLst>
              <a:ext uri="{FF2B5EF4-FFF2-40B4-BE49-F238E27FC236}">
                <a16:creationId xmlns:a16="http://schemas.microsoft.com/office/drawing/2014/main" id="{5B01936C-CA43-C872-3BB2-0ECD6375CFAF}"/>
              </a:ext>
            </a:extLst>
          </p:cNvPr>
          <p:cNvSpPr txBox="1">
            <a:spLocks/>
          </p:cNvSpPr>
          <p:nvPr/>
        </p:nvSpPr>
        <p:spPr>
          <a:xfrm>
            <a:off x="2700607"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a:t>
            </a:r>
          </a:p>
        </p:txBody>
      </p:sp>
      <p:sp>
        <p:nvSpPr>
          <p:cNvPr id="3" name="TextBox 2">
            <a:extLst>
              <a:ext uri="{FF2B5EF4-FFF2-40B4-BE49-F238E27FC236}">
                <a16:creationId xmlns:a16="http://schemas.microsoft.com/office/drawing/2014/main" id="{CF57F501-E23F-8CA8-92A7-12C9271437CD}"/>
              </a:ext>
            </a:extLst>
          </p:cNvPr>
          <p:cNvSpPr txBox="1">
            <a:spLocks/>
          </p:cNvSpPr>
          <p:nvPr/>
        </p:nvSpPr>
        <p:spPr>
          <a:xfrm>
            <a:off x="1677535" y="1198538"/>
            <a:ext cx="198292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Assessment Score</a:t>
            </a:r>
          </a:p>
        </p:txBody>
      </p:sp>
      <p:cxnSp>
        <p:nvCxnSpPr>
          <p:cNvPr id="8" name="GreyLineSeparatorStrong 8">
            <a:extLst>
              <a:ext uri="{FF2B5EF4-FFF2-40B4-BE49-F238E27FC236}">
                <a16:creationId xmlns:a16="http://schemas.microsoft.com/office/drawing/2014/main" id="{C83260CB-F558-47D3-B050-93641B5AC351}"/>
              </a:ext>
            </a:extLst>
          </p:cNvPr>
          <p:cNvCxnSpPr>
            <a:cxnSpLocks/>
          </p:cNvCxnSpPr>
          <p:nvPr>
            <p:custDataLst>
              <p:tags r:id="rId7"/>
            </p:custDataLst>
          </p:nvPr>
        </p:nvCxnSpPr>
        <p:spPr>
          <a:xfrm>
            <a:off x="1677535" y="1406164"/>
            <a:ext cx="1982920"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032180DF-2953-BF14-AFCC-D52852709897}"/>
              </a:ext>
            </a:extLst>
          </p:cNvPr>
          <p:cNvSpPr txBox="1">
            <a:spLocks/>
          </p:cNvSpPr>
          <p:nvPr/>
        </p:nvSpPr>
        <p:spPr>
          <a:xfrm>
            <a:off x="554038" y="1462104"/>
            <a:ext cx="1060273"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47" name="TextBox 46">
            <a:extLst>
              <a:ext uri="{FF2B5EF4-FFF2-40B4-BE49-F238E27FC236}">
                <a16:creationId xmlns:a16="http://schemas.microsoft.com/office/drawing/2014/main" id="{74FBCF5C-D2FB-49F4-FFCC-4EDB38B88E32}"/>
              </a:ext>
            </a:extLst>
          </p:cNvPr>
          <p:cNvSpPr txBox="1">
            <a:spLocks/>
          </p:cNvSpPr>
          <p:nvPr/>
        </p:nvSpPr>
        <p:spPr>
          <a:xfrm>
            <a:off x="3723679" y="1646770"/>
            <a:ext cx="3621681"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Observations</a:t>
            </a:r>
          </a:p>
        </p:txBody>
      </p:sp>
      <p:sp>
        <p:nvSpPr>
          <p:cNvPr id="61" name="TextBox 60">
            <a:extLst>
              <a:ext uri="{FF2B5EF4-FFF2-40B4-BE49-F238E27FC236}">
                <a16:creationId xmlns:a16="http://schemas.microsoft.com/office/drawing/2014/main" id="{95E5739B-D943-8131-983B-C4BFDC30AD05}"/>
              </a:ext>
            </a:extLst>
          </p:cNvPr>
          <p:cNvSpPr txBox="1">
            <a:spLocks/>
          </p:cNvSpPr>
          <p:nvPr/>
        </p:nvSpPr>
        <p:spPr>
          <a:xfrm>
            <a:off x="7408584" y="1646770"/>
            <a:ext cx="4229379"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Implications for Client</a:t>
            </a:r>
          </a:p>
        </p:txBody>
      </p:sp>
      <p:grpSp>
        <p:nvGrpSpPr>
          <p:cNvPr id="90" name="Group 89">
            <a:extLst>
              <a:ext uri="{FF2B5EF4-FFF2-40B4-BE49-F238E27FC236}">
                <a16:creationId xmlns:a16="http://schemas.microsoft.com/office/drawing/2014/main" id="{0C7554C6-E404-91FE-093A-D483BD8F1B02}"/>
              </a:ext>
            </a:extLst>
          </p:cNvPr>
          <p:cNvGrpSpPr/>
          <p:nvPr/>
        </p:nvGrpSpPr>
        <p:grpSpPr>
          <a:xfrm>
            <a:off x="554038" y="1931557"/>
            <a:ext cx="11083925" cy="1338828"/>
            <a:chOff x="554038" y="1931557"/>
            <a:chExt cx="11083925" cy="1338828"/>
          </a:xfrm>
        </p:grpSpPr>
        <p:grpSp>
          <p:nvGrpSpPr>
            <p:cNvPr id="14" name="MoonEmpty 14">
              <a:extLst>
                <a:ext uri="{FF2B5EF4-FFF2-40B4-BE49-F238E27FC236}">
                  <a16:creationId xmlns:a16="http://schemas.microsoft.com/office/drawing/2014/main" id="{505604BE-0798-A2F9-7FC2-8C664DF1ADF5}"/>
                </a:ext>
              </a:extLst>
            </p:cNvPr>
            <p:cNvGrpSpPr>
              <a:grpSpLocks/>
            </p:cNvGrpSpPr>
            <p:nvPr>
              <p:custDataLst>
                <p:tags r:id="rId28"/>
              </p:custDataLst>
            </p:nvPr>
          </p:nvGrpSpPr>
          <p:grpSpPr>
            <a:xfrm>
              <a:off x="2020299" y="1931557"/>
              <a:ext cx="274320" cy="274320"/>
              <a:chOff x="762000" y="1270000"/>
              <a:chExt cx="254000" cy="254000"/>
            </a:xfrm>
          </p:grpSpPr>
          <p:sp>
            <p:nvSpPr>
              <p:cNvPr id="10" name="Oval 9">
                <a:extLst>
                  <a:ext uri="{FF2B5EF4-FFF2-40B4-BE49-F238E27FC236}">
                    <a16:creationId xmlns:a16="http://schemas.microsoft.com/office/drawing/2014/main" id="{FE8DB5DF-1365-BDE5-6490-1F1CBC53F549}"/>
                  </a:ext>
                </a:extLst>
              </p:cNvPr>
              <p:cNvSpPr/>
              <p:nvPr>
                <p:custDataLst>
                  <p:tags r:id="rId31"/>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3" name="Arc 12">
                <a:extLst>
                  <a:ext uri="{FF2B5EF4-FFF2-40B4-BE49-F238E27FC236}">
                    <a16:creationId xmlns:a16="http://schemas.microsoft.com/office/drawing/2014/main" id="{F0941CF0-9E5E-8BAF-5ECA-D68C001A76B6}"/>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55" name="Group 54">
              <a:extLst>
                <a:ext uri="{FF2B5EF4-FFF2-40B4-BE49-F238E27FC236}">
                  <a16:creationId xmlns:a16="http://schemas.microsoft.com/office/drawing/2014/main" id="{FECA6700-CA15-66CF-FDC5-0E63BA7A7E7F}"/>
                </a:ext>
              </a:extLst>
            </p:cNvPr>
            <p:cNvGrpSpPr>
              <a:grpSpLocks/>
            </p:cNvGrpSpPr>
            <p:nvPr/>
          </p:nvGrpSpPr>
          <p:grpSpPr>
            <a:xfrm>
              <a:off x="3043371" y="1931557"/>
              <a:ext cx="274320" cy="274320"/>
              <a:chOff x="2704217" y="2001746"/>
              <a:chExt cx="342654" cy="342655"/>
            </a:xfrm>
          </p:grpSpPr>
          <p:sp>
            <p:nvSpPr>
              <p:cNvPr id="17" name="Oval 16">
                <a:extLst>
                  <a:ext uri="{FF2B5EF4-FFF2-40B4-BE49-F238E27FC236}">
                    <a16:creationId xmlns:a16="http://schemas.microsoft.com/office/drawing/2014/main" id="{53EF1692-478D-AE31-7DEA-E5D087A066B8}"/>
                  </a:ext>
                </a:extLst>
              </p:cNvPr>
              <p:cNvSpPr/>
              <p:nvPr>
                <p:custDataLst>
                  <p:tags r:id="rId29"/>
                </p:custDataLst>
              </p:nvPr>
            </p:nvSpPr>
            <p:spPr>
              <a:xfrm>
                <a:off x="2704217" y="2001747"/>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8" name="Arc 17">
                <a:extLst>
                  <a:ext uri="{FF2B5EF4-FFF2-40B4-BE49-F238E27FC236}">
                    <a16:creationId xmlns:a16="http://schemas.microsoft.com/office/drawing/2014/main" id="{E2D93F06-DBAC-8B0F-B44D-A49EF5C0B6F0}"/>
                  </a:ext>
                </a:extLst>
              </p:cNvPr>
              <p:cNvSpPr/>
              <p:nvPr>
                <p:custDataLst>
                  <p:tags r:id="rId30"/>
                </p:custDataLst>
              </p:nvPr>
            </p:nvSpPr>
            <p:spPr>
              <a:xfrm>
                <a:off x="2704217" y="2001746"/>
                <a:ext cx="342654" cy="342654"/>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108" name="TextBox 107">
              <a:extLst>
                <a:ext uri="{FF2B5EF4-FFF2-40B4-BE49-F238E27FC236}">
                  <a16:creationId xmlns:a16="http://schemas.microsoft.com/office/drawing/2014/main" id="{A31EDC4C-7F5F-A2F1-BBC0-03F1F3BC5D20}"/>
                </a:ext>
              </a:extLst>
            </p:cNvPr>
            <p:cNvSpPr txBox="1">
              <a:spLocks/>
            </p:cNvSpPr>
            <p:nvPr/>
          </p:nvSpPr>
          <p:spPr>
            <a:xfrm>
              <a:off x="554038" y="1931557"/>
              <a:ext cx="1060273"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100" b="1" i="0" u="none" strike="noStrike" kern="1200" cap="none" spc="0" normalizeH="0" baseline="0" noProof="0">
                  <a:ln>
                    <a:noFill/>
                  </a:ln>
                  <a:solidFill>
                    <a:srgbClr val="000000"/>
                  </a:solidFill>
                  <a:effectLst/>
                  <a:uLnTx/>
                  <a:uFillTx/>
                  <a:ea typeface="+mn-ea"/>
                  <a:cs typeface="Arial" panose="020B0604020202020204" pitchFamily="34" charset="0"/>
                </a:rPr>
                <a:t>Logs, metrics, traces</a:t>
              </a:r>
            </a:p>
          </p:txBody>
        </p:sp>
        <p:sp>
          <p:nvSpPr>
            <p:cNvPr id="60" name="TextBox 59">
              <a:extLst>
                <a:ext uri="{FF2B5EF4-FFF2-40B4-BE49-F238E27FC236}">
                  <a16:creationId xmlns:a16="http://schemas.microsoft.com/office/drawing/2014/main" id="{70FFACB7-E98D-0503-3FC5-65D036B9DF20}"/>
                </a:ext>
              </a:extLst>
            </p:cNvPr>
            <p:cNvSpPr txBox="1">
              <a:spLocks/>
            </p:cNvSpPr>
            <p:nvPr/>
          </p:nvSpPr>
          <p:spPr>
            <a:xfrm>
              <a:off x="3723679" y="1931557"/>
              <a:ext cx="3621681" cy="116955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dirty="0">
                  <a:solidFill>
                    <a:schemeClr val="accent1"/>
                  </a:solidFill>
                </a:rPr>
                <a:t>Nascent tracing capabilities</a:t>
              </a:r>
              <a:r>
                <a:rPr lang="en-US" sz="1100" dirty="0">
                  <a:solidFill>
                    <a:schemeClr val="accent1"/>
                  </a:solidFill>
                </a:rPr>
                <a:t>, with no consistent way to monitor data flows across systems</a:t>
              </a:r>
              <a:endParaRPr lang="en-US" sz="1100" b="1" dirty="0">
                <a:solidFill>
                  <a:schemeClr val="accent1"/>
                </a:solidFill>
              </a:endParaRPr>
            </a:p>
            <a:p>
              <a:pPr marL="171450" indent="-171450">
                <a:buFont typeface="Arial" panose="020B0604020202020204" pitchFamily="34" charset="0"/>
                <a:buChar char="•"/>
              </a:pPr>
              <a:r>
                <a:rPr lang="en-US" sz="1100" b="1" dirty="0"/>
                <a:t>Logging and dashboards not standardized </a:t>
              </a:r>
              <a:r>
                <a:rPr lang="en-US" sz="1100" dirty="0"/>
                <a:t>across platforms (e.g.,, )</a:t>
              </a:r>
            </a:p>
            <a:p>
              <a:pPr marL="171450" indent="-171450">
                <a:buFont typeface="Arial" panose="020B0604020202020204" pitchFamily="34" charset="0"/>
                <a:buChar char="•"/>
              </a:pPr>
              <a:r>
                <a:rPr lang="en-US" sz="1100" b="1" dirty="0">
                  <a:solidFill>
                    <a:schemeClr val="accent1"/>
                  </a:solidFill>
                </a:rPr>
                <a:t>Limited standardization of metrics</a:t>
              </a:r>
              <a:r>
                <a:rPr lang="en-US" sz="1100" dirty="0">
                  <a:solidFill>
                    <a:schemeClr val="accent1"/>
                  </a:solidFill>
                </a:rPr>
                <a:t> (e.g., GenAI and unstructured data metrics)</a:t>
              </a:r>
            </a:p>
          </p:txBody>
        </p:sp>
        <p:sp>
          <p:nvSpPr>
            <p:cNvPr id="62" name="TextBox 61">
              <a:extLst>
                <a:ext uri="{FF2B5EF4-FFF2-40B4-BE49-F238E27FC236}">
                  <a16:creationId xmlns:a16="http://schemas.microsoft.com/office/drawing/2014/main" id="{B0DD28D4-B91B-B1CA-C7D3-9502709E43DD}"/>
                </a:ext>
              </a:extLst>
            </p:cNvPr>
            <p:cNvSpPr txBox="1">
              <a:spLocks/>
            </p:cNvSpPr>
            <p:nvPr/>
          </p:nvSpPr>
          <p:spPr>
            <a:xfrm>
              <a:off x="7408584" y="1931557"/>
              <a:ext cx="4229379" cy="13388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dirty="0">
                  <a:solidFill>
                    <a:schemeClr val="accent1"/>
                  </a:solidFill>
                </a:rPr>
                <a:t>Low scalability: </a:t>
              </a:r>
              <a:r>
                <a:rPr lang="en-US" sz="1100" dirty="0">
                  <a:solidFill>
                    <a:schemeClr val="accent1"/>
                  </a:solidFill>
                </a:rPr>
                <a:t>Immature tracing blocks more advanced GenAI use cases by limiting end-to-end visibility</a:t>
              </a:r>
            </a:p>
            <a:p>
              <a:pPr marL="171450" indent="-171450">
                <a:buFont typeface="Arial" panose="020B0604020202020204" pitchFamily="34" charset="0"/>
                <a:buChar char="•"/>
              </a:pPr>
              <a:r>
                <a:rPr lang="en-US" sz="1100" b="1" dirty="0"/>
                <a:t>Inconsistent governance: </a:t>
              </a:r>
              <a:r>
                <a:rPr lang="en-US" sz="1100" dirty="0"/>
                <a:t>Lack of standardized logs and metrics blocks enterprise-wide measurement of data health and limits comparability across platforms</a:t>
              </a:r>
            </a:p>
            <a:p>
              <a:pPr marL="171450" indent="-171450">
                <a:buFont typeface="Arial" panose="020B0604020202020204" pitchFamily="34" charset="0"/>
                <a:buChar char="•"/>
              </a:pPr>
              <a:r>
                <a:rPr lang="en-US" sz="1100" b="1" dirty="0"/>
                <a:t>Weak explainability: </a:t>
              </a:r>
              <a:r>
                <a:rPr lang="en-US" sz="1100" dirty="0"/>
                <a:t>Without unified tracing and metrics, Client cannot defend or audit GenAI outputs</a:t>
              </a:r>
              <a:endParaRPr lang="en-US" sz="1100" dirty="0">
                <a:solidFill>
                  <a:schemeClr val="accent1"/>
                </a:solidFill>
              </a:endParaRPr>
            </a:p>
          </p:txBody>
        </p:sp>
      </p:grpSp>
      <p:grpSp>
        <p:nvGrpSpPr>
          <p:cNvPr id="94" name="Group 93">
            <a:extLst>
              <a:ext uri="{FF2B5EF4-FFF2-40B4-BE49-F238E27FC236}">
                <a16:creationId xmlns:a16="http://schemas.microsoft.com/office/drawing/2014/main" id="{74779F9C-DCE5-4354-09E3-A578B9904687}"/>
              </a:ext>
            </a:extLst>
          </p:cNvPr>
          <p:cNvGrpSpPr/>
          <p:nvPr/>
        </p:nvGrpSpPr>
        <p:grpSpPr>
          <a:xfrm>
            <a:off x="554038" y="4549476"/>
            <a:ext cx="11083925" cy="1338828"/>
            <a:chOff x="554038" y="4768551"/>
            <a:chExt cx="11083925" cy="1338828"/>
          </a:xfrm>
        </p:grpSpPr>
        <p:grpSp>
          <p:nvGrpSpPr>
            <p:cNvPr id="35" name="MoonEmpty 14">
              <a:extLst>
                <a:ext uri="{FF2B5EF4-FFF2-40B4-BE49-F238E27FC236}">
                  <a16:creationId xmlns:a16="http://schemas.microsoft.com/office/drawing/2014/main" id="{0AFD972B-F49D-7245-5C31-102A961F1752}"/>
                </a:ext>
              </a:extLst>
            </p:cNvPr>
            <p:cNvGrpSpPr>
              <a:grpSpLocks/>
            </p:cNvGrpSpPr>
            <p:nvPr>
              <p:custDataLst>
                <p:tags r:id="rId23"/>
              </p:custDataLst>
            </p:nvPr>
          </p:nvGrpSpPr>
          <p:grpSpPr>
            <a:xfrm>
              <a:off x="2020299" y="4768551"/>
              <a:ext cx="274320" cy="274320"/>
              <a:chOff x="762000" y="1270000"/>
              <a:chExt cx="254000" cy="254000"/>
            </a:xfrm>
          </p:grpSpPr>
          <p:sp>
            <p:nvSpPr>
              <p:cNvPr id="37" name="Oval 36">
                <a:extLst>
                  <a:ext uri="{FF2B5EF4-FFF2-40B4-BE49-F238E27FC236}">
                    <a16:creationId xmlns:a16="http://schemas.microsoft.com/office/drawing/2014/main" id="{C4AE0936-56B8-F2D4-290F-DD88641FEA78}"/>
                  </a:ext>
                </a:extLst>
              </p:cNvPr>
              <p:cNvSpPr/>
              <p:nvPr>
                <p:custDataLst>
                  <p:tags r:id="rId26"/>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39" name="Arc 38">
                <a:extLst>
                  <a:ext uri="{FF2B5EF4-FFF2-40B4-BE49-F238E27FC236}">
                    <a16:creationId xmlns:a16="http://schemas.microsoft.com/office/drawing/2014/main" id="{9AC29ABF-198A-20E8-24D0-DAD8E222E34B}"/>
                  </a:ext>
                </a:extLst>
              </p:cNvPr>
              <p:cNvSpPr/>
              <p:nvPr>
                <p:custDataLst>
                  <p:tags r:id="rId27"/>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69" name="Group 68">
              <a:extLst>
                <a:ext uri="{FF2B5EF4-FFF2-40B4-BE49-F238E27FC236}">
                  <a16:creationId xmlns:a16="http://schemas.microsoft.com/office/drawing/2014/main" id="{FAA8C04B-964E-11E3-4ADC-47F97B0BE2BD}"/>
                </a:ext>
              </a:extLst>
            </p:cNvPr>
            <p:cNvGrpSpPr>
              <a:grpSpLocks/>
            </p:cNvGrpSpPr>
            <p:nvPr/>
          </p:nvGrpSpPr>
          <p:grpSpPr>
            <a:xfrm>
              <a:off x="3043371" y="4768551"/>
              <a:ext cx="274320" cy="274320"/>
              <a:chOff x="2704217" y="4708317"/>
              <a:chExt cx="342654" cy="342654"/>
            </a:xfrm>
          </p:grpSpPr>
          <p:sp>
            <p:nvSpPr>
              <p:cNvPr id="43" name="Oval 42">
                <a:extLst>
                  <a:ext uri="{FF2B5EF4-FFF2-40B4-BE49-F238E27FC236}">
                    <a16:creationId xmlns:a16="http://schemas.microsoft.com/office/drawing/2014/main" id="{7F54ECD3-C6C7-9F2D-9F2D-492DEA3D2E85}"/>
                  </a:ext>
                </a:extLst>
              </p:cNvPr>
              <p:cNvSpPr/>
              <p:nvPr>
                <p:custDataLst>
                  <p:tags r:id="rId24"/>
                </p:custDataLst>
              </p:nvPr>
            </p:nvSpPr>
            <p:spPr>
              <a:xfrm>
                <a:off x="2704217" y="4708317"/>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45" name="Arc 44">
                <a:extLst>
                  <a:ext uri="{FF2B5EF4-FFF2-40B4-BE49-F238E27FC236}">
                    <a16:creationId xmlns:a16="http://schemas.microsoft.com/office/drawing/2014/main" id="{054C6077-7105-9C7E-D372-B42D1534646B}"/>
                  </a:ext>
                </a:extLst>
              </p:cNvPr>
              <p:cNvSpPr/>
              <p:nvPr>
                <p:custDataLst>
                  <p:tags r:id="rId25"/>
                </p:custDataLst>
              </p:nvPr>
            </p:nvSpPr>
            <p:spPr>
              <a:xfrm>
                <a:off x="2704217" y="4708317"/>
                <a:ext cx="342654" cy="342654"/>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74" name="TextBox 73">
              <a:extLst>
                <a:ext uri="{FF2B5EF4-FFF2-40B4-BE49-F238E27FC236}">
                  <a16:creationId xmlns:a16="http://schemas.microsoft.com/office/drawing/2014/main" id="{DBA2E6AA-89A7-61BC-C5BD-0FF96637ECDB}"/>
                </a:ext>
              </a:extLst>
            </p:cNvPr>
            <p:cNvSpPr txBox="1">
              <a:spLocks/>
            </p:cNvSpPr>
            <p:nvPr/>
          </p:nvSpPr>
          <p:spPr>
            <a:xfrm>
              <a:off x="554038" y="4768551"/>
              <a:ext cx="1060273" cy="84638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ea typeface="+mn-ea"/>
                  <a:cs typeface="Arial" panose="020B0604020202020204" pitchFamily="34" charset="0"/>
                </a:rPr>
                <a:t>Monitoring of anomaly detection and quality enforcement</a:t>
              </a:r>
            </a:p>
          </p:txBody>
        </p:sp>
        <p:sp>
          <p:nvSpPr>
            <p:cNvPr id="59" name="TextBox 58">
              <a:extLst>
                <a:ext uri="{FF2B5EF4-FFF2-40B4-BE49-F238E27FC236}">
                  <a16:creationId xmlns:a16="http://schemas.microsoft.com/office/drawing/2014/main" id="{E06B0275-C229-4B1B-72F5-80E5FC56E2BC}"/>
                </a:ext>
              </a:extLst>
            </p:cNvPr>
            <p:cNvSpPr txBox="1">
              <a:spLocks/>
            </p:cNvSpPr>
            <p:nvPr/>
          </p:nvSpPr>
          <p:spPr>
            <a:xfrm>
              <a:off x="3723679" y="4768551"/>
              <a:ext cx="3621681" cy="100027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dirty="0"/>
                <a:t>Reliance on upstream controls </a:t>
              </a:r>
              <a:r>
                <a:rPr lang="en-US" sz="1100" dirty="0"/>
                <a:t>(e.g., … , …), with little downstream verification</a:t>
              </a:r>
            </a:p>
            <a:p>
              <a:pPr marL="171450" indent="-171450">
                <a:buFont typeface="Arial" panose="020B0604020202020204" pitchFamily="34" charset="0"/>
                <a:buChar char="•"/>
              </a:pPr>
              <a:r>
                <a:rPr lang="en-US" sz="1100" dirty="0"/>
                <a:t>Limited automation to </a:t>
              </a:r>
              <a:r>
                <a:rPr lang="en-US" sz="1100" b="1" dirty="0"/>
                <a:t>flag sensitive data</a:t>
              </a:r>
              <a:r>
                <a:rPr lang="en-US" sz="1100" dirty="0"/>
                <a:t> (e.g., PII)</a:t>
              </a:r>
            </a:p>
            <a:p>
              <a:pPr marL="171450" indent="-171450">
                <a:buFont typeface="Arial" panose="020B0604020202020204" pitchFamily="34" charset="0"/>
                <a:buChar char="•"/>
              </a:pPr>
              <a:r>
                <a:rPr lang="en-US" sz="1100" dirty="0"/>
                <a:t>Manual dashboards with limited automated alerting; </a:t>
              </a:r>
              <a:r>
                <a:rPr lang="en-US" sz="1100" b="1" dirty="0"/>
                <a:t>most</a:t>
              </a:r>
              <a:r>
                <a:rPr lang="en-US" sz="1100" dirty="0"/>
                <a:t> </a:t>
              </a:r>
              <a:r>
                <a:rPr lang="en-US" sz="1100" b="1" dirty="0"/>
                <a:t>issues detected reactively</a:t>
              </a:r>
              <a:endParaRPr lang="en-US" sz="1100" b="1" dirty="0">
                <a:cs typeface="Arial"/>
              </a:endParaRPr>
            </a:p>
          </p:txBody>
        </p:sp>
        <p:sp>
          <p:nvSpPr>
            <p:cNvPr id="65" name="TextBox 64">
              <a:extLst>
                <a:ext uri="{FF2B5EF4-FFF2-40B4-BE49-F238E27FC236}">
                  <a16:creationId xmlns:a16="http://schemas.microsoft.com/office/drawing/2014/main" id="{9E95BFE2-C181-41B8-F74D-991FBC1199C3}"/>
                </a:ext>
              </a:extLst>
            </p:cNvPr>
            <p:cNvSpPr txBox="1">
              <a:spLocks/>
            </p:cNvSpPr>
            <p:nvPr/>
          </p:nvSpPr>
          <p:spPr>
            <a:xfrm>
              <a:off x="7408584" y="4768551"/>
              <a:ext cx="4229379" cy="13388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Hidden quality failures:</a:t>
              </a:r>
              <a:r>
                <a:rPr lang="en-US" sz="1100"/>
                <a:t> Errors propagate downstream unchecked, undermining quality of AI and GenAI outputs</a:t>
              </a:r>
              <a:endParaRPr lang="en-US" sz="1100" b="1"/>
            </a:p>
            <a:p>
              <a:pPr marL="171450" indent="-171450">
                <a:buFont typeface="Arial" panose="020B0604020202020204" pitchFamily="34" charset="0"/>
                <a:buChar char="•"/>
              </a:pPr>
              <a:r>
                <a:rPr lang="en-US" sz="1100" b="1"/>
                <a:t>Regulatory exposure:</a:t>
              </a:r>
              <a:r>
                <a:rPr lang="en-US" sz="1100"/>
                <a:t> Inadequate protection of sensitive data increases compliance risk</a:t>
              </a:r>
            </a:p>
            <a:p>
              <a:pPr marL="171450" indent="-171450">
                <a:buFont typeface="Arial" panose="020B0604020202020204" pitchFamily="34" charset="0"/>
                <a:buChar char="•"/>
              </a:pPr>
              <a:r>
                <a:rPr lang="en-US" sz="1100" b="1"/>
                <a:t>Inconsistent standards:</a:t>
              </a:r>
              <a:r>
                <a:rPr lang="en-US" sz="1100"/>
                <a:t> Without agreed standards across applications, issues are sometimes detected reactively, creating blind spots that undermine reliability</a:t>
              </a:r>
              <a:endParaRPr lang="en-US" sz="1100" b="1"/>
            </a:p>
          </p:txBody>
        </p:sp>
      </p:grpSp>
      <p:grpSp>
        <p:nvGrpSpPr>
          <p:cNvPr id="91" name="Group 90">
            <a:extLst>
              <a:ext uri="{FF2B5EF4-FFF2-40B4-BE49-F238E27FC236}">
                <a16:creationId xmlns:a16="http://schemas.microsoft.com/office/drawing/2014/main" id="{8F042A9B-4BC0-0BE4-5E67-2C1AC9A1CA35}"/>
              </a:ext>
            </a:extLst>
          </p:cNvPr>
          <p:cNvGrpSpPr/>
          <p:nvPr/>
        </p:nvGrpSpPr>
        <p:grpSpPr>
          <a:xfrm>
            <a:off x="554038" y="3363627"/>
            <a:ext cx="11083925" cy="1092607"/>
            <a:chOff x="554038" y="3480859"/>
            <a:chExt cx="11083925" cy="1092607"/>
          </a:xfrm>
        </p:grpSpPr>
        <p:sp>
          <p:nvSpPr>
            <p:cNvPr id="63" name="TextBox 62">
              <a:extLst>
                <a:ext uri="{FF2B5EF4-FFF2-40B4-BE49-F238E27FC236}">
                  <a16:creationId xmlns:a16="http://schemas.microsoft.com/office/drawing/2014/main" id="{CA3C7BC0-1843-D738-6EBF-C426F4190CF0}"/>
                </a:ext>
              </a:extLst>
            </p:cNvPr>
            <p:cNvSpPr txBox="1">
              <a:spLocks/>
            </p:cNvSpPr>
            <p:nvPr/>
          </p:nvSpPr>
          <p:spPr>
            <a:xfrm>
              <a:off x="554038" y="3480859"/>
              <a:ext cx="1060273"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ea typeface="+mn-ea"/>
                  <a:cs typeface="Arial" panose="020B0604020202020204" pitchFamily="34" charset="0"/>
                </a:rPr>
                <a:t>SLO and SLA monitoring</a:t>
              </a:r>
            </a:p>
          </p:txBody>
        </p:sp>
        <p:grpSp>
          <p:nvGrpSpPr>
            <p:cNvPr id="22" name="MoonEmpty 14">
              <a:extLst>
                <a:ext uri="{FF2B5EF4-FFF2-40B4-BE49-F238E27FC236}">
                  <a16:creationId xmlns:a16="http://schemas.microsoft.com/office/drawing/2014/main" id="{DF4A5CBE-AA97-2114-19AC-4361CD64974D}"/>
                </a:ext>
              </a:extLst>
            </p:cNvPr>
            <p:cNvGrpSpPr>
              <a:grpSpLocks/>
            </p:cNvGrpSpPr>
            <p:nvPr>
              <p:custDataLst>
                <p:tags r:id="rId18"/>
              </p:custDataLst>
            </p:nvPr>
          </p:nvGrpSpPr>
          <p:grpSpPr>
            <a:xfrm>
              <a:off x="2020299" y="3480859"/>
              <a:ext cx="274320" cy="274320"/>
              <a:chOff x="762000" y="1270000"/>
              <a:chExt cx="254000" cy="254000"/>
            </a:xfrm>
          </p:grpSpPr>
          <p:sp>
            <p:nvSpPr>
              <p:cNvPr id="26" name="Oval 25">
                <a:extLst>
                  <a:ext uri="{FF2B5EF4-FFF2-40B4-BE49-F238E27FC236}">
                    <a16:creationId xmlns:a16="http://schemas.microsoft.com/office/drawing/2014/main" id="{F6E86FB9-E9F3-3513-43EB-4EC93CFDA453}"/>
                  </a:ext>
                </a:extLst>
              </p:cNvPr>
              <p:cNvSpPr/>
              <p:nvPr>
                <p:custDataLst>
                  <p:tags r:id="rId21"/>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28" name="Arc 27">
                <a:extLst>
                  <a:ext uri="{FF2B5EF4-FFF2-40B4-BE49-F238E27FC236}">
                    <a16:creationId xmlns:a16="http://schemas.microsoft.com/office/drawing/2014/main" id="{D0783B3D-8027-8DB1-42F9-5B984E9B4183}"/>
                  </a:ext>
                </a:extLst>
              </p:cNvPr>
              <p:cNvSpPr/>
              <p:nvPr>
                <p:custDataLst>
                  <p:tags r:id="rId22"/>
                </p:custDataLst>
              </p:nvPr>
            </p:nvSpPr>
            <p:spPr>
              <a:xfrm>
                <a:off x="762000" y="1270000"/>
                <a:ext cx="254000" cy="254000"/>
              </a:xfrm>
              <a:prstGeom prst="arc">
                <a:avLst>
                  <a:gd name="adj1" fmla="val 16200000"/>
                  <a:gd name="adj2" fmla="val 108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67" name="Group 66">
              <a:extLst>
                <a:ext uri="{FF2B5EF4-FFF2-40B4-BE49-F238E27FC236}">
                  <a16:creationId xmlns:a16="http://schemas.microsoft.com/office/drawing/2014/main" id="{CA12B04C-6FA8-3454-1868-2DBBC6E2D70E}"/>
                </a:ext>
              </a:extLst>
            </p:cNvPr>
            <p:cNvGrpSpPr>
              <a:grpSpLocks/>
            </p:cNvGrpSpPr>
            <p:nvPr/>
          </p:nvGrpSpPr>
          <p:grpSpPr>
            <a:xfrm>
              <a:off x="3043371" y="3480859"/>
              <a:ext cx="274320" cy="274320"/>
              <a:chOff x="2704217" y="3419428"/>
              <a:chExt cx="342654" cy="342654"/>
            </a:xfrm>
          </p:grpSpPr>
          <p:sp>
            <p:nvSpPr>
              <p:cNvPr id="32" name="Oval 31">
                <a:extLst>
                  <a:ext uri="{FF2B5EF4-FFF2-40B4-BE49-F238E27FC236}">
                    <a16:creationId xmlns:a16="http://schemas.microsoft.com/office/drawing/2014/main" id="{371A5463-3D58-CDD0-8809-8A73AAC837E5}"/>
                  </a:ext>
                </a:extLst>
              </p:cNvPr>
              <p:cNvSpPr/>
              <p:nvPr>
                <p:custDataLst>
                  <p:tags r:id="rId19"/>
                </p:custDataLst>
              </p:nvPr>
            </p:nvSpPr>
            <p:spPr>
              <a:xfrm>
                <a:off x="2704217" y="3419428"/>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34" name="Arc 33">
                <a:extLst>
                  <a:ext uri="{FF2B5EF4-FFF2-40B4-BE49-F238E27FC236}">
                    <a16:creationId xmlns:a16="http://schemas.microsoft.com/office/drawing/2014/main" id="{69A76235-1428-2777-9144-43BEAD7873C9}"/>
                  </a:ext>
                </a:extLst>
              </p:cNvPr>
              <p:cNvSpPr/>
              <p:nvPr>
                <p:custDataLst>
                  <p:tags r:id="rId20"/>
                </p:custDataLst>
              </p:nvPr>
            </p:nvSpPr>
            <p:spPr>
              <a:xfrm>
                <a:off x="2704217" y="3419428"/>
                <a:ext cx="342654" cy="342654"/>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30" name="TextBox 29">
              <a:extLst>
                <a:ext uri="{FF2B5EF4-FFF2-40B4-BE49-F238E27FC236}">
                  <a16:creationId xmlns:a16="http://schemas.microsoft.com/office/drawing/2014/main" id="{C4523EF5-E4F3-DD7B-5272-88CE087855BE}"/>
                </a:ext>
              </a:extLst>
            </p:cNvPr>
            <p:cNvSpPr txBox="1">
              <a:spLocks/>
            </p:cNvSpPr>
            <p:nvPr/>
          </p:nvSpPr>
          <p:spPr>
            <a:xfrm>
              <a:off x="3723679" y="3480859"/>
              <a:ext cx="3621681" cy="7540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Inconsistent monitoring and alerting </a:t>
              </a:r>
              <a:r>
                <a:rPr lang="en-US" sz="1100"/>
                <a:t>for SLO/SLA failures in both AI/</a:t>
              </a:r>
              <a:r>
                <a:rPr lang="en-US" sz="1100" b="1">
                  <a:solidFill>
                    <a:schemeClr val="accent1"/>
                  </a:solidFill>
                </a:rPr>
                <a:t>GenAI applications</a:t>
              </a:r>
            </a:p>
            <a:p>
              <a:pPr marL="171450" indent="-171450">
                <a:buFont typeface="Arial" panose="020B0604020202020204" pitchFamily="34" charset="0"/>
                <a:buChar char="•"/>
              </a:pPr>
              <a:r>
                <a:rPr lang="en-US" sz="1100" b="1">
                  <a:solidFill>
                    <a:schemeClr val="accent1"/>
                  </a:solidFill>
                </a:rPr>
                <a:t>Usage and volume patterns not integrated </a:t>
              </a:r>
              <a:r>
                <a:rPr lang="en-US" sz="1100">
                  <a:solidFill>
                    <a:schemeClr val="accent1"/>
                  </a:solidFill>
                </a:rPr>
                <a:t>into monitoring </a:t>
              </a:r>
              <a:endParaRPr lang="en-US" sz="1100" b="1">
                <a:solidFill>
                  <a:schemeClr val="accent1"/>
                </a:solidFill>
              </a:endParaRPr>
            </a:p>
          </p:txBody>
        </p:sp>
        <p:sp>
          <p:nvSpPr>
            <p:cNvPr id="64" name="TextBox 63">
              <a:extLst>
                <a:ext uri="{FF2B5EF4-FFF2-40B4-BE49-F238E27FC236}">
                  <a16:creationId xmlns:a16="http://schemas.microsoft.com/office/drawing/2014/main" id="{240BAADB-5FB0-CE52-14D6-9767CC2AA97D}"/>
                </a:ext>
              </a:extLst>
            </p:cNvPr>
            <p:cNvSpPr txBox="1">
              <a:spLocks/>
            </p:cNvSpPr>
            <p:nvPr/>
          </p:nvSpPr>
          <p:spPr>
            <a:xfrm>
              <a:off x="7408584" y="3480859"/>
              <a:ext cx="4229379" cy="10926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dirty="0"/>
                <a:t>Potential service failure risk:</a:t>
              </a:r>
              <a:r>
                <a:rPr lang="en-US" sz="1100" dirty="0"/>
                <a:t> Undetected outages could erode trust in AI solutions and create reputational and business exposure</a:t>
              </a:r>
            </a:p>
            <a:p>
              <a:pPr marL="171450" indent="-171450">
                <a:buFont typeface="Arial" panose="020B0604020202020204" pitchFamily="34" charset="0"/>
                <a:buChar char="•"/>
              </a:pPr>
              <a:r>
                <a:rPr lang="en-US" sz="1100" b="1" dirty="0"/>
                <a:t>Cost and downtime risk:</a:t>
              </a:r>
              <a:r>
                <a:rPr lang="en-US" sz="1100" dirty="0"/>
                <a:t> Abnormal data volumes outside the data warehouse could go untracked, leading to uncontrolled compute costs and potential downtime</a:t>
              </a:r>
              <a:endParaRPr lang="en-US" sz="1100" b="1" dirty="0">
                <a:solidFill>
                  <a:schemeClr val="accent1"/>
                </a:solidFill>
              </a:endParaRPr>
            </a:p>
          </p:txBody>
        </p:sp>
      </p:grpSp>
      <p:sp>
        <p:nvSpPr>
          <p:cNvPr id="181" name="TextBox 73">
            <a:extLst>
              <a:ext uri="{FF2B5EF4-FFF2-40B4-BE49-F238E27FC236}">
                <a16:creationId xmlns:a16="http://schemas.microsoft.com/office/drawing/2014/main" id="{CD6414B2-D9B3-02E7-08D7-34089A1B8380}"/>
              </a:ext>
            </a:extLst>
          </p:cNvPr>
          <p:cNvSpPr txBox="1"/>
          <p:nvPr/>
        </p:nvSpPr>
        <p:spPr>
          <a:xfrm>
            <a:off x="6784030" y="1015359"/>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182" name="TextBox 74">
            <a:extLst>
              <a:ext uri="{FF2B5EF4-FFF2-40B4-BE49-F238E27FC236}">
                <a16:creationId xmlns:a16="http://schemas.microsoft.com/office/drawing/2014/main" id="{3CCDA0B5-4075-9C1D-C2FC-713B4136DE5B}"/>
              </a:ext>
            </a:extLst>
          </p:cNvPr>
          <p:cNvSpPr txBox="1"/>
          <p:nvPr/>
        </p:nvSpPr>
        <p:spPr>
          <a:xfrm>
            <a:off x="7060352" y="1015359"/>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177" name="Legend1">
            <a:extLst>
              <a:ext uri="{FF2B5EF4-FFF2-40B4-BE49-F238E27FC236}">
                <a16:creationId xmlns:a16="http://schemas.microsoft.com/office/drawing/2014/main" id="{DC21966A-E795-6AD8-2633-7FD1BADE2BC3}"/>
              </a:ext>
            </a:extLst>
          </p:cNvPr>
          <p:cNvSpPr txBox="1"/>
          <p:nvPr/>
        </p:nvSpPr>
        <p:spPr>
          <a:xfrm>
            <a:off x="8696584" y="1015359"/>
            <a:ext cx="234038"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Low</a:t>
            </a:r>
          </a:p>
        </p:txBody>
      </p:sp>
      <p:grpSp>
        <p:nvGrpSpPr>
          <p:cNvPr id="178" name="MoonLegend1">
            <a:extLst>
              <a:ext uri="{FF2B5EF4-FFF2-40B4-BE49-F238E27FC236}">
                <a16:creationId xmlns:a16="http://schemas.microsoft.com/office/drawing/2014/main" id="{65EF723F-28B7-F95A-3B67-49B86F02592C}"/>
              </a:ext>
            </a:extLst>
          </p:cNvPr>
          <p:cNvGrpSpPr>
            <a:grpSpLocks noChangeAspect="1"/>
          </p:cNvGrpSpPr>
          <p:nvPr/>
        </p:nvGrpSpPr>
        <p:grpSpPr>
          <a:xfrm>
            <a:off x="8476410" y="1014579"/>
            <a:ext cx="155448" cy="155448"/>
            <a:chOff x="762000" y="1270000"/>
            <a:chExt cx="254000" cy="254000"/>
          </a:xfrm>
        </p:grpSpPr>
        <p:sp>
          <p:nvSpPr>
            <p:cNvPr id="179" name="Oval 178">
              <a:extLst>
                <a:ext uri="{FF2B5EF4-FFF2-40B4-BE49-F238E27FC236}">
                  <a16:creationId xmlns:a16="http://schemas.microsoft.com/office/drawing/2014/main" id="{59DB9C7B-33B7-BCAB-EE7E-855AEF5D647D}"/>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80" name="Arc 179" hidden="1">
              <a:extLst>
                <a:ext uri="{FF2B5EF4-FFF2-40B4-BE49-F238E27FC236}">
                  <a16:creationId xmlns:a16="http://schemas.microsoft.com/office/drawing/2014/main" id="{9C8EBA6A-80AF-675C-1986-93F591DEA9C8}"/>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73" name="Legend3">
            <a:extLst>
              <a:ext uri="{FF2B5EF4-FFF2-40B4-BE49-F238E27FC236}">
                <a16:creationId xmlns:a16="http://schemas.microsoft.com/office/drawing/2014/main" id="{836F3CFB-5AE1-14C9-147B-BD824CA9929C}"/>
              </a:ext>
            </a:extLst>
          </p:cNvPr>
          <p:cNvSpPr txBox="1"/>
          <p:nvPr/>
        </p:nvSpPr>
        <p:spPr>
          <a:xfrm>
            <a:off x="9215522" y="1015359"/>
            <a:ext cx="455253"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Medium</a:t>
            </a:r>
          </a:p>
        </p:txBody>
      </p:sp>
      <p:grpSp>
        <p:nvGrpSpPr>
          <p:cNvPr id="174" name="MoonLegend3">
            <a:extLst>
              <a:ext uri="{FF2B5EF4-FFF2-40B4-BE49-F238E27FC236}">
                <a16:creationId xmlns:a16="http://schemas.microsoft.com/office/drawing/2014/main" id="{E3C17C1C-9F78-42A3-7B2F-DE51C00A9918}"/>
              </a:ext>
            </a:extLst>
          </p:cNvPr>
          <p:cNvGrpSpPr>
            <a:grpSpLocks noChangeAspect="1"/>
          </p:cNvGrpSpPr>
          <p:nvPr/>
        </p:nvGrpSpPr>
        <p:grpSpPr>
          <a:xfrm>
            <a:off x="8995348" y="1014579"/>
            <a:ext cx="155448" cy="155448"/>
            <a:chOff x="762000" y="1270000"/>
            <a:chExt cx="254000" cy="254000"/>
          </a:xfrm>
        </p:grpSpPr>
        <p:sp>
          <p:nvSpPr>
            <p:cNvPr id="175" name="Oval 174">
              <a:extLst>
                <a:ext uri="{FF2B5EF4-FFF2-40B4-BE49-F238E27FC236}">
                  <a16:creationId xmlns:a16="http://schemas.microsoft.com/office/drawing/2014/main" id="{ED96CB72-073E-C60D-6EA1-56C80493B2E0}"/>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6" name="Arc 175">
              <a:extLst>
                <a:ext uri="{FF2B5EF4-FFF2-40B4-BE49-F238E27FC236}">
                  <a16:creationId xmlns:a16="http://schemas.microsoft.com/office/drawing/2014/main" id="{7B407E05-C3F4-3659-F659-7203EBCC1972}"/>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69" name="Legend5">
            <a:extLst>
              <a:ext uri="{FF2B5EF4-FFF2-40B4-BE49-F238E27FC236}">
                <a16:creationId xmlns:a16="http://schemas.microsoft.com/office/drawing/2014/main" id="{890A3BA4-3D39-82DB-F718-782C852B86A7}"/>
              </a:ext>
            </a:extLst>
          </p:cNvPr>
          <p:cNvSpPr txBox="1"/>
          <p:nvPr/>
        </p:nvSpPr>
        <p:spPr>
          <a:xfrm>
            <a:off x="9955675" y="1015359"/>
            <a:ext cx="262892"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High</a:t>
            </a:r>
          </a:p>
        </p:txBody>
      </p:sp>
      <p:grpSp>
        <p:nvGrpSpPr>
          <p:cNvPr id="170" name="MoonLegend5">
            <a:extLst>
              <a:ext uri="{FF2B5EF4-FFF2-40B4-BE49-F238E27FC236}">
                <a16:creationId xmlns:a16="http://schemas.microsoft.com/office/drawing/2014/main" id="{1752B14E-2887-16E8-7622-4BE9363B52F4}"/>
              </a:ext>
            </a:extLst>
          </p:cNvPr>
          <p:cNvGrpSpPr>
            <a:grpSpLocks noChangeAspect="1"/>
          </p:cNvGrpSpPr>
          <p:nvPr/>
        </p:nvGrpSpPr>
        <p:grpSpPr>
          <a:xfrm>
            <a:off x="9735501" y="1014579"/>
            <a:ext cx="155448" cy="155448"/>
            <a:chOff x="762000" y="1270000"/>
            <a:chExt cx="254000" cy="254000"/>
          </a:xfrm>
        </p:grpSpPr>
        <p:sp>
          <p:nvSpPr>
            <p:cNvPr id="171" name="Oval 170">
              <a:extLst>
                <a:ext uri="{FF2B5EF4-FFF2-40B4-BE49-F238E27FC236}">
                  <a16:creationId xmlns:a16="http://schemas.microsoft.com/office/drawing/2014/main" id="{6360643B-3B09-F159-0872-84D220BC2669}"/>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2" name="Arc 171">
              <a:extLst>
                <a:ext uri="{FF2B5EF4-FFF2-40B4-BE49-F238E27FC236}">
                  <a16:creationId xmlns:a16="http://schemas.microsoft.com/office/drawing/2014/main" id="{D1799598-D290-2ECB-58FA-5CF4910CC472}"/>
                </a:ext>
              </a:extLst>
            </p:cNvPr>
            <p:cNvSpPr/>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67" name="TextBox 166">
            <a:extLst>
              <a:ext uri="{FF2B5EF4-FFF2-40B4-BE49-F238E27FC236}">
                <a16:creationId xmlns:a16="http://schemas.microsoft.com/office/drawing/2014/main" id="{939A5EF1-E6DB-C928-6E22-686F473E7FCC}"/>
              </a:ext>
            </a:extLst>
          </p:cNvPr>
          <p:cNvSpPr txBox="1"/>
          <p:nvPr/>
        </p:nvSpPr>
        <p:spPr>
          <a:xfrm>
            <a:off x="4760434" y="1015359"/>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Most critical for AI Data Readiness</a:t>
            </a:r>
          </a:p>
        </p:txBody>
      </p:sp>
      <p:sp>
        <p:nvSpPr>
          <p:cNvPr id="168" name="Rectangle 167">
            <a:extLst>
              <a:ext uri="{FF2B5EF4-FFF2-40B4-BE49-F238E27FC236}">
                <a16:creationId xmlns:a16="http://schemas.microsoft.com/office/drawing/2014/main" id="{90BAEDCA-63F5-BFED-6E21-8FFCA71187B7}"/>
              </a:ext>
            </a:extLst>
          </p:cNvPr>
          <p:cNvSpPr/>
          <p:nvPr/>
        </p:nvSpPr>
        <p:spPr>
          <a:xfrm>
            <a:off x="4540260" y="1014579"/>
            <a:ext cx="155448" cy="155448"/>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nvGrpSpPr>
          <p:cNvPr id="163" name="MinusSignBlue 65">
            <a:extLst>
              <a:ext uri="{FF2B5EF4-FFF2-40B4-BE49-F238E27FC236}">
                <a16:creationId xmlns:a16="http://schemas.microsoft.com/office/drawing/2014/main" id="{30BF17FA-3FEB-E810-6B41-5390BD3F8E0E}"/>
              </a:ext>
            </a:extLst>
          </p:cNvPr>
          <p:cNvGrpSpPr>
            <a:grpSpLocks noChangeAspect="1"/>
          </p:cNvGrpSpPr>
          <p:nvPr>
            <p:custDataLst>
              <p:tags r:id="rId8"/>
            </p:custDataLst>
          </p:nvPr>
        </p:nvGrpSpPr>
        <p:grpSpPr>
          <a:xfrm>
            <a:off x="10283293" y="1014579"/>
            <a:ext cx="155448" cy="155448"/>
            <a:chOff x="1016000" y="1016000"/>
            <a:chExt cx="396228" cy="396228"/>
          </a:xfrm>
        </p:grpSpPr>
        <p:sp>
          <p:nvSpPr>
            <p:cNvPr id="165" name="Oval 164">
              <a:extLst>
                <a:ext uri="{FF2B5EF4-FFF2-40B4-BE49-F238E27FC236}">
                  <a16:creationId xmlns:a16="http://schemas.microsoft.com/office/drawing/2014/main" id="{2B9BC96E-69CD-C9A4-67F6-57B28E8E3879}"/>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66" name="Graphic 165">
              <a:extLst>
                <a:ext uri="{FF2B5EF4-FFF2-40B4-BE49-F238E27FC236}">
                  <a16:creationId xmlns:a16="http://schemas.microsoft.com/office/drawing/2014/main" id="{E976E498-A549-8D46-8CBC-0EAFD1AD638A}"/>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sp>
        <p:nvSpPr>
          <p:cNvPr id="164" name="Legend3">
            <a:extLst>
              <a:ext uri="{FF2B5EF4-FFF2-40B4-BE49-F238E27FC236}">
                <a16:creationId xmlns:a16="http://schemas.microsoft.com/office/drawing/2014/main" id="{484965E9-998C-26CE-8D23-37B9C90CB7F5}"/>
              </a:ext>
            </a:extLst>
          </p:cNvPr>
          <p:cNvSpPr txBox="1"/>
          <p:nvPr/>
        </p:nvSpPr>
        <p:spPr>
          <a:xfrm>
            <a:off x="10503467" y="1015359"/>
            <a:ext cx="30457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Gaps</a:t>
            </a:r>
          </a:p>
        </p:txBody>
      </p:sp>
      <p:grpSp>
        <p:nvGrpSpPr>
          <p:cNvPr id="159" name="PlusSignWhite 203">
            <a:extLst>
              <a:ext uri="{FF2B5EF4-FFF2-40B4-BE49-F238E27FC236}">
                <a16:creationId xmlns:a16="http://schemas.microsoft.com/office/drawing/2014/main" id="{64E3D7AA-B527-8C97-456D-DA57FCC3FAED}"/>
              </a:ext>
            </a:extLst>
          </p:cNvPr>
          <p:cNvGrpSpPr>
            <a:grpSpLocks/>
          </p:cNvGrpSpPr>
          <p:nvPr>
            <p:custDataLst>
              <p:tags r:id="rId9"/>
            </p:custDataLst>
          </p:nvPr>
        </p:nvGrpSpPr>
        <p:grpSpPr>
          <a:xfrm>
            <a:off x="10872764" y="1014579"/>
            <a:ext cx="155448" cy="155448"/>
            <a:chOff x="1016000" y="1016000"/>
            <a:chExt cx="396228" cy="396228"/>
          </a:xfrm>
          <a:solidFill>
            <a:schemeClr val="accent1"/>
          </a:solidFill>
        </p:grpSpPr>
        <p:sp>
          <p:nvSpPr>
            <p:cNvPr id="161" name="Oval 160">
              <a:extLst>
                <a:ext uri="{FF2B5EF4-FFF2-40B4-BE49-F238E27FC236}">
                  <a16:creationId xmlns:a16="http://schemas.microsoft.com/office/drawing/2014/main" id="{999C1EC9-3DB5-D0E0-468E-AD55142B322B}"/>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62" name="Graphic 161">
              <a:extLst>
                <a:ext uri="{FF2B5EF4-FFF2-40B4-BE49-F238E27FC236}">
                  <a16:creationId xmlns:a16="http://schemas.microsoft.com/office/drawing/2014/main" id="{A9DBEC18-9D2C-A243-4B0F-78FFE3EDD5FB}"/>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023614" y="1023614"/>
              <a:ext cx="381000" cy="381000"/>
            </a:xfrm>
            <a:prstGeom prst="rect">
              <a:avLst/>
            </a:prstGeom>
          </p:spPr>
        </p:pic>
      </p:grpSp>
      <p:sp>
        <p:nvSpPr>
          <p:cNvPr id="160" name="Legend3">
            <a:extLst>
              <a:ext uri="{FF2B5EF4-FFF2-40B4-BE49-F238E27FC236}">
                <a16:creationId xmlns:a16="http://schemas.microsoft.com/office/drawing/2014/main" id="{1C1FD897-ADC1-AC17-15F1-83F1D6CC9463}"/>
              </a:ext>
            </a:extLst>
          </p:cNvPr>
          <p:cNvSpPr txBox="1"/>
          <p:nvPr/>
        </p:nvSpPr>
        <p:spPr>
          <a:xfrm>
            <a:off x="11092942" y="1015359"/>
            <a:ext cx="54502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altLang="zh-CN" sz="1000" dirty="0"/>
              <a:t>Strengths</a:t>
            </a:r>
            <a:endParaRPr lang="en-US" sz="1000" dirty="0"/>
          </a:p>
        </p:txBody>
      </p:sp>
      <p:sp>
        <p:nvSpPr>
          <p:cNvPr id="2" name="Sticker">
            <a:extLst>
              <a:ext uri="{FF2B5EF4-FFF2-40B4-BE49-F238E27FC236}">
                <a16:creationId xmlns:a16="http://schemas.microsoft.com/office/drawing/2014/main" id="{8C9392B2-AEEC-AAFB-E0B6-610C53846C1B}"/>
              </a:ext>
            </a:extLst>
          </p:cNvPr>
          <p:cNvSpPr txBox="1"/>
          <p:nvPr/>
        </p:nvSpPr>
        <p:spPr>
          <a:xfrm>
            <a:off x="558489" y="1046916"/>
            <a:ext cx="706925"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en-US"/>
              <a:t>Preliminary</a:t>
            </a:r>
          </a:p>
        </p:txBody>
      </p:sp>
      <p:grpSp>
        <p:nvGrpSpPr>
          <p:cNvPr id="80" name="MinusSignBlue 65">
            <a:extLst>
              <a:ext uri="{FF2B5EF4-FFF2-40B4-BE49-F238E27FC236}">
                <a16:creationId xmlns:a16="http://schemas.microsoft.com/office/drawing/2014/main" id="{185DCA11-6699-A6D7-1269-EC84DE1AA5C4}"/>
              </a:ext>
            </a:extLst>
          </p:cNvPr>
          <p:cNvGrpSpPr>
            <a:grpSpLocks noChangeAspect="1"/>
          </p:cNvGrpSpPr>
          <p:nvPr>
            <p:custDataLst>
              <p:tags r:id="rId10"/>
            </p:custDataLst>
          </p:nvPr>
        </p:nvGrpSpPr>
        <p:grpSpPr>
          <a:xfrm>
            <a:off x="3660455" y="1945386"/>
            <a:ext cx="155448" cy="155448"/>
            <a:chOff x="1016000" y="1016000"/>
            <a:chExt cx="396228" cy="396228"/>
          </a:xfrm>
        </p:grpSpPr>
        <p:sp>
          <p:nvSpPr>
            <p:cNvPr id="81" name="Oval 80">
              <a:extLst>
                <a:ext uri="{FF2B5EF4-FFF2-40B4-BE49-F238E27FC236}">
                  <a16:creationId xmlns:a16="http://schemas.microsoft.com/office/drawing/2014/main" id="{17028C3C-6032-1EF5-49E2-738BDCFEAF75}"/>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85" name="Graphic 84">
              <a:extLst>
                <a:ext uri="{FF2B5EF4-FFF2-40B4-BE49-F238E27FC236}">
                  <a16:creationId xmlns:a16="http://schemas.microsoft.com/office/drawing/2014/main" id="{90015FEC-DCE1-7FDA-CF3A-443F2558E497}"/>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95" name="MinusSignBlue 65">
            <a:extLst>
              <a:ext uri="{FF2B5EF4-FFF2-40B4-BE49-F238E27FC236}">
                <a16:creationId xmlns:a16="http://schemas.microsoft.com/office/drawing/2014/main" id="{2834BC8E-321D-1B36-42B6-163EBECDA51F}"/>
              </a:ext>
            </a:extLst>
          </p:cNvPr>
          <p:cNvGrpSpPr>
            <a:grpSpLocks noChangeAspect="1"/>
          </p:cNvGrpSpPr>
          <p:nvPr>
            <p:custDataLst>
              <p:tags r:id="rId11"/>
            </p:custDataLst>
          </p:nvPr>
        </p:nvGrpSpPr>
        <p:grpSpPr>
          <a:xfrm>
            <a:off x="3660455" y="2375336"/>
            <a:ext cx="155448" cy="155448"/>
            <a:chOff x="1016000" y="1016000"/>
            <a:chExt cx="396228" cy="396228"/>
          </a:xfrm>
        </p:grpSpPr>
        <p:sp>
          <p:nvSpPr>
            <p:cNvPr id="96" name="Oval 95">
              <a:extLst>
                <a:ext uri="{FF2B5EF4-FFF2-40B4-BE49-F238E27FC236}">
                  <a16:creationId xmlns:a16="http://schemas.microsoft.com/office/drawing/2014/main" id="{9D89801F-E669-C07E-38B0-2F01E331E440}"/>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97" name="Graphic 96">
              <a:extLst>
                <a:ext uri="{FF2B5EF4-FFF2-40B4-BE49-F238E27FC236}">
                  <a16:creationId xmlns:a16="http://schemas.microsoft.com/office/drawing/2014/main" id="{F32DC545-F58E-AA0F-C1C2-D538168B43D7}"/>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98" name="MinusSignBlue 65">
            <a:extLst>
              <a:ext uri="{FF2B5EF4-FFF2-40B4-BE49-F238E27FC236}">
                <a16:creationId xmlns:a16="http://schemas.microsoft.com/office/drawing/2014/main" id="{85CC7095-3433-E271-11CA-6077EBC482B8}"/>
              </a:ext>
            </a:extLst>
          </p:cNvPr>
          <p:cNvGrpSpPr>
            <a:grpSpLocks noChangeAspect="1"/>
          </p:cNvGrpSpPr>
          <p:nvPr>
            <p:custDataLst>
              <p:tags r:id="rId12"/>
            </p:custDataLst>
          </p:nvPr>
        </p:nvGrpSpPr>
        <p:grpSpPr>
          <a:xfrm>
            <a:off x="3660455" y="2776383"/>
            <a:ext cx="155448" cy="155448"/>
            <a:chOff x="1016000" y="1016000"/>
            <a:chExt cx="396228" cy="396228"/>
          </a:xfrm>
        </p:grpSpPr>
        <p:sp>
          <p:nvSpPr>
            <p:cNvPr id="99" name="Oval 98">
              <a:extLst>
                <a:ext uri="{FF2B5EF4-FFF2-40B4-BE49-F238E27FC236}">
                  <a16:creationId xmlns:a16="http://schemas.microsoft.com/office/drawing/2014/main" id="{EE808338-EA94-997E-3EE1-663BAE9F27DC}"/>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00" name="Graphic 99">
              <a:extLst>
                <a:ext uri="{FF2B5EF4-FFF2-40B4-BE49-F238E27FC236}">
                  <a16:creationId xmlns:a16="http://schemas.microsoft.com/office/drawing/2014/main" id="{2EF4D6CE-6635-FB0A-7984-20C8DF9574C3}"/>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101" name="MinusSignBlue 65">
            <a:extLst>
              <a:ext uri="{FF2B5EF4-FFF2-40B4-BE49-F238E27FC236}">
                <a16:creationId xmlns:a16="http://schemas.microsoft.com/office/drawing/2014/main" id="{39D8140D-1BD9-EEF6-D640-BCEBC3903E8B}"/>
              </a:ext>
            </a:extLst>
          </p:cNvPr>
          <p:cNvGrpSpPr>
            <a:grpSpLocks noChangeAspect="1"/>
          </p:cNvGrpSpPr>
          <p:nvPr>
            <p:custDataLst>
              <p:tags r:id="rId13"/>
            </p:custDataLst>
          </p:nvPr>
        </p:nvGrpSpPr>
        <p:grpSpPr>
          <a:xfrm>
            <a:off x="3660455" y="3377456"/>
            <a:ext cx="155448" cy="155448"/>
            <a:chOff x="1016000" y="1016000"/>
            <a:chExt cx="396228" cy="396228"/>
          </a:xfrm>
        </p:grpSpPr>
        <p:sp>
          <p:nvSpPr>
            <p:cNvPr id="102" name="Oval 101">
              <a:extLst>
                <a:ext uri="{FF2B5EF4-FFF2-40B4-BE49-F238E27FC236}">
                  <a16:creationId xmlns:a16="http://schemas.microsoft.com/office/drawing/2014/main" id="{B585E044-4292-4311-E01D-C1C0EFF5E502}"/>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03" name="Graphic 102">
              <a:extLst>
                <a:ext uri="{FF2B5EF4-FFF2-40B4-BE49-F238E27FC236}">
                  <a16:creationId xmlns:a16="http://schemas.microsoft.com/office/drawing/2014/main" id="{E7FD5981-8BB2-9589-958E-81E7046BF742}"/>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104" name="MinusSignBlue 65">
            <a:extLst>
              <a:ext uri="{FF2B5EF4-FFF2-40B4-BE49-F238E27FC236}">
                <a16:creationId xmlns:a16="http://schemas.microsoft.com/office/drawing/2014/main" id="{E97CCE91-1938-ACA2-7BCF-39EDC6D91B47}"/>
              </a:ext>
            </a:extLst>
          </p:cNvPr>
          <p:cNvGrpSpPr>
            <a:grpSpLocks noChangeAspect="1"/>
          </p:cNvGrpSpPr>
          <p:nvPr>
            <p:custDataLst>
              <p:tags r:id="rId14"/>
            </p:custDataLst>
          </p:nvPr>
        </p:nvGrpSpPr>
        <p:grpSpPr>
          <a:xfrm>
            <a:off x="3660455" y="3796921"/>
            <a:ext cx="155448" cy="155448"/>
            <a:chOff x="1016000" y="1016000"/>
            <a:chExt cx="396228" cy="396228"/>
          </a:xfrm>
        </p:grpSpPr>
        <p:sp>
          <p:nvSpPr>
            <p:cNvPr id="105" name="Oval 104">
              <a:extLst>
                <a:ext uri="{FF2B5EF4-FFF2-40B4-BE49-F238E27FC236}">
                  <a16:creationId xmlns:a16="http://schemas.microsoft.com/office/drawing/2014/main" id="{F152E2B9-1C61-7720-1137-FB2DFC445882}"/>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06" name="Graphic 105">
              <a:extLst>
                <a:ext uri="{FF2B5EF4-FFF2-40B4-BE49-F238E27FC236}">
                  <a16:creationId xmlns:a16="http://schemas.microsoft.com/office/drawing/2014/main" id="{63DE2A91-1848-ADC3-A7C0-ADF04FC7AB4C}"/>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107" name="MinusSignBlue 65">
            <a:extLst>
              <a:ext uri="{FF2B5EF4-FFF2-40B4-BE49-F238E27FC236}">
                <a16:creationId xmlns:a16="http://schemas.microsoft.com/office/drawing/2014/main" id="{0A1DFC80-06A2-B981-1F6F-C776284F4C64}"/>
              </a:ext>
            </a:extLst>
          </p:cNvPr>
          <p:cNvGrpSpPr>
            <a:grpSpLocks noChangeAspect="1"/>
          </p:cNvGrpSpPr>
          <p:nvPr>
            <p:custDataLst>
              <p:tags r:id="rId15"/>
            </p:custDataLst>
          </p:nvPr>
        </p:nvGrpSpPr>
        <p:grpSpPr>
          <a:xfrm>
            <a:off x="3660455" y="4577971"/>
            <a:ext cx="155448" cy="155448"/>
            <a:chOff x="1016000" y="1016000"/>
            <a:chExt cx="396228" cy="396228"/>
          </a:xfrm>
        </p:grpSpPr>
        <p:sp>
          <p:nvSpPr>
            <p:cNvPr id="109" name="Oval 108">
              <a:extLst>
                <a:ext uri="{FF2B5EF4-FFF2-40B4-BE49-F238E27FC236}">
                  <a16:creationId xmlns:a16="http://schemas.microsoft.com/office/drawing/2014/main" id="{6819C008-4F85-86D0-CD5A-AD58BE9573CA}"/>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0" name="Graphic 109">
              <a:extLst>
                <a:ext uri="{FF2B5EF4-FFF2-40B4-BE49-F238E27FC236}">
                  <a16:creationId xmlns:a16="http://schemas.microsoft.com/office/drawing/2014/main" id="{B975CC5D-2863-AB21-586B-68DF4DFF9250}"/>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111" name="MinusSignBlue 65">
            <a:extLst>
              <a:ext uri="{FF2B5EF4-FFF2-40B4-BE49-F238E27FC236}">
                <a16:creationId xmlns:a16="http://schemas.microsoft.com/office/drawing/2014/main" id="{752E89AC-BD69-8466-D6FB-E62267BC1C77}"/>
              </a:ext>
            </a:extLst>
          </p:cNvPr>
          <p:cNvGrpSpPr>
            <a:grpSpLocks noChangeAspect="1"/>
          </p:cNvGrpSpPr>
          <p:nvPr>
            <p:custDataLst>
              <p:tags r:id="rId16"/>
            </p:custDataLst>
          </p:nvPr>
        </p:nvGrpSpPr>
        <p:grpSpPr>
          <a:xfrm>
            <a:off x="3660455" y="4978605"/>
            <a:ext cx="155448" cy="155448"/>
            <a:chOff x="1016000" y="1016000"/>
            <a:chExt cx="396228" cy="396228"/>
          </a:xfrm>
        </p:grpSpPr>
        <p:sp>
          <p:nvSpPr>
            <p:cNvPr id="112" name="Oval 111">
              <a:extLst>
                <a:ext uri="{FF2B5EF4-FFF2-40B4-BE49-F238E27FC236}">
                  <a16:creationId xmlns:a16="http://schemas.microsoft.com/office/drawing/2014/main" id="{6E21F8BE-3C49-ED47-EC28-E2A77E41034D}"/>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3" name="Graphic 112">
              <a:extLst>
                <a:ext uri="{FF2B5EF4-FFF2-40B4-BE49-F238E27FC236}">
                  <a16:creationId xmlns:a16="http://schemas.microsoft.com/office/drawing/2014/main" id="{57360305-FC0D-95D8-2EA3-4410F9C48279}"/>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grpSp>
        <p:nvGrpSpPr>
          <p:cNvPr id="123" name="MinusSignBlue 65">
            <a:extLst>
              <a:ext uri="{FF2B5EF4-FFF2-40B4-BE49-F238E27FC236}">
                <a16:creationId xmlns:a16="http://schemas.microsoft.com/office/drawing/2014/main" id="{F1DF679B-3CEC-0918-9388-0676AD866CF8}"/>
              </a:ext>
            </a:extLst>
          </p:cNvPr>
          <p:cNvGrpSpPr>
            <a:grpSpLocks noChangeAspect="1"/>
          </p:cNvGrpSpPr>
          <p:nvPr>
            <p:custDataLst>
              <p:tags r:id="rId17"/>
            </p:custDataLst>
          </p:nvPr>
        </p:nvGrpSpPr>
        <p:grpSpPr>
          <a:xfrm>
            <a:off x="3660455" y="5218890"/>
            <a:ext cx="155448" cy="155448"/>
            <a:chOff x="1016000" y="1016000"/>
            <a:chExt cx="396228" cy="396228"/>
          </a:xfrm>
        </p:grpSpPr>
        <p:sp>
          <p:nvSpPr>
            <p:cNvPr id="126" name="Oval 125">
              <a:extLst>
                <a:ext uri="{FF2B5EF4-FFF2-40B4-BE49-F238E27FC236}">
                  <a16:creationId xmlns:a16="http://schemas.microsoft.com/office/drawing/2014/main" id="{21B8D3C4-A0D5-D1EF-91FC-8B20D3CD4DDC}"/>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27" name="Graphic 126">
              <a:extLst>
                <a:ext uri="{FF2B5EF4-FFF2-40B4-BE49-F238E27FC236}">
                  <a16:creationId xmlns:a16="http://schemas.microsoft.com/office/drawing/2014/main" id="{A8772926-7F85-5DE8-3664-E3EA866CC258}"/>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3614" y="1023614"/>
              <a:ext cx="381000" cy="381000"/>
            </a:xfrm>
            <a:prstGeom prst="rect">
              <a:avLst/>
            </a:prstGeom>
          </p:spPr>
        </p:pic>
      </p:grpSp>
    </p:spTree>
    <p:custDataLst>
      <p:tags r:id="rId1"/>
    </p:custDataLst>
    <p:extLst>
      <p:ext uri="{BB962C8B-B14F-4D97-AF65-F5344CB8AC3E}">
        <p14:creationId xmlns:p14="http://schemas.microsoft.com/office/powerpoint/2010/main" val="4039070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2CD59-0DC2-5A2B-49B9-7A5F7780839B}"/>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2D7DFDE3-D44B-0885-99B6-26050F8C961E}"/>
              </a:ext>
            </a:extLst>
          </p:cNvPr>
          <p:cNvGraphicFramePr>
            <a:graphicFrameLocks noChangeAspect="1"/>
          </p:cNvGraphicFramePr>
          <p:nvPr>
            <p:custDataLst>
              <p:tags r:id="rId2"/>
            </p:custDataLst>
            <p:extLst>
              <p:ext uri="{D42A27DB-BD31-4B8C-83A1-F6EECF244321}">
                <p14:modId xmlns:p14="http://schemas.microsoft.com/office/powerpoint/2010/main" val="2817760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404" imgH="405" progId="TCLayout.ActiveDocument.1">
                  <p:embed/>
                </p:oleObj>
              </mc:Choice>
              <mc:Fallback>
                <p:oleObj name="think-cell Slide" r:id="rId55" imgW="404" imgH="405" progId="TCLayout.ActiveDocument.1">
                  <p:embed/>
                  <p:pic>
                    <p:nvPicPr>
                      <p:cNvPr id="5" name="Object 6" hidden="1">
                        <a:extLst>
                          <a:ext uri="{FF2B5EF4-FFF2-40B4-BE49-F238E27FC236}">
                            <a16:creationId xmlns:a16="http://schemas.microsoft.com/office/drawing/2014/main" id="{2D7DFDE3-D44B-0885-99B6-26050F8C961E}"/>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234" name="Rectangle 233">
            <a:extLst>
              <a:ext uri="{FF2B5EF4-FFF2-40B4-BE49-F238E27FC236}">
                <a16:creationId xmlns:a16="http://schemas.microsoft.com/office/drawing/2014/main" id="{AAB4CA50-3558-D18B-0242-DDE3D01C5C2C}"/>
              </a:ext>
            </a:extLst>
          </p:cNvPr>
          <p:cNvSpPr>
            <a:spLocks/>
          </p:cNvSpPr>
          <p:nvPr/>
        </p:nvSpPr>
        <p:spPr>
          <a:xfrm>
            <a:off x="484496" y="2898036"/>
            <a:ext cx="11193353" cy="1677652"/>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3" name="Rectangle 232">
            <a:extLst>
              <a:ext uri="{FF2B5EF4-FFF2-40B4-BE49-F238E27FC236}">
                <a16:creationId xmlns:a16="http://schemas.microsoft.com/office/drawing/2014/main" id="{030B63D6-A7EA-0558-B13F-95BEFC056A6C}"/>
              </a:ext>
            </a:extLst>
          </p:cNvPr>
          <p:cNvSpPr>
            <a:spLocks/>
          </p:cNvSpPr>
          <p:nvPr/>
        </p:nvSpPr>
        <p:spPr>
          <a:xfrm>
            <a:off x="484496" y="5517164"/>
            <a:ext cx="11193353" cy="932404"/>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 name="2. Slide Title">
            <a:extLst>
              <a:ext uri="{FF2B5EF4-FFF2-40B4-BE49-F238E27FC236}">
                <a16:creationId xmlns:a16="http://schemas.microsoft.com/office/drawing/2014/main" id="{FEC27E89-A3FD-7736-C8CF-0D978C14BEE2}"/>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dirty="0"/>
              <a:t>B. Data Type &amp; Quality dimension observations and implications</a:t>
            </a:r>
          </a:p>
        </p:txBody>
      </p:sp>
      <p:sp>
        <p:nvSpPr>
          <p:cNvPr id="8" name="Text Placeholder 7">
            <a:extLst>
              <a:ext uri="{FF2B5EF4-FFF2-40B4-BE49-F238E27FC236}">
                <a16:creationId xmlns:a16="http://schemas.microsoft.com/office/drawing/2014/main" id="{CD64589E-FE61-5548-BC18-25A621B0E54F}"/>
              </a:ext>
            </a:extLst>
          </p:cNvPr>
          <p:cNvSpPr>
            <a:spLocks noGrp="1"/>
          </p:cNvSpPr>
          <p:nvPr>
            <p:ph type="body" sz="quarter" idx="17"/>
          </p:nvPr>
        </p:nvSpPr>
        <p:spPr/>
        <p:txBody>
          <a:bodyPr/>
          <a:lstStyle/>
          <a:p>
            <a:endParaRPr lang="en-US"/>
          </a:p>
        </p:txBody>
      </p:sp>
      <p:cxnSp>
        <p:nvCxnSpPr>
          <p:cNvPr id="6" name="Straight Connector 5">
            <a:extLst>
              <a:ext uri="{FF2B5EF4-FFF2-40B4-BE49-F238E27FC236}">
                <a16:creationId xmlns:a16="http://schemas.microsoft.com/office/drawing/2014/main" id="{3F7169B2-1DC9-CBC4-1BDD-4AE50CF5F591}"/>
              </a:ext>
            </a:extLst>
          </p:cNvPr>
          <p:cNvCxnSpPr>
            <a:cxnSpLocks/>
          </p:cNvCxnSpPr>
          <p:nvPr>
            <p:custDataLst>
              <p:tags r:id="rId4"/>
            </p:custDataLst>
          </p:nvPr>
        </p:nvCxnSpPr>
        <p:spPr>
          <a:xfrm>
            <a:off x="539908" y="2869315"/>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26CA327-207E-FDB3-FEFC-ECF8BFC84D90}"/>
              </a:ext>
            </a:extLst>
          </p:cNvPr>
          <p:cNvCxnSpPr>
            <a:cxnSpLocks/>
          </p:cNvCxnSpPr>
          <p:nvPr>
            <p:custDataLst>
              <p:tags r:id="rId5"/>
            </p:custDataLst>
          </p:nvPr>
        </p:nvCxnSpPr>
        <p:spPr>
          <a:xfrm>
            <a:off x="554736" y="3913834"/>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FF1B6DB-4A3D-4306-8C3E-FF862B7C553F}"/>
              </a:ext>
            </a:extLst>
          </p:cNvPr>
          <p:cNvCxnSpPr>
            <a:cxnSpLocks/>
          </p:cNvCxnSpPr>
          <p:nvPr>
            <p:custDataLst>
              <p:tags r:id="rId6"/>
            </p:custDataLst>
          </p:nvPr>
        </p:nvCxnSpPr>
        <p:spPr>
          <a:xfrm>
            <a:off x="554736" y="4604410"/>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C32D237-0E24-BA3B-AE51-6FE4E0020D79}"/>
              </a:ext>
            </a:extLst>
          </p:cNvPr>
          <p:cNvCxnSpPr>
            <a:cxnSpLocks/>
          </p:cNvCxnSpPr>
          <p:nvPr>
            <p:custDataLst>
              <p:tags r:id="rId7"/>
            </p:custDataLst>
          </p:nvPr>
        </p:nvCxnSpPr>
        <p:spPr>
          <a:xfrm>
            <a:off x="554736" y="5510429"/>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 name="4. Footnote">
            <a:extLst>
              <a:ext uri="{FF2B5EF4-FFF2-40B4-BE49-F238E27FC236}">
                <a16:creationId xmlns:a16="http://schemas.microsoft.com/office/drawing/2014/main" id="{C9B36868-F20B-9866-1409-534A1619935F}"/>
              </a:ext>
            </a:extLst>
          </p:cNvPr>
          <p:cNvSpPr txBox="1"/>
          <p:nvPr>
            <p:custDataLst>
              <p:tags r:id="rId8"/>
            </p:custDataLst>
          </p:nvPr>
        </p:nvSpPr>
        <p:spPr>
          <a:xfrm>
            <a:off x="553972" y="6549322"/>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1.	Many sources have their own external governance or validation controls in place</a:t>
            </a:r>
          </a:p>
        </p:txBody>
      </p:sp>
      <p:sp>
        <p:nvSpPr>
          <p:cNvPr id="20" name="4. Footnote" hidden="1">
            <a:extLst>
              <a:ext uri="{FF2B5EF4-FFF2-40B4-BE49-F238E27FC236}">
                <a16:creationId xmlns:a16="http://schemas.microsoft.com/office/drawing/2014/main" id="{16E8CF17-7C10-2E43-3101-1EC3B23371C9}"/>
              </a:ext>
            </a:extLst>
          </p:cNvPr>
          <p:cNvSpPr txBox="1"/>
          <p:nvPr>
            <p:custDataLst>
              <p:tags r:id="rId9"/>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grpSp>
        <p:nvGrpSpPr>
          <p:cNvPr id="172" name="Group 171">
            <a:extLst>
              <a:ext uri="{FF2B5EF4-FFF2-40B4-BE49-F238E27FC236}">
                <a16:creationId xmlns:a16="http://schemas.microsoft.com/office/drawing/2014/main" id="{7BE48977-C5AE-4AAD-FA51-CDA688D234B9}"/>
              </a:ext>
            </a:extLst>
          </p:cNvPr>
          <p:cNvGrpSpPr/>
          <p:nvPr/>
        </p:nvGrpSpPr>
        <p:grpSpPr>
          <a:xfrm>
            <a:off x="554038" y="1931557"/>
            <a:ext cx="11083925" cy="869469"/>
            <a:chOff x="554038" y="1931557"/>
            <a:chExt cx="11083925" cy="869469"/>
          </a:xfrm>
        </p:grpSpPr>
        <p:sp>
          <p:nvSpPr>
            <p:cNvPr id="108" name="TextBox 107">
              <a:extLst>
                <a:ext uri="{FF2B5EF4-FFF2-40B4-BE49-F238E27FC236}">
                  <a16:creationId xmlns:a16="http://schemas.microsoft.com/office/drawing/2014/main" id="{1CFB56EB-0C89-B02B-3896-94A68F462B31}"/>
                </a:ext>
              </a:extLst>
            </p:cNvPr>
            <p:cNvSpPr txBox="1">
              <a:spLocks/>
            </p:cNvSpPr>
            <p:nvPr/>
          </p:nvSpPr>
          <p:spPr>
            <a:xfrm>
              <a:off x="554038" y="1931557"/>
              <a:ext cx="1060273" cy="30777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Validity and uniqueness</a:t>
              </a:r>
            </a:p>
          </p:txBody>
        </p:sp>
        <p:sp>
          <p:nvSpPr>
            <p:cNvPr id="60" name="TextBox 59">
              <a:extLst>
                <a:ext uri="{FF2B5EF4-FFF2-40B4-BE49-F238E27FC236}">
                  <a16:creationId xmlns:a16="http://schemas.microsoft.com/office/drawing/2014/main" id="{AD9D1C28-E18D-40F7-2614-5F58323E6C12}"/>
                </a:ext>
              </a:extLst>
            </p:cNvPr>
            <p:cNvSpPr txBox="1">
              <a:spLocks/>
            </p:cNvSpPr>
            <p:nvPr>
              <p:custDataLst>
                <p:tags r:id="rId46"/>
              </p:custDataLst>
            </p:nvPr>
          </p:nvSpPr>
          <p:spPr>
            <a:xfrm>
              <a:off x="3723679" y="1931557"/>
              <a:ext cx="3621681" cy="86946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ct val="0"/>
                </a:spcBef>
                <a:buFont typeface="Arial" panose="020B0604020202020204" pitchFamily="34" charset="0"/>
                <a:buChar char="•"/>
              </a:pPr>
              <a:r>
                <a:rPr lang="en-US" sz="900" b="1" dirty="0"/>
                <a:t>Reliance on upstream controls</a:t>
              </a:r>
              <a:r>
                <a:rPr lang="en-US" sz="900" dirty="0"/>
                <a:t> (e.g.,  ,  ...) that handle deduplication and validity for ~80% of use cases, with little downstream verification</a:t>
              </a:r>
              <a:r>
                <a:rPr lang="en-US" sz="900" baseline="30000" dirty="0"/>
                <a:t>1</a:t>
              </a:r>
            </a:p>
            <a:p>
              <a:pPr marL="171450" indent="-171450">
                <a:spcBef>
                  <a:spcPct val="0"/>
                </a:spcBef>
                <a:buFont typeface="Arial" panose="020B0604020202020204" pitchFamily="34" charset="0"/>
                <a:buChar char="•"/>
              </a:pPr>
              <a:r>
                <a:rPr lang="en-US" sz="900" b="1" dirty="0">
                  <a:solidFill>
                    <a:schemeClr val="accent1"/>
                  </a:solidFill>
                </a:rPr>
                <a:t>Lower maturity for GenAI pipelines, </a:t>
              </a:r>
              <a:r>
                <a:rPr lang="en-US" sz="900" dirty="0">
                  <a:solidFill>
                    <a:schemeClr val="accent1"/>
                  </a:solidFill>
                </a:rPr>
                <a:t>where unstructured content and embeddings lack systematic deduplication and depend more on manual curation or assumptions of quality</a:t>
              </a:r>
            </a:p>
          </p:txBody>
        </p:sp>
        <p:sp>
          <p:nvSpPr>
            <p:cNvPr id="62" name="TextBox 61">
              <a:extLst>
                <a:ext uri="{FF2B5EF4-FFF2-40B4-BE49-F238E27FC236}">
                  <a16:creationId xmlns:a16="http://schemas.microsoft.com/office/drawing/2014/main" id="{E778085A-C8A2-2A35-09F2-66137C8F8DB7}"/>
                </a:ext>
              </a:extLst>
            </p:cNvPr>
            <p:cNvSpPr txBox="1">
              <a:spLocks/>
            </p:cNvSpPr>
            <p:nvPr>
              <p:custDataLst>
                <p:tags r:id="rId47"/>
              </p:custDataLst>
            </p:nvPr>
          </p:nvSpPr>
          <p:spPr>
            <a:xfrm>
              <a:off x="7408584" y="1931557"/>
              <a:ext cx="4229379" cy="73096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0"/>
                </a:spcBef>
                <a:buFont typeface="Arial" panose="020B0604020202020204" pitchFamily="34" charset="0"/>
                <a:buChar char="•"/>
              </a:pPr>
              <a:r>
                <a:rPr lang="en-US" sz="900" b="1"/>
                <a:t>Systematic quality failures:</a:t>
              </a:r>
              <a:r>
                <a:rPr lang="en-US" sz="900"/>
                <a:t> Heavy reliance on upstream checks propagate errors across 80% of use cases </a:t>
              </a:r>
            </a:p>
            <a:p>
              <a:pPr marL="171450" indent="-171450">
                <a:spcBef>
                  <a:spcPts val="0"/>
                </a:spcBef>
                <a:buFont typeface="Arial" panose="020B0604020202020204" pitchFamily="34" charset="0"/>
                <a:buChar char="•"/>
              </a:pPr>
              <a:r>
                <a:rPr lang="en-US" sz="900" b="1">
                  <a:solidFill>
                    <a:schemeClr val="accent1"/>
                  </a:solidFill>
                </a:rPr>
                <a:t>Fragile foundation for GenAI scale: </a:t>
              </a:r>
              <a:r>
                <a:rPr lang="en-US" sz="900">
                  <a:solidFill>
                    <a:schemeClr val="accent1"/>
                  </a:solidFill>
                </a:rPr>
                <a:t>Manual curation and unverified unstructured inputs work for today’s simple use cases but won’t hold as complexity increases</a:t>
              </a:r>
            </a:p>
          </p:txBody>
        </p:sp>
        <p:grpSp>
          <p:nvGrpSpPr>
            <p:cNvPr id="14" name="MoonEmpty 14">
              <a:extLst>
                <a:ext uri="{FF2B5EF4-FFF2-40B4-BE49-F238E27FC236}">
                  <a16:creationId xmlns:a16="http://schemas.microsoft.com/office/drawing/2014/main" id="{B55E8964-B119-A160-EE3D-3AD0F4D7CB41}"/>
                </a:ext>
              </a:extLst>
            </p:cNvPr>
            <p:cNvGrpSpPr>
              <a:grpSpLocks/>
            </p:cNvGrpSpPr>
            <p:nvPr>
              <p:custDataLst>
                <p:tags r:id="rId48"/>
              </p:custDataLst>
            </p:nvPr>
          </p:nvGrpSpPr>
          <p:grpSpPr>
            <a:xfrm>
              <a:off x="2020299" y="1931557"/>
              <a:ext cx="274320" cy="274320"/>
              <a:chOff x="762000" y="1270000"/>
              <a:chExt cx="254000" cy="254000"/>
            </a:xfrm>
          </p:grpSpPr>
          <p:sp>
            <p:nvSpPr>
              <p:cNvPr id="10" name="Oval 9">
                <a:extLst>
                  <a:ext uri="{FF2B5EF4-FFF2-40B4-BE49-F238E27FC236}">
                    <a16:creationId xmlns:a16="http://schemas.microsoft.com/office/drawing/2014/main" id="{FBCF8025-4315-72F4-1193-3E7ECEEACD42}"/>
                  </a:ext>
                </a:extLst>
              </p:cNvPr>
              <p:cNvSpPr/>
              <p:nvPr>
                <p:custDataLst>
                  <p:tags r:id="rId51"/>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13" name="Arc 12">
                <a:extLst>
                  <a:ext uri="{FF2B5EF4-FFF2-40B4-BE49-F238E27FC236}">
                    <a16:creationId xmlns:a16="http://schemas.microsoft.com/office/drawing/2014/main" id="{65596340-14F8-BB8A-01EB-07187D1DC8A5}"/>
                  </a:ext>
                </a:extLst>
              </p:cNvPr>
              <p:cNvSpPr/>
              <p:nvPr>
                <p:custDataLst>
                  <p:tags r:id="rId52"/>
                </p:custDataLst>
              </p:nvPr>
            </p:nvSpPr>
            <p:spPr>
              <a:xfrm>
                <a:off x="762000" y="1270000"/>
                <a:ext cx="254000" cy="254000"/>
              </a:xfrm>
              <a:prstGeom prst="arc">
                <a:avLst>
                  <a:gd name="adj1" fmla="val 16200000"/>
                  <a:gd name="adj2" fmla="val 108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68" name="Group 67">
              <a:extLst>
                <a:ext uri="{FF2B5EF4-FFF2-40B4-BE49-F238E27FC236}">
                  <a16:creationId xmlns:a16="http://schemas.microsoft.com/office/drawing/2014/main" id="{054A0DD1-D2D3-D205-4248-7BD680DA0090}"/>
                </a:ext>
              </a:extLst>
            </p:cNvPr>
            <p:cNvGrpSpPr>
              <a:grpSpLocks/>
            </p:cNvGrpSpPr>
            <p:nvPr/>
          </p:nvGrpSpPr>
          <p:grpSpPr>
            <a:xfrm>
              <a:off x="3043371" y="1931557"/>
              <a:ext cx="274320" cy="274320"/>
              <a:chOff x="2847190" y="1722349"/>
              <a:chExt cx="342654" cy="342654"/>
            </a:xfrm>
          </p:grpSpPr>
          <p:sp>
            <p:nvSpPr>
              <p:cNvPr id="17" name="Oval 16">
                <a:extLst>
                  <a:ext uri="{FF2B5EF4-FFF2-40B4-BE49-F238E27FC236}">
                    <a16:creationId xmlns:a16="http://schemas.microsoft.com/office/drawing/2014/main" id="{888A1B18-259C-4218-C47D-3E92DAA90672}"/>
                  </a:ext>
                </a:extLst>
              </p:cNvPr>
              <p:cNvSpPr/>
              <p:nvPr>
                <p:custDataLst>
                  <p:tags r:id="rId49"/>
                </p:custDataLst>
              </p:nvPr>
            </p:nvSpPr>
            <p:spPr>
              <a:xfrm>
                <a:off x="2847190" y="1722349"/>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18" name="Arc 17">
                <a:extLst>
                  <a:ext uri="{FF2B5EF4-FFF2-40B4-BE49-F238E27FC236}">
                    <a16:creationId xmlns:a16="http://schemas.microsoft.com/office/drawing/2014/main" id="{1B621BF0-FEF8-3D99-2CC3-6F22A58C3EBE}"/>
                  </a:ext>
                </a:extLst>
              </p:cNvPr>
              <p:cNvSpPr/>
              <p:nvPr>
                <p:custDataLst>
                  <p:tags r:id="rId50"/>
                </p:custDataLst>
              </p:nvPr>
            </p:nvSpPr>
            <p:spPr>
              <a:xfrm>
                <a:off x="2847190" y="1722349"/>
                <a:ext cx="342654" cy="342654"/>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grpSp>
        <p:nvGrpSpPr>
          <p:cNvPr id="185" name="Group 184">
            <a:extLst>
              <a:ext uri="{FF2B5EF4-FFF2-40B4-BE49-F238E27FC236}">
                <a16:creationId xmlns:a16="http://schemas.microsoft.com/office/drawing/2014/main" id="{1F5A3056-B890-DE89-AACB-86D4B0568268}"/>
              </a:ext>
            </a:extLst>
          </p:cNvPr>
          <p:cNvGrpSpPr/>
          <p:nvPr/>
        </p:nvGrpSpPr>
        <p:grpSpPr>
          <a:xfrm>
            <a:off x="554038" y="2937604"/>
            <a:ext cx="11083925" cy="907941"/>
            <a:chOff x="554038" y="2890795"/>
            <a:chExt cx="11083925" cy="907941"/>
          </a:xfrm>
        </p:grpSpPr>
        <p:sp>
          <p:nvSpPr>
            <p:cNvPr id="63" name="TextBox 62">
              <a:extLst>
                <a:ext uri="{FF2B5EF4-FFF2-40B4-BE49-F238E27FC236}">
                  <a16:creationId xmlns:a16="http://schemas.microsoft.com/office/drawing/2014/main" id="{491269C5-B789-AA2B-4DEF-02B598BC71B7}"/>
                </a:ext>
              </a:extLst>
            </p:cNvPr>
            <p:cNvSpPr txBox="1">
              <a:spLocks/>
            </p:cNvSpPr>
            <p:nvPr/>
          </p:nvSpPr>
          <p:spPr>
            <a:xfrm>
              <a:off x="554038" y="2890795"/>
              <a:ext cx="1060273" cy="30777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Accuracy and consistency</a:t>
              </a:r>
            </a:p>
          </p:txBody>
        </p:sp>
        <p:sp>
          <p:nvSpPr>
            <p:cNvPr id="30" name="TextBox 29">
              <a:extLst>
                <a:ext uri="{FF2B5EF4-FFF2-40B4-BE49-F238E27FC236}">
                  <a16:creationId xmlns:a16="http://schemas.microsoft.com/office/drawing/2014/main" id="{85D1E98D-59DC-B1AC-61C6-6DCEFA722FF8}"/>
                </a:ext>
              </a:extLst>
            </p:cNvPr>
            <p:cNvSpPr txBox="1">
              <a:spLocks/>
            </p:cNvSpPr>
            <p:nvPr/>
          </p:nvSpPr>
          <p:spPr>
            <a:xfrm>
              <a:off x="3723679" y="2890795"/>
              <a:ext cx="3621681" cy="90794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900" b="1"/>
                <a:t>Pockets of high maturity in curated domains </a:t>
              </a:r>
              <a:r>
                <a:rPr lang="en-US" sz="900"/>
                <a:t>(e.g., hundreds of locked-down financial metrics) contrasted with 50+ models drawing from disparate sources with inconsistent rules and no enterprise-wide validation</a:t>
              </a:r>
              <a:endParaRPr lang="en-US" sz="900" b="1"/>
            </a:p>
            <a:p>
              <a:pPr marL="171450" indent="-171450">
                <a:buFont typeface="Arial" panose="020B0604020202020204" pitchFamily="34" charset="0"/>
                <a:buChar char="•"/>
              </a:pPr>
              <a:r>
                <a:rPr lang="en-US" sz="900" b="1">
                  <a:solidFill>
                    <a:schemeClr val="accent1"/>
                  </a:solidFill>
                </a:rPr>
                <a:t>Heavy reliance on upstream quality of unstructured data </a:t>
              </a:r>
              <a:r>
                <a:rPr lang="en-US" sz="900">
                  <a:solidFill>
                    <a:schemeClr val="accent1"/>
                  </a:solidFill>
                </a:rPr>
                <a:t>(e.g., limited automated checks)</a:t>
              </a:r>
            </a:p>
          </p:txBody>
        </p:sp>
        <p:sp>
          <p:nvSpPr>
            <p:cNvPr id="64" name="TextBox 63">
              <a:extLst>
                <a:ext uri="{FF2B5EF4-FFF2-40B4-BE49-F238E27FC236}">
                  <a16:creationId xmlns:a16="http://schemas.microsoft.com/office/drawing/2014/main" id="{AC2990AF-4BC3-8183-05AC-4B0188D9F0A9}"/>
                </a:ext>
              </a:extLst>
            </p:cNvPr>
            <p:cNvSpPr txBox="1">
              <a:spLocks/>
            </p:cNvSpPr>
            <p:nvPr>
              <p:custDataLst>
                <p:tags r:id="rId40"/>
              </p:custDataLst>
            </p:nvPr>
          </p:nvSpPr>
          <p:spPr>
            <a:xfrm>
              <a:off x="7408584" y="2890795"/>
              <a:ext cx="4229379" cy="73096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0"/>
                </a:spcBef>
                <a:buFont typeface="Arial" panose="020B0604020202020204" pitchFamily="34" charset="0"/>
                <a:buChar char="•"/>
              </a:pPr>
              <a:r>
                <a:rPr lang="en-US" sz="900" b="1"/>
                <a:t>Conflicting results across models</a:t>
              </a:r>
              <a:r>
                <a:rPr lang="en-US" sz="900"/>
                <a:t>: Pockets of well-governed metrics (e.g., financial KPIs) won’t align with outputs from models using disparate sources, leading to inconsistent answers to the same business question</a:t>
              </a:r>
            </a:p>
            <a:p>
              <a:pPr marL="171450" indent="-171450">
                <a:spcBef>
                  <a:spcPts val="0"/>
                </a:spcBef>
                <a:buFont typeface="Arial" panose="020B0604020202020204" pitchFamily="34" charset="0"/>
                <a:buChar char="•"/>
              </a:pPr>
              <a:r>
                <a:rPr lang="en-US" sz="900" b="1">
                  <a:solidFill>
                    <a:schemeClr val="accent1"/>
                  </a:solidFill>
                </a:rPr>
                <a:t>Unverified inputs, unreliable outputs: </a:t>
              </a:r>
              <a:r>
                <a:rPr lang="en-US" sz="900">
                  <a:solidFill>
                    <a:schemeClr val="accent1"/>
                  </a:solidFill>
                </a:rPr>
                <a:t>GenAI pipelines have higher risk because they rely on unverified, heterogeneous sources</a:t>
              </a:r>
            </a:p>
          </p:txBody>
        </p:sp>
        <p:grpSp>
          <p:nvGrpSpPr>
            <p:cNvPr id="22" name="MoonEmpty 14">
              <a:extLst>
                <a:ext uri="{FF2B5EF4-FFF2-40B4-BE49-F238E27FC236}">
                  <a16:creationId xmlns:a16="http://schemas.microsoft.com/office/drawing/2014/main" id="{C7CC97F9-958F-74E2-B79C-3D64306F0178}"/>
                </a:ext>
              </a:extLst>
            </p:cNvPr>
            <p:cNvGrpSpPr>
              <a:grpSpLocks/>
            </p:cNvGrpSpPr>
            <p:nvPr>
              <p:custDataLst>
                <p:tags r:id="rId41"/>
              </p:custDataLst>
            </p:nvPr>
          </p:nvGrpSpPr>
          <p:grpSpPr>
            <a:xfrm>
              <a:off x="2020299" y="2890795"/>
              <a:ext cx="274320" cy="274320"/>
              <a:chOff x="762000" y="1270000"/>
              <a:chExt cx="254000" cy="254000"/>
            </a:xfrm>
          </p:grpSpPr>
          <p:sp>
            <p:nvSpPr>
              <p:cNvPr id="26" name="Oval 25">
                <a:extLst>
                  <a:ext uri="{FF2B5EF4-FFF2-40B4-BE49-F238E27FC236}">
                    <a16:creationId xmlns:a16="http://schemas.microsoft.com/office/drawing/2014/main" id="{FB288CE0-D460-38BA-0A8F-7CA747E4FC3C}"/>
                  </a:ext>
                </a:extLst>
              </p:cNvPr>
              <p:cNvSpPr/>
              <p:nvPr>
                <p:custDataLst>
                  <p:tags r:id="rId44"/>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28" name="Arc 27">
                <a:extLst>
                  <a:ext uri="{FF2B5EF4-FFF2-40B4-BE49-F238E27FC236}">
                    <a16:creationId xmlns:a16="http://schemas.microsoft.com/office/drawing/2014/main" id="{64E52258-4FCC-D83F-108C-E85C45A10403}"/>
                  </a:ext>
                </a:extLst>
              </p:cNvPr>
              <p:cNvSpPr/>
              <p:nvPr>
                <p:custDataLst>
                  <p:tags r:id="rId45"/>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69" name="Group 68">
              <a:extLst>
                <a:ext uri="{FF2B5EF4-FFF2-40B4-BE49-F238E27FC236}">
                  <a16:creationId xmlns:a16="http://schemas.microsoft.com/office/drawing/2014/main" id="{461EB979-8365-FE55-D07E-CAE3E70744FE}"/>
                </a:ext>
              </a:extLst>
            </p:cNvPr>
            <p:cNvGrpSpPr>
              <a:grpSpLocks/>
            </p:cNvGrpSpPr>
            <p:nvPr/>
          </p:nvGrpSpPr>
          <p:grpSpPr>
            <a:xfrm>
              <a:off x="3043371" y="2890795"/>
              <a:ext cx="274320" cy="274320"/>
              <a:chOff x="2847190" y="2646605"/>
              <a:chExt cx="342654" cy="342654"/>
            </a:xfrm>
          </p:grpSpPr>
          <p:sp>
            <p:nvSpPr>
              <p:cNvPr id="32" name="Oval 31">
                <a:extLst>
                  <a:ext uri="{FF2B5EF4-FFF2-40B4-BE49-F238E27FC236}">
                    <a16:creationId xmlns:a16="http://schemas.microsoft.com/office/drawing/2014/main" id="{EDAC4885-E02C-C884-DF80-63DA2CD01D1E}"/>
                  </a:ext>
                </a:extLst>
              </p:cNvPr>
              <p:cNvSpPr/>
              <p:nvPr>
                <p:custDataLst>
                  <p:tags r:id="rId42"/>
                </p:custDataLst>
              </p:nvPr>
            </p:nvSpPr>
            <p:spPr>
              <a:xfrm>
                <a:off x="2847190" y="2646605"/>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34" name="Arc 33">
                <a:extLst>
                  <a:ext uri="{FF2B5EF4-FFF2-40B4-BE49-F238E27FC236}">
                    <a16:creationId xmlns:a16="http://schemas.microsoft.com/office/drawing/2014/main" id="{BF356CF5-FCCD-C0D5-AD9F-0CABA2E82964}"/>
                  </a:ext>
                </a:extLst>
              </p:cNvPr>
              <p:cNvSpPr/>
              <p:nvPr>
                <p:custDataLst>
                  <p:tags r:id="rId43"/>
                </p:custDataLst>
              </p:nvPr>
            </p:nvSpPr>
            <p:spPr>
              <a:xfrm>
                <a:off x="2847190" y="2646605"/>
                <a:ext cx="342654" cy="342654"/>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grpSp>
        <p:nvGrpSpPr>
          <p:cNvPr id="186" name="Group 185">
            <a:extLst>
              <a:ext uri="{FF2B5EF4-FFF2-40B4-BE49-F238E27FC236}">
                <a16:creationId xmlns:a16="http://schemas.microsoft.com/office/drawing/2014/main" id="{FD4A8349-1586-51A4-F098-6F65454D54BA}"/>
              </a:ext>
            </a:extLst>
          </p:cNvPr>
          <p:cNvGrpSpPr/>
          <p:nvPr/>
        </p:nvGrpSpPr>
        <p:grpSpPr>
          <a:xfrm>
            <a:off x="554038" y="3982123"/>
            <a:ext cx="11083925" cy="553998"/>
            <a:chOff x="554038" y="3888505"/>
            <a:chExt cx="11083925" cy="553998"/>
          </a:xfrm>
        </p:grpSpPr>
        <p:sp>
          <p:nvSpPr>
            <p:cNvPr id="74" name="TextBox 73">
              <a:extLst>
                <a:ext uri="{FF2B5EF4-FFF2-40B4-BE49-F238E27FC236}">
                  <a16:creationId xmlns:a16="http://schemas.microsoft.com/office/drawing/2014/main" id="{1120D29B-7330-8918-E7C3-9681AA661633}"/>
                </a:ext>
              </a:extLst>
            </p:cNvPr>
            <p:cNvSpPr txBox="1">
              <a:spLocks/>
            </p:cNvSpPr>
            <p:nvPr/>
          </p:nvSpPr>
          <p:spPr>
            <a:xfrm>
              <a:off x="554038" y="3888505"/>
              <a:ext cx="1060273" cy="15388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000" b="1">
                  <a:solidFill>
                    <a:srgbClr val="000000"/>
                  </a:solidFill>
                  <a:latin typeface="Arial"/>
                </a:rPr>
                <a:t>Completeness</a:t>
              </a:r>
              <a:endParaRPr kumimoji="0" lang="en-US" sz="1000" b="1" i="0" u="none" strike="noStrike" kern="1200" cap="none" spc="0" normalizeH="0" baseline="0" noProof="0">
                <a:ln>
                  <a:noFill/>
                </a:ln>
                <a:solidFill>
                  <a:srgbClr val="000000"/>
                </a:solidFill>
                <a:effectLst/>
                <a:uLnTx/>
                <a:uFillTx/>
                <a:latin typeface="Arial"/>
              </a:endParaRPr>
            </a:p>
          </p:txBody>
        </p:sp>
        <p:sp>
          <p:nvSpPr>
            <p:cNvPr id="59" name="TextBox 58">
              <a:extLst>
                <a:ext uri="{FF2B5EF4-FFF2-40B4-BE49-F238E27FC236}">
                  <a16:creationId xmlns:a16="http://schemas.microsoft.com/office/drawing/2014/main" id="{0081C548-194B-08F9-B490-79791FBE2C68}"/>
                </a:ext>
              </a:extLst>
            </p:cNvPr>
            <p:cNvSpPr txBox="1">
              <a:spLocks/>
            </p:cNvSpPr>
            <p:nvPr/>
          </p:nvSpPr>
          <p:spPr>
            <a:xfrm>
              <a:off x="3723679" y="3888505"/>
              <a:ext cx="3621681"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900" b="1"/>
                <a:t>Curated data warehouse </a:t>
              </a:r>
              <a:r>
                <a:rPr lang="en-US" sz="900"/>
                <a:t>(e.g., automated checks and alerting), </a:t>
              </a:r>
              <a:r>
                <a:rPr lang="en-US" sz="900" b="1"/>
                <a:t>contrasted with gaps across the broader ecosystem</a:t>
              </a:r>
              <a:r>
                <a:rPr lang="en-US" sz="900"/>
                <a:t>,</a:t>
              </a:r>
              <a:r>
                <a:rPr lang="en-US" sz="900">
                  <a:cs typeface="Arial"/>
                </a:rPr>
                <a:t> with limited controls in place (e.g., triggers, runbooks) to handle incomplete pulls</a:t>
              </a:r>
              <a:r>
                <a:rPr lang="en-US" sz="900" b="1">
                  <a:cs typeface="Arial"/>
                </a:rPr>
                <a:t> </a:t>
              </a:r>
            </a:p>
          </p:txBody>
        </p:sp>
        <p:sp>
          <p:nvSpPr>
            <p:cNvPr id="65" name="TextBox 64">
              <a:extLst>
                <a:ext uri="{FF2B5EF4-FFF2-40B4-BE49-F238E27FC236}">
                  <a16:creationId xmlns:a16="http://schemas.microsoft.com/office/drawing/2014/main" id="{3C1EE56D-E0B4-FED3-3436-F702D20DF8FF}"/>
                </a:ext>
              </a:extLst>
            </p:cNvPr>
            <p:cNvSpPr txBox="1">
              <a:spLocks/>
            </p:cNvSpPr>
            <p:nvPr/>
          </p:nvSpPr>
          <p:spPr>
            <a:xfrm>
              <a:off x="7408584" y="3888505"/>
              <a:ext cx="4229379" cy="27699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900" b="1"/>
                <a:t>Blind spots in the data:</a:t>
              </a:r>
              <a:r>
                <a:rPr lang="en-US" sz="900"/>
                <a:t> Gaps outside the warehouse flow into models, creating incomplete insights and reduced decision confidence</a:t>
              </a:r>
              <a:endParaRPr lang="en-US" sz="900" b="1"/>
            </a:p>
          </p:txBody>
        </p:sp>
        <p:grpSp>
          <p:nvGrpSpPr>
            <p:cNvPr id="35" name="MoonEmpty 14">
              <a:extLst>
                <a:ext uri="{FF2B5EF4-FFF2-40B4-BE49-F238E27FC236}">
                  <a16:creationId xmlns:a16="http://schemas.microsoft.com/office/drawing/2014/main" id="{DC7258E2-BE0E-0EAB-8EB3-95F2CCB76DCB}"/>
                </a:ext>
              </a:extLst>
            </p:cNvPr>
            <p:cNvGrpSpPr>
              <a:grpSpLocks/>
            </p:cNvGrpSpPr>
            <p:nvPr>
              <p:custDataLst>
                <p:tags r:id="rId35"/>
              </p:custDataLst>
            </p:nvPr>
          </p:nvGrpSpPr>
          <p:grpSpPr>
            <a:xfrm>
              <a:off x="2020299" y="3888505"/>
              <a:ext cx="274320" cy="274320"/>
              <a:chOff x="762000" y="1270000"/>
              <a:chExt cx="254000" cy="254000"/>
            </a:xfrm>
          </p:grpSpPr>
          <p:sp>
            <p:nvSpPr>
              <p:cNvPr id="37" name="Oval 36">
                <a:extLst>
                  <a:ext uri="{FF2B5EF4-FFF2-40B4-BE49-F238E27FC236}">
                    <a16:creationId xmlns:a16="http://schemas.microsoft.com/office/drawing/2014/main" id="{CD0136BF-3EE4-5292-7B3E-6AF47A5BE774}"/>
                  </a:ext>
                </a:extLst>
              </p:cNvPr>
              <p:cNvSpPr/>
              <p:nvPr>
                <p:custDataLst>
                  <p:tags r:id="rId38"/>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39" name="Arc 38">
                <a:extLst>
                  <a:ext uri="{FF2B5EF4-FFF2-40B4-BE49-F238E27FC236}">
                    <a16:creationId xmlns:a16="http://schemas.microsoft.com/office/drawing/2014/main" id="{6568EC7E-5175-BAEC-EA49-EBADFF0FA9D0}"/>
                  </a:ext>
                </a:extLst>
              </p:cNvPr>
              <p:cNvSpPr/>
              <p:nvPr>
                <p:custDataLst>
                  <p:tags r:id="rId39"/>
                </p:custDataLst>
              </p:nvPr>
            </p:nvSpPr>
            <p:spPr>
              <a:xfrm>
                <a:off x="762000" y="1270000"/>
                <a:ext cx="254000" cy="254000"/>
              </a:xfrm>
              <a:prstGeom prst="arc">
                <a:avLst>
                  <a:gd name="adj1" fmla="val 16200000"/>
                  <a:gd name="adj2" fmla="val 108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70" name="Group 69">
              <a:extLst>
                <a:ext uri="{FF2B5EF4-FFF2-40B4-BE49-F238E27FC236}">
                  <a16:creationId xmlns:a16="http://schemas.microsoft.com/office/drawing/2014/main" id="{F4554DFC-5AA7-E530-0BB8-B1B0BFA2D9A9}"/>
                </a:ext>
              </a:extLst>
            </p:cNvPr>
            <p:cNvGrpSpPr>
              <a:grpSpLocks/>
            </p:cNvGrpSpPr>
            <p:nvPr/>
          </p:nvGrpSpPr>
          <p:grpSpPr>
            <a:xfrm>
              <a:off x="3043371" y="3888505"/>
              <a:ext cx="274320" cy="274320"/>
              <a:chOff x="2847190" y="3859968"/>
              <a:chExt cx="342654" cy="342654"/>
            </a:xfrm>
          </p:grpSpPr>
          <p:sp>
            <p:nvSpPr>
              <p:cNvPr id="43" name="Oval 42">
                <a:extLst>
                  <a:ext uri="{FF2B5EF4-FFF2-40B4-BE49-F238E27FC236}">
                    <a16:creationId xmlns:a16="http://schemas.microsoft.com/office/drawing/2014/main" id="{F7F92B8E-0B3B-5998-9E63-7372965D1A62}"/>
                  </a:ext>
                </a:extLst>
              </p:cNvPr>
              <p:cNvSpPr/>
              <p:nvPr>
                <p:custDataLst>
                  <p:tags r:id="rId36"/>
                </p:custDataLst>
              </p:nvPr>
            </p:nvSpPr>
            <p:spPr>
              <a:xfrm>
                <a:off x="2847190" y="3859968"/>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45" name="Arc 44">
                <a:extLst>
                  <a:ext uri="{FF2B5EF4-FFF2-40B4-BE49-F238E27FC236}">
                    <a16:creationId xmlns:a16="http://schemas.microsoft.com/office/drawing/2014/main" id="{5768E93B-B9A1-5F53-7974-AFA67400A7D4}"/>
                  </a:ext>
                </a:extLst>
              </p:cNvPr>
              <p:cNvSpPr/>
              <p:nvPr>
                <p:custDataLst>
                  <p:tags r:id="rId37"/>
                </p:custDataLst>
              </p:nvPr>
            </p:nvSpPr>
            <p:spPr>
              <a:xfrm>
                <a:off x="2847190" y="3859968"/>
                <a:ext cx="342654" cy="342654"/>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grpSp>
        <p:nvGrpSpPr>
          <p:cNvPr id="188" name="Group 187">
            <a:extLst>
              <a:ext uri="{FF2B5EF4-FFF2-40B4-BE49-F238E27FC236}">
                <a16:creationId xmlns:a16="http://schemas.microsoft.com/office/drawing/2014/main" id="{0207AF97-777F-EEF6-70BC-E05157D3E2F5}"/>
              </a:ext>
            </a:extLst>
          </p:cNvPr>
          <p:cNvGrpSpPr/>
          <p:nvPr/>
        </p:nvGrpSpPr>
        <p:grpSpPr>
          <a:xfrm>
            <a:off x="554038" y="5578715"/>
            <a:ext cx="11083925" cy="869469"/>
            <a:chOff x="554038" y="5578715"/>
            <a:chExt cx="11083925" cy="869469"/>
          </a:xfrm>
        </p:grpSpPr>
        <p:sp>
          <p:nvSpPr>
            <p:cNvPr id="36" name="TextBox 35">
              <a:extLst>
                <a:ext uri="{FF2B5EF4-FFF2-40B4-BE49-F238E27FC236}">
                  <a16:creationId xmlns:a16="http://schemas.microsoft.com/office/drawing/2014/main" id="{38F3BB7F-944C-D33E-D0C7-43A8042EB761}"/>
                </a:ext>
              </a:extLst>
            </p:cNvPr>
            <p:cNvSpPr txBox="1">
              <a:spLocks/>
            </p:cNvSpPr>
            <p:nvPr/>
          </p:nvSpPr>
          <p:spPr>
            <a:xfrm>
              <a:off x="554038" y="5578715"/>
              <a:ext cx="1060273" cy="15388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000" b="1">
                  <a:solidFill>
                    <a:srgbClr val="000000"/>
                  </a:solidFill>
                </a:rPr>
                <a:t>Sensitivity tags</a:t>
              </a:r>
            </a:p>
          </p:txBody>
        </p:sp>
        <p:sp>
          <p:nvSpPr>
            <p:cNvPr id="44" name="TextBox 43">
              <a:extLst>
                <a:ext uri="{FF2B5EF4-FFF2-40B4-BE49-F238E27FC236}">
                  <a16:creationId xmlns:a16="http://schemas.microsoft.com/office/drawing/2014/main" id="{2E5CED0F-03BF-922D-5CEE-CBEA3C4D5219}"/>
                </a:ext>
              </a:extLst>
            </p:cNvPr>
            <p:cNvSpPr txBox="1">
              <a:spLocks/>
            </p:cNvSpPr>
            <p:nvPr/>
          </p:nvSpPr>
          <p:spPr>
            <a:xfrm>
              <a:off x="3723679" y="5578715"/>
              <a:ext cx="3621681" cy="6309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900"/>
                <a:t>Absence of automated sensitivity tagging in models and pipeline</a:t>
              </a:r>
              <a:r>
                <a:rPr lang="en-US" sz="900">
                  <a:solidFill>
                    <a:schemeClr val="accent1"/>
                  </a:solidFill>
                </a:rPr>
                <a:t> </a:t>
              </a:r>
              <a:r>
                <a:rPr lang="en-US" sz="900"/>
                <a:t>(e.g., blocking confidential data </a:t>
              </a:r>
              <a:r>
                <a:rPr lang="en-US" sz="900">
                  <a:solidFill>
                    <a:schemeClr val="accent1"/>
                  </a:solidFill>
                </a:rPr>
                <a:t>inside</a:t>
              </a:r>
              <a:r>
                <a:rPr lang="en-US" sz="900"/>
                <a:t> </a:t>
              </a:r>
              <a:r>
                <a:rPr lang="en-US" sz="900">
                  <a:solidFill>
                    <a:schemeClr val="accent1"/>
                  </a:solidFill>
                </a:rPr>
                <a:t>embeddings</a:t>
              </a:r>
              <a:r>
                <a:rPr lang="en-US" sz="900"/>
                <a:t>, </a:t>
              </a:r>
              <a:r>
                <a:rPr lang="en-US" sz="900">
                  <a:solidFill>
                    <a:schemeClr val="accent1"/>
                  </a:solidFill>
                </a:rPr>
                <a:t>prompts</a:t>
              </a:r>
              <a:r>
                <a:rPr lang="en-US" sz="900"/>
                <a:t>)</a:t>
              </a:r>
            </a:p>
            <a:p>
              <a:pPr marL="171450" indent="-171450">
                <a:buFont typeface="Arial" panose="020B0604020202020204" pitchFamily="34" charset="0"/>
                <a:buChar char="•"/>
              </a:pPr>
              <a:r>
                <a:rPr lang="en-US" sz="900"/>
                <a:t>Reliance on manual reviews and access controls, with tagging of sensitive data not embedded into pipelines</a:t>
              </a:r>
              <a:endParaRPr lang="en-US" sz="900" b="1">
                <a:solidFill>
                  <a:schemeClr val="accent1"/>
                </a:solidFill>
                <a:cs typeface="Arial"/>
              </a:endParaRPr>
            </a:p>
          </p:txBody>
        </p:sp>
        <p:sp>
          <p:nvSpPr>
            <p:cNvPr id="46" name="TextBox 45">
              <a:extLst>
                <a:ext uri="{FF2B5EF4-FFF2-40B4-BE49-F238E27FC236}">
                  <a16:creationId xmlns:a16="http://schemas.microsoft.com/office/drawing/2014/main" id="{DB1B268F-D18E-5D97-FCA8-438E9B1F34E4}"/>
                </a:ext>
              </a:extLst>
            </p:cNvPr>
            <p:cNvSpPr txBox="1">
              <a:spLocks/>
            </p:cNvSpPr>
            <p:nvPr>
              <p:custDataLst>
                <p:tags r:id="rId29"/>
              </p:custDataLst>
            </p:nvPr>
          </p:nvSpPr>
          <p:spPr>
            <a:xfrm>
              <a:off x="7408584" y="5578715"/>
              <a:ext cx="4229379" cy="86946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ct val="0"/>
                </a:spcBef>
                <a:buFont typeface="Arial" panose="020B0604020202020204" pitchFamily="34" charset="0"/>
                <a:buChar char="•"/>
              </a:pPr>
              <a:r>
                <a:rPr lang="en-US" sz="900" b="1">
                  <a:solidFill>
                    <a:schemeClr val="accent1"/>
                  </a:solidFill>
                </a:rPr>
                <a:t>Sensitive data leakage: </a:t>
              </a:r>
              <a:r>
                <a:rPr lang="en-US" sz="900">
                  <a:solidFill>
                    <a:schemeClr val="accent1"/>
                  </a:solidFill>
                </a:rPr>
                <a:t>Current mitigation relies on selecting use cases without PII (internal or public data only), but as future use cases involve sensitive data, the absence of automated tagging could increase risk for GenAI outputs</a:t>
              </a:r>
            </a:p>
            <a:p>
              <a:pPr marL="171450" indent="-171450">
                <a:spcBef>
                  <a:spcPct val="0"/>
                </a:spcBef>
                <a:buFont typeface="Arial" panose="020B0604020202020204" pitchFamily="34" charset="0"/>
                <a:buChar char="•"/>
              </a:pPr>
              <a:r>
                <a:rPr lang="en-US" sz="900" b="1"/>
                <a:t>Weak governance:</a:t>
              </a:r>
              <a:r>
                <a:rPr lang="en-US" sz="900"/>
                <a:t> Heavy reliance on manual checks increases the risk of human error and undermines confidence in regulatory compliance</a:t>
              </a:r>
              <a:endParaRPr lang="en-US" sz="900">
                <a:solidFill>
                  <a:schemeClr val="accent1"/>
                </a:solidFill>
              </a:endParaRPr>
            </a:p>
          </p:txBody>
        </p:sp>
        <p:grpSp>
          <p:nvGrpSpPr>
            <p:cNvPr id="48" name="MoonEmpty 14">
              <a:extLst>
                <a:ext uri="{FF2B5EF4-FFF2-40B4-BE49-F238E27FC236}">
                  <a16:creationId xmlns:a16="http://schemas.microsoft.com/office/drawing/2014/main" id="{355AB400-0F4A-654C-AAC3-12FF3E08A6C5}"/>
                </a:ext>
              </a:extLst>
            </p:cNvPr>
            <p:cNvGrpSpPr>
              <a:grpSpLocks/>
            </p:cNvGrpSpPr>
            <p:nvPr>
              <p:custDataLst>
                <p:tags r:id="rId30"/>
              </p:custDataLst>
            </p:nvPr>
          </p:nvGrpSpPr>
          <p:grpSpPr>
            <a:xfrm>
              <a:off x="2020299" y="5578715"/>
              <a:ext cx="274320" cy="274320"/>
              <a:chOff x="762000" y="1270000"/>
              <a:chExt cx="254000" cy="254000"/>
            </a:xfrm>
          </p:grpSpPr>
          <p:sp>
            <p:nvSpPr>
              <p:cNvPr id="49" name="Oval 48">
                <a:extLst>
                  <a:ext uri="{FF2B5EF4-FFF2-40B4-BE49-F238E27FC236}">
                    <a16:creationId xmlns:a16="http://schemas.microsoft.com/office/drawing/2014/main" id="{179C64D7-A720-25EC-257F-A31E7AC5078D}"/>
                  </a:ext>
                </a:extLst>
              </p:cNvPr>
              <p:cNvSpPr/>
              <p:nvPr>
                <p:custDataLst>
                  <p:tags r:id="rId33"/>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50" name="Arc 49">
                <a:extLst>
                  <a:ext uri="{FF2B5EF4-FFF2-40B4-BE49-F238E27FC236}">
                    <a16:creationId xmlns:a16="http://schemas.microsoft.com/office/drawing/2014/main" id="{E4B55104-63F5-19B0-5525-141B990A2D0C}"/>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72" name="Group 71">
              <a:extLst>
                <a:ext uri="{FF2B5EF4-FFF2-40B4-BE49-F238E27FC236}">
                  <a16:creationId xmlns:a16="http://schemas.microsoft.com/office/drawing/2014/main" id="{CA231353-EC93-AFAF-B9C9-65BD11A890CB}"/>
                </a:ext>
              </a:extLst>
            </p:cNvPr>
            <p:cNvGrpSpPr>
              <a:grpSpLocks/>
            </p:cNvGrpSpPr>
            <p:nvPr/>
          </p:nvGrpSpPr>
          <p:grpSpPr>
            <a:xfrm>
              <a:off x="3043371" y="5578715"/>
              <a:ext cx="274320" cy="274320"/>
              <a:chOff x="2847190" y="5588095"/>
              <a:chExt cx="342654" cy="342654"/>
            </a:xfrm>
          </p:grpSpPr>
          <p:sp>
            <p:nvSpPr>
              <p:cNvPr id="52" name="Oval 51">
                <a:extLst>
                  <a:ext uri="{FF2B5EF4-FFF2-40B4-BE49-F238E27FC236}">
                    <a16:creationId xmlns:a16="http://schemas.microsoft.com/office/drawing/2014/main" id="{79C11723-AD1A-7329-8FDA-06F40FF354F4}"/>
                  </a:ext>
                </a:extLst>
              </p:cNvPr>
              <p:cNvSpPr/>
              <p:nvPr>
                <p:custDataLst>
                  <p:tags r:id="rId31"/>
                </p:custDataLst>
              </p:nvPr>
            </p:nvSpPr>
            <p:spPr>
              <a:xfrm>
                <a:off x="2847190" y="5588095"/>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53" name="Arc 52">
                <a:extLst>
                  <a:ext uri="{FF2B5EF4-FFF2-40B4-BE49-F238E27FC236}">
                    <a16:creationId xmlns:a16="http://schemas.microsoft.com/office/drawing/2014/main" id="{A1FFFE62-F53E-2D8D-B246-00F47B6F4692}"/>
                  </a:ext>
                </a:extLst>
              </p:cNvPr>
              <p:cNvSpPr/>
              <p:nvPr>
                <p:custDataLst>
                  <p:tags r:id="rId32"/>
                </p:custDataLst>
              </p:nvPr>
            </p:nvSpPr>
            <p:spPr>
              <a:xfrm>
                <a:off x="2847190" y="5588095"/>
                <a:ext cx="342654" cy="342654"/>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grpSp>
        <p:nvGrpSpPr>
          <p:cNvPr id="187" name="Group 186">
            <a:extLst>
              <a:ext uri="{FF2B5EF4-FFF2-40B4-BE49-F238E27FC236}">
                <a16:creationId xmlns:a16="http://schemas.microsoft.com/office/drawing/2014/main" id="{4711AFD7-8EB2-2241-8D76-481D334BF524}"/>
              </a:ext>
            </a:extLst>
          </p:cNvPr>
          <p:cNvGrpSpPr/>
          <p:nvPr/>
        </p:nvGrpSpPr>
        <p:grpSpPr>
          <a:xfrm>
            <a:off x="554038" y="4672699"/>
            <a:ext cx="11083925" cy="769441"/>
            <a:chOff x="554038" y="4501494"/>
            <a:chExt cx="11083925" cy="769441"/>
          </a:xfrm>
        </p:grpSpPr>
        <p:sp>
          <p:nvSpPr>
            <p:cNvPr id="19" name="TextBox 18">
              <a:extLst>
                <a:ext uri="{FF2B5EF4-FFF2-40B4-BE49-F238E27FC236}">
                  <a16:creationId xmlns:a16="http://schemas.microsoft.com/office/drawing/2014/main" id="{9AAB887A-147F-8C8B-6C3D-F75754997053}"/>
                </a:ext>
              </a:extLst>
            </p:cNvPr>
            <p:cNvSpPr txBox="1">
              <a:spLocks/>
            </p:cNvSpPr>
            <p:nvPr/>
          </p:nvSpPr>
          <p:spPr>
            <a:xfrm>
              <a:off x="554038" y="4501494"/>
              <a:ext cx="1060273" cy="30777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000" b="1">
                  <a:solidFill>
                    <a:srgbClr val="000000"/>
                  </a:solidFill>
                </a:rPr>
                <a:t>Freshness and timeliness</a:t>
              </a:r>
            </a:p>
          </p:txBody>
        </p:sp>
        <p:sp>
          <p:nvSpPr>
            <p:cNvPr id="40" name="TextBox 39">
              <a:extLst>
                <a:ext uri="{FF2B5EF4-FFF2-40B4-BE49-F238E27FC236}">
                  <a16:creationId xmlns:a16="http://schemas.microsoft.com/office/drawing/2014/main" id="{A90B6375-14A1-8C44-C106-7B9B99A4E9D2}"/>
                </a:ext>
              </a:extLst>
            </p:cNvPr>
            <p:cNvSpPr txBox="1">
              <a:spLocks/>
            </p:cNvSpPr>
            <p:nvPr/>
          </p:nvSpPr>
          <p:spPr>
            <a:xfrm>
              <a:off x="3723679" y="4501494"/>
              <a:ext cx="3621681" cy="76944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900" dirty="0"/>
                <a:t>Solid maturity in ...managed pipelines (e.g., orchestration, dependency mapping, automated incident creation), but no true real-time capability developed</a:t>
              </a:r>
            </a:p>
            <a:p>
              <a:pPr marL="171450" indent="-171450">
                <a:buFont typeface="Arial" panose="020B0604020202020204" pitchFamily="34" charset="0"/>
                <a:buChar char="•"/>
              </a:pPr>
              <a:r>
                <a:rPr lang="en-US" sz="900" dirty="0">
                  <a:solidFill>
                    <a:schemeClr val="accent1"/>
                  </a:solidFill>
                </a:rPr>
                <a:t>Robust GenAI pipelines (e.g., push-model monitoring and support) but bottleneck at escalation paths (e.g., move up dependency tree)</a:t>
              </a:r>
            </a:p>
          </p:txBody>
        </p:sp>
        <p:sp>
          <p:nvSpPr>
            <p:cNvPr id="42" name="TextBox 41">
              <a:extLst>
                <a:ext uri="{FF2B5EF4-FFF2-40B4-BE49-F238E27FC236}">
                  <a16:creationId xmlns:a16="http://schemas.microsoft.com/office/drawing/2014/main" id="{F7FF6A20-CD59-1F60-FCCE-44E915E94337}"/>
                </a:ext>
              </a:extLst>
            </p:cNvPr>
            <p:cNvSpPr txBox="1">
              <a:spLocks/>
            </p:cNvSpPr>
            <p:nvPr>
              <p:custDataLst>
                <p:tags r:id="rId23"/>
              </p:custDataLst>
            </p:nvPr>
          </p:nvSpPr>
          <p:spPr>
            <a:xfrm>
              <a:off x="7408584" y="4501494"/>
              <a:ext cx="4229379" cy="59247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ct val="0"/>
                </a:spcBef>
                <a:buFont typeface="Arial" panose="020B0604020202020204" pitchFamily="34" charset="0"/>
                <a:buChar char="•"/>
              </a:pPr>
              <a:r>
                <a:rPr lang="en-US" sz="900" b="1"/>
                <a:t>Lack of real-time capability: </a:t>
              </a:r>
              <a:r>
                <a:rPr lang="en-US" sz="900"/>
                <a:t>No central repository for real time APIs, lacking a robust and resilient ecosystem</a:t>
              </a:r>
              <a:endParaRPr lang="en-US" sz="900">
                <a:solidFill>
                  <a:schemeClr val="accent1"/>
                </a:solidFill>
              </a:endParaRPr>
            </a:p>
            <a:p>
              <a:pPr marL="171450" indent="-171450">
                <a:spcBef>
                  <a:spcPct val="0"/>
                </a:spcBef>
                <a:buFont typeface="Arial" panose="020B0604020202020204" pitchFamily="34" charset="0"/>
                <a:buChar char="•"/>
              </a:pPr>
              <a:r>
                <a:rPr lang="en-US" sz="900" b="1">
                  <a:solidFill>
                    <a:schemeClr val="accent1"/>
                  </a:solidFill>
                </a:rPr>
                <a:t>Lack of scalability: </a:t>
              </a:r>
              <a:r>
                <a:rPr lang="en-US" sz="900">
                  <a:solidFill>
                    <a:schemeClr val="accent1"/>
                  </a:solidFill>
                </a:rPr>
                <a:t>Escalation bottlenecks are manageable today, but as coverage grows, delays will multiply and hinder scale</a:t>
              </a:r>
            </a:p>
          </p:txBody>
        </p:sp>
        <p:grpSp>
          <p:nvGrpSpPr>
            <p:cNvPr id="21" name="MoonEmpty 14">
              <a:extLst>
                <a:ext uri="{FF2B5EF4-FFF2-40B4-BE49-F238E27FC236}">
                  <a16:creationId xmlns:a16="http://schemas.microsoft.com/office/drawing/2014/main" id="{33DC3664-E509-8807-106D-4DA9F265D039}"/>
                </a:ext>
              </a:extLst>
            </p:cNvPr>
            <p:cNvGrpSpPr>
              <a:grpSpLocks/>
            </p:cNvGrpSpPr>
            <p:nvPr>
              <p:custDataLst>
                <p:tags r:id="rId24"/>
              </p:custDataLst>
            </p:nvPr>
          </p:nvGrpSpPr>
          <p:grpSpPr>
            <a:xfrm>
              <a:off x="2020299" y="4501494"/>
              <a:ext cx="274320" cy="274320"/>
              <a:chOff x="762000" y="1270000"/>
              <a:chExt cx="254000" cy="254000"/>
            </a:xfrm>
          </p:grpSpPr>
          <p:sp>
            <p:nvSpPr>
              <p:cNvPr id="23" name="Oval 22">
                <a:extLst>
                  <a:ext uri="{FF2B5EF4-FFF2-40B4-BE49-F238E27FC236}">
                    <a16:creationId xmlns:a16="http://schemas.microsoft.com/office/drawing/2014/main" id="{CDAC9351-DB80-5EE5-06A9-3746153BE1B7}"/>
                  </a:ext>
                </a:extLst>
              </p:cNvPr>
              <p:cNvSpPr/>
              <p:nvPr>
                <p:custDataLst>
                  <p:tags r:id="rId27"/>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24" name="Arc 23">
                <a:extLst>
                  <a:ext uri="{FF2B5EF4-FFF2-40B4-BE49-F238E27FC236}">
                    <a16:creationId xmlns:a16="http://schemas.microsoft.com/office/drawing/2014/main" id="{BD369AA5-78E3-026B-549D-78C66B1FF4CC}"/>
                  </a:ext>
                </a:extLst>
              </p:cNvPr>
              <p:cNvSpPr/>
              <p:nvPr>
                <p:custDataLst>
                  <p:tags r:id="rId28"/>
                </p:custDataLst>
              </p:nvPr>
            </p:nvSpPr>
            <p:spPr>
              <a:xfrm>
                <a:off x="762000" y="1270000"/>
                <a:ext cx="254000" cy="254000"/>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71" name="Group 70">
              <a:extLst>
                <a:ext uri="{FF2B5EF4-FFF2-40B4-BE49-F238E27FC236}">
                  <a16:creationId xmlns:a16="http://schemas.microsoft.com/office/drawing/2014/main" id="{8767B9D5-5CCC-347B-7EA0-7BD41180CF57}"/>
                </a:ext>
              </a:extLst>
            </p:cNvPr>
            <p:cNvGrpSpPr>
              <a:grpSpLocks/>
            </p:cNvGrpSpPr>
            <p:nvPr/>
          </p:nvGrpSpPr>
          <p:grpSpPr>
            <a:xfrm>
              <a:off x="3043371" y="4501494"/>
              <a:ext cx="274320" cy="274320"/>
              <a:chOff x="2847190" y="4582842"/>
              <a:chExt cx="342654" cy="342654"/>
            </a:xfrm>
          </p:grpSpPr>
          <p:sp>
            <p:nvSpPr>
              <p:cNvPr id="29" name="Oval 28">
                <a:extLst>
                  <a:ext uri="{FF2B5EF4-FFF2-40B4-BE49-F238E27FC236}">
                    <a16:creationId xmlns:a16="http://schemas.microsoft.com/office/drawing/2014/main" id="{A2E97310-FA36-CD3A-E49E-5B3F4FC404A8}"/>
                  </a:ext>
                </a:extLst>
              </p:cNvPr>
              <p:cNvSpPr/>
              <p:nvPr>
                <p:custDataLst>
                  <p:tags r:id="rId25"/>
                </p:custDataLst>
              </p:nvPr>
            </p:nvSpPr>
            <p:spPr>
              <a:xfrm>
                <a:off x="2847190" y="4582842"/>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sp>
            <p:nvSpPr>
              <p:cNvPr id="33" name="Arc 32">
                <a:extLst>
                  <a:ext uri="{FF2B5EF4-FFF2-40B4-BE49-F238E27FC236}">
                    <a16:creationId xmlns:a16="http://schemas.microsoft.com/office/drawing/2014/main" id="{568FD606-443C-3B1B-DCF7-B849F7F645A3}"/>
                  </a:ext>
                </a:extLst>
              </p:cNvPr>
              <p:cNvSpPr/>
              <p:nvPr>
                <p:custDataLst>
                  <p:tags r:id="rId26"/>
                </p:custDataLst>
              </p:nvPr>
            </p:nvSpPr>
            <p:spPr>
              <a:xfrm>
                <a:off x="2847190" y="4582842"/>
                <a:ext cx="342654" cy="342654"/>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cxnSp>
        <p:nvCxnSpPr>
          <p:cNvPr id="96" name="Straight Connector 95">
            <a:extLst>
              <a:ext uri="{FF2B5EF4-FFF2-40B4-BE49-F238E27FC236}">
                <a16:creationId xmlns:a16="http://schemas.microsoft.com/office/drawing/2014/main" id="{B74AC2BD-CFC7-99D1-0719-A9B044368FBA}"/>
              </a:ext>
            </a:extLst>
          </p:cNvPr>
          <p:cNvCxnSpPr>
            <a:cxnSpLocks/>
          </p:cNvCxnSpPr>
          <p:nvPr>
            <p:custDataLst>
              <p:tags r:id="rId10"/>
            </p:custDataLst>
          </p:nvPr>
        </p:nvCxnSpPr>
        <p:spPr>
          <a:xfrm>
            <a:off x="539908" y="1867209"/>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E89FDEA1-6DCC-D5F6-ECDA-29B549F38A7F}"/>
              </a:ext>
            </a:extLst>
          </p:cNvPr>
          <p:cNvSpPr txBox="1">
            <a:spLocks/>
          </p:cNvSpPr>
          <p:nvPr/>
        </p:nvSpPr>
        <p:spPr>
          <a:xfrm>
            <a:off x="2700607"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a:t>
            </a:r>
          </a:p>
        </p:txBody>
      </p:sp>
      <p:sp>
        <p:nvSpPr>
          <p:cNvPr id="99" name="TextBox 98">
            <a:extLst>
              <a:ext uri="{FF2B5EF4-FFF2-40B4-BE49-F238E27FC236}">
                <a16:creationId xmlns:a16="http://schemas.microsoft.com/office/drawing/2014/main" id="{6B733A25-0D26-CB59-2C8F-72EA1AEC0C47}"/>
              </a:ext>
            </a:extLst>
          </p:cNvPr>
          <p:cNvSpPr txBox="1">
            <a:spLocks/>
          </p:cNvSpPr>
          <p:nvPr/>
        </p:nvSpPr>
        <p:spPr>
          <a:xfrm>
            <a:off x="1677535" y="1198538"/>
            <a:ext cx="198292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Assessment Score</a:t>
            </a:r>
          </a:p>
        </p:txBody>
      </p:sp>
      <p:cxnSp>
        <p:nvCxnSpPr>
          <p:cNvPr id="100" name="GreyLineSeparatorStrong 8">
            <a:extLst>
              <a:ext uri="{FF2B5EF4-FFF2-40B4-BE49-F238E27FC236}">
                <a16:creationId xmlns:a16="http://schemas.microsoft.com/office/drawing/2014/main" id="{285CFD34-C055-4452-E38D-39C43A7B321E}"/>
              </a:ext>
            </a:extLst>
          </p:cNvPr>
          <p:cNvCxnSpPr>
            <a:cxnSpLocks/>
          </p:cNvCxnSpPr>
          <p:nvPr>
            <p:custDataLst>
              <p:tags r:id="rId11"/>
            </p:custDataLst>
          </p:nvPr>
        </p:nvCxnSpPr>
        <p:spPr>
          <a:xfrm>
            <a:off x="1677535" y="1406164"/>
            <a:ext cx="1982920"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F69CEB5F-4212-26B9-319E-C28BA33BFA66}"/>
              </a:ext>
            </a:extLst>
          </p:cNvPr>
          <p:cNvSpPr txBox="1">
            <a:spLocks/>
          </p:cNvSpPr>
          <p:nvPr/>
        </p:nvSpPr>
        <p:spPr>
          <a:xfrm>
            <a:off x="554038" y="1462104"/>
            <a:ext cx="1060273" cy="369332"/>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135" name="TextBox 134">
            <a:extLst>
              <a:ext uri="{FF2B5EF4-FFF2-40B4-BE49-F238E27FC236}">
                <a16:creationId xmlns:a16="http://schemas.microsoft.com/office/drawing/2014/main" id="{88A154F9-4E2F-3185-EACA-35393BF34826}"/>
              </a:ext>
            </a:extLst>
          </p:cNvPr>
          <p:cNvSpPr txBox="1">
            <a:spLocks/>
          </p:cNvSpPr>
          <p:nvPr/>
        </p:nvSpPr>
        <p:spPr>
          <a:xfrm>
            <a:off x="3723679" y="1646770"/>
            <a:ext cx="3621681"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Observations</a:t>
            </a:r>
          </a:p>
        </p:txBody>
      </p:sp>
      <p:grpSp>
        <p:nvGrpSpPr>
          <p:cNvPr id="232" name="Group 231">
            <a:extLst>
              <a:ext uri="{FF2B5EF4-FFF2-40B4-BE49-F238E27FC236}">
                <a16:creationId xmlns:a16="http://schemas.microsoft.com/office/drawing/2014/main" id="{DEB111AE-3B23-9D22-6C73-76D1621F92E2}"/>
              </a:ext>
            </a:extLst>
          </p:cNvPr>
          <p:cNvGrpSpPr/>
          <p:nvPr/>
        </p:nvGrpSpPr>
        <p:grpSpPr>
          <a:xfrm>
            <a:off x="1677535" y="1462104"/>
            <a:ext cx="9960428" cy="369332"/>
            <a:chOff x="1677535" y="1462104"/>
            <a:chExt cx="9960428" cy="369332"/>
          </a:xfrm>
        </p:grpSpPr>
        <p:sp>
          <p:nvSpPr>
            <p:cNvPr id="97" name="TextBox 96">
              <a:extLst>
                <a:ext uri="{FF2B5EF4-FFF2-40B4-BE49-F238E27FC236}">
                  <a16:creationId xmlns:a16="http://schemas.microsoft.com/office/drawing/2014/main" id="{78E0A7BB-30F1-28E2-686A-3B2139D0435D}"/>
                </a:ext>
              </a:extLst>
            </p:cNvPr>
            <p:cNvSpPr txBox="1">
              <a:spLocks/>
            </p:cNvSpPr>
            <p:nvPr/>
          </p:nvSpPr>
          <p:spPr>
            <a:xfrm>
              <a:off x="1677535"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rgbClr val="000000"/>
                </a:buClr>
                <a:defRPr/>
              </a:pPr>
              <a:r>
                <a:rPr lang="en-US" sz="1200" b="1">
                  <a:solidFill>
                    <a:srgbClr val="000000"/>
                  </a:solidFill>
                  <a:latin typeface="Arial"/>
                  <a:cs typeface="Arial"/>
                </a:rPr>
                <a:t>Traditional</a:t>
              </a:r>
              <a:r>
                <a:rPr kumimoji="0" lang="en-US" sz="1200" b="1" i="0" u="none" strike="noStrike" kern="1200" cap="none" spc="0" normalizeH="0" baseline="0" noProof="0">
                  <a:ln>
                    <a:noFill/>
                  </a:ln>
                  <a:solidFill>
                    <a:srgbClr val="000000"/>
                  </a:solidFill>
                  <a:effectLst/>
                  <a:uLnTx/>
                  <a:uFillTx/>
                  <a:latin typeface="Arial"/>
                  <a:cs typeface="Arial"/>
                </a:rPr>
                <a:t> AI</a:t>
              </a:r>
              <a:endParaRPr lang="en-US" sz="1200">
                <a:cs typeface="Arial"/>
              </a:endParaRPr>
            </a:p>
          </p:txBody>
        </p:sp>
        <p:sp>
          <p:nvSpPr>
            <p:cNvPr id="136" name="TextBox 135">
              <a:extLst>
                <a:ext uri="{FF2B5EF4-FFF2-40B4-BE49-F238E27FC236}">
                  <a16:creationId xmlns:a16="http://schemas.microsoft.com/office/drawing/2014/main" id="{B13582B3-207D-23B9-0DF4-4A1782033EE4}"/>
                </a:ext>
              </a:extLst>
            </p:cNvPr>
            <p:cNvSpPr txBox="1">
              <a:spLocks/>
            </p:cNvSpPr>
            <p:nvPr/>
          </p:nvSpPr>
          <p:spPr>
            <a:xfrm>
              <a:off x="7408584" y="1646770"/>
              <a:ext cx="4229379"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Implications for Client</a:t>
              </a:r>
            </a:p>
          </p:txBody>
        </p:sp>
      </p:grpSp>
      <p:sp>
        <p:nvSpPr>
          <p:cNvPr id="138" name="TextBox 73">
            <a:extLst>
              <a:ext uri="{FF2B5EF4-FFF2-40B4-BE49-F238E27FC236}">
                <a16:creationId xmlns:a16="http://schemas.microsoft.com/office/drawing/2014/main" id="{1D93D6CB-EDC6-8BC2-3FC5-BECF094856CE}"/>
              </a:ext>
            </a:extLst>
          </p:cNvPr>
          <p:cNvSpPr txBox="1"/>
          <p:nvPr/>
        </p:nvSpPr>
        <p:spPr>
          <a:xfrm>
            <a:off x="6784030" y="1015359"/>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139" name="TextBox 74">
            <a:extLst>
              <a:ext uri="{FF2B5EF4-FFF2-40B4-BE49-F238E27FC236}">
                <a16:creationId xmlns:a16="http://schemas.microsoft.com/office/drawing/2014/main" id="{E7533BE8-A862-1E3A-BAF4-CCB243B0F63B}"/>
              </a:ext>
            </a:extLst>
          </p:cNvPr>
          <p:cNvSpPr txBox="1"/>
          <p:nvPr/>
        </p:nvSpPr>
        <p:spPr>
          <a:xfrm>
            <a:off x="7060352" y="1015359"/>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140" name="Legend1">
            <a:extLst>
              <a:ext uri="{FF2B5EF4-FFF2-40B4-BE49-F238E27FC236}">
                <a16:creationId xmlns:a16="http://schemas.microsoft.com/office/drawing/2014/main" id="{FD240B06-23AA-2265-C1DA-8132849D02C8}"/>
              </a:ext>
            </a:extLst>
          </p:cNvPr>
          <p:cNvSpPr txBox="1"/>
          <p:nvPr/>
        </p:nvSpPr>
        <p:spPr>
          <a:xfrm>
            <a:off x="8696584" y="1015359"/>
            <a:ext cx="234038"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Low</a:t>
            </a:r>
          </a:p>
        </p:txBody>
      </p:sp>
      <p:grpSp>
        <p:nvGrpSpPr>
          <p:cNvPr id="141" name="MoonLegend1">
            <a:extLst>
              <a:ext uri="{FF2B5EF4-FFF2-40B4-BE49-F238E27FC236}">
                <a16:creationId xmlns:a16="http://schemas.microsoft.com/office/drawing/2014/main" id="{FBCDD8D3-FC6B-17B6-6EED-00F5A05E2C99}"/>
              </a:ext>
            </a:extLst>
          </p:cNvPr>
          <p:cNvGrpSpPr>
            <a:grpSpLocks noChangeAspect="1"/>
          </p:cNvGrpSpPr>
          <p:nvPr/>
        </p:nvGrpSpPr>
        <p:grpSpPr>
          <a:xfrm>
            <a:off x="8476410" y="1014579"/>
            <a:ext cx="155448" cy="155448"/>
            <a:chOff x="762000" y="1270000"/>
            <a:chExt cx="254000" cy="254000"/>
          </a:xfrm>
        </p:grpSpPr>
        <p:sp>
          <p:nvSpPr>
            <p:cNvPr id="163" name="Oval 162">
              <a:extLst>
                <a:ext uri="{FF2B5EF4-FFF2-40B4-BE49-F238E27FC236}">
                  <a16:creationId xmlns:a16="http://schemas.microsoft.com/office/drawing/2014/main" id="{326ADB5D-DF5F-FC8E-B990-64F07C199949}"/>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64" name="Arc 163" hidden="1">
              <a:extLst>
                <a:ext uri="{FF2B5EF4-FFF2-40B4-BE49-F238E27FC236}">
                  <a16:creationId xmlns:a16="http://schemas.microsoft.com/office/drawing/2014/main" id="{D6670454-8C63-C58B-B367-7A392209F93E}"/>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42" name="Legend3">
            <a:extLst>
              <a:ext uri="{FF2B5EF4-FFF2-40B4-BE49-F238E27FC236}">
                <a16:creationId xmlns:a16="http://schemas.microsoft.com/office/drawing/2014/main" id="{238161AA-0374-F102-9B6A-5D4D98E9AE9C}"/>
              </a:ext>
            </a:extLst>
          </p:cNvPr>
          <p:cNvSpPr txBox="1"/>
          <p:nvPr/>
        </p:nvSpPr>
        <p:spPr>
          <a:xfrm>
            <a:off x="9215522" y="1015359"/>
            <a:ext cx="455253"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Medium</a:t>
            </a:r>
          </a:p>
        </p:txBody>
      </p:sp>
      <p:grpSp>
        <p:nvGrpSpPr>
          <p:cNvPr id="143" name="MoonLegend3">
            <a:extLst>
              <a:ext uri="{FF2B5EF4-FFF2-40B4-BE49-F238E27FC236}">
                <a16:creationId xmlns:a16="http://schemas.microsoft.com/office/drawing/2014/main" id="{B1AC0583-9B11-BB9E-7234-8B162F0A9227}"/>
              </a:ext>
            </a:extLst>
          </p:cNvPr>
          <p:cNvGrpSpPr>
            <a:grpSpLocks noChangeAspect="1"/>
          </p:cNvGrpSpPr>
          <p:nvPr/>
        </p:nvGrpSpPr>
        <p:grpSpPr>
          <a:xfrm>
            <a:off x="8995348" y="1014579"/>
            <a:ext cx="155448" cy="155448"/>
            <a:chOff x="762000" y="1270000"/>
            <a:chExt cx="254000" cy="254000"/>
          </a:xfrm>
        </p:grpSpPr>
        <p:sp>
          <p:nvSpPr>
            <p:cNvPr id="161" name="Oval 160">
              <a:extLst>
                <a:ext uri="{FF2B5EF4-FFF2-40B4-BE49-F238E27FC236}">
                  <a16:creationId xmlns:a16="http://schemas.microsoft.com/office/drawing/2014/main" id="{E67FB6AF-CD62-8FDD-B9CA-30CDE46D00C5}"/>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62" name="Arc 161">
              <a:extLst>
                <a:ext uri="{FF2B5EF4-FFF2-40B4-BE49-F238E27FC236}">
                  <a16:creationId xmlns:a16="http://schemas.microsoft.com/office/drawing/2014/main" id="{9859797A-20BF-F1A5-2C59-AC5A6FC51A87}"/>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44" name="Legend5">
            <a:extLst>
              <a:ext uri="{FF2B5EF4-FFF2-40B4-BE49-F238E27FC236}">
                <a16:creationId xmlns:a16="http://schemas.microsoft.com/office/drawing/2014/main" id="{EEE8D359-FE0D-C38A-F6F7-72C7F2E86ABF}"/>
              </a:ext>
            </a:extLst>
          </p:cNvPr>
          <p:cNvSpPr txBox="1"/>
          <p:nvPr/>
        </p:nvSpPr>
        <p:spPr>
          <a:xfrm>
            <a:off x="9955675" y="1015359"/>
            <a:ext cx="262892"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High</a:t>
            </a:r>
          </a:p>
        </p:txBody>
      </p:sp>
      <p:grpSp>
        <p:nvGrpSpPr>
          <p:cNvPr id="145" name="MoonLegend5">
            <a:extLst>
              <a:ext uri="{FF2B5EF4-FFF2-40B4-BE49-F238E27FC236}">
                <a16:creationId xmlns:a16="http://schemas.microsoft.com/office/drawing/2014/main" id="{0543A354-A09D-6018-3760-991B6974ABB2}"/>
              </a:ext>
            </a:extLst>
          </p:cNvPr>
          <p:cNvGrpSpPr>
            <a:grpSpLocks noChangeAspect="1"/>
          </p:cNvGrpSpPr>
          <p:nvPr/>
        </p:nvGrpSpPr>
        <p:grpSpPr>
          <a:xfrm>
            <a:off x="9735501" y="1014579"/>
            <a:ext cx="155448" cy="155448"/>
            <a:chOff x="762000" y="1270000"/>
            <a:chExt cx="254000" cy="254000"/>
          </a:xfrm>
        </p:grpSpPr>
        <p:sp>
          <p:nvSpPr>
            <p:cNvPr id="159" name="Oval 158">
              <a:extLst>
                <a:ext uri="{FF2B5EF4-FFF2-40B4-BE49-F238E27FC236}">
                  <a16:creationId xmlns:a16="http://schemas.microsoft.com/office/drawing/2014/main" id="{A867024D-1E4F-25C4-AF6D-316AE54FED2B}"/>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60" name="Arc 159">
              <a:extLst>
                <a:ext uri="{FF2B5EF4-FFF2-40B4-BE49-F238E27FC236}">
                  <a16:creationId xmlns:a16="http://schemas.microsoft.com/office/drawing/2014/main" id="{96E1A6E9-4D6D-961A-FAAE-3EC721DF3A0F}"/>
                </a:ext>
              </a:extLst>
            </p:cNvPr>
            <p:cNvSpPr/>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46" name="TextBox 145">
            <a:extLst>
              <a:ext uri="{FF2B5EF4-FFF2-40B4-BE49-F238E27FC236}">
                <a16:creationId xmlns:a16="http://schemas.microsoft.com/office/drawing/2014/main" id="{2C7B62DB-3F3C-451E-42E2-A4F5A1D337D6}"/>
              </a:ext>
            </a:extLst>
          </p:cNvPr>
          <p:cNvSpPr txBox="1"/>
          <p:nvPr/>
        </p:nvSpPr>
        <p:spPr>
          <a:xfrm>
            <a:off x="4760434" y="1015359"/>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147" name="Rectangle 146">
            <a:extLst>
              <a:ext uri="{FF2B5EF4-FFF2-40B4-BE49-F238E27FC236}">
                <a16:creationId xmlns:a16="http://schemas.microsoft.com/office/drawing/2014/main" id="{CB450BF7-7B82-5447-B336-ADF37052115D}"/>
              </a:ext>
            </a:extLst>
          </p:cNvPr>
          <p:cNvSpPr/>
          <p:nvPr/>
        </p:nvSpPr>
        <p:spPr>
          <a:xfrm>
            <a:off x="4540260" y="1014579"/>
            <a:ext cx="155448" cy="155448"/>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nvGrpSpPr>
          <p:cNvPr id="151" name="MinusSignBlue 65">
            <a:extLst>
              <a:ext uri="{FF2B5EF4-FFF2-40B4-BE49-F238E27FC236}">
                <a16:creationId xmlns:a16="http://schemas.microsoft.com/office/drawing/2014/main" id="{35893506-A072-4B36-2B14-3BE937B29B73}"/>
              </a:ext>
            </a:extLst>
          </p:cNvPr>
          <p:cNvGrpSpPr>
            <a:grpSpLocks noChangeAspect="1"/>
          </p:cNvGrpSpPr>
          <p:nvPr>
            <p:custDataLst>
              <p:tags r:id="rId12"/>
            </p:custDataLst>
          </p:nvPr>
        </p:nvGrpSpPr>
        <p:grpSpPr>
          <a:xfrm>
            <a:off x="10283293" y="1014579"/>
            <a:ext cx="155448" cy="155448"/>
            <a:chOff x="1016000" y="1016000"/>
            <a:chExt cx="396228" cy="396228"/>
          </a:xfrm>
        </p:grpSpPr>
        <p:sp>
          <p:nvSpPr>
            <p:cNvPr id="157" name="Oval 156">
              <a:extLst>
                <a:ext uri="{FF2B5EF4-FFF2-40B4-BE49-F238E27FC236}">
                  <a16:creationId xmlns:a16="http://schemas.microsoft.com/office/drawing/2014/main" id="{A1BCB666-217D-8D54-5FBB-BC7EE4C9A306}"/>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58" name="Graphic 157">
              <a:extLst>
                <a:ext uri="{FF2B5EF4-FFF2-40B4-BE49-F238E27FC236}">
                  <a16:creationId xmlns:a16="http://schemas.microsoft.com/office/drawing/2014/main" id="{1F54B15E-0B09-4089-3A1F-72C727854A64}"/>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sp>
        <p:nvSpPr>
          <p:cNvPr id="152" name="Legend3">
            <a:extLst>
              <a:ext uri="{FF2B5EF4-FFF2-40B4-BE49-F238E27FC236}">
                <a16:creationId xmlns:a16="http://schemas.microsoft.com/office/drawing/2014/main" id="{3B23FC42-1ADA-BBB1-9D46-0727A06B96C7}"/>
              </a:ext>
            </a:extLst>
          </p:cNvPr>
          <p:cNvSpPr txBox="1"/>
          <p:nvPr/>
        </p:nvSpPr>
        <p:spPr>
          <a:xfrm>
            <a:off x="10503467" y="1015359"/>
            <a:ext cx="30457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Gaps</a:t>
            </a:r>
          </a:p>
        </p:txBody>
      </p:sp>
      <p:grpSp>
        <p:nvGrpSpPr>
          <p:cNvPr id="153" name="PlusSignWhite 203">
            <a:extLst>
              <a:ext uri="{FF2B5EF4-FFF2-40B4-BE49-F238E27FC236}">
                <a16:creationId xmlns:a16="http://schemas.microsoft.com/office/drawing/2014/main" id="{3E192069-E8C3-F0A5-6A9A-F0398B3FF5A2}"/>
              </a:ext>
            </a:extLst>
          </p:cNvPr>
          <p:cNvGrpSpPr>
            <a:grpSpLocks/>
          </p:cNvGrpSpPr>
          <p:nvPr>
            <p:custDataLst>
              <p:tags r:id="rId13"/>
            </p:custDataLst>
          </p:nvPr>
        </p:nvGrpSpPr>
        <p:grpSpPr>
          <a:xfrm>
            <a:off x="10872764" y="1014579"/>
            <a:ext cx="155448" cy="155448"/>
            <a:chOff x="1016000" y="1016000"/>
            <a:chExt cx="396228" cy="396228"/>
          </a:xfrm>
          <a:solidFill>
            <a:schemeClr val="accent1"/>
          </a:solidFill>
        </p:grpSpPr>
        <p:sp>
          <p:nvSpPr>
            <p:cNvPr id="155" name="Oval 154">
              <a:extLst>
                <a:ext uri="{FF2B5EF4-FFF2-40B4-BE49-F238E27FC236}">
                  <a16:creationId xmlns:a16="http://schemas.microsoft.com/office/drawing/2014/main" id="{0B8ED4C5-40FD-AB1A-2101-CE0E5010D9EF}"/>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56" name="Graphic 155">
              <a:extLst>
                <a:ext uri="{FF2B5EF4-FFF2-40B4-BE49-F238E27FC236}">
                  <a16:creationId xmlns:a16="http://schemas.microsoft.com/office/drawing/2014/main" id="{1FE1E3E0-8742-01BE-FF74-F1E1F8EEF1D4}"/>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1023614" y="1023614"/>
              <a:ext cx="381000" cy="381000"/>
            </a:xfrm>
            <a:prstGeom prst="rect">
              <a:avLst/>
            </a:prstGeom>
          </p:spPr>
        </p:pic>
      </p:grpSp>
      <p:sp>
        <p:nvSpPr>
          <p:cNvPr id="154" name="Legend3">
            <a:extLst>
              <a:ext uri="{FF2B5EF4-FFF2-40B4-BE49-F238E27FC236}">
                <a16:creationId xmlns:a16="http://schemas.microsoft.com/office/drawing/2014/main" id="{11ABE64D-084D-8616-3CDF-E7B743C70977}"/>
              </a:ext>
            </a:extLst>
          </p:cNvPr>
          <p:cNvSpPr txBox="1"/>
          <p:nvPr/>
        </p:nvSpPr>
        <p:spPr>
          <a:xfrm>
            <a:off x="11092942" y="1015359"/>
            <a:ext cx="54502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altLang="zh-CN" sz="1000"/>
              <a:t>Strengths</a:t>
            </a:r>
            <a:endParaRPr lang="en-US" sz="1000"/>
          </a:p>
        </p:txBody>
      </p:sp>
      <p:grpSp>
        <p:nvGrpSpPr>
          <p:cNvPr id="189" name="MinusSignBlue 65">
            <a:extLst>
              <a:ext uri="{FF2B5EF4-FFF2-40B4-BE49-F238E27FC236}">
                <a16:creationId xmlns:a16="http://schemas.microsoft.com/office/drawing/2014/main" id="{E1DDEA61-CE2F-55E2-9743-00273D1C71FB}"/>
              </a:ext>
            </a:extLst>
          </p:cNvPr>
          <p:cNvGrpSpPr>
            <a:grpSpLocks/>
          </p:cNvGrpSpPr>
          <p:nvPr>
            <p:custDataLst>
              <p:tags r:id="rId14"/>
            </p:custDataLst>
          </p:nvPr>
        </p:nvGrpSpPr>
        <p:grpSpPr>
          <a:xfrm>
            <a:off x="3660455" y="1945386"/>
            <a:ext cx="155448" cy="155448"/>
            <a:chOff x="1016000" y="1016000"/>
            <a:chExt cx="396228" cy="396228"/>
          </a:xfrm>
          <a:solidFill>
            <a:schemeClr val="accent1"/>
          </a:solidFill>
        </p:grpSpPr>
        <p:sp>
          <p:nvSpPr>
            <p:cNvPr id="190" name="Oval 189">
              <a:extLst>
                <a:ext uri="{FF2B5EF4-FFF2-40B4-BE49-F238E27FC236}">
                  <a16:creationId xmlns:a16="http://schemas.microsoft.com/office/drawing/2014/main" id="{ED716934-B21F-0263-1F1A-D5963F30970A}"/>
                </a:ext>
              </a:extLst>
            </p:cNvPr>
            <p:cNvSpPr/>
            <p:nvPr/>
          </p:nvSpPr>
          <p:spPr>
            <a:xfrm>
              <a:off x="1016000" y="1016000"/>
              <a:ext cx="396228" cy="396228"/>
            </a:xfrm>
            <a:prstGeom prst="ellipse">
              <a:avLst/>
            </a:pr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97" name="Graphic 196">
              <a:extLst>
                <a:ext uri="{FF2B5EF4-FFF2-40B4-BE49-F238E27FC236}">
                  <a16:creationId xmlns:a16="http://schemas.microsoft.com/office/drawing/2014/main" id="{17963732-C626-56E2-2C99-35D6FF1244DB}"/>
                </a:ext>
              </a:extLst>
            </p:cNvPr>
            <p:cNvPicPr>
              <a:picLocks noChangeAspect="1"/>
            </p:cNvPicPr>
            <p:nvPr/>
          </p:nvPicPr>
          <p:blipFill>
            <a:blip r:embed="rId57">
              <a:extLst>
                <a:ext uri="{96DAC541-7B7A-43D3-8B79-37D633B846F1}">
                  <asvg:svgBlip xmlns:asvg="http://schemas.microsoft.com/office/drawing/2016/SVG/main" r:embed="rId61"/>
                </a:ext>
              </a:extLst>
            </a:blip>
            <a:stretch>
              <a:fillRect/>
            </a:stretch>
          </p:blipFill>
          <p:spPr>
            <a:xfrm>
              <a:off x="1023614" y="1023614"/>
              <a:ext cx="381000" cy="381000"/>
            </a:xfrm>
            <a:prstGeom prst="rect">
              <a:avLst/>
            </a:prstGeom>
          </p:spPr>
        </p:pic>
      </p:grpSp>
      <p:grpSp>
        <p:nvGrpSpPr>
          <p:cNvPr id="198" name="MinusSignBlue 65">
            <a:extLst>
              <a:ext uri="{FF2B5EF4-FFF2-40B4-BE49-F238E27FC236}">
                <a16:creationId xmlns:a16="http://schemas.microsoft.com/office/drawing/2014/main" id="{EDCA4FD4-490C-299A-60EE-74AC313D801C}"/>
              </a:ext>
            </a:extLst>
          </p:cNvPr>
          <p:cNvGrpSpPr>
            <a:grpSpLocks/>
          </p:cNvGrpSpPr>
          <p:nvPr>
            <p:custDataLst>
              <p:tags r:id="rId15"/>
            </p:custDataLst>
          </p:nvPr>
        </p:nvGrpSpPr>
        <p:grpSpPr>
          <a:xfrm>
            <a:off x="3660455" y="2386830"/>
            <a:ext cx="155448" cy="155448"/>
            <a:chOff x="1016000" y="1016000"/>
            <a:chExt cx="396228" cy="396228"/>
          </a:xfrm>
        </p:grpSpPr>
        <p:sp>
          <p:nvSpPr>
            <p:cNvPr id="199" name="Oval 198">
              <a:extLst>
                <a:ext uri="{FF2B5EF4-FFF2-40B4-BE49-F238E27FC236}">
                  <a16:creationId xmlns:a16="http://schemas.microsoft.com/office/drawing/2014/main" id="{2F9C6AC9-ADF3-0F7E-3A02-0852FFC73296}"/>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01" name="Graphic 200">
              <a:extLst>
                <a:ext uri="{FF2B5EF4-FFF2-40B4-BE49-F238E27FC236}">
                  <a16:creationId xmlns:a16="http://schemas.microsoft.com/office/drawing/2014/main" id="{4E21351E-ACAF-89EE-0E7B-0909AB36B4B8}"/>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204" name="MinusSignBlue 65">
            <a:extLst>
              <a:ext uri="{FF2B5EF4-FFF2-40B4-BE49-F238E27FC236}">
                <a16:creationId xmlns:a16="http://schemas.microsoft.com/office/drawing/2014/main" id="{7E96B2FF-3D1C-2BFB-75C4-0D8053DE876A}"/>
              </a:ext>
            </a:extLst>
          </p:cNvPr>
          <p:cNvGrpSpPr>
            <a:grpSpLocks/>
          </p:cNvGrpSpPr>
          <p:nvPr>
            <p:custDataLst>
              <p:tags r:id="rId16"/>
            </p:custDataLst>
          </p:nvPr>
        </p:nvGrpSpPr>
        <p:grpSpPr>
          <a:xfrm>
            <a:off x="3660455" y="3576187"/>
            <a:ext cx="155448" cy="155448"/>
            <a:chOff x="1016000" y="1016000"/>
            <a:chExt cx="396228" cy="396228"/>
          </a:xfrm>
        </p:grpSpPr>
        <p:sp>
          <p:nvSpPr>
            <p:cNvPr id="211" name="Oval 210">
              <a:extLst>
                <a:ext uri="{FF2B5EF4-FFF2-40B4-BE49-F238E27FC236}">
                  <a16:creationId xmlns:a16="http://schemas.microsoft.com/office/drawing/2014/main" id="{82C2D77B-1ACD-9DE2-0E9A-EBB12985D21F}"/>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12" name="Graphic 211">
              <a:extLst>
                <a:ext uri="{FF2B5EF4-FFF2-40B4-BE49-F238E27FC236}">
                  <a16:creationId xmlns:a16="http://schemas.microsoft.com/office/drawing/2014/main" id="{B7094B21-F960-9897-EFC1-452B714A67DC}"/>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213" name="MinusSignBlue 65">
            <a:extLst>
              <a:ext uri="{FF2B5EF4-FFF2-40B4-BE49-F238E27FC236}">
                <a16:creationId xmlns:a16="http://schemas.microsoft.com/office/drawing/2014/main" id="{ED47B868-D7F7-13AD-6733-29B5058580F4}"/>
              </a:ext>
            </a:extLst>
          </p:cNvPr>
          <p:cNvGrpSpPr>
            <a:grpSpLocks/>
          </p:cNvGrpSpPr>
          <p:nvPr>
            <p:custDataLst>
              <p:tags r:id="rId17"/>
            </p:custDataLst>
          </p:nvPr>
        </p:nvGrpSpPr>
        <p:grpSpPr>
          <a:xfrm>
            <a:off x="3660455" y="2944504"/>
            <a:ext cx="155448" cy="155448"/>
            <a:chOff x="1016000" y="1016000"/>
            <a:chExt cx="396228" cy="396228"/>
          </a:xfrm>
          <a:solidFill>
            <a:schemeClr val="accent1"/>
          </a:solidFill>
        </p:grpSpPr>
        <p:sp>
          <p:nvSpPr>
            <p:cNvPr id="214" name="Oval 213">
              <a:extLst>
                <a:ext uri="{FF2B5EF4-FFF2-40B4-BE49-F238E27FC236}">
                  <a16:creationId xmlns:a16="http://schemas.microsoft.com/office/drawing/2014/main" id="{57F924F7-E601-4665-F71C-1E0E397F880C}"/>
                </a:ext>
              </a:extLst>
            </p:cNvPr>
            <p:cNvSpPr/>
            <p:nvPr/>
          </p:nvSpPr>
          <p:spPr>
            <a:xfrm>
              <a:off x="1016000" y="1016000"/>
              <a:ext cx="396228" cy="396228"/>
            </a:xfrm>
            <a:prstGeom prst="ellipse">
              <a:avLst/>
            </a:pr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15" name="Graphic 214">
              <a:extLst>
                <a:ext uri="{FF2B5EF4-FFF2-40B4-BE49-F238E27FC236}">
                  <a16:creationId xmlns:a16="http://schemas.microsoft.com/office/drawing/2014/main" id="{87E6BA23-DE6D-9250-5128-887D381B04EB}"/>
                </a:ext>
              </a:extLst>
            </p:cNvPr>
            <p:cNvPicPr>
              <a:picLocks noChangeAspect="1"/>
            </p:cNvPicPr>
            <p:nvPr/>
          </p:nvPicPr>
          <p:blipFill>
            <a:blip r:embed="rId57">
              <a:extLst>
                <a:ext uri="{96DAC541-7B7A-43D3-8B79-37D633B846F1}">
                  <asvg:svgBlip xmlns:asvg="http://schemas.microsoft.com/office/drawing/2016/SVG/main" r:embed="rId61"/>
                </a:ext>
              </a:extLst>
            </a:blip>
            <a:stretch>
              <a:fillRect/>
            </a:stretch>
          </p:blipFill>
          <p:spPr>
            <a:xfrm>
              <a:off x="1023614" y="1023614"/>
              <a:ext cx="381000" cy="381000"/>
            </a:xfrm>
            <a:prstGeom prst="rect">
              <a:avLst/>
            </a:prstGeom>
          </p:spPr>
        </p:pic>
      </p:grpSp>
      <p:grpSp>
        <p:nvGrpSpPr>
          <p:cNvPr id="216" name="MinusSignBlue 65">
            <a:extLst>
              <a:ext uri="{FF2B5EF4-FFF2-40B4-BE49-F238E27FC236}">
                <a16:creationId xmlns:a16="http://schemas.microsoft.com/office/drawing/2014/main" id="{00870A8B-C05B-063C-9A00-5C1DAEE06F77}"/>
              </a:ext>
            </a:extLst>
          </p:cNvPr>
          <p:cNvGrpSpPr>
            <a:grpSpLocks/>
          </p:cNvGrpSpPr>
          <p:nvPr>
            <p:custDataLst>
              <p:tags r:id="rId18"/>
            </p:custDataLst>
          </p:nvPr>
        </p:nvGrpSpPr>
        <p:grpSpPr>
          <a:xfrm>
            <a:off x="3660455" y="5592953"/>
            <a:ext cx="155448" cy="155448"/>
            <a:chOff x="1016000" y="1016000"/>
            <a:chExt cx="396228" cy="396228"/>
          </a:xfrm>
        </p:grpSpPr>
        <p:sp>
          <p:nvSpPr>
            <p:cNvPr id="217" name="Oval 216">
              <a:extLst>
                <a:ext uri="{FF2B5EF4-FFF2-40B4-BE49-F238E27FC236}">
                  <a16:creationId xmlns:a16="http://schemas.microsoft.com/office/drawing/2014/main" id="{9FC73827-C612-5969-F554-BBE020258F1F}"/>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18" name="Graphic 217">
              <a:extLst>
                <a:ext uri="{FF2B5EF4-FFF2-40B4-BE49-F238E27FC236}">
                  <a16:creationId xmlns:a16="http://schemas.microsoft.com/office/drawing/2014/main" id="{0743A24B-C262-AEBC-0BCB-C849A038ABB6}"/>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219" name="MinusSignBlue 65">
            <a:extLst>
              <a:ext uri="{FF2B5EF4-FFF2-40B4-BE49-F238E27FC236}">
                <a16:creationId xmlns:a16="http://schemas.microsoft.com/office/drawing/2014/main" id="{BB0CCF99-2140-5378-D12D-161694358F22}"/>
              </a:ext>
            </a:extLst>
          </p:cNvPr>
          <p:cNvGrpSpPr>
            <a:grpSpLocks/>
          </p:cNvGrpSpPr>
          <p:nvPr>
            <p:custDataLst>
              <p:tags r:id="rId19"/>
            </p:custDataLst>
          </p:nvPr>
        </p:nvGrpSpPr>
        <p:grpSpPr>
          <a:xfrm>
            <a:off x="3660455" y="5927778"/>
            <a:ext cx="155448" cy="155448"/>
            <a:chOff x="1016000" y="1016000"/>
            <a:chExt cx="396228" cy="396228"/>
          </a:xfrm>
          <a:solidFill>
            <a:schemeClr val="accent1"/>
          </a:solidFill>
        </p:grpSpPr>
        <p:sp>
          <p:nvSpPr>
            <p:cNvPr id="220" name="Oval 219">
              <a:extLst>
                <a:ext uri="{FF2B5EF4-FFF2-40B4-BE49-F238E27FC236}">
                  <a16:creationId xmlns:a16="http://schemas.microsoft.com/office/drawing/2014/main" id="{CBF3A786-3C86-77A7-E63C-51645B691993}"/>
                </a:ext>
              </a:extLst>
            </p:cNvPr>
            <p:cNvSpPr/>
            <p:nvPr/>
          </p:nvSpPr>
          <p:spPr>
            <a:xfrm>
              <a:off x="1016000" y="1016000"/>
              <a:ext cx="396228" cy="396228"/>
            </a:xfrm>
            <a:prstGeom prst="ellipse">
              <a:avLst/>
            </a:pr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21" name="Graphic 220">
              <a:extLst>
                <a:ext uri="{FF2B5EF4-FFF2-40B4-BE49-F238E27FC236}">
                  <a16:creationId xmlns:a16="http://schemas.microsoft.com/office/drawing/2014/main" id="{1DD770B8-B613-8AA7-F881-850D7EDD4BB1}"/>
                </a:ext>
              </a:extLst>
            </p:cNvPr>
            <p:cNvPicPr>
              <a:picLocks noChangeAspect="1"/>
            </p:cNvPicPr>
            <p:nvPr/>
          </p:nvPicPr>
          <p:blipFill>
            <a:blip r:embed="rId57">
              <a:extLst>
                <a:ext uri="{96DAC541-7B7A-43D3-8B79-37D633B846F1}">
                  <asvg:svgBlip xmlns:asvg="http://schemas.microsoft.com/office/drawing/2016/SVG/main" r:embed="rId61"/>
                </a:ext>
              </a:extLst>
            </a:blip>
            <a:stretch>
              <a:fillRect/>
            </a:stretch>
          </p:blipFill>
          <p:spPr>
            <a:xfrm>
              <a:off x="1023614" y="1023614"/>
              <a:ext cx="381000" cy="381000"/>
            </a:xfrm>
            <a:prstGeom prst="rect">
              <a:avLst/>
            </a:prstGeom>
          </p:spPr>
        </p:pic>
      </p:grpSp>
      <p:grpSp>
        <p:nvGrpSpPr>
          <p:cNvPr id="222" name="PlusSignWhite 203">
            <a:extLst>
              <a:ext uri="{FF2B5EF4-FFF2-40B4-BE49-F238E27FC236}">
                <a16:creationId xmlns:a16="http://schemas.microsoft.com/office/drawing/2014/main" id="{DD449F8B-FE3F-8533-91C8-6D0E16D39C5B}"/>
              </a:ext>
            </a:extLst>
          </p:cNvPr>
          <p:cNvGrpSpPr>
            <a:grpSpLocks/>
          </p:cNvGrpSpPr>
          <p:nvPr>
            <p:custDataLst>
              <p:tags r:id="rId20"/>
            </p:custDataLst>
          </p:nvPr>
        </p:nvGrpSpPr>
        <p:grpSpPr>
          <a:xfrm>
            <a:off x="3660455" y="4681680"/>
            <a:ext cx="155448" cy="155448"/>
            <a:chOff x="1016000" y="1016000"/>
            <a:chExt cx="396228" cy="396228"/>
          </a:xfrm>
          <a:solidFill>
            <a:schemeClr val="accent1"/>
          </a:solidFill>
        </p:grpSpPr>
        <p:sp>
          <p:nvSpPr>
            <p:cNvPr id="223" name="Oval 222">
              <a:extLst>
                <a:ext uri="{FF2B5EF4-FFF2-40B4-BE49-F238E27FC236}">
                  <a16:creationId xmlns:a16="http://schemas.microsoft.com/office/drawing/2014/main" id="{0C9F1B92-AA7E-CAD7-D345-0ACF72FF4DAC}"/>
                </a:ext>
              </a:extLst>
            </p:cNvPr>
            <p:cNvSpPr/>
            <p:nvPr/>
          </p:nvSpPr>
          <p:spPr>
            <a:xfrm>
              <a:off x="1016000" y="1016000"/>
              <a:ext cx="396228" cy="396228"/>
            </a:xfrm>
            <a:prstGeom prst="ellipse">
              <a:avLst/>
            </a:pr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24" name="Graphic 223">
              <a:extLst>
                <a:ext uri="{FF2B5EF4-FFF2-40B4-BE49-F238E27FC236}">
                  <a16:creationId xmlns:a16="http://schemas.microsoft.com/office/drawing/2014/main" id="{754F7960-D0CA-F0BD-F9EB-B6D31CD5DEB4}"/>
                </a:ext>
              </a:extLst>
            </p:cNvPr>
            <p:cNvPicPr>
              <a:picLocks noChangeAspect="1"/>
            </p:cNvPicPr>
            <p:nvPr/>
          </p:nvPicPr>
          <p:blipFill>
            <a:blip r:embed="rId59">
              <a:extLst>
                <a:ext uri="{96DAC541-7B7A-43D3-8B79-37D633B846F1}">
                  <asvg:svgBlip xmlns:asvg="http://schemas.microsoft.com/office/drawing/2016/SVG/main" r:embed="rId62"/>
                </a:ext>
              </a:extLst>
            </a:blip>
            <a:stretch>
              <a:fillRect/>
            </a:stretch>
          </p:blipFill>
          <p:spPr>
            <a:xfrm>
              <a:off x="1023614" y="1023614"/>
              <a:ext cx="381000" cy="381000"/>
            </a:xfrm>
            <a:prstGeom prst="rect">
              <a:avLst/>
            </a:prstGeom>
          </p:spPr>
        </p:pic>
      </p:grpSp>
      <p:grpSp>
        <p:nvGrpSpPr>
          <p:cNvPr id="225" name="PlusSignWhite 203">
            <a:extLst>
              <a:ext uri="{FF2B5EF4-FFF2-40B4-BE49-F238E27FC236}">
                <a16:creationId xmlns:a16="http://schemas.microsoft.com/office/drawing/2014/main" id="{0595FA46-24C0-BDFF-9429-48747A680D1A}"/>
              </a:ext>
            </a:extLst>
          </p:cNvPr>
          <p:cNvGrpSpPr>
            <a:grpSpLocks/>
          </p:cNvGrpSpPr>
          <p:nvPr>
            <p:custDataLst>
              <p:tags r:id="rId21"/>
            </p:custDataLst>
          </p:nvPr>
        </p:nvGrpSpPr>
        <p:grpSpPr>
          <a:xfrm>
            <a:off x="3660455" y="5165591"/>
            <a:ext cx="155448" cy="155448"/>
            <a:chOff x="1016000" y="1016000"/>
            <a:chExt cx="396228" cy="396228"/>
          </a:xfrm>
          <a:solidFill>
            <a:schemeClr val="accent1"/>
          </a:solidFill>
        </p:grpSpPr>
        <p:sp>
          <p:nvSpPr>
            <p:cNvPr id="226" name="Oval 225">
              <a:extLst>
                <a:ext uri="{FF2B5EF4-FFF2-40B4-BE49-F238E27FC236}">
                  <a16:creationId xmlns:a16="http://schemas.microsoft.com/office/drawing/2014/main" id="{F86642DF-CAB9-BA08-7038-6A2A4B69629C}"/>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27" name="Graphic 226">
              <a:extLst>
                <a:ext uri="{FF2B5EF4-FFF2-40B4-BE49-F238E27FC236}">
                  <a16:creationId xmlns:a16="http://schemas.microsoft.com/office/drawing/2014/main" id="{1B6DB7A2-FA0B-2810-C365-FC432DCE233B}"/>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1023614" y="1023614"/>
              <a:ext cx="381000" cy="381000"/>
            </a:xfrm>
            <a:prstGeom prst="rect">
              <a:avLst/>
            </a:prstGeom>
          </p:spPr>
        </p:pic>
      </p:grpSp>
      <p:grpSp>
        <p:nvGrpSpPr>
          <p:cNvPr id="228" name="PlusSignWhite 203">
            <a:extLst>
              <a:ext uri="{FF2B5EF4-FFF2-40B4-BE49-F238E27FC236}">
                <a16:creationId xmlns:a16="http://schemas.microsoft.com/office/drawing/2014/main" id="{265461F9-33C3-266C-4F5E-AA2C7325D04F}"/>
              </a:ext>
            </a:extLst>
          </p:cNvPr>
          <p:cNvGrpSpPr>
            <a:grpSpLocks/>
          </p:cNvGrpSpPr>
          <p:nvPr>
            <p:custDataLst>
              <p:tags r:id="rId22"/>
            </p:custDataLst>
          </p:nvPr>
        </p:nvGrpSpPr>
        <p:grpSpPr>
          <a:xfrm>
            <a:off x="3660455" y="3989686"/>
            <a:ext cx="155448" cy="155448"/>
            <a:chOff x="1016000" y="1016000"/>
            <a:chExt cx="396228" cy="396228"/>
          </a:xfrm>
          <a:solidFill>
            <a:schemeClr val="accent1"/>
          </a:solidFill>
        </p:grpSpPr>
        <p:sp>
          <p:nvSpPr>
            <p:cNvPr id="229" name="Oval 228">
              <a:extLst>
                <a:ext uri="{FF2B5EF4-FFF2-40B4-BE49-F238E27FC236}">
                  <a16:creationId xmlns:a16="http://schemas.microsoft.com/office/drawing/2014/main" id="{33A4E9F9-70DC-8E60-9183-7ED5B8C49650}"/>
                </a:ext>
              </a:extLst>
            </p:cNvPr>
            <p:cNvSpPr/>
            <p:nvPr/>
          </p:nvSpPr>
          <p:spPr>
            <a:xfrm>
              <a:off x="1016000" y="1016000"/>
              <a:ext cx="396228" cy="396228"/>
            </a:xfrm>
            <a:prstGeom prst="ellipse">
              <a:avLst/>
            </a:pr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30" name="Graphic 229">
              <a:extLst>
                <a:ext uri="{FF2B5EF4-FFF2-40B4-BE49-F238E27FC236}">
                  <a16:creationId xmlns:a16="http://schemas.microsoft.com/office/drawing/2014/main" id="{74BF4AA3-9E4C-2382-B3E3-1CD213BE5564}"/>
                </a:ext>
              </a:extLst>
            </p:cNvPr>
            <p:cNvPicPr>
              <a:picLocks noChangeAspect="1"/>
            </p:cNvPicPr>
            <p:nvPr/>
          </p:nvPicPr>
          <p:blipFill>
            <a:blip r:embed="rId59">
              <a:extLst>
                <a:ext uri="{96DAC541-7B7A-43D3-8B79-37D633B846F1}">
                  <asvg:svgBlip xmlns:asvg="http://schemas.microsoft.com/office/drawing/2016/SVG/main" r:embed="rId62"/>
                </a:ext>
              </a:extLst>
            </a:blip>
            <a:stretch>
              <a:fillRect/>
            </a:stretch>
          </p:blipFill>
          <p:spPr>
            <a:xfrm>
              <a:off x="1023614" y="1023614"/>
              <a:ext cx="381000" cy="381000"/>
            </a:xfrm>
            <a:prstGeom prst="rect">
              <a:avLst/>
            </a:prstGeom>
          </p:spPr>
        </p:pic>
      </p:grpSp>
    </p:spTree>
    <p:custDataLst>
      <p:tags r:id="rId1"/>
    </p:custDataLst>
    <p:extLst>
      <p:ext uri="{BB962C8B-B14F-4D97-AF65-F5344CB8AC3E}">
        <p14:creationId xmlns:p14="http://schemas.microsoft.com/office/powerpoint/2010/main" val="2158669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0002-0419-0A9D-5001-7CBB3905EF7A}"/>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7353D816-B95D-3E64-C65A-AE70199C45F7}"/>
              </a:ext>
            </a:extLst>
          </p:cNvPr>
          <p:cNvGraphicFramePr>
            <a:graphicFrameLocks noChangeAspect="1"/>
          </p:cNvGraphicFramePr>
          <p:nvPr>
            <p:custDataLst>
              <p:tags r:id="rId2"/>
            </p:custDataLst>
            <p:extLst>
              <p:ext uri="{D42A27DB-BD31-4B8C-83A1-F6EECF244321}">
                <p14:modId xmlns:p14="http://schemas.microsoft.com/office/powerpoint/2010/main" val="1654965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8" imgW="404" imgH="405" progId="TCLayout.ActiveDocument.1">
                  <p:embed/>
                </p:oleObj>
              </mc:Choice>
              <mc:Fallback>
                <p:oleObj name="think-cell Slide" r:id="rId48" imgW="404" imgH="405" progId="TCLayout.ActiveDocument.1">
                  <p:embed/>
                  <p:pic>
                    <p:nvPicPr>
                      <p:cNvPr id="5" name="Object 6" hidden="1">
                        <a:extLst>
                          <a:ext uri="{FF2B5EF4-FFF2-40B4-BE49-F238E27FC236}">
                            <a16:creationId xmlns:a16="http://schemas.microsoft.com/office/drawing/2014/main" id="{7353D816-B95D-3E64-C65A-AE70199C45F7}"/>
                          </a:ext>
                        </a:extLst>
                      </p:cNvPr>
                      <p:cNvPicPr/>
                      <p:nvPr/>
                    </p:nvPicPr>
                    <p:blipFill>
                      <a:blip r:embed="rId49"/>
                      <a:stretch>
                        <a:fillRect/>
                      </a:stretch>
                    </p:blipFill>
                    <p:spPr>
                      <a:xfrm>
                        <a:off x="1588" y="1588"/>
                        <a:ext cx="1588" cy="1588"/>
                      </a:xfrm>
                      <a:prstGeom prst="rect">
                        <a:avLst/>
                      </a:prstGeom>
                    </p:spPr>
                  </p:pic>
                </p:oleObj>
              </mc:Fallback>
            </mc:AlternateContent>
          </a:graphicData>
        </a:graphic>
      </p:graphicFrame>
      <p:sp>
        <p:nvSpPr>
          <p:cNvPr id="143" name="Rectangle 142">
            <a:extLst>
              <a:ext uri="{FF2B5EF4-FFF2-40B4-BE49-F238E27FC236}">
                <a16:creationId xmlns:a16="http://schemas.microsoft.com/office/drawing/2014/main" id="{6B0758CE-EEB2-4ABF-2EC1-E1170978D7D2}"/>
              </a:ext>
            </a:extLst>
          </p:cNvPr>
          <p:cNvSpPr>
            <a:spLocks/>
          </p:cNvSpPr>
          <p:nvPr/>
        </p:nvSpPr>
        <p:spPr>
          <a:xfrm>
            <a:off x="484496" y="5229674"/>
            <a:ext cx="11193353" cy="107968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2" name="Rectangle 141">
            <a:extLst>
              <a:ext uri="{FF2B5EF4-FFF2-40B4-BE49-F238E27FC236}">
                <a16:creationId xmlns:a16="http://schemas.microsoft.com/office/drawing/2014/main" id="{5D17F8C9-BFAD-59CF-E7EB-D2E731937CA2}"/>
              </a:ext>
            </a:extLst>
          </p:cNvPr>
          <p:cNvSpPr>
            <a:spLocks/>
          </p:cNvSpPr>
          <p:nvPr/>
        </p:nvSpPr>
        <p:spPr>
          <a:xfrm>
            <a:off x="484496" y="1895412"/>
            <a:ext cx="11193353" cy="239810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 name="2. Slide Title">
            <a:extLst>
              <a:ext uri="{FF2B5EF4-FFF2-40B4-BE49-F238E27FC236}">
                <a16:creationId xmlns:a16="http://schemas.microsoft.com/office/drawing/2014/main" id="{3F7F27D8-4F42-06A8-4F07-501DA976BBC0}"/>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a:t>C. Metadata Management dimension observations and implications</a:t>
            </a:r>
          </a:p>
        </p:txBody>
      </p:sp>
      <p:sp>
        <p:nvSpPr>
          <p:cNvPr id="38" name="Text Placeholder 37">
            <a:extLst>
              <a:ext uri="{FF2B5EF4-FFF2-40B4-BE49-F238E27FC236}">
                <a16:creationId xmlns:a16="http://schemas.microsoft.com/office/drawing/2014/main" id="{C509CD44-0AAE-4382-33D7-44F1344780C6}"/>
              </a:ext>
            </a:extLst>
          </p:cNvPr>
          <p:cNvSpPr>
            <a:spLocks noGrp="1"/>
          </p:cNvSpPr>
          <p:nvPr>
            <p:ph type="body" sz="quarter" idx="17"/>
          </p:nvPr>
        </p:nvSpPr>
        <p:spPr/>
        <p:txBody>
          <a:bodyPr/>
          <a:lstStyle/>
          <a:p>
            <a:endParaRPr lang="en-US"/>
          </a:p>
        </p:txBody>
      </p:sp>
      <p:cxnSp>
        <p:nvCxnSpPr>
          <p:cNvPr id="51" name="Straight Connector 50">
            <a:extLst>
              <a:ext uri="{FF2B5EF4-FFF2-40B4-BE49-F238E27FC236}">
                <a16:creationId xmlns:a16="http://schemas.microsoft.com/office/drawing/2014/main" id="{B90343D8-B7FF-F0AE-3F9D-27CB1CB6D2B6}"/>
              </a:ext>
            </a:extLst>
          </p:cNvPr>
          <p:cNvCxnSpPr>
            <a:cxnSpLocks/>
          </p:cNvCxnSpPr>
          <p:nvPr>
            <p:custDataLst>
              <p:tags r:id="rId4"/>
            </p:custDataLst>
          </p:nvPr>
        </p:nvCxnSpPr>
        <p:spPr>
          <a:xfrm>
            <a:off x="554736" y="3061372"/>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3A0DDB4-4803-AEA8-1519-EC53DA1925A9}"/>
              </a:ext>
            </a:extLst>
          </p:cNvPr>
          <p:cNvCxnSpPr>
            <a:cxnSpLocks/>
          </p:cNvCxnSpPr>
          <p:nvPr>
            <p:custDataLst>
              <p:tags r:id="rId5"/>
            </p:custDataLst>
          </p:nvPr>
        </p:nvCxnSpPr>
        <p:spPr>
          <a:xfrm>
            <a:off x="554736" y="4305339"/>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F9505EA-95F4-DCE2-57EA-686BBBFD9EF2}"/>
              </a:ext>
            </a:extLst>
          </p:cNvPr>
          <p:cNvCxnSpPr>
            <a:cxnSpLocks/>
          </p:cNvCxnSpPr>
          <p:nvPr>
            <p:custDataLst>
              <p:tags r:id="rId6"/>
            </p:custDataLst>
          </p:nvPr>
        </p:nvCxnSpPr>
        <p:spPr>
          <a:xfrm>
            <a:off x="554736" y="5210752"/>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58" name="Arc 157" hidden="1">
            <a:extLst>
              <a:ext uri="{FF2B5EF4-FFF2-40B4-BE49-F238E27FC236}">
                <a16:creationId xmlns:a16="http://schemas.microsoft.com/office/drawing/2014/main" id="{27C7A9C1-E4EE-7C2A-332D-B07FEFE4ABEA}"/>
              </a:ext>
            </a:extLst>
          </p:cNvPr>
          <p:cNvSpPr/>
          <p:nvPr>
            <p:custDataLst>
              <p:tags r:id="rId7"/>
            </p:custDataLst>
          </p:nvPr>
        </p:nvSpPr>
        <p:spPr>
          <a:xfrm>
            <a:off x="1762430" y="1388971"/>
            <a:ext cx="426508" cy="426508"/>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a:p>
        </p:txBody>
      </p:sp>
      <p:sp>
        <p:nvSpPr>
          <p:cNvPr id="161" name="Arc 160" hidden="1">
            <a:extLst>
              <a:ext uri="{FF2B5EF4-FFF2-40B4-BE49-F238E27FC236}">
                <a16:creationId xmlns:a16="http://schemas.microsoft.com/office/drawing/2014/main" id="{92E61B2B-F1B2-27E5-F673-18322E8E9D17}"/>
              </a:ext>
            </a:extLst>
          </p:cNvPr>
          <p:cNvSpPr/>
          <p:nvPr>
            <p:custDataLst>
              <p:tags r:id="rId8"/>
            </p:custDataLst>
          </p:nvPr>
        </p:nvSpPr>
        <p:spPr>
          <a:xfrm>
            <a:off x="2617064" y="1388971"/>
            <a:ext cx="426508" cy="426507"/>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a:p>
        </p:txBody>
      </p:sp>
      <p:sp>
        <p:nvSpPr>
          <p:cNvPr id="180" name="Arc 179" hidden="1">
            <a:extLst>
              <a:ext uri="{FF2B5EF4-FFF2-40B4-BE49-F238E27FC236}">
                <a16:creationId xmlns:a16="http://schemas.microsoft.com/office/drawing/2014/main" id="{4FFB75B4-725F-F574-4C0C-6CA5D4C29053}"/>
              </a:ext>
            </a:extLst>
          </p:cNvPr>
          <p:cNvSpPr/>
          <p:nvPr>
            <p:custDataLst>
              <p:tags r:id="rId9"/>
            </p:custDataLst>
          </p:nvPr>
        </p:nvSpPr>
        <p:spPr>
          <a:xfrm>
            <a:off x="1779645" y="5430368"/>
            <a:ext cx="426508" cy="426508"/>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a:p>
        </p:txBody>
      </p:sp>
      <p:sp>
        <p:nvSpPr>
          <p:cNvPr id="8" name="TextBox 7">
            <a:extLst>
              <a:ext uri="{FF2B5EF4-FFF2-40B4-BE49-F238E27FC236}">
                <a16:creationId xmlns:a16="http://schemas.microsoft.com/office/drawing/2014/main" id="{E9792A88-064A-FEF3-C521-694810267732}"/>
              </a:ext>
            </a:extLst>
          </p:cNvPr>
          <p:cNvSpPr txBox="1">
            <a:spLocks/>
          </p:cNvSpPr>
          <p:nvPr/>
        </p:nvSpPr>
        <p:spPr>
          <a:xfrm>
            <a:off x="554736" y="3137052"/>
            <a:ext cx="1060273"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latin typeface="+mj-lt"/>
              </a:rPr>
              <a:t>Knowledge</a:t>
            </a:r>
            <a:r>
              <a:rPr lang="en-US" sz="1100">
                <a:latin typeface="+mj-lt"/>
              </a:rPr>
              <a:t> </a:t>
            </a:r>
            <a:r>
              <a:rPr lang="en-US" sz="1100" b="1">
                <a:latin typeface="+mj-lt"/>
              </a:rPr>
              <a:t>Management</a:t>
            </a:r>
            <a:endParaRPr kumimoji="0" lang="en-US" sz="1100" b="1" i="0" u="none" strike="noStrike" kern="1200" cap="none" spc="0" normalizeH="0" baseline="0" noProof="0">
              <a:ln>
                <a:noFill/>
              </a:ln>
              <a:solidFill>
                <a:srgbClr val="000000"/>
              </a:solidFill>
              <a:effectLst/>
              <a:uLnTx/>
              <a:uFillTx/>
              <a:latin typeface="+mj-lt"/>
            </a:endParaRPr>
          </a:p>
        </p:txBody>
      </p:sp>
      <p:sp>
        <p:nvSpPr>
          <p:cNvPr id="21" name="TextBox 20">
            <a:extLst>
              <a:ext uri="{FF2B5EF4-FFF2-40B4-BE49-F238E27FC236}">
                <a16:creationId xmlns:a16="http://schemas.microsoft.com/office/drawing/2014/main" id="{A0D5352A-C882-60EA-B745-1E634115E319}"/>
              </a:ext>
            </a:extLst>
          </p:cNvPr>
          <p:cNvSpPr txBox="1">
            <a:spLocks/>
          </p:cNvSpPr>
          <p:nvPr/>
        </p:nvSpPr>
        <p:spPr>
          <a:xfrm>
            <a:off x="3723679" y="3137052"/>
            <a:ext cx="3621681" cy="1092607"/>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10000"/>
            </a:pPr>
            <a:r>
              <a:rPr lang="en-US" sz="1100">
                <a:latin typeface="+mj-lt"/>
              </a:rPr>
              <a:t>Current knowledge structures are </a:t>
            </a:r>
            <a:r>
              <a:rPr lang="en-US" sz="1100" b="1">
                <a:latin typeface="+mj-lt"/>
              </a:rPr>
              <a:t>solution-specific and siloed</a:t>
            </a:r>
            <a:r>
              <a:rPr lang="en-US" sz="1100">
                <a:latin typeface="+mj-lt"/>
              </a:rPr>
              <a:t>, with no shared enterprise-level framework to unify and contextualize information</a:t>
            </a:r>
          </a:p>
          <a:p>
            <a:pPr>
              <a:buSzPct val="110000"/>
            </a:pPr>
            <a:r>
              <a:rPr lang="en-US" sz="1100">
                <a:latin typeface="+mj-lt"/>
              </a:rPr>
              <a:t>No shared knowledge model available to stitch structured and </a:t>
            </a:r>
            <a:r>
              <a:rPr lang="en-US" sz="1100" b="1">
                <a:solidFill>
                  <a:schemeClr val="accent1"/>
                </a:solidFill>
                <a:latin typeface="+mj-lt"/>
              </a:rPr>
              <a:t>unstructured content for RAG </a:t>
            </a:r>
            <a:r>
              <a:rPr lang="en-US" sz="1100">
                <a:latin typeface="+mj-lt"/>
              </a:rPr>
              <a:t>(e.g., entities, relationships, allowed synonyms)</a:t>
            </a:r>
          </a:p>
        </p:txBody>
      </p:sp>
      <p:grpSp>
        <p:nvGrpSpPr>
          <p:cNvPr id="166" name="MoonEmpty 14">
            <a:extLst>
              <a:ext uri="{FF2B5EF4-FFF2-40B4-BE49-F238E27FC236}">
                <a16:creationId xmlns:a16="http://schemas.microsoft.com/office/drawing/2014/main" id="{A063BEFE-62D3-AF7F-5B5B-82A8DC69FAF4}"/>
              </a:ext>
            </a:extLst>
          </p:cNvPr>
          <p:cNvGrpSpPr>
            <a:grpSpLocks/>
          </p:cNvGrpSpPr>
          <p:nvPr>
            <p:custDataLst>
              <p:tags r:id="rId10"/>
            </p:custDataLst>
          </p:nvPr>
        </p:nvGrpSpPr>
        <p:grpSpPr>
          <a:xfrm>
            <a:off x="2020299" y="3137052"/>
            <a:ext cx="274320" cy="274320"/>
            <a:chOff x="762000" y="1270000"/>
            <a:chExt cx="254000" cy="254002"/>
          </a:xfrm>
        </p:grpSpPr>
        <p:sp>
          <p:nvSpPr>
            <p:cNvPr id="167" name="Oval 166">
              <a:extLst>
                <a:ext uri="{FF2B5EF4-FFF2-40B4-BE49-F238E27FC236}">
                  <a16:creationId xmlns:a16="http://schemas.microsoft.com/office/drawing/2014/main" id="{A4017687-1204-A69E-8447-38A5115F6161}"/>
                </a:ext>
              </a:extLst>
            </p:cNvPr>
            <p:cNvSpPr/>
            <p:nvPr>
              <p:custDataLst>
                <p:tags r:id="rId44"/>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168" name="Arc 167">
              <a:extLst>
                <a:ext uri="{FF2B5EF4-FFF2-40B4-BE49-F238E27FC236}">
                  <a16:creationId xmlns:a16="http://schemas.microsoft.com/office/drawing/2014/main" id="{B5E329DF-6476-067D-2FCF-6FE377B9DAF9}"/>
                </a:ext>
              </a:extLst>
            </p:cNvPr>
            <p:cNvSpPr/>
            <p:nvPr>
              <p:custDataLst>
                <p:tags r:id="rId45"/>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grpSp>
        <p:nvGrpSpPr>
          <p:cNvPr id="169" name="MoonEmpty 14">
            <a:extLst>
              <a:ext uri="{FF2B5EF4-FFF2-40B4-BE49-F238E27FC236}">
                <a16:creationId xmlns:a16="http://schemas.microsoft.com/office/drawing/2014/main" id="{DC541F3E-25D7-CBB9-DF99-B9C1339FDAAE}"/>
              </a:ext>
            </a:extLst>
          </p:cNvPr>
          <p:cNvGrpSpPr>
            <a:grpSpLocks/>
          </p:cNvGrpSpPr>
          <p:nvPr>
            <p:custDataLst>
              <p:tags r:id="rId11"/>
            </p:custDataLst>
          </p:nvPr>
        </p:nvGrpSpPr>
        <p:grpSpPr>
          <a:xfrm>
            <a:off x="3043371" y="3137052"/>
            <a:ext cx="274320" cy="274320"/>
            <a:chOff x="762000" y="1269999"/>
            <a:chExt cx="254000" cy="254003"/>
          </a:xfrm>
        </p:grpSpPr>
        <p:sp>
          <p:nvSpPr>
            <p:cNvPr id="170" name="Oval 169">
              <a:extLst>
                <a:ext uri="{FF2B5EF4-FFF2-40B4-BE49-F238E27FC236}">
                  <a16:creationId xmlns:a16="http://schemas.microsoft.com/office/drawing/2014/main" id="{D032C5E8-2C87-3E68-5AEF-9133D5CA6022}"/>
                </a:ext>
              </a:extLst>
            </p:cNvPr>
            <p:cNvSpPr/>
            <p:nvPr>
              <p:custDataLst>
                <p:tags r:id="rId42"/>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171" name="Arc 170">
              <a:extLst>
                <a:ext uri="{FF2B5EF4-FFF2-40B4-BE49-F238E27FC236}">
                  <a16:creationId xmlns:a16="http://schemas.microsoft.com/office/drawing/2014/main" id="{7A851D19-4BDE-99AA-DC8F-654E323AF44E}"/>
                </a:ext>
              </a:extLst>
            </p:cNvPr>
            <p:cNvSpPr/>
            <p:nvPr>
              <p:custDataLst>
                <p:tags r:id="rId43"/>
              </p:custDataLst>
            </p:nvPr>
          </p:nvSpPr>
          <p:spPr>
            <a:xfrm>
              <a:off x="762000" y="1269999"/>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sp>
        <p:nvSpPr>
          <p:cNvPr id="67" name="TextBox 66">
            <a:extLst>
              <a:ext uri="{FF2B5EF4-FFF2-40B4-BE49-F238E27FC236}">
                <a16:creationId xmlns:a16="http://schemas.microsoft.com/office/drawing/2014/main" id="{B4B93964-8E99-354C-EDE5-8ECE145DFC1D}"/>
              </a:ext>
            </a:extLst>
          </p:cNvPr>
          <p:cNvSpPr txBox="1">
            <a:spLocks/>
          </p:cNvSpPr>
          <p:nvPr/>
        </p:nvSpPr>
        <p:spPr>
          <a:xfrm>
            <a:off x="7408584" y="3137052"/>
            <a:ext cx="4229379" cy="1054135"/>
          </a:xfrm>
          <a:prstGeom prst="rect">
            <a:avLst/>
          </a:prstGeom>
        </p:spPr>
        <p:txBody>
          <a:bodyPr vert="horz" wrap="square" lIns="0" tIns="0" rIns="0" bIns="0" rtlCol="0" anchor="t" anchorCtr="0">
            <a:sp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US" b="1"/>
              <a:t>Fragmented knowledge silos: </a:t>
            </a:r>
            <a:r>
              <a:rPr lang="en-US"/>
              <a:t>Absence of an enterprise ontology leaves taxonomies tied to individual solutions, preventing a unified view of data and meaning</a:t>
            </a:r>
          </a:p>
          <a:p>
            <a:pPr lvl="1">
              <a:defRPr/>
            </a:pPr>
            <a:r>
              <a:rPr lang="en-US" b="1"/>
              <a:t>Incomplete grounding for GenAI: </a:t>
            </a:r>
            <a:r>
              <a:rPr lang="en-US"/>
              <a:t>Lack of a knowledge model linking structured and unstructured content limits retrieval, reducing reliability and explainability of outputs</a:t>
            </a:r>
          </a:p>
        </p:txBody>
      </p:sp>
      <p:sp>
        <p:nvSpPr>
          <p:cNvPr id="10" name="TextBox 9">
            <a:extLst>
              <a:ext uri="{FF2B5EF4-FFF2-40B4-BE49-F238E27FC236}">
                <a16:creationId xmlns:a16="http://schemas.microsoft.com/office/drawing/2014/main" id="{6E7F7790-8C75-BC67-4C69-DD30DEFAD0D6}"/>
              </a:ext>
            </a:extLst>
          </p:cNvPr>
          <p:cNvSpPr txBox="1">
            <a:spLocks/>
          </p:cNvSpPr>
          <p:nvPr/>
        </p:nvSpPr>
        <p:spPr>
          <a:xfrm>
            <a:off x="554736" y="4381019"/>
            <a:ext cx="1060273"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latin typeface="+mj-lt"/>
              </a:rPr>
              <a:t>Schemas and data contracts</a:t>
            </a:r>
            <a:endParaRPr kumimoji="0" lang="en-US" sz="1100" b="1" i="0" u="none" strike="noStrike" kern="1200" cap="none" spc="0" normalizeH="0" baseline="0" noProof="0">
              <a:ln>
                <a:noFill/>
              </a:ln>
              <a:solidFill>
                <a:srgbClr val="000000"/>
              </a:solidFill>
              <a:effectLst/>
              <a:uLnTx/>
              <a:uFillTx/>
              <a:latin typeface="+mj-lt"/>
            </a:endParaRPr>
          </a:p>
        </p:txBody>
      </p:sp>
      <p:sp>
        <p:nvSpPr>
          <p:cNvPr id="23" name="TextBox 22">
            <a:extLst>
              <a:ext uri="{FF2B5EF4-FFF2-40B4-BE49-F238E27FC236}">
                <a16:creationId xmlns:a16="http://schemas.microsoft.com/office/drawing/2014/main" id="{A1EC559B-FD15-C283-D71B-EBAD89013436}"/>
              </a:ext>
            </a:extLst>
          </p:cNvPr>
          <p:cNvSpPr txBox="1">
            <a:spLocks/>
          </p:cNvSpPr>
          <p:nvPr/>
        </p:nvSpPr>
        <p:spPr>
          <a:xfrm>
            <a:off x="3723679" y="4381019"/>
            <a:ext cx="3621681" cy="754053"/>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10000"/>
            </a:pPr>
            <a:r>
              <a:rPr lang="en-US" sz="1100">
                <a:latin typeface="+mj-lt"/>
              </a:rPr>
              <a:t>Known warehouse schemas; ~90% of </a:t>
            </a:r>
            <a:r>
              <a:rPr lang="en-US" sz="1100" b="1">
                <a:latin typeface="+mj-lt"/>
              </a:rPr>
              <a:t>legacy feeds lacking formal contracts</a:t>
            </a:r>
          </a:p>
          <a:p>
            <a:pPr>
              <a:buSzPct val="110000"/>
            </a:pPr>
            <a:r>
              <a:rPr lang="en-US" sz="1100">
                <a:latin typeface="+mj-lt"/>
              </a:rPr>
              <a:t>No schema/contract rules for docs, </a:t>
            </a:r>
            <a:r>
              <a:rPr lang="en-US" sz="1100" b="1">
                <a:solidFill>
                  <a:schemeClr val="accent1"/>
                </a:solidFill>
                <a:latin typeface="+mj-lt"/>
              </a:rPr>
              <a:t>chunking, embeddings, re-indexing</a:t>
            </a:r>
          </a:p>
        </p:txBody>
      </p:sp>
      <p:grpSp>
        <p:nvGrpSpPr>
          <p:cNvPr id="172" name="MoonEmpty 14">
            <a:extLst>
              <a:ext uri="{FF2B5EF4-FFF2-40B4-BE49-F238E27FC236}">
                <a16:creationId xmlns:a16="http://schemas.microsoft.com/office/drawing/2014/main" id="{5ED0077A-1972-B36F-0C43-F1C27910F29D}"/>
              </a:ext>
            </a:extLst>
          </p:cNvPr>
          <p:cNvGrpSpPr>
            <a:grpSpLocks/>
          </p:cNvGrpSpPr>
          <p:nvPr>
            <p:custDataLst>
              <p:tags r:id="rId12"/>
            </p:custDataLst>
          </p:nvPr>
        </p:nvGrpSpPr>
        <p:grpSpPr>
          <a:xfrm>
            <a:off x="2020299" y="4381019"/>
            <a:ext cx="274320" cy="274320"/>
            <a:chOff x="762000" y="1270000"/>
            <a:chExt cx="254000" cy="254002"/>
          </a:xfrm>
        </p:grpSpPr>
        <p:sp>
          <p:nvSpPr>
            <p:cNvPr id="173" name="Oval 172">
              <a:extLst>
                <a:ext uri="{FF2B5EF4-FFF2-40B4-BE49-F238E27FC236}">
                  <a16:creationId xmlns:a16="http://schemas.microsoft.com/office/drawing/2014/main" id="{5E92399D-6778-0A49-02F9-CCB5FF0B98D9}"/>
                </a:ext>
              </a:extLst>
            </p:cNvPr>
            <p:cNvSpPr/>
            <p:nvPr>
              <p:custDataLst>
                <p:tags r:id="rId40"/>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174" name="Arc 173" hidden="1">
              <a:extLst>
                <a:ext uri="{FF2B5EF4-FFF2-40B4-BE49-F238E27FC236}">
                  <a16:creationId xmlns:a16="http://schemas.microsoft.com/office/drawing/2014/main" id="{B98D3EE8-2B83-8C78-B27B-88F32BF264C5}"/>
                </a:ext>
              </a:extLst>
            </p:cNvPr>
            <p:cNvSpPr/>
            <p:nvPr>
              <p:custDataLst>
                <p:tags r:id="rId41"/>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grpSp>
        <p:nvGrpSpPr>
          <p:cNvPr id="175" name="MoonEmpty 14">
            <a:extLst>
              <a:ext uri="{FF2B5EF4-FFF2-40B4-BE49-F238E27FC236}">
                <a16:creationId xmlns:a16="http://schemas.microsoft.com/office/drawing/2014/main" id="{13E9F088-73F1-8D81-E2F5-D7CBED89527D}"/>
              </a:ext>
            </a:extLst>
          </p:cNvPr>
          <p:cNvGrpSpPr>
            <a:grpSpLocks/>
          </p:cNvGrpSpPr>
          <p:nvPr>
            <p:custDataLst>
              <p:tags r:id="rId13"/>
            </p:custDataLst>
          </p:nvPr>
        </p:nvGrpSpPr>
        <p:grpSpPr>
          <a:xfrm>
            <a:off x="3043371" y="4381019"/>
            <a:ext cx="274320" cy="274320"/>
            <a:chOff x="762000" y="1269999"/>
            <a:chExt cx="254000" cy="254003"/>
          </a:xfrm>
        </p:grpSpPr>
        <p:sp>
          <p:nvSpPr>
            <p:cNvPr id="176" name="Oval 175">
              <a:extLst>
                <a:ext uri="{FF2B5EF4-FFF2-40B4-BE49-F238E27FC236}">
                  <a16:creationId xmlns:a16="http://schemas.microsoft.com/office/drawing/2014/main" id="{177365C6-CF67-F9B5-42DB-37B14A1EBA17}"/>
                </a:ext>
              </a:extLst>
            </p:cNvPr>
            <p:cNvSpPr/>
            <p:nvPr>
              <p:custDataLst>
                <p:tags r:id="rId38"/>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177" name="Arc 176" hidden="1">
              <a:extLst>
                <a:ext uri="{FF2B5EF4-FFF2-40B4-BE49-F238E27FC236}">
                  <a16:creationId xmlns:a16="http://schemas.microsoft.com/office/drawing/2014/main" id="{C71C8366-E845-BEB5-2488-978786436AC4}"/>
                </a:ext>
              </a:extLst>
            </p:cNvPr>
            <p:cNvSpPr/>
            <p:nvPr>
              <p:custDataLst>
                <p:tags r:id="rId39"/>
              </p:custDataLst>
            </p:nvPr>
          </p:nvSpPr>
          <p:spPr>
            <a:xfrm>
              <a:off x="762000" y="1269999"/>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sp>
        <p:nvSpPr>
          <p:cNvPr id="68" name="TextBox 67">
            <a:extLst>
              <a:ext uri="{FF2B5EF4-FFF2-40B4-BE49-F238E27FC236}">
                <a16:creationId xmlns:a16="http://schemas.microsoft.com/office/drawing/2014/main" id="{1B1D7063-C214-7264-173C-24F5B32FD61C}"/>
              </a:ext>
            </a:extLst>
          </p:cNvPr>
          <p:cNvSpPr txBox="1">
            <a:spLocks/>
          </p:cNvSpPr>
          <p:nvPr/>
        </p:nvSpPr>
        <p:spPr>
          <a:xfrm>
            <a:off x="7408584" y="4381019"/>
            <a:ext cx="4229379" cy="507831"/>
          </a:xfrm>
          <a:prstGeom prst="rect">
            <a:avLst/>
          </a:prstGeom>
        </p:spPr>
        <p:txBody>
          <a:bodyPr vert="horz" wrap="square" lIns="0" tIns="0" rIns="0" bIns="0" rtlCol="0" anchor="t" anchorCtr="0">
            <a:sp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US" b="1"/>
              <a:t>Hidden data quality failures: </a:t>
            </a:r>
            <a:r>
              <a:rPr lang="en-US"/>
              <a:t>Lack of schema and contract rules for documents, </a:t>
            </a:r>
            <a:r>
              <a:rPr lang="en-US" b="1">
                <a:solidFill>
                  <a:schemeClr val="accent1"/>
                </a:solidFill>
              </a:rPr>
              <a:t>chunking, and embeddings </a:t>
            </a:r>
            <a:r>
              <a:rPr lang="en-US"/>
              <a:t>causes silent errors that surface late</a:t>
            </a:r>
          </a:p>
        </p:txBody>
      </p:sp>
      <p:sp>
        <p:nvSpPr>
          <p:cNvPr id="29" name="TextBox 28">
            <a:extLst>
              <a:ext uri="{FF2B5EF4-FFF2-40B4-BE49-F238E27FC236}">
                <a16:creationId xmlns:a16="http://schemas.microsoft.com/office/drawing/2014/main" id="{B52D7268-0311-0071-AA1A-3A1C2D4C0C71}"/>
              </a:ext>
            </a:extLst>
          </p:cNvPr>
          <p:cNvSpPr txBox="1">
            <a:spLocks/>
          </p:cNvSpPr>
          <p:nvPr/>
        </p:nvSpPr>
        <p:spPr>
          <a:xfrm>
            <a:off x="554736" y="5286434"/>
            <a:ext cx="1060273"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latin typeface="+mj-lt"/>
              </a:rPr>
              <a:t>Context tags</a:t>
            </a:r>
            <a:endParaRPr kumimoji="0" lang="en-US" sz="1100" b="1" i="0" u="none" strike="noStrike" kern="1200" cap="none" spc="0" normalizeH="0" baseline="0" noProof="0">
              <a:ln>
                <a:noFill/>
              </a:ln>
              <a:solidFill>
                <a:srgbClr val="000000"/>
              </a:solidFill>
              <a:effectLst/>
              <a:uLnTx/>
              <a:uFillTx/>
              <a:latin typeface="+mj-lt"/>
            </a:endParaRPr>
          </a:p>
        </p:txBody>
      </p:sp>
      <p:sp>
        <p:nvSpPr>
          <p:cNvPr id="25" name="TextBox 24">
            <a:extLst>
              <a:ext uri="{FF2B5EF4-FFF2-40B4-BE49-F238E27FC236}">
                <a16:creationId xmlns:a16="http://schemas.microsoft.com/office/drawing/2014/main" id="{29201380-0FDD-A771-C0BE-6830B093552A}"/>
              </a:ext>
            </a:extLst>
          </p:cNvPr>
          <p:cNvSpPr txBox="1">
            <a:spLocks/>
          </p:cNvSpPr>
          <p:nvPr/>
        </p:nvSpPr>
        <p:spPr>
          <a:xfrm>
            <a:off x="3723679" y="5286434"/>
            <a:ext cx="3621681" cy="923330"/>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10000"/>
            </a:pPr>
            <a:r>
              <a:rPr lang="en-US" sz="1100" b="1"/>
              <a:t>No enterprise-wide context tagging</a:t>
            </a:r>
            <a:r>
              <a:rPr lang="en-US" sz="1100"/>
              <a:t> to ensure consistent application across platforms</a:t>
            </a:r>
          </a:p>
          <a:p>
            <a:pPr>
              <a:buSzPct val="110000"/>
            </a:pPr>
            <a:r>
              <a:rPr lang="en-US" sz="1100" b="1">
                <a:solidFill>
                  <a:schemeClr val="accent1"/>
                </a:solidFill>
                <a:latin typeface="+mj-lt"/>
              </a:rPr>
              <a:t>No chunk/embedding tagging</a:t>
            </a:r>
            <a:r>
              <a:rPr lang="en-US" sz="1100">
                <a:latin typeface="+mj-lt"/>
              </a:rPr>
              <a:t>; no automatic blocks of sensitive data</a:t>
            </a:r>
          </a:p>
        </p:txBody>
      </p:sp>
      <p:grpSp>
        <p:nvGrpSpPr>
          <p:cNvPr id="219" name="MoonEmpty 14">
            <a:extLst>
              <a:ext uri="{FF2B5EF4-FFF2-40B4-BE49-F238E27FC236}">
                <a16:creationId xmlns:a16="http://schemas.microsoft.com/office/drawing/2014/main" id="{312196AC-59F8-2BF5-9293-A1FCD3FBF524}"/>
              </a:ext>
            </a:extLst>
          </p:cNvPr>
          <p:cNvGrpSpPr>
            <a:grpSpLocks/>
          </p:cNvGrpSpPr>
          <p:nvPr>
            <p:custDataLst>
              <p:tags r:id="rId14"/>
            </p:custDataLst>
          </p:nvPr>
        </p:nvGrpSpPr>
        <p:grpSpPr>
          <a:xfrm>
            <a:off x="3043371" y="5286434"/>
            <a:ext cx="274320" cy="274320"/>
            <a:chOff x="762000" y="1269999"/>
            <a:chExt cx="254000" cy="254003"/>
          </a:xfrm>
        </p:grpSpPr>
        <p:sp>
          <p:nvSpPr>
            <p:cNvPr id="220" name="Oval 219">
              <a:extLst>
                <a:ext uri="{FF2B5EF4-FFF2-40B4-BE49-F238E27FC236}">
                  <a16:creationId xmlns:a16="http://schemas.microsoft.com/office/drawing/2014/main" id="{2E48735F-2585-0037-7E4C-6F489F484419}"/>
                </a:ext>
              </a:extLst>
            </p:cNvPr>
            <p:cNvSpPr/>
            <p:nvPr>
              <p:custDataLst>
                <p:tags r:id="rId36"/>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221" name="Arc 220">
              <a:extLst>
                <a:ext uri="{FF2B5EF4-FFF2-40B4-BE49-F238E27FC236}">
                  <a16:creationId xmlns:a16="http://schemas.microsoft.com/office/drawing/2014/main" id="{2FBACF87-7973-4F9F-629A-94E873951AF4}"/>
                </a:ext>
              </a:extLst>
            </p:cNvPr>
            <p:cNvSpPr/>
            <p:nvPr>
              <p:custDataLst>
                <p:tags r:id="rId37"/>
              </p:custDataLst>
            </p:nvPr>
          </p:nvSpPr>
          <p:spPr>
            <a:xfrm>
              <a:off x="762000" y="1269999"/>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grpSp>
        <p:nvGrpSpPr>
          <p:cNvPr id="97" name="MoonEmpty 14">
            <a:extLst>
              <a:ext uri="{FF2B5EF4-FFF2-40B4-BE49-F238E27FC236}">
                <a16:creationId xmlns:a16="http://schemas.microsoft.com/office/drawing/2014/main" id="{E278B8D5-D923-048F-ADFB-3E41EB6A0510}"/>
              </a:ext>
            </a:extLst>
          </p:cNvPr>
          <p:cNvGrpSpPr>
            <a:grpSpLocks/>
          </p:cNvGrpSpPr>
          <p:nvPr>
            <p:custDataLst>
              <p:tags r:id="rId15"/>
            </p:custDataLst>
          </p:nvPr>
        </p:nvGrpSpPr>
        <p:grpSpPr>
          <a:xfrm>
            <a:off x="2020299" y="5286434"/>
            <a:ext cx="274320" cy="274320"/>
            <a:chOff x="762000" y="1269999"/>
            <a:chExt cx="254000" cy="254003"/>
          </a:xfrm>
        </p:grpSpPr>
        <p:sp>
          <p:nvSpPr>
            <p:cNvPr id="98" name="Oval 97">
              <a:extLst>
                <a:ext uri="{FF2B5EF4-FFF2-40B4-BE49-F238E27FC236}">
                  <a16:creationId xmlns:a16="http://schemas.microsoft.com/office/drawing/2014/main" id="{26BBF0DA-32B1-8D0E-8B59-E91E9E8DCB79}"/>
                </a:ext>
              </a:extLst>
            </p:cNvPr>
            <p:cNvSpPr/>
            <p:nvPr>
              <p:custDataLst>
                <p:tags r:id="rId34"/>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99" name="Arc 98">
              <a:extLst>
                <a:ext uri="{FF2B5EF4-FFF2-40B4-BE49-F238E27FC236}">
                  <a16:creationId xmlns:a16="http://schemas.microsoft.com/office/drawing/2014/main" id="{2BF53F77-ED67-90EC-EFC9-4FEAD0C40B6E}"/>
                </a:ext>
              </a:extLst>
            </p:cNvPr>
            <p:cNvSpPr/>
            <p:nvPr>
              <p:custDataLst>
                <p:tags r:id="rId35"/>
              </p:custDataLst>
            </p:nvPr>
          </p:nvSpPr>
          <p:spPr>
            <a:xfrm>
              <a:off x="762000" y="1269999"/>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sp>
        <p:nvSpPr>
          <p:cNvPr id="79" name="TextBox 78">
            <a:extLst>
              <a:ext uri="{FF2B5EF4-FFF2-40B4-BE49-F238E27FC236}">
                <a16:creationId xmlns:a16="http://schemas.microsoft.com/office/drawing/2014/main" id="{25BA7F1A-3B6E-FB85-F34B-F279F43A57C7}"/>
              </a:ext>
            </a:extLst>
          </p:cNvPr>
          <p:cNvSpPr txBox="1">
            <a:spLocks/>
          </p:cNvSpPr>
          <p:nvPr/>
        </p:nvSpPr>
        <p:spPr>
          <a:xfrm>
            <a:off x="7408584" y="5286434"/>
            <a:ext cx="4229379" cy="884858"/>
          </a:xfrm>
          <a:prstGeom prst="rect">
            <a:avLst/>
          </a:prstGeom>
        </p:spPr>
        <p:txBody>
          <a:bodyPr vert="horz" wrap="square" lIns="0" tIns="0" rIns="0" bIns="0" rtlCol="0" anchor="t" anchorCtr="0">
            <a:sp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US" b="1"/>
              <a:t>Weak auditability: </a:t>
            </a:r>
            <a:r>
              <a:rPr lang="en-US"/>
              <a:t>Reliance on manual evidence and inconsistent tagging undermines systematic governance and makes compliance reviews fragile</a:t>
            </a:r>
          </a:p>
          <a:p>
            <a:pPr lvl="1">
              <a:defRPr/>
            </a:pPr>
            <a:r>
              <a:rPr lang="en-US" b="1">
                <a:solidFill>
                  <a:schemeClr val="accent1"/>
                </a:solidFill>
              </a:rPr>
              <a:t>Sensitive data exposure: </a:t>
            </a:r>
            <a:r>
              <a:rPr lang="en-US">
                <a:solidFill>
                  <a:schemeClr val="accent1"/>
                </a:solidFill>
              </a:rPr>
              <a:t>Lack of chunk and embedding tagging allows confidential content to surface in GenAI outputs</a:t>
            </a:r>
          </a:p>
        </p:txBody>
      </p:sp>
      <p:cxnSp>
        <p:nvCxnSpPr>
          <p:cNvPr id="3" name="Straight Connector 2">
            <a:extLst>
              <a:ext uri="{FF2B5EF4-FFF2-40B4-BE49-F238E27FC236}">
                <a16:creationId xmlns:a16="http://schemas.microsoft.com/office/drawing/2014/main" id="{9C082639-7C4C-F1F7-2E50-3E30BD34C9DD}"/>
              </a:ext>
            </a:extLst>
          </p:cNvPr>
          <p:cNvCxnSpPr>
            <a:cxnSpLocks/>
          </p:cNvCxnSpPr>
          <p:nvPr>
            <p:custDataLst>
              <p:tags r:id="rId16"/>
            </p:custDataLst>
          </p:nvPr>
        </p:nvCxnSpPr>
        <p:spPr>
          <a:xfrm>
            <a:off x="539908" y="1867209"/>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86211C9-1B2E-912B-5A20-1FEBE9F9132C}"/>
              </a:ext>
            </a:extLst>
          </p:cNvPr>
          <p:cNvSpPr txBox="1">
            <a:spLocks/>
          </p:cNvSpPr>
          <p:nvPr/>
        </p:nvSpPr>
        <p:spPr>
          <a:xfrm>
            <a:off x="1677535"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rgbClr val="000000"/>
              </a:buClr>
              <a:defRPr/>
            </a:pPr>
            <a:r>
              <a:rPr lang="en-US" sz="1200" b="1">
                <a:solidFill>
                  <a:srgbClr val="000000"/>
                </a:solidFill>
                <a:latin typeface="Arial"/>
                <a:cs typeface="Arial"/>
              </a:rPr>
              <a:t>Traditional</a:t>
            </a:r>
            <a:r>
              <a:rPr kumimoji="0" lang="en-US" sz="1200" b="1" i="0" u="none" strike="noStrike" kern="1200" cap="none" spc="0" normalizeH="0" baseline="0" noProof="0">
                <a:ln>
                  <a:noFill/>
                </a:ln>
                <a:solidFill>
                  <a:srgbClr val="000000"/>
                </a:solidFill>
                <a:effectLst/>
                <a:uLnTx/>
                <a:uFillTx/>
                <a:latin typeface="Arial"/>
                <a:cs typeface="Arial"/>
              </a:rPr>
              <a:t> AI</a:t>
            </a:r>
            <a:endParaRPr lang="en-US" sz="1200">
              <a:cs typeface="Arial"/>
            </a:endParaRPr>
          </a:p>
        </p:txBody>
      </p:sp>
      <p:sp>
        <p:nvSpPr>
          <p:cNvPr id="9" name="TextBox 8">
            <a:extLst>
              <a:ext uri="{FF2B5EF4-FFF2-40B4-BE49-F238E27FC236}">
                <a16:creationId xmlns:a16="http://schemas.microsoft.com/office/drawing/2014/main" id="{3C171BDC-8C7B-C529-E798-681833CFA10E}"/>
              </a:ext>
            </a:extLst>
          </p:cNvPr>
          <p:cNvSpPr txBox="1">
            <a:spLocks/>
          </p:cNvSpPr>
          <p:nvPr/>
        </p:nvSpPr>
        <p:spPr>
          <a:xfrm>
            <a:off x="2700607"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a:t>
            </a:r>
          </a:p>
        </p:txBody>
      </p:sp>
      <p:sp>
        <p:nvSpPr>
          <p:cNvPr id="11" name="TextBox 10">
            <a:extLst>
              <a:ext uri="{FF2B5EF4-FFF2-40B4-BE49-F238E27FC236}">
                <a16:creationId xmlns:a16="http://schemas.microsoft.com/office/drawing/2014/main" id="{B9E4D80E-0C15-4726-AABC-856E86C2D72A}"/>
              </a:ext>
            </a:extLst>
          </p:cNvPr>
          <p:cNvSpPr txBox="1">
            <a:spLocks/>
          </p:cNvSpPr>
          <p:nvPr/>
        </p:nvSpPr>
        <p:spPr>
          <a:xfrm>
            <a:off x="1677535" y="1198538"/>
            <a:ext cx="198292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Assessment Score</a:t>
            </a:r>
          </a:p>
        </p:txBody>
      </p:sp>
      <p:cxnSp>
        <p:nvCxnSpPr>
          <p:cNvPr id="12" name="GreyLineSeparatorStrong 8">
            <a:extLst>
              <a:ext uri="{FF2B5EF4-FFF2-40B4-BE49-F238E27FC236}">
                <a16:creationId xmlns:a16="http://schemas.microsoft.com/office/drawing/2014/main" id="{281C1BD1-3298-A1BF-3E54-D84230058981}"/>
              </a:ext>
            </a:extLst>
          </p:cNvPr>
          <p:cNvCxnSpPr>
            <a:cxnSpLocks/>
          </p:cNvCxnSpPr>
          <p:nvPr>
            <p:custDataLst>
              <p:tags r:id="rId17"/>
            </p:custDataLst>
          </p:nvPr>
        </p:nvCxnSpPr>
        <p:spPr>
          <a:xfrm>
            <a:off x="1677535" y="1406164"/>
            <a:ext cx="1982920"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CDB291F-AB94-6FFA-B28C-5AEA3E908F28}"/>
              </a:ext>
            </a:extLst>
          </p:cNvPr>
          <p:cNvSpPr txBox="1">
            <a:spLocks/>
          </p:cNvSpPr>
          <p:nvPr/>
        </p:nvSpPr>
        <p:spPr>
          <a:xfrm>
            <a:off x="554736" y="1462104"/>
            <a:ext cx="1060273"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15" name="TextBox 14">
            <a:extLst>
              <a:ext uri="{FF2B5EF4-FFF2-40B4-BE49-F238E27FC236}">
                <a16:creationId xmlns:a16="http://schemas.microsoft.com/office/drawing/2014/main" id="{CD3CE398-6987-B622-D809-20EAAA6EE01D}"/>
              </a:ext>
            </a:extLst>
          </p:cNvPr>
          <p:cNvSpPr txBox="1">
            <a:spLocks/>
          </p:cNvSpPr>
          <p:nvPr/>
        </p:nvSpPr>
        <p:spPr>
          <a:xfrm>
            <a:off x="3723679" y="1646770"/>
            <a:ext cx="3621681"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Observations</a:t>
            </a:r>
          </a:p>
        </p:txBody>
      </p:sp>
      <p:sp>
        <p:nvSpPr>
          <p:cNvPr id="16" name="TextBox 15">
            <a:extLst>
              <a:ext uri="{FF2B5EF4-FFF2-40B4-BE49-F238E27FC236}">
                <a16:creationId xmlns:a16="http://schemas.microsoft.com/office/drawing/2014/main" id="{FA89CFAB-23F7-4A45-A75F-3844DE15E998}"/>
              </a:ext>
            </a:extLst>
          </p:cNvPr>
          <p:cNvSpPr txBox="1">
            <a:spLocks/>
          </p:cNvSpPr>
          <p:nvPr/>
        </p:nvSpPr>
        <p:spPr>
          <a:xfrm>
            <a:off x="7408584" y="1646770"/>
            <a:ext cx="4229379"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Implications for Client</a:t>
            </a:r>
          </a:p>
        </p:txBody>
      </p:sp>
      <p:sp>
        <p:nvSpPr>
          <p:cNvPr id="18" name="TextBox 73">
            <a:extLst>
              <a:ext uri="{FF2B5EF4-FFF2-40B4-BE49-F238E27FC236}">
                <a16:creationId xmlns:a16="http://schemas.microsoft.com/office/drawing/2014/main" id="{D7E5BD14-14D4-BF9C-AE9C-84359398F4BE}"/>
              </a:ext>
            </a:extLst>
          </p:cNvPr>
          <p:cNvSpPr txBox="1"/>
          <p:nvPr/>
        </p:nvSpPr>
        <p:spPr>
          <a:xfrm>
            <a:off x="6784030" y="1015359"/>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22" name="TextBox 74">
            <a:extLst>
              <a:ext uri="{FF2B5EF4-FFF2-40B4-BE49-F238E27FC236}">
                <a16:creationId xmlns:a16="http://schemas.microsoft.com/office/drawing/2014/main" id="{C4C94912-FA3D-9055-7954-1F89A4FCED41}"/>
              </a:ext>
            </a:extLst>
          </p:cNvPr>
          <p:cNvSpPr txBox="1"/>
          <p:nvPr/>
        </p:nvSpPr>
        <p:spPr>
          <a:xfrm>
            <a:off x="7060352" y="1015359"/>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24" name="Legend1">
            <a:extLst>
              <a:ext uri="{FF2B5EF4-FFF2-40B4-BE49-F238E27FC236}">
                <a16:creationId xmlns:a16="http://schemas.microsoft.com/office/drawing/2014/main" id="{DEAA1DDD-2D3E-3251-BEDF-43E436990217}"/>
              </a:ext>
            </a:extLst>
          </p:cNvPr>
          <p:cNvSpPr txBox="1"/>
          <p:nvPr/>
        </p:nvSpPr>
        <p:spPr>
          <a:xfrm>
            <a:off x="8696584" y="1015359"/>
            <a:ext cx="234038"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Low</a:t>
            </a:r>
          </a:p>
        </p:txBody>
      </p:sp>
      <p:grpSp>
        <p:nvGrpSpPr>
          <p:cNvPr id="26" name="MoonLegend1">
            <a:extLst>
              <a:ext uri="{FF2B5EF4-FFF2-40B4-BE49-F238E27FC236}">
                <a16:creationId xmlns:a16="http://schemas.microsoft.com/office/drawing/2014/main" id="{A0A14181-E1AE-6D6F-6F33-EAB6CE69BDDD}"/>
              </a:ext>
            </a:extLst>
          </p:cNvPr>
          <p:cNvGrpSpPr>
            <a:grpSpLocks noChangeAspect="1"/>
          </p:cNvGrpSpPr>
          <p:nvPr/>
        </p:nvGrpSpPr>
        <p:grpSpPr>
          <a:xfrm>
            <a:off x="8476410" y="1014579"/>
            <a:ext cx="155448" cy="155448"/>
            <a:chOff x="762000" y="1270000"/>
            <a:chExt cx="254000" cy="254000"/>
          </a:xfrm>
        </p:grpSpPr>
        <p:sp>
          <p:nvSpPr>
            <p:cNvPr id="93" name="Oval 92">
              <a:extLst>
                <a:ext uri="{FF2B5EF4-FFF2-40B4-BE49-F238E27FC236}">
                  <a16:creationId xmlns:a16="http://schemas.microsoft.com/office/drawing/2014/main" id="{AC6E3895-9D58-6FD3-A804-62CD4AA10F3C}"/>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94" name="Arc 93" hidden="1">
              <a:extLst>
                <a:ext uri="{FF2B5EF4-FFF2-40B4-BE49-F238E27FC236}">
                  <a16:creationId xmlns:a16="http://schemas.microsoft.com/office/drawing/2014/main" id="{2BD45B4D-15C4-8224-6A64-67A013E42080}"/>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27" name="Legend3">
            <a:extLst>
              <a:ext uri="{FF2B5EF4-FFF2-40B4-BE49-F238E27FC236}">
                <a16:creationId xmlns:a16="http://schemas.microsoft.com/office/drawing/2014/main" id="{79E46E0B-8F58-E837-493E-9387BA57CB94}"/>
              </a:ext>
            </a:extLst>
          </p:cNvPr>
          <p:cNvSpPr txBox="1"/>
          <p:nvPr/>
        </p:nvSpPr>
        <p:spPr>
          <a:xfrm>
            <a:off x="9215522" y="1015359"/>
            <a:ext cx="455253"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Medium</a:t>
            </a:r>
          </a:p>
        </p:txBody>
      </p:sp>
      <p:grpSp>
        <p:nvGrpSpPr>
          <p:cNvPr id="28" name="MoonLegend3">
            <a:extLst>
              <a:ext uri="{FF2B5EF4-FFF2-40B4-BE49-F238E27FC236}">
                <a16:creationId xmlns:a16="http://schemas.microsoft.com/office/drawing/2014/main" id="{309213D5-D148-4280-B969-745F7DA6FF45}"/>
              </a:ext>
            </a:extLst>
          </p:cNvPr>
          <p:cNvGrpSpPr>
            <a:grpSpLocks noChangeAspect="1"/>
          </p:cNvGrpSpPr>
          <p:nvPr/>
        </p:nvGrpSpPr>
        <p:grpSpPr>
          <a:xfrm>
            <a:off x="8995348" y="1014579"/>
            <a:ext cx="155448" cy="155448"/>
            <a:chOff x="762000" y="1270000"/>
            <a:chExt cx="254000" cy="254000"/>
          </a:xfrm>
        </p:grpSpPr>
        <p:sp>
          <p:nvSpPr>
            <p:cNvPr id="90" name="Oval 89">
              <a:extLst>
                <a:ext uri="{FF2B5EF4-FFF2-40B4-BE49-F238E27FC236}">
                  <a16:creationId xmlns:a16="http://schemas.microsoft.com/office/drawing/2014/main" id="{1BBCC953-1DF4-8160-364A-383EC0FE3866}"/>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91" name="Arc 90">
              <a:extLst>
                <a:ext uri="{FF2B5EF4-FFF2-40B4-BE49-F238E27FC236}">
                  <a16:creationId xmlns:a16="http://schemas.microsoft.com/office/drawing/2014/main" id="{00DAED48-5371-576A-7D89-D59EFB7545DB}"/>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30" name="Legend5">
            <a:extLst>
              <a:ext uri="{FF2B5EF4-FFF2-40B4-BE49-F238E27FC236}">
                <a16:creationId xmlns:a16="http://schemas.microsoft.com/office/drawing/2014/main" id="{618EC7D6-E3BF-0801-6FC1-552F8F3B44C3}"/>
              </a:ext>
            </a:extLst>
          </p:cNvPr>
          <p:cNvSpPr txBox="1"/>
          <p:nvPr/>
        </p:nvSpPr>
        <p:spPr>
          <a:xfrm>
            <a:off x="9955675" y="1015359"/>
            <a:ext cx="262892"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High</a:t>
            </a:r>
          </a:p>
        </p:txBody>
      </p:sp>
      <p:grpSp>
        <p:nvGrpSpPr>
          <p:cNvPr id="31" name="MoonLegend5">
            <a:extLst>
              <a:ext uri="{FF2B5EF4-FFF2-40B4-BE49-F238E27FC236}">
                <a16:creationId xmlns:a16="http://schemas.microsoft.com/office/drawing/2014/main" id="{AF42D335-75D2-5A90-F8E1-138606793E83}"/>
              </a:ext>
            </a:extLst>
          </p:cNvPr>
          <p:cNvGrpSpPr>
            <a:grpSpLocks noChangeAspect="1"/>
          </p:cNvGrpSpPr>
          <p:nvPr/>
        </p:nvGrpSpPr>
        <p:grpSpPr>
          <a:xfrm>
            <a:off x="9735501" y="1014579"/>
            <a:ext cx="155448" cy="155448"/>
            <a:chOff x="762000" y="1270000"/>
            <a:chExt cx="254000" cy="254000"/>
          </a:xfrm>
        </p:grpSpPr>
        <p:sp>
          <p:nvSpPr>
            <p:cNvPr id="88" name="Oval 87">
              <a:extLst>
                <a:ext uri="{FF2B5EF4-FFF2-40B4-BE49-F238E27FC236}">
                  <a16:creationId xmlns:a16="http://schemas.microsoft.com/office/drawing/2014/main" id="{1372E14D-9F5F-1552-DD6E-CE4A67A169A5}"/>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89" name="Arc 88">
              <a:extLst>
                <a:ext uri="{FF2B5EF4-FFF2-40B4-BE49-F238E27FC236}">
                  <a16:creationId xmlns:a16="http://schemas.microsoft.com/office/drawing/2014/main" id="{58E7564B-9942-78DA-9E4A-A898D5491CDF}"/>
                </a:ext>
              </a:extLst>
            </p:cNvPr>
            <p:cNvSpPr/>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32" name="TextBox 31">
            <a:extLst>
              <a:ext uri="{FF2B5EF4-FFF2-40B4-BE49-F238E27FC236}">
                <a16:creationId xmlns:a16="http://schemas.microsoft.com/office/drawing/2014/main" id="{8A91F0DD-FBE7-8D8A-7CB3-64D06025131B}"/>
              </a:ext>
            </a:extLst>
          </p:cNvPr>
          <p:cNvSpPr txBox="1"/>
          <p:nvPr/>
        </p:nvSpPr>
        <p:spPr>
          <a:xfrm>
            <a:off x="4760434" y="1015359"/>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33" name="Rectangle 32">
            <a:extLst>
              <a:ext uri="{FF2B5EF4-FFF2-40B4-BE49-F238E27FC236}">
                <a16:creationId xmlns:a16="http://schemas.microsoft.com/office/drawing/2014/main" id="{7CB383AD-555B-38DB-83E6-5A120B00D175}"/>
              </a:ext>
            </a:extLst>
          </p:cNvPr>
          <p:cNvSpPr/>
          <p:nvPr/>
        </p:nvSpPr>
        <p:spPr>
          <a:xfrm>
            <a:off x="4540260" y="1014579"/>
            <a:ext cx="155448" cy="155448"/>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nvGrpSpPr>
          <p:cNvPr id="34" name="MinusSignBlue 65">
            <a:extLst>
              <a:ext uri="{FF2B5EF4-FFF2-40B4-BE49-F238E27FC236}">
                <a16:creationId xmlns:a16="http://schemas.microsoft.com/office/drawing/2014/main" id="{F571CDFE-6097-C0A8-AB5A-A8B44A4EF50B}"/>
              </a:ext>
            </a:extLst>
          </p:cNvPr>
          <p:cNvGrpSpPr>
            <a:grpSpLocks noChangeAspect="1"/>
          </p:cNvGrpSpPr>
          <p:nvPr>
            <p:custDataLst>
              <p:tags r:id="rId18"/>
            </p:custDataLst>
          </p:nvPr>
        </p:nvGrpSpPr>
        <p:grpSpPr>
          <a:xfrm>
            <a:off x="10283293" y="1014579"/>
            <a:ext cx="155448" cy="155448"/>
            <a:chOff x="1016000" y="1016000"/>
            <a:chExt cx="396228" cy="396228"/>
          </a:xfrm>
        </p:grpSpPr>
        <p:sp>
          <p:nvSpPr>
            <p:cNvPr id="83" name="Oval 82">
              <a:extLst>
                <a:ext uri="{FF2B5EF4-FFF2-40B4-BE49-F238E27FC236}">
                  <a16:creationId xmlns:a16="http://schemas.microsoft.com/office/drawing/2014/main" id="{0C48F502-EAEF-AA48-804B-4CDD5FDE5D89}"/>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87" name="Graphic 86">
              <a:extLst>
                <a:ext uri="{FF2B5EF4-FFF2-40B4-BE49-F238E27FC236}">
                  <a16:creationId xmlns:a16="http://schemas.microsoft.com/office/drawing/2014/main" id="{95D64224-9A17-C149-D278-06FA2B314B4E}"/>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023614" y="1023614"/>
              <a:ext cx="381000" cy="381000"/>
            </a:xfrm>
            <a:prstGeom prst="rect">
              <a:avLst/>
            </a:prstGeom>
          </p:spPr>
        </p:pic>
      </p:grpSp>
      <p:sp>
        <p:nvSpPr>
          <p:cNvPr id="35" name="Legend3">
            <a:extLst>
              <a:ext uri="{FF2B5EF4-FFF2-40B4-BE49-F238E27FC236}">
                <a16:creationId xmlns:a16="http://schemas.microsoft.com/office/drawing/2014/main" id="{47DB2871-A818-658C-13A6-1E7E0377E6FD}"/>
              </a:ext>
            </a:extLst>
          </p:cNvPr>
          <p:cNvSpPr txBox="1"/>
          <p:nvPr/>
        </p:nvSpPr>
        <p:spPr>
          <a:xfrm>
            <a:off x="10503467" y="1015359"/>
            <a:ext cx="30457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Gaps</a:t>
            </a:r>
          </a:p>
        </p:txBody>
      </p:sp>
      <p:grpSp>
        <p:nvGrpSpPr>
          <p:cNvPr id="46" name="PlusSignWhite 203">
            <a:extLst>
              <a:ext uri="{FF2B5EF4-FFF2-40B4-BE49-F238E27FC236}">
                <a16:creationId xmlns:a16="http://schemas.microsoft.com/office/drawing/2014/main" id="{8E048535-16D6-8D39-8DA0-7B6049B189E8}"/>
              </a:ext>
            </a:extLst>
          </p:cNvPr>
          <p:cNvGrpSpPr>
            <a:grpSpLocks/>
          </p:cNvGrpSpPr>
          <p:nvPr>
            <p:custDataLst>
              <p:tags r:id="rId19"/>
            </p:custDataLst>
          </p:nvPr>
        </p:nvGrpSpPr>
        <p:grpSpPr>
          <a:xfrm>
            <a:off x="10872764" y="1014579"/>
            <a:ext cx="155448" cy="155448"/>
            <a:chOff x="1016000" y="1016000"/>
            <a:chExt cx="396228" cy="396228"/>
          </a:xfrm>
          <a:solidFill>
            <a:schemeClr val="accent1"/>
          </a:solidFill>
        </p:grpSpPr>
        <p:sp>
          <p:nvSpPr>
            <p:cNvPr id="50" name="Oval 49">
              <a:extLst>
                <a:ext uri="{FF2B5EF4-FFF2-40B4-BE49-F238E27FC236}">
                  <a16:creationId xmlns:a16="http://schemas.microsoft.com/office/drawing/2014/main" id="{256853EA-1B85-0391-5F6B-BE957641AAE4}"/>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82" name="Graphic 81">
              <a:extLst>
                <a:ext uri="{FF2B5EF4-FFF2-40B4-BE49-F238E27FC236}">
                  <a16:creationId xmlns:a16="http://schemas.microsoft.com/office/drawing/2014/main" id="{6AFCED43-F15E-BC1C-04F9-57FCC1D6B5BC}"/>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023614" y="1023614"/>
              <a:ext cx="381000" cy="381000"/>
            </a:xfrm>
            <a:prstGeom prst="rect">
              <a:avLst/>
            </a:prstGeom>
          </p:spPr>
        </p:pic>
      </p:grpSp>
      <p:sp>
        <p:nvSpPr>
          <p:cNvPr id="49" name="Legend3">
            <a:extLst>
              <a:ext uri="{FF2B5EF4-FFF2-40B4-BE49-F238E27FC236}">
                <a16:creationId xmlns:a16="http://schemas.microsoft.com/office/drawing/2014/main" id="{F61071F7-F60F-010C-2F92-C91A8C675DD1}"/>
              </a:ext>
            </a:extLst>
          </p:cNvPr>
          <p:cNvSpPr txBox="1"/>
          <p:nvPr/>
        </p:nvSpPr>
        <p:spPr>
          <a:xfrm>
            <a:off x="11092942" y="1015359"/>
            <a:ext cx="54502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altLang="zh-CN" sz="1000"/>
              <a:t>Strengths</a:t>
            </a:r>
            <a:endParaRPr lang="en-US" sz="1000"/>
          </a:p>
        </p:txBody>
      </p:sp>
      <p:sp>
        <p:nvSpPr>
          <p:cNvPr id="14" name="TextBox 13">
            <a:extLst>
              <a:ext uri="{FF2B5EF4-FFF2-40B4-BE49-F238E27FC236}">
                <a16:creationId xmlns:a16="http://schemas.microsoft.com/office/drawing/2014/main" id="{35F3FBBC-58AF-D507-8971-D717C45C1966}"/>
              </a:ext>
            </a:extLst>
          </p:cNvPr>
          <p:cNvSpPr txBox="1">
            <a:spLocks/>
          </p:cNvSpPr>
          <p:nvPr/>
        </p:nvSpPr>
        <p:spPr>
          <a:xfrm>
            <a:off x="554038" y="1931557"/>
            <a:ext cx="1060273"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100" b="1">
                <a:solidFill>
                  <a:srgbClr val="000000"/>
                </a:solidFill>
                <a:latin typeface="+mj-lt"/>
              </a:rPr>
              <a:t>Catalog and glossary</a:t>
            </a:r>
          </a:p>
        </p:txBody>
      </p:sp>
      <p:sp>
        <p:nvSpPr>
          <p:cNvPr id="19" name="TextBox 18">
            <a:extLst>
              <a:ext uri="{FF2B5EF4-FFF2-40B4-BE49-F238E27FC236}">
                <a16:creationId xmlns:a16="http://schemas.microsoft.com/office/drawing/2014/main" id="{8D6F4567-853A-A7EE-07E7-6CFC068ACDFD}"/>
              </a:ext>
            </a:extLst>
          </p:cNvPr>
          <p:cNvSpPr txBox="1">
            <a:spLocks/>
          </p:cNvSpPr>
          <p:nvPr/>
        </p:nvSpPr>
        <p:spPr>
          <a:xfrm>
            <a:off x="3722981" y="1931557"/>
            <a:ext cx="3621681" cy="923330"/>
          </a:xfrm>
          <a:prstGeom prst="rect">
            <a:avLst/>
          </a:prstGeom>
        </p:spPr>
        <p:txBody>
          <a:bodyPr vert="horz" wrap="square" lIns="0" tIns="0" rIns="0" bIns="0" rtlCol="0" anchor="t"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SzPct val="110000"/>
              <a:buFont typeface="Arial" panose="020B0604020202020204" pitchFamily="34" charset="0"/>
              <a:buChar char="•"/>
            </a:pPr>
            <a:r>
              <a:rPr lang="en-US" sz="1100" b="1">
                <a:latin typeface="+mj-lt"/>
              </a:rPr>
              <a:t>Fragmented catalog coverage </a:t>
            </a:r>
            <a:r>
              <a:rPr lang="en-US" sz="1100">
                <a:latin typeface="+mj-lt"/>
              </a:rPr>
              <a:t>(e.g., basic in warehouse, weak across BUs/legacy)</a:t>
            </a:r>
          </a:p>
          <a:p>
            <a:pPr marL="285750" indent="-285750">
              <a:buSzPct val="110000"/>
              <a:buFont typeface="Arial" panose="020B0604020202020204" pitchFamily="34" charset="0"/>
              <a:buChar char="•"/>
            </a:pPr>
            <a:r>
              <a:rPr lang="en-US" sz="1100" b="1">
                <a:solidFill>
                  <a:schemeClr val="accent1"/>
                </a:solidFill>
                <a:latin typeface="+mj-lt"/>
              </a:rPr>
              <a:t>No catalog for unstructured/AI assets </a:t>
            </a:r>
            <a:r>
              <a:rPr lang="en-US" sz="1100">
                <a:latin typeface="+mj-lt"/>
              </a:rPr>
              <a:t>(e.g., documents, chunks, embeddings, prompts, vector indexes)</a:t>
            </a:r>
          </a:p>
        </p:txBody>
      </p:sp>
      <p:sp>
        <p:nvSpPr>
          <p:cNvPr id="20" name="TextBox 19">
            <a:extLst>
              <a:ext uri="{FF2B5EF4-FFF2-40B4-BE49-F238E27FC236}">
                <a16:creationId xmlns:a16="http://schemas.microsoft.com/office/drawing/2014/main" id="{036EFCE3-B9D2-5C16-F06F-0F8DFE9C10BD}"/>
              </a:ext>
            </a:extLst>
          </p:cNvPr>
          <p:cNvSpPr txBox="1">
            <a:spLocks/>
          </p:cNvSpPr>
          <p:nvPr/>
        </p:nvSpPr>
        <p:spPr>
          <a:xfrm>
            <a:off x="7407886" y="1931557"/>
            <a:ext cx="4229379" cy="1054135"/>
          </a:xfrm>
          <a:prstGeom prst="rect">
            <a:avLst/>
          </a:prstGeom>
        </p:spPr>
        <p:txBody>
          <a:bodyPr vert="horz" wrap="square" lIns="0" tIns="0" rIns="0" bIns="0" rtlCol="0" anchor="t" anchorCtr="0">
            <a:sp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US" b="1"/>
              <a:t>Operational inefficiency and rework:</a:t>
            </a:r>
            <a:r>
              <a:rPr lang="en-US"/>
              <a:t> Fragmented catalogs and inconsistent definitions across teams cause duplicate effort and conflicting results</a:t>
            </a:r>
          </a:p>
          <a:p>
            <a:pPr lvl="1">
              <a:defRPr/>
            </a:pPr>
            <a:r>
              <a:rPr lang="en-US" b="1">
                <a:solidFill>
                  <a:schemeClr val="accent1"/>
                </a:solidFill>
                <a:latin typeface="+mj-lt"/>
                <a:cs typeface="Arial" panose="020B0604020202020204" pitchFamily="34" charset="0"/>
              </a:rPr>
              <a:t>Data inventory inefficiency: </a:t>
            </a:r>
            <a:r>
              <a:rPr lang="en-US">
                <a:solidFill>
                  <a:schemeClr val="accent1"/>
                </a:solidFill>
                <a:latin typeface="+mj-lt"/>
                <a:cs typeface="Arial" panose="020B0604020202020204" pitchFamily="34" charset="0"/>
              </a:rPr>
              <a:t>Lack of cataloging for unstructured/AI assets blocks discovery and reuse, slowing development and limiting scaling</a:t>
            </a:r>
          </a:p>
        </p:txBody>
      </p:sp>
      <p:grpSp>
        <p:nvGrpSpPr>
          <p:cNvPr id="96" name="MoonEmpty 14">
            <a:extLst>
              <a:ext uri="{FF2B5EF4-FFF2-40B4-BE49-F238E27FC236}">
                <a16:creationId xmlns:a16="http://schemas.microsoft.com/office/drawing/2014/main" id="{C593DD32-4C04-6DD9-B365-053F1C1D1939}"/>
              </a:ext>
            </a:extLst>
          </p:cNvPr>
          <p:cNvGrpSpPr>
            <a:grpSpLocks/>
          </p:cNvGrpSpPr>
          <p:nvPr>
            <p:custDataLst>
              <p:tags r:id="rId20"/>
            </p:custDataLst>
          </p:nvPr>
        </p:nvGrpSpPr>
        <p:grpSpPr>
          <a:xfrm>
            <a:off x="3042673" y="1931557"/>
            <a:ext cx="274320" cy="274320"/>
            <a:chOff x="762000" y="1269999"/>
            <a:chExt cx="254000" cy="254003"/>
          </a:xfrm>
        </p:grpSpPr>
        <p:sp>
          <p:nvSpPr>
            <p:cNvPr id="104" name="Oval 103">
              <a:extLst>
                <a:ext uri="{FF2B5EF4-FFF2-40B4-BE49-F238E27FC236}">
                  <a16:creationId xmlns:a16="http://schemas.microsoft.com/office/drawing/2014/main" id="{2D69BDB5-0899-1457-87FC-8A00A0CDD3DF}"/>
                </a:ext>
              </a:extLst>
            </p:cNvPr>
            <p:cNvSpPr/>
            <p:nvPr>
              <p:custDataLst>
                <p:tags r:id="rId32"/>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105" name="Arc 104" hidden="1">
              <a:extLst>
                <a:ext uri="{FF2B5EF4-FFF2-40B4-BE49-F238E27FC236}">
                  <a16:creationId xmlns:a16="http://schemas.microsoft.com/office/drawing/2014/main" id="{CE7474A1-0879-75F1-ABD7-2391BABDB5E7}"/>
                </a:ext>
              </a:extLst>
            </p:cNvPr>
            <p:cNvSpPr/>
            <p:nvPr>
              <p:custDataLst>
                <p:tags r:id="rId33"/>
              </p:custDataLst>
            </p:nvPr>
          </p:nvSpPr>
          <p:spPr>
            <a:xfrm>
              <a:off x="762000" y="1269999"/>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grpSp>
        <p:nvGrpSpPr>
          <p:cNvPr id="151" name="MinusSignBlue 65">
            <a:extLst>
              <a:ext uri="{FF2B5EF4-FFF2-40B4-BE49-F238E27FC236}">
                <a16:creationId xmlns:a16="http://schemas.microsoft.com/office/drawing/2014/main" id="{800B885B-F35F-3EED-73EA-9DB6FE44DECE}"/>
              </a:ext>
            </a:extLst>
          </p:cNvPr>
          <p:cNvGrpSpPr>
            <a:grpSpLocks noChangeAspect="1"/>
          </p:cNvGrpSpPr>
          <p:nvPr>
            <p:custDataLst>
              <p:tags r:id="rId21"/>
            </p:custDataLst>
          </p:nvPr>
        </p:nvGrpSpPr>
        <p:grpSpPr>
          <a:xfrm>
            <a:off x="3660455" y="1945386"/>
            <a:ext cx="155448" cy="155448"/>
            <a:chOff x="1016000" y="1016000"/>
            <a:chExt cx="396228" cy="396228"/>
          </a:xfrm>
          <a:solidFill>
            <a:schemeClr val="accent1"/>
          </a:solidFill>
        </p:grpSpPr>
        <p:sp>
          <p:nvSpPr>
            <p:cNvPr id="152" name="Oval 151">
              <a:extLst>
                <a:ext uri="{FF2B5EF4-FFF2-40B4-BE49-F238E27FC236}">
                  <a16:creationId xmlns:a16="http://schemas.microsoft.com/office/drawing/2014/main" id="{B4ACF9F4-BC36-2761-058D-2E2E6CA72232}"/>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53" name="Graphic 152">
              <a:extLst>
                <a:ext uri="{FF2B5EF4-FFF2-40B4-BE49-F238E27FC236}">
                  <a16:creationId xmlns:a16="http://schemas.microsoft.com/office/drawing/2014/main" id="{5E706079-5168-B320-1E78-BCEB79792032}"/>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11" name="MinusSignBlue 65">
            <a:extLst>
              <a:ext uri="{FF2B5EF4-FFF2-40B4-BE49-F238E27FC236}">
                <a16:creationId xmlns:a16="http://schemas.microsoft.com/office/drawing/2014/main" id="{CF0FDD13-8C5D-B50A-03F2-0F36326A8F28}"/>
              </a:ext>
            </a:extLst>
          </p:cNvPr>
          <p:cNvGrpSpPr>
            <a:grpSpLocks noChangeAspect="1"/>
          </p:cNvGrpSpPr>
          <p:nvPr>
            <p:custDataLst>
              <p:tags r:id="rId22"/>
            </p:custDataLst>
          </p:nvPr>
        </p:nvGrpSpPr>
        <p:grpSpPr>
          <a:xfrm>
            <a:off x="3660455" y="2355645"/>
            <a:ext cx="155448" cy="155448"/>
            <a:chOff x="1016000" y="1016000"/>
            <a:chExt cx="396228" cy="396228"/>
          </a:xfrm>
          <a:solidFill>
            <a:schemeClr val="accent1"/>
          </a:solidFill>
        </p:grpSpPr>
        <p:sp>
          <p:nvSpPr>
            <p:cNvPr id="112" name="Oval 111">
              <a:extLst>
                <a:ext uri="{FF2B5EF4-FFF2-40B4-BE49-F238E27FC236}">
                  <a16:creationId xmlns:a16="http://schemas.microsoft.com/office/drawing/2014/main" id="{B07441CF-C239-D207-3DD6-C772FDD59D66}"/>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3" name="Graphic 112">
              <a:extLst>
                <a:ext uri="{FF2B5EF4-FFF2-40B4-BE49-F238E27FC236}">
                  <a16:creationId xmlns:a16="http://schemas.microsoft.com/office/drawing/2014/main" id="{D336875B-FA90-2D23-60F4-67EE87F70B7B}"/>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14" name="MinusSignBlue 65">
            <a:extLst>
              <a:ext uri="{FF2B5EF4-FFF2-40B4-BE49-F238E27FC236}">
                <a16:creationId xmlns:a16="http://schemas.microsoft.com/office/drawing/2014/main" id="{218BEBEC-BAEB-8742-1F95-05C7A0EFB426}"/>
              </a:ext>
            </a:extLst>
          </p:cNvPr>
          <p:cNvGrpSpPr>
            <a:grpSpLocks noChangeAspect="1"/>
          </p:cNvGrpSpPr>
          <p:nvPr>
            <p:custDataLst>
              <p:tags r:id="rId23"/>
            </p:custDataLst>
          </p:nvPr>
        </p:nvGrpSpPr>
        <p:grpSpPr>
          <a:xfrm>
            <a:off x="3660455" y="3157143"/>
            <a:ext cx="155448" cy="155448"/>
            <a:chOff x="1016000" y="1016000"/>
            <a:chExt cx="396228" cy="396228"/>
          </a:xfrm>
          <a:solidFill>
            <a:schemeClr val="accent1"/>
          </a:solidFill>
        </p:grpSpPr>
        <p:sp>
          <p:nvSpPr>
            <p:cNvPr id="115" name="Oval 114">
              <a:extLst>
                <a:ext uri="{FF2B5EF4-FFF2-40B4-BE49-F238E27FC236}">
                  <a16:creationId xmlns:a16="http://schemas.microsoft.com/office/drawing/2014/main" id="{24578F10-A791-0D5A-8491-E706CD259C5B}"/>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6" name="Graphic 115">
              <a:extLst>
                <a:ext uri="{FF2B5EF4-FFF2-40B4-BE49-F238E27FC236}">
                  <a16:creationId xmlns:a16="http://schemas.microsoft.com/office/drawing/2014/main" id="{5D2A29D7-1B5A-FC00-A407-39377B8E2EC8}"/>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17" name="MinusSignBlue 65">
            <a:extLst>
              <a:ext uri="{FF2B5EF4-FFF2-40B4-BE49-F238E27FC236}">
                <a16:creationId xmlns:a16="http://schemas.microsoft.com/office/drawing/2014/main" id="{E505113B-5B3B-5A56-CAF5-581E2543D37B}"/>
              </a:ext>
            </a:extLst>
          </p:cNvPr>
          <p:cNvGrpSpPr>
            <a:grpSpLocks noChangeAspect="1"/>
          </p:cNvGrpSpPr>
          <p:nvPr>
            <p:custDataLst>
              <p:tags r:id="rId24"/>
            </p:custDataLst>
          </p:nvPr>
        </p:nvGrpSpPr>
        <p:grpSpPr>
          <a:xfrm>
            <a:off x="3660455" y="3713343"/>
            <a:ext cx="155448" cy="155448"/>
            <a:chOff x="1016000" y="1016000"/>
            <a:chExt cx="396228" cy="396228"/>
          </a:xfrm>
          <a:solidFill>
            <a:schemeClr val="accent1"/>
          </a:solidFill>
        </p:grpSpPr>
        <p:sp>
          <p:nvSpPr>
            <p:cNvPr id="118" name="Oval 117">
              <a:extLst>
                <a:ext uri="{FF2B5EF4-FFF2-40B4-BE49-F238E27FC236}">
                  <a16:creationId xmlns:a16="http://schemas.microsoft.com/office/drawing/2014/main" id="{6351F312-6E54-3EF5-FA75-4C533A7509B2}"/>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9" name="Graphic 118">
              <a:extLst>
                <a:ext uri="{FF2B5EF4-FFF2-40B4-BE49-F238E27FC236}">
                  <a16:creationId xmlns:a16="http://schemas.microsoft.com/office/drawing/2014/main" id="{3EB3088E-61BD-C7DA-2841-48AB068BF7B1}"/>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20" name="MinusSignBlue 65">
            <a:extLst>
              <a:ext uri="{FF2B5EF4-FFF2-40B4-BE49-F238E27FC236}">
                <a16:creationId xmlns:a16="http://schemas.microsoft.com/office/drawing/2014/main" id="{CAA1EA30-35CE-4556-DEA5-08A0A7649315}"/>
              </a:ext>
            </a:extLst>
          </p:cNvPr>
          <p:cNvGrpSpPr>
            <a:grpSpLocks noChangeAspect="1"/>
          </p:cNvGrpSpPr>
          <p:nvPr>
            <p:custDataLst>
              <p:tags r:id="rId25"/>
            </p:custDataLst>
          </p:nvPr>
        </p:nvGrpSpPr>
        <p:grpSpPr>
          <a:xfrm>
            <a:off x="3660455" y="4419492"/>
            <a:ext cx="155448" cy="155448"/>
            <a:chOff x="1016000" y="1016000"/>
            <a:chExt cx="396228" cy="396228"/>
          </a:xfrm>
          <a:solidFill>
            <a:schemeClr val="accent1"/>
          </a:solidFill>
        </p:grpSpPr>
        <p:sp>
          <p:nvSpPr>
            <p:cNvPr id="121" name="Oval 120">
              <a:extLst>
                <a:ext uri="{FF2B5EF4-FFF2-40B4-BE49-F238E27FC236}">
                  <a16:creationId xmlns:a16="http://schemas.microsoft.com/office/drawing/2014/main" id="{C5B90927-4660-D612-FDC2-8D4E667C0652}"/>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22" name="Graphic 121">
              <a:extLst>
                <a:ext uri="{FF2B5EF4-FFF2-40B4-BE49-F238E27FC236}">
                  <a16:creationId xmlns:a16="http://schemas.microsoft.com/office/drawing/2014/main" id="{10D800E7-C824-D930-8092-0DEACCEF890D}"/>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23" name="MinusSignBlue 65">
            <a:extLst>
              <a:ext uri="{FF2B5EF4-FFF2-40B4-BE49-F238E27FC236}">
                <a16:creationId xmlns:a16="http://schemas.microsoft.com/office/drawing/2014/main" id="{6ED5F080-1B5C-1E59-7E2D-3C571F91BA8B}"/>
              </a:ext>
            </a:extLst>
          </p:cNvPr>
          <p:cNvGrpSpPr>
            <a:grpSpLocks noChangeAspect="1"/>
          </p:cNvGrpSpPr>
          <p:nvPr>
            <p:custDataLst>
              <p:tags r:id="rId26"/>
            </p:custDataLst>
          </p:nvPr>
        </p:nvGrpSpPr>
        <p:grpSpPr>
          <a:xfrm>
            <a:off x="3660455" y="4819473"/>
            <a:ext cx="155448" cy="155448"/>
            <a:chOff x="1016000" y="1016000"/>
            <a:chExt cx="396228" cy="396228"/>
          </a:xfrm>
          <a:solidFill>
            <a:schemeClr val="accent1"/>
          </a:solidFill>
        </p:grpSpPr>
        <p:sp>
          <p:nvSpPr>
            <p:cNvPr id="124" name="Oval 123">
              <a:extLst>
                <a:ext uri="{FF2B5EF4-FFF2-40B4-BE49-F238E27FC236}">
                  <a16:creationId xmlns:a16="http://schemas.microsoft.com/office/drawing/2014/main" id="{95FB4EE6-032A-6C4E-ADC4-43763A3C183B}"/>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25" name="Graphic 124">
              <a:extLst>
                <a:ext uri="{FF2B5EF4-FFF2-40B4-BE49-F238E27FC236}">
                  <a16:creationId xmlns:a16="http://schemas.microsoft.com/office/drawing/2014/main" id="{01668FFC-15B7-ED1A-AACB-619E79612108}"/>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26" name="MinusSignBlue 65">
            <a:extLst>
              <a:ext uri="{FF2B5EF4-FFF2-40B4-BE49-F238E27FC236}">
                <a16:creationId xmlns:a16="http://schemas.microsoft.com/office/drawing/2014/main" id="{CFE58F04-C7BB-4783-7748-641B5D50145C}"/>
              </a:ext>
            </a:extLst>
          </p:cNvPr>
          <p:cNvGrpSpPr>
            <a:grpSpLocks noChangeAspect="1"/>
          </p:cNvGrpSpPr>
          <p:nvPr>
            <p:custDataLst>
              <p:tags r:id="rId27"/>
            </p:custDataLst>
          </p:nvPr>
        </p:nvGrpSpPr>
        <p:grpSpPr>
          <a:xfrm>
            <a:off x="3660455" y="5295263"/>
            <a:ext cx="155448" cy="155448"/>
            <a:chOff x="1016000" y="1016000"/>
            <a:chExt cx="396228" cy="396228"/>
          </a:xfrm>
          <a:solidFill>
            <a:schemeClr val="accent1"/>
          </a:solidFill>
        </p:grpSpPr>
        <p:sp>
          <p:nvSpPr>
            <p:cNvPr id="127" name="Oval 126">
              <a:extLst>
                <a:ext uri="{FF2B5EF4-FFF2-40B4-BE49-F238E27FC236}">
                  <a16:creationId xmlns:a16="http://schemas.microsoft.com/office/drawing/2014/main" id="{08A8870B-0E8E-B563-1C83-731F1F80E1E2}"/>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35" name="Graphic 134">
              <a:extLst>
                <a:ext uri="{FF2B5EF4-FFF2-40B4-BE49-F238E27FC236}">
                  <a16:creationId xmlns:a16="http://schemas.microsoft.com/office/drawing/2014/main" id="{0D0BD39F-95B3-A0A8-3B60-9D461BA19134}"/>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36" name="MinusSignBlue 65">
            <a:extLst>
              <a:ext uri="{FF2B5EF4-FFF2-40B4-BE49-F238E27FC236}">
                <a16:creationId xmlns:a16="http://schemas.microsoft.com/office/drawing/2014/main" id="{D15EDAC7-19C2-47AB-47B3-28F0F2B8AD88}"/>
              </a:ext>
            </a:extLst>
          </p:cNvPr>
          <p:cNvGrpSpPr>
            <a:grpSpLocks noChangeAspect="1"/>
          </p:cNvGrpSpPr>
          <p:nvPr>
            <p:custDataLst>
              <p:tags r:id="rId28"/>
            </p:custDataLst>
          </p:nvPr>
        </p:nvGrpSpPr>
        <p:grpSpPr>
          <a:xfrm>
            <a:off x="3660455" y="5710824"/>
            <a:ext cx="155448" cy="155448"/>
            <a:chOff x="1016000" y="1016000"/>
            <a:chExt cx="396228" cy="396228"/>
          </a:xfrm>
          <a:solidFill>
            <a:schemeClr val="accent1"/>
          </a:solidFill>
        </p:grpSpPr>
        <p:sp>
          <p:nvSpPr>
            <p:cNvPr id="137" name="Oval 136">
              <a:extLst>
                <a:ext uri="{FF2B5EF4-FFF2-40B4-BE49-F238E27FC236}">
                  <a16:creationId xmlns:a16="http://schemas.microsoft.com/office/drawing/2014/main" id="{BD024511-17A6-0F40-F957-ABC2D50919A0}"/>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38" name="Graphic 137">
              <a:extLst>
                <a:ext uri="{FF2B5EF4-FFF2-40B4-BE49-F238E27FC236}">
                  <a16:creationId xmlns:a16="http://schemas.microsoft.com/office/drawing/2014/main" id="{D223C7CB-C2CC-40FF-C489-24B4909255A0}"/>
                </a:ext>
              </a:extLst>
            </p:cNvPr>
            <p:cNvPicPr>
              <a:picLocks noChangeAspect="1"/>
            </p:cNvPicPr>
            <p:nvPr/>
          </p:nvPicPr>
          <p:blipFill>
            <a:blip r:embed="rId50">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2" name="MoonEmpty 14">
            <a:extLst>
              <a:ext uri="{FF2B5EF4-FFF2-40B4-BE49-F238E27FC236}">
                <a16:creationId xmlns:a16="http://schemas.microsoft.com/office/drawing/2014/main" id="{7A3043A8-A93A-6D64-9C7A-0F147F591EED}"/>
              </a:ext>
            </a:extLst>
          </p:cNvPr>
          <p:cNvGrpSpPr>
            <a:grpSpLocks noChangeAspect="1"/>
          </p:cNvGrpSpPr>
          <p:nvPr>
            <p:custDataLst>
              <p:tags r:id="rId29"/>
            </p:custDataLst>
          </p:nvPr>
        </p:nvGrpSpPr>
        <p:grpSpPr>
          <a:xfrm>
            <a:off x="2020299" y="1931557"/>
            <a:ext cx="274320" cy="274320"/>
            <a:chOff x="762000" y="1269999"/>
            <a:chExt cx="254000" cy="254003"/>
          </a:xfrm>
        </p:grpSpPr>
        <p:sp>
          <p:nvSpPr>
            <p:cNvPr id="36" name="Oval 35">
              <a:extLst>
                <a:ext uri="{FF2B5EF4-FFF2-40B4-BE49-F238E27FC236}">
                  <a16:creationId xmlns:a16="http://schemas.microsoft.com/office/drawing/2014/main" id="{645F73F8-9E50-4337-AA89-EA44C5E4BBDC}"/>
                </a:ext>
              </a:extLst>
            </p:cNvPr>
            <p:cNvSpPr/>
            <p:nvPr>
              <p:custDataLst>
                <p:tags r:id="rId30"/>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latin typeface="+mj-lt"/>
              </a:endParaRPr>
            </a:p>
          </p:txBody>
        </p:sp>
        <p:sp>
          <p:nvSpPr>
            <p:cNvPr id="37" name="Arc 36">
              <a:extLst>
                <a:ext uri="{FF2B5EF4-FFF2-40B4-BE49-F238E27FC236}">
                  <a16:creationId xmlns:a16="http://schemas.microsoft.com/office/drawing/2014/main" id="{9123DEF7-3F72-EDDA-C3DB-B54084EF0509}"/>
                </a:ext>
              </a:extLst>
            </p:cNvPr>
            <p:cNvSpPr/>
            <p:nvPr>
              <p:custDataLst>
                <p:tags r:id="rId31"/>
              </p:custDataLst>
            </p:nvPr>
          </p:nvSpPr>
          <p:spPr>
            <a:xfrm>
              <a:off x="762000" y="1269999"/>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latin typeface="+mj-lt"/>
              </a:endParaRPr>
            </a:p>
          </p:txBody>
        </p:sp>
      </p:grpSp>
    </p:spTree>
    <p:custDataLst>
      <p:tags r:id="rId1"/>
    </p:custDataLst>
    <p:extLst>
      <p:ext uri="{BB962C8B-B14F-4D97-AF65-F5344CB8AC3E}">
        <p14:creationId xmlns:p14="http://schemas.microsoft.com/office/powerpoint/2010/main" val="2266031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6506F-4A82-B58A-6D47-2E390593C252}"/>
            </a:ext>
          </a:extLst>
        </p:cNvPr>
        <p:cNvGrpSpPr/>
        <p:nvPr/>
      </p:nvGrpSpPr>
      <p:grpSpPr>
        <a:xfrm>
          <a:off x="0" y="0"/>
          <a:ext cx="0" cy="0"/>
          <a:chOff x="0" y="0"/>
          <a:chExt cx="0" cy="0"/>
        </a:xfrm>
      </p:grpSpPr>
      <p:graphicFrame>
        <p:nvGraphicFramePr>
          <p:cNvPr id="22" name="Object 6" hidden="1">
            <a:extLst>
              <a:ext uri="{FF2B5EF4-FFF2-40B4-BE49-F238E27FC236}">
                <a16:creationId xmlns:a16="http://schemas.microsoft.com/office/drawing/2014/main" id="{38B96C37-5B0B-AF06-3685-4849CA11B978}"/>
              </a:ext>
            </a:extLst>
          </p:cNvPr>
          <p:cNvGraphicFramePr>
            <a:graphicFrameLocks noChangeAspect="1"/>
          </p:cNvGraphicFramePr>
          <p:nvPr>
            <p:custDataLst>
              <p:tags r:id="rId2"/>
            </p:custDataLst>
            <p:extLst>
              <p:ext uri="{D42A27DB-BD31-4B8C-83A1-F6EECF244321}">
                <p14:modId xmlns:p14="http://schemas.microsoft.com/office/powerpoint/2010/main" val="21152641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9" imgW="7772400" imgH="10058400" progId="TCLayout.ActiveDocument.1">
                  <p:embed/>
                </p:oleObj>
              </mc:Choice>
              <mc:Fallback>
                <p:oleObj name="think-cell Slide" r:id="rId49" imgW="7772400" imgH="10058400" progId="TCLayout.ActiveDocument.1">
                  <p:embed/>
                  <p:pic>
                    <p:nvPicPr>
                      <p:cNvPr id="22" name="Object 6" hidden="1">
                        <a:extLst>
                          <a:ext uri="{FF2B5EF4-FFF2-40B4-BE49-F238E27FC236}">
                            <a16:creationId xmlns:a16="http://schemas.microsoft.com/office/drawing/2014/main" id="{38B96C37-5B0B-AF06-3685-4849CA11B978}"/>
                          </a:ext>
                        </a:extLst>
                      </p:cNvPr>
                      <p:cNvPicPr/>
                      <p:nvPr/>
                    </p:nvPicPr>
                    <p:blipFill>
                      <a:blip r:embed="rId50"/>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9566C9F-BF66-C6A2-FE99-8D51F3E1171A}"/>
              </a:ext>
            </a:extLst>
          </p:cNvPr>
          <p:cNvSpPr>
            <a:spLocks noGrp="1"/>
          </p:cNvSpPr>
          <p:nvPr>
            <p:ph type="title"/>
          </p:nvPr>
        </p:nvSpPr>
        <p:spPr/>
        <p:txBody>
          <a:bodyPr vert="horz"/>
          <a:lstStyle/>
          <a:p>
            <a:r>
              <a:rPr lang="en-US" dirty="0"/>
              <a:t>D. Data Lineage dimension observations and implications</a:t>
            </a:r>
          </a:p>
        </p:txBody>
      </p:sp>
      <p:sp>
        <p:nvSpPr>
          <p:cNvPr id="160" name="Rectangle 159">
            <a:extLst>
              <a:ext uri="{FF2B5EF4-FFF2-40B4-BE49-F238E27FC236}">
                <a16:creationId xmlns:a16="http://schemas.microsoft.com/office/drawing/2014/main" id="{6BEDC36E-6508-2036-FE45-2B17E80E15BD}"/>
              </a:ext>
            </a:extLst>
          </p:cNvPr>
          <p:cNvSpPr>
            <a:spLocks/>
          </p:cNvSpPr>
          <p:nvPr/>
        </p:nvSpPr>
        <p:spPr>
          <a:xfrm>
            <a:off x="484496" y="1895413"/>
            <a:ext cx="11193353" cy="1763518"/>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2" name="Straight Connector 1">
            <a:extLst>
              <a:ext uri="{FF2B5EF4-FFF2-40B4-BE49-F238E27FC236}">
                <a16:creationId xmlns:a16="http://schemas.microsoft.com/office/drawing/2014/main" id="{B65AAB6A-D8E6-1295-845E-12069EC39DCC}"/>
              </a:ext>
            </a:extLst>
          </p:cNvPr>
          <p:cNvCxnSpPr>
            <a:cxnSpLocks/>
          </p:cNvCxnSpPr>
          <p:nvPr>
            <p:custDataLst>
              <p:tags r:id="rId3"/>
            </p:custDataLst>
          </p:nvPr>
        </p:nvCxnSpPr>
        <p:spPr>
          <a:xfrm>
            <a:off x="554736" y="2866334"/>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DBBF3DE-8639-C61A-DE2D-ED9C3D8DCECC}"/>
              </a:ext>
            </a:extLst>
          </p:cNvPr>
          <p:cNvCxnSpPr>
            <a:cxnSpLocks/>
          </p:cNvCxnSpPr>
          <p:nvPr>
            <p:custDataLst>
              <p:tags r:id="rId4"/>
            </p:custDataLst>
          </p:nvPr>
        </p:nvCxnSpPr>
        <p:spPr>
          <a:xfrm>
            <a:off x="554736" y="3681753"/>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7445A50-5B61-7CE8-F936-3FEAF1BAAD2C}"/>
              </a:ext>
            </a:extLst>
          </p:cNvPr>
          <p:cNvCxnSpPr>
            <a:cxnSpLocks/>
          </p:cNvCxnSpPr>
          <p:nvPr>
            <p:custDataLst>
              <p:tags r:id="rId5"/>
            </p:custDataLst>
          </p:nvPr>
        </p:nvCxnSpPr>
        <p:spPr>
          <a:xfrm>
            <a:off x="554736" y="4666449"/>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230FE70-51F5-C6E9-9E45-5710BEC38910}"/>
              </a:ext>
            </a:extLst>
          </p:cNvPr>
          <p:cNvCxnSpPr>
            <a:cxnSpLocks/>
          </p:cNvCxnSpPr>
          <p:nvPr>
            <p:custDataLst>
              <p:tags r:id="rId6"/>
            </p:custDataLst>
          </p:nvPr>
        </p:nvCxnSpPr>
        <p:spPr>
          <a:xfrm>
            <a:off x="554736" y="5274118"/>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8964ABF-929E-87BB-2E91-0280196F175E}"/>
              </a:ext>
            </a:extLst>
          </p:cNvPr>
          <p:cNvSpPr txBox="1">
            <a:spLocks/>
          </p:cNvSpPr>
          <p:nvPr/>
        </p:nvSpPr>
        <p:spPr>
          <a:xfrm>
            <a:off x="554038" y="1931557"/>
            <a:ext cx="986479"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100" b="1">
                <a:solidFill>
                  <a:srgbClr val="000000"/>
                </a:solidFill>
                <a:latin typeface="Arial"/>
              </a:rPr>
              <a:t>End-to-end data</a:t>
            </a:r>
          </a:p>
        </p:txBody>
      </p:sp>
      <p:sp>
        <p:nvSpPr>
          <p:cNvPr id="8" name="TextBox 7">
            <a:extLst>
              <a:ext uri="{FF2B5EF4-FFF2-40B4-BE49-F238E27FC236}">
                <a16:creationId xmlns:a16="http://schemas.microsoft.com/office/drawing/2014/main" id="{2DFAA85D-B781-69CC-2164-3ED79CC10FE9}"/>
              </a:ext>
            </a:extLst>
          </p:cNvPr>
          <p:cNvSpPr txBox="1">
            <a:spLocks/>
          </p:cNvSpPr>
          <p:nvPr/>
        </p:nvSpPr>
        <p:spPr>
          <a:xfrm>
            <a:off x="3722982" y="1931557"/>
            <a:ext cx="3621681"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dirty="0"/>
              <a:t>Scattered data</a:t>
            </a:r>
            <a:r>
              <a:rPr lang="en-US" sz="1100" dirty="0"/>
              <a:t> (e.g., good visibility in curated warehouse; poor for legacy and BU sources)</a:t>
            </a:r>
          </a:p>
          <a:p>
            <a:pPr lvl="1">
              <a:buClr>
                <a:srgbClr val="000000"/>
              </a:buClr>
              <a:defRPr/>
            </a:pPr>
            <a:r>
              <a:rPr lang="en-US" sz="1100" b="1" dirty="0">
                <a:solidFill>
                  <a:schemeClr val="accent1"/>
                </a:solidFill>
              </a:rPr>
              <a:t>No lineage for unstructured data, embeddings, or RAG pipelines</a:t>
            </a:r>
            <a:endParaRPr kumimoji="0" lang="en-US" sz="1100" b="1" i="0" u="none" strike="noStrike" kern="1200" cap="none" spc="0" normalizeH="0" baseline="0" noProof="0" dirty="0">
              <a:ln>
                <a:noFill/>
              </a:ln>
              <a:solidFill>
                <a:schemeClr val="accent1"/>
              </a:solidFill>
              <a:effectLst/>
              <a:uLnTx/>
              <a:uFillTx/>
              <a:latin typeface="Arial"/>
            </a:endParaRPr>
          </a:p>
        </p:txBody>
      </p:sp>
      <p:sp>
        <p:nvSpPr>
          <p:cNvPr id="9" name="TextBox 8">
            <a:extLst>
              <a:ext uri="{FF2B5EF4-FFF2-40B4-BE49-F238E27FC236}">
                <a16:creationId xmlns:a16="http://schemas.microsoft.com/office/drawing/2014/main" id="{F084079B-D3EA-E32E-B91D-BE0B29581AA3}"/>
              </a:ext>
            </a:extLst>
          </p:cNvPr>
          <p:cNvSpPr txBox="1">
            <a:spLocks/>
          </p:cNvSpPr>
          <p:nvPr/>
        </p:nvSpPr>
        <p:spPr>
          <a:xfrm>
            <a:off x="7407887" y="1931557"/>
            <a:ext cx="4229379"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Auditability and compliance risk</a:t>
            </a:r>
            <a:r>
              <a:rPr lang="en-US" sz="1100"/>
              <a:t>: Reliance on tribal knowledge and missing lineage prevents tracing outputs back to inputs, creating high audit/regulatory exposure</a:t>
            </a:r>
            <a:endParaRPr lang="en-US" sz="1100">
              <a:solidFill>
                <a:srgbClr val="000000"/>
              </a:solidFill>
            </a:endParaRPr>
          </a:p>
          <a:p>
            <a:pPr lvl="1">
              <a:buClr>
                <a:srgbClr val="000000"/>
              </a:buClr>
              <a:defRPr/>
            </a:pPr>
            <a:r>
              <a:rPr kumimoji="0" lang="en-US" sz="1100" b="1" i="0" u="none" strike="noStrike" kern="1200" cap="none" spc="0" normalizeH="0" baseline="0" noProof="0">
                <a:ln>
                  <a:noFill/>
                </a:ln>
                <a:solidFill>
                  <a:schemeClr val="accent1"/>
                </a:solidFill>
                <a:effectLst/>
                <a:uLnTx/>
                <a:uFillTx/>
                <a:latin typeface="Arial"/>
              </a:rPr>
              <a:t>Operational efficiency: </a:t>
            </a:r>
            <a:r>
              <a:rPr kumimoji="0" lang="en-US" sz="1100" i="0" u="none" strike="noStrike" kern="1200" cap="none" spc="0" normalizeH="0" baseline="0" noProof="0">
                <a:ln>
                  <a:noFill/>
                </a:ln>
                <a:solidFill>
                  <a:schemeClr val="accent1"/>
                </a:solidFill>
                <a:effectLst/>
                <a:uLnTx/>
                <a:uFillTx/>
                <a:latin typeface="Arial"/>
              </a:rPr>
              <a:t>Lack of lineage hampers</a:t>
            </a:r>
            <a:r>
              <a:rPr lang="en-US" sz="1100">
                <a:solidFill>
                  <a:schemeClr val="accent1"/>
                </a:solidFill>
                <a:latin typeface="Arial"/>
              </a:rPr>
              <a:t> explainability and slows issue resolution </a:t>
            </a:r>
            <a:endParaRPr kumimoji="0" lang="en-US" sz="1100" b="1" i="0" u="none" strike="noStrike" kern="1200" cap="none" spc="0" normalizeH="0" baseline="0" noProof="0">
              <a:ln>
                <a:noFill/>
              </a:ln>
              <a:solidFill>
                <a:schemeClr val="accent1"/>
              </a:solidFill>
              <a:effectLst/>
              <a:uLnTx/>
              <a:uFillTx/>
              <a:latin typeface="Arial"/>
            </a:endParaRPr>
          </a:p>
        </p:txBody>
      </p:sp>
      <p:grpSp>
        <p:nvGrpSpPr>
          <p:cNvPr id="34" name="MoonEmpty 14">
            <a:extLst>
              <a:ext uri="{FF2B5EF4-FFF2-40B4-BE49-F238E27FC236}">
                <a16:creationId xmlns:a16="http://schemas.microsoft.com/office/drawing/2014/main" id="{2363374D-C314-9B07-509A-0E8820FEFA93}"/>
              </a:ext>
            </a:extLst>
          </p:cNvPr>
          <p:cNvGrpSpPr>
            <a:grpSpLocks/>
          </p:cNvGrpSpPr>
          <p:nvPr>
            <p:custDataLst>
              <p:tags r:id="rId7"/>
            </p:custDataLst>
          </p:nvPr>
        </p:nvGrpSpPr>
        <p:grpSpPr>
          <a:xfrm>
            <a:off x="2019602" y="1931557"/>
            <a:ext cx="274320" cy="274320"/>
            <a:chOff x="762000" y="1270000"/>
            <a:chExt cx="254000" cy="254002"/>
          </a:xfrm>
        </p:grpSpPr>
        <p:sp>
          <p:nvSpPr>
            <p:cNvPr id="35" name="Oval 34">
              <a:extLst>
                <a:ext uri="{FF2B5EF4-FFF2-40B4-BE49-F238E27FC236}">
                  <a16:creationId xmlns:a16="http://schemas.microsoft.com/office/drawing/2014/main" id="{B19C3B66-46B2-B47E-C67E-B64ED391C732}"/>
                </a:ext>
              </a:extLst>
            </p:cNvPr>
            <p:cNvSpPr/>
            <p:nvPr>
              <p:custDataLst>
                <p:tags r:id="rId45"/>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a:solidFill>
                  <a:schemeClr val="bg1"/>
                </a:solidFill>
              </a:endParaRPr>
            </a:p>
          </p:txBody>
        </p:sp>
        <p:sp>
          <p:nvSpPr>
            <p:cNvPr id="36" name="Arc 35">
              <a:extLst>
                <a:ext uri="{FF2B5EF4-FFF2-40B4-BE49-F238E27FC236}">
                  <a16:creationId xmlns:a16="http://schemas.microsoft.com/office/drawing/2014/main" id="{334D58E9-B38E-E2BA-6035-8852CB1282BD}"/>
                </a:ext>
              </a:extLst>
            </p:cNvPr>
            <p:cNvSpPr/>
            <p:nvPr>
              <p:custDataLst>
                <p:tags r:id="rId46"/>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grpSp>
      <p:grpSp>
        <p:nvGrpSpPr>
          <p:cNvPr id="37" name="MoonEmpty 14">
            <a:extLst>
              <a:ext uri="{FF2B5EF4-FFF2-40B4-BE49-F238E27FC236}">
                <a16:creationId xmlns:a16="http://schemas.microsoft.com/office/drawing/2014/main" id="{E267EADA-B848-399A-17B2-43438B7B2AE4}"/>
              </a:ext>
            </a:extLst>
          </p:cNvPr>
          <p:cNvGrpSpPr>
            <a:grpSpLocks/>
          </p:cNvGrpSpPr>
          <p:nvPr>
            <p:custDataLst>
              <p:tags r:id="rId8"/>
            </p:custDataLst>
          </p:nvPr>
        </p:nvGrpSpPr>
        <p:grpSpPr>
          <a:xfrm>
            <a:off x="3042674" y="1931557"/>
            <a:ext cx="274320" cy="274320"/>
            <a:chOff x="762000" y="1269999"/>
            <a:chExt cx="254000" cy="254003"/>
          </a:xfrm>
        </p:grpSpPr>
        <p:sp>
          <p:nvSpPr>
            <p:cNvPr id="38" name="Oval 37">
              <a:extLst>
                <a:ext uri="{FF2B5EF4-FFF2-40B4-BE49-F238E27FC236}">
                  <a16:creationId xmlns:a16="http://schemas.microsoft.com/office/drawing/2014/main" id="{F4E6E51C-0F3A-0C25-E763-8710A335CEEB}"/>
                </a:ext>
              </a:extLst>
            </p:cNvPr>
            <p:cNvSpPr/>
            <p:nvPr>
              <p:custDataLst>
                <p:tags r:id="rId43"/>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39" name="Arc 38" hidden="1">
              <a:extLst>
                <a:ext uri="{FF2B5EF4-FFF2-40B4-BE49-F238E27FC236}">
                  <a16:creationId xmlns:a16="http://schemas.microsoft.com/office/drawing/2014/main" id="{06BBB638-CAAC-E97F-19E4-D2329958F490}"/>
                </a:ext>
              </a:extLst>
            </p:cNvPr>
            <p:cNvSpPr/>
            <p:nvPr>
              <p:custDataLst>
                <p:tags r:id="rId44"/>
              </p:custDataLst>
            </p:nvPr>
          </p:nvSpPr>
          <p:spPr>
            <a:xfrm>
              <a:off x="762000" y="1269999"/>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grpSp>
      <p:sp>
        <p:nvSpPr>
          <p:cNvPr id="19" name="TextBox 18">
            <a:extLst>
              <a:ext uri="{FF2B5EF4-FFF2-40B4-BE49-F238E27FC236}">
                <a16:creationId xmlns:a16="http://schemas.microsoft.com/office/drawing/2014/main" id="{A76A9A25-08E6-8078-B1BA-07E6D6255622}"/>
              </a:ext>
            </a:extLst>
          </p:cNvPr>
          <p:cNvSpPr txBox="1">
            <a:spLocks/>
          </p:cNvSpPr>
          <p:nvPr/>
        </p:nvSpPr>
        <p:spPr>
          <a:xfrm>
            <a:off x="554735" y="2916253"/>
            <a:ext cx="986479"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dirty="0"/>
              <a:t>Version and change (data)</a:t>
            </a:r>
            <a:endParaRPr kumimoji="0" lang="en-US" sz="1100" b="1" i="0" u="none" strike="noStrike" kern="1200" cap="none" spc="0" normalizeH="0" baseline="0" noProof="0" dirty="0">
              <a:ln>
                <a:noFill/>
              </a:ln>
              <a:solidFill>
                <a:srgbClr val="000000"/>
              </a:solidFill>
              <a:effectLst/>
              <a:uLnTx/>
              <a:uFillTx/>
              <a:latin typeface="Arial"/>
            </a:endParaRPr>
          </a:p>
        </p:txBody>
      </p:sp>
      <p:sp>
        <p:nvSpPr>
          <p:cNvPr id="10" name="TextBox 9">
            <a:extLst>
              <a:ext uri="{FF2B5EF4-FFF2-40B4-BE49-F238E27FC236}">
                <a16:creationId xmlns:a16="http://schemas.microsoft.com/office/drawing/2014/main" id="{21935B2D-FFAE-428F-9394-3C963C517A20}"/>
              </a:ext>
            </a:extLst>
          </p:cNvPr>
          <p:cNvSpPr txBox="1">
            <a:spLocks/>
          </p:cNvSpPr>
          <p:nvPr/>
        </p:nvSpPr>
        <p:spPr>
          <a:xfrm>
            <a:off x="3723679" y="2916253"/>
            <a:ext cx="3621681"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a:t>Warehouse schemas versioned via Liquibase; </a:t>
            </a:r>
            <a:r>
              <a:rPr lang="en-US" sz="1100" b="1"/>
              <a:t>no enterprise-wide adoption</a:t>
            </a:r>
          </a:p>
          <a:p>
            <a:pPr lvl="1">
              <a:buClr>
                <a:srgbClr val="000000"/>
              </a:buClr>
              <a:defRPr/>
            </a:pPr>
            <a:r>
              <a:rPr lang="en-US" sz="1100" b="1">
                <a:solidFill>
                  <a:schemeClr val="accent1"/>
                </a:solidFill>
              </a:rPr>
              <a:t>No tool available </a:t>
            </a:r>
            <a:r>
              <a:rPr lang="en-US" sz="1100">
                <a:solidFill>
                  <a:schemeClr val="accent1"/>
                </a:solidFill>
              </a:rPr>
              <a:t>for version control of </a:t>
            </a:r>
            <a:r>
              <a:rPr lang="en-US" sz="1100" b="1">
                <a:solidFill>
                  <a:schemeClr val="accent1"/>
                </a:solidFill>
              </a:rPr>
              <a:t>unstructured data </a:t>
            </a:r>
            <a:endParaRPr kumimoji="0" lang="en-US" sz="1100" b="1" i="0" u="none" strike="noStrike" kern="1200" cap="none" spc="0" normalizeH="0" baseline="0" noProof="0">
              <a:ln>
                <a:noFill/>
              </a:ln>
              <a:solidFill>
                <a:schemeClr val="accent1"/>
              </a:solidFill>
              <a:effectLst/>
              <a:uLnTx/>
              <a:uFillTx/>
              <a:latin typeface="Arial"/>
            </a:endParaRPr>
          </a:p>
        </p:txBody>
      </p:sp>
      <p:sp>
        <p:nvSpPr>
          <p:cNvPr id="11" name="TextBox 10">
            <a:extLst>
              <a:ext uri="{FF2B5EF4-FFF2-40B4-BE49-F238E27FC236}">
                <a16:creationId xmlns:a16="http://schemas.microsoft.com/office/drawing/2014/main" id="{67417ADF-7364-EA5B-9096-14133EB5180D}"/>
              </a:ext>
            </a:extLst>
          </p:cNvPr>
          <p:cNvSpPr txBox="1">
            <a:spLocks/>
          </p:cNvSpPr>
          <p:nvPr/>
        </p:nvSpPr>
        <p:spPr>
          <a:xfrm>
            <a:off x="7408584" y="2916253"/>
            <a:ext cx="4229379"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dirty="0"/>
              <a:t>Uneven governance: </a:t>
            </a:r>
            <a:r>
              <a:rPr lang="en-US" sz="1100" dirty="0"/>
              <a:t>Lack of standardization creates compliance and reliability gaps despite high quality   data</a:t>
            </a:r>
          </a:p>
          <a:p>
            <a:pPr lvl="1">
              <a:buClr>
                <a:srgbClr val="000000"/>
              </a:buClr>
              <a:defRPr/>
            </a:pPr>
            <a:r>
              <a:rPr lang="en-US" sz="1100" b="1" dirty="0">
                <a:solidFill>
                  <a:schemeClr val="accent1"/>
                </a:solidFill>
              </a:rPr>
              <a:t>Low visibility: </a:t>
            </a:r>
            <a:r>
              <a:rPr lang="en-US" sz="1100" dirty="0">
                <a:solidFill>
                  <a:schemeClr val="accent1"/>
                </a:solidFill>
              </a:rPr>
              <a:t>Absence of version control blocks reproducibility and limits oversight of GenAI outputs</a:t>
            </a:r>
          </a:p>
        </p:txBody>
      </p:sp>
      <p:grpSp>
        <p:nvGrpSpPr>
          <p:cNvPr id="41" name="MoonEmpty 14">
            <a:extLst>
              <a:ext uri="{FF2B5EF4-FFF2-40B4-BE49-F238E27FC236}">
                <a16:creationId xmlns:a16="http://schemas.microsoft.com/office/drawing/2014/main" id="{E141668C-DD85-9A74-715A-F60FCBFB1783}"/>
              </a:ext>
            </a:extLst>
          </p:cNvPr>
          <p:cNvGrpSpPr>
            <a:grpSpLocks/>
          </p:cNvGrpSpPr>
          <p:nvPr>
            <p:custDataLst>
              <p:tags r:id="rId9"/>
            </p:custDataLst>
          </p:nvPr>
        </p:nvGrpSpPr>
        <p:grpSpPr>
          <a:xfrm>
            <a:off x="2020299" y="2916253"/>
            <a:ext cx="274320" cy="274320"/>
            <a:chOff x="762000" y="1270000"/>
            <a:chExt cx="254000" cy="254002"/>
          </a:xfrm>
        </p:grpSpPr>
        <p:sp>
          <p:nvSpPr>
            <p:cNvPr id="43" name="Oval 42">
              <a:extLst>
                <a:ext uri="{FF2B5EF4-FFF2-40B4-BE49-F238E27FC236}">
                  <a16:creationId xmlns:a16="http://schemas.microsoft.com/office/drawing/2014/main" id="{A016291F-3868-8F4E-5634-7D582D340567}"/>
                </a:ext>
              </a:extLst>
            </p:cNvPr>
            <p:cNvSpPr/>
            <p:nvPr>
              <p:custDataLst>
                <p:tags r:id="rId41"/>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44" name="Arc 43">
              <a:extLst>
                <a:ext uri="{FF2B5EF4-FFF2-40B4-BE49-F238E27FC236}">
                  <a16:creationId xmlns:a16="http://schemas.microsoft.com/office/drawing/2014/main" id="{6F4BC343-8461-070D-E1DD-3331AC9059F8}"/>
                </a:ext>
              </a:extLst>
            </p:cNvPr>
            <p:cNvSpPr/>
            <p:nvPr>
              <p:custDataLst>
                <p:tags r:id="rId42"/>
              </p:custDataLst>
            </p:nvPr>
          </p:nvSpPr>
          <p:spPr>
            <a:xfrm>
              <a:off x="762000" y="1270000"/>
              <a:ext cx="254000" cy="254000"/>
            </a:xfrm>
            <a:prstGeom prst="arc">
              <a:avLst>
                <a:gd name="adj1" fmla="val 16200000"/>
                <a:gd name="adj2" fmla="val 108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grpSp>
      <p:grpSp>
        <p:nvGrpSpPr>
          <p:cNvPr id="47" name="MoonEmpty 14">
            <a:extLst>
              <a:ext uri="{FF2B5EF4-FFF2-40B4-BE49-F238E27FC236}">
                <a16:creationId xmlns:a16="http://schemas.microsoft.com/office/drawing/2014/main" id="{E53C4DA7-EE89-045B-5DE6-E71BEF6CB9B0}"/>
              </a:ext>
            </a:extLst>
          </p:cNvPr>
          <p:cNvGrpSpPr>
            <a:grpSpLocks/>
          </p:cNvGrpSpPr>
          <p:nvPr>
            <p:custDataLst>
              <p:tags r:id="rId10"/>
            </p:custDataLst>
          </p:nvPr>
        </p:nvGrpSpPr>
        <p:grpSpPr>
          <a:xfrm>
            <a:off x="3043371" y="2916253"/>
            <a:ext cx="274320" cy="274320"/>
            <a:chOff x="762000" y="1269999"/>
            <a:chExt cx="254000" cy="254003"/>
          </a:xfrm>
        </p:grpSpPr>
        <p:sp>
          <p:nvSpPr>
            <p:cNvPr id="48" name="Oval 47">
              <a:extLst>
                <a:ext uri="{FF2B5EF4-FFF2-40B4-BE49-F238E27FC236}">
                  <a16:creationId xmlns:a16="http://schemas.microsoft.com/office/drawing/2014/main" id="{4694C0A1-CCF2-D923-1D27-6C1120F3FD2F}"/>
                </a:ext>
              </a:extLst>
            </p:cNvPr>
            <p:cNvSpPr/>
            <p:nvPr>
              <p:custDataLst>
                <p:tags r:id="rId39"/>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49" name="Arc 48" hidden="1">
              <a:extLst>
                <a:ext uri="{FF2B5EF4-FFF2-40B4-BE49-F238E27FC236}">
                  <a16:creationId xmlns:a16="http://schemas.microsoft.com/office/drawing/2014/main" id="{0E5DD699-D007-3754-4306-8E3FEA714C9C}"/>
                </a:ext>
              </a:extLst>
            </p:cNvPr>
            <p:cNvSpPr/>
            <p:nvPr>
              <p:custDataLst>
                <p:tags r:id="rId40"/>
              </p:custDataLst>
            </p:nvPr>
          </p:nvSpPr>
          <p:spPr>
            <a:xfrm>
              <a:off x="762000" y="1269999"/>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grpSp>
      <p:sp>
        <p:nvSpPr>
          <p:cNvPr id="55" name="Arc 54" hidden="1">
            <a:extLst>
              <a:ext uri="{FF2B5EF4-FFF2-40B4-BE49-F238E27FC236}">
                <a16:creationId xmlns:a16="http://schemas.microsoft.com/office/drawing/2014/main" id="{CFAB96B9-8972-5A4C-7110-FD77BFC8CDD6}"/>
              </a:ext>
            </a:extLst>
          </p:cNvPr>
          <p:cNvSpPr/>
          <p:nvPr>
            <p:custDataLst>
              <p:tags r:id="rId11"/>
            </p:custDataLst>
          </p:nvPr>
        </p:nvSpPr>
        <p:spPr>
          <a:xfrm>
            <a:off x="3043371" y="3692177"/>
            <a:ext cx="274320" cy="274317"/>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sp>
        <p:nvSpPr>
          <p:cNvPr id="46" name="TextBox 45">
            <a:extLst>
              <a:ext uri="{FF2B5EF4-FFF2-40B4-BE49-F238E27FC236}">
                <a16:creationId xmlns:a16="http://schemas.microsoft.com/office/drawing/2014/main" id="{ECDDBBC2-2D01-0677-CF66-9604B18C4037}"/>
              </a:ext>
            </a:extLst>
          </p:cNvPr>
          <p:cNvSpPr txBox="1">
            <a:spLocks/>
          </p:cNvSpPr>
          <p:nvPr/>
        </p:nvSpPr>
        <p:spPr>
          <a:xfrm>
            <a:off x="554734" y="5324041"/>
            <a:ext cx="986479"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t>Model input traceability</a:t>
            </a:r>
            <a:endParaRPr kumimoji="0" lang="en-US" sz="1100" b="1" i="0" u="none" strike="noStrike" kern="1200" cap="none" spc="0" normalizeH="0" baseline="0" noProof="0">
              <a:ln>
                <a:noFill/>
              </a:ln>
              <a:solidFill>
                <a:srgbClr val="000000"/>
              </a:solidFill>
              <a:effectLst/>
              <a:uLnTx/>
              <a:uFillTx/>
              <a:latin typeface="Arial"/>
            </a:endParaRPr>
          </a:p>
        </p:txBody>
      </p:sp>
      <p:sp>
        <p:nvSpPr>
          <p:cNvPr id="18" name="TextBox 17">
            <a:extLst>
              <a:ext uri="{FF2B5EF4-FFF2-40B4-BE49-F238E27FC236}">
                <a16:creationId xmlns:a16="http://schemas.microsoft.com/office/drawing/2014/main" id="{9218AB47-12CC-D2C7-F257-FA0B4308660E}"/>
              </a:ext>
            </a:extLst>
          </p:cNvPr>
          <p:cNvSpPr txBox="1">
            <a:spLocks/>
          </p:cNvSpPr>
          <p:nvPr/>
        </p:nvSpPr>
        <p:spPr>
          <a:xfrm>
            <a:off x="3723679" y="5324041"/>
            <a:ext cx="3621681"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Manual records and storage, </a:t>
            </a:r>
            <a:r>
              <a:rPr lang="en-US" sz="1100"/>
              <a:t>though plans to enhance are in place </a:t>
            </a:r>
          </a:p>
          <a:p>
            <a:pPr lvl="1">
              <a:buClr>
                <a:srgbClr val="000000"/>
              </a:buClr>
              <a:defRPr/>
            </a:pPr>
            <a:r>
              <a:rPr lang="en-US" sz="1100" b="1">
                <a:solidFill>
                  <a:schemeClr val="accent1"/>
                </a:solidFill>
              </a:rPr>
              <a:t>Full automation of traceability</a:t>
            </a:r>
            <a:r>
              <a:rPr lang="en-US" sz="1100">
                <a:solidFill>
                  <a:schemeClr val="accent1"/>
                </a:solidFill>
              </a:rPr>
              <a:t>, with both data and artifacts captured</a:t>
            </a:r>
          </a:p>
        </p:txBody>
      </p:sp>
      <p:sp>
        <p:nvSpPr>
          <p:cNvPr id="20" name="TextBox 19">
            <a:extLst>
              <a:ext uri="{FF2B5EF4-FFF2-40B4-BE49-F238E27FC236}">
                <a16:creationId xmlns:a16="http://schemas.microsoft.com/office/drawing/2014/main" id="{5011F81C-4E65-4AA8-C32A-CE306C9CD9B7}"/>
              </a:ext>
            </a:extLst>
          </p:cNvPr>
          <p:cNvSpPr txBox="1">
            <a:spLocks/>
          </p:cNvSpPr>
          <p:nvPr/>
        </p:nvSpPr>
        <p:spPr>
          <a:xfrm>
            <a:off x="7408584" y="5324041"/>
            <a:ext cx="4229379"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Operational inefficiency</a:t>
            </a:r>
            <a:r>
              <a:rPr lang="en-US" sz="1100"/>
              <a:t>: Manual storage slows model validation and increases error risk, undermining scalability</a:t>
            </a:r>
          </a:p>
          <a:p>
            <a:pPr lvl="1">
              <a:buClr>
                <a:srgbClr val="000000"/>
              </a:buClr>
              <a:defRPr/>
            </a:pPr>
            <a:r>
              <a:rPr lang="en-US" sz="1100" b="1">
                <a:solidFill>
                  <a:schemeClr val="accent1"/>
                </a:solidFill>
              </a:rPr>
              <a:t>Limited scale risk:</a:t>
            </a:r>
            <a:r>
              <a:rPr lang="en-US" sz="1100">
                <a:solidFill>
                  <a:schemeClr val="accent1"/>
                </a:solidFill>
              </a:rPr>
              <a:t> While traceability is fully automated, it only covers the two use cases in production today; without expansion, future adoption will outpace current capabilities</a:t>
            </a:r>
          </a:p>
        </p:txBody>
      </p:sp>
      <p:grpSp>
        <p:nvGrpSpPr>
          <p:cNvPr id="56" name="MoonEmpty 14">
            <a:extLst>
              <a:ext uri="{FF2B5EF4-FFF2-40B4-BE49-F238E27FC236}">
                <a16:creationId xmlns:a16="http://schemas.microsoft.com/office/drawing/2014/main" id="{47E80405-E43C-EA70-CAE5-47D969C2D8BC}"/>
              </a:ext>
            </a:extLst>
          </p:cNvPr>
          <p:cNvGrpSpPr>
            <a:grpSpLocks/>
          </p:cNvGrpSpPr>
          <p:nvPr>
            <p:custDataLst>
              <p:tags r:id="rId12"/>
            </p:custDataLst>
          </p:nvPr>
        </p:nvGrpSpPr>
        <p:grpSpPr>
          <a:xfrm>
            <a:off x="2020299" y="5324041"/>
            <a:ext cx="274320" cy="274320"/>
            <a:chOff x="762000" y="1270000"/>
            <a:chExt cx="254000" cy="254002"/>
          </a:xfrm>
        </p:grpSpPr>
        <p:sp>
          <p:nvSpPr>
            <p:cNvPr id="57" name="Oval 56">
              <a:extLst>
                <a:ext uri="{FF2B5EF4-FFF2-40B4-BE49-F238E27FC236}">
                  <a16:creationId xmlns:a16="http://schemas.microsoft.com/office/drawing/2014/main" id="{F632ECF7-310D-7A00-523C-EA69E2F6963E}"/>
                </a:ext>
              </a:extLst>
            </p:cNvPr>
            <p:cNvSpPr/>
            <p:nvPr>
              <p:custDataLst>
                <p:tags r:id="rId37"/>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58" name="Arc 57">
              <a:extLst>
                <a:ext uri="{FF2B5EF4-FFF2-40B4-BE49-F238E27FC236}">
                  <a16:creationId xmlns:a16="http://schemas.microsoft.com/office/drawing/2014/main" id="{5FAAF3C6-F766-51DC-0645-0FBDF5DE9D3F}"/>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grpSp>
      <p:grpSp>
        <p:nvGrpSpPr>
          <p:cNvPr id="59" name="MoonEmpty 14">
            <a:extLst>
              <a:ext uri="{FF2B5EF4-FFF2-40B4-BE49-F238E27FC236}">
                <a16:creationId xmlns:a16="http://schemas.microsoft.com/office/drawing/2014/main" id="{C9C07BA5-E547-3BA5-46F9-1E1BB61372BE}"/>
              </a:ext>
            </a:extLst>
          </p:cNvPr>
          <p:cNvGrpSpPr>
            <a:grpSpLocks/>
          </p:cNvGrpSpPr>
          <p:nvPr>
            <p:custDataLst>
              <p:tags r:id="rId13"/>
            </p:custDataLst>
          </p:nvPr>
        </p:nvGrpSpPr>
        <p:grpSpPr>
          <a:xfrm>
            <a:off x="3043371" y="5324041"/>
            <a:ext cx="274320" cy="274320"/>
            <a:chOff x="762000" y="1269999"/>
            <a:chExt cx="254000" cy="254003"/>
          </a:xfrm>
        </p:grpSpPr>
        <p:sp>
          <p:nvSpPr>
            <p:cNvPr id="60" name="Oval 59">
              <a:extLst>
                <a:ext uri="{FF2B5EF4-FFF2-40B4-BE49-F238E27FC236}">
                  <a16:creationId xmlns:a16="http://schemas.microsoft.com/office/drawing/2014/main" id="{51809918-6082-B0CB-A025-85A98A6C8D8B}"/>
                </a:ext>
              </a:extLst>
            </p:cNvPr>
            <p:cNvSpPr/>
            <p:nvPr>
              <p:custDataLst>
                <p:tags r:id="rId35"/>
              </p:custDataLst>
            </p:nvPr>
          </p:nvSpPr>
          <p:spPr>
            <a:xfrm>
              <a:off x="762000" y="1270002"/>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61" name="Arc 60">
              <a:extLst>
                <a:ext uri="{FF2B5EF4-FFF2-40B4-BE49-F238E27FC236}">
                  <a16:creationId xmlns:a16="http://schemas.microsoft.com/office/drawing/2014/main" id="{86AAA9CF-3770-1A19-1C7E-F43AB63D315F}"/>
                </a:ext>
              </a:extLst>
            </p:cNvPr>
            <p:cNvSpPr/>
            <p:nvPr>
              <p:custDataLst>
                <p:tags r:id="rId36"/>
              </p:custDataLst>
            </p:nvPr>
          </p:nvSpPr>
          <p:spPr>
            <a:xfrm>
              <a:off x="762000" y="1269999"/>
              <a:ext cx="254000" cy="254000"/>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lang="en-US" sz="1100"/>
            </a:p>
          </p:txBody>
        </p:sp>
      </p:grpSp>
      <p:sp>
        <p:nvSpPr>
          <p:cNvPr id="28" name="TextBox 27">
            <a:extLst>
              <a:ext uri="{FF2B5EF4-FFF2-40B4-BE49-F238E27FC236}">
                <a16:creationId xmlns:a16="http://schemas.microsoft.com/office/drawing/2014/main" id="{44A32FCF-3FF7-4F4F-BDBF-8B9FA306CF4C}"/>
              </a:ext>
            </a:extLst>
          </p:cNvPr>
          <p:cNvSpPr txBox="1">
            <a:spLocks/>
          </p:cNvSpPr>
          <p:nvPr/>
        </p:nvSpPr>
        <p:spPr>
          <a:xfrm>
            <a:off x="554735" y="4716368"/>
            <a:ext cx="986479" cy="5078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t>Code and feature store (logic)</a:t>
            </a:r>
            <a:endParaRPr kumimoji="0" lang="en-US" sz="1100" b="1" i="0" u="none" strike="noStrike" kern="1200" cap="none" spc="0" normalizeH="0" baseline="0" noProof="0">
              <a:ln>
                <a:noFill/>
              </a:ln>
              <a:solidFill>
                <a:srgbClr val="000000"/>
              </a:solidFill>
              <a:effectLst/>
              <a:uLnTx/>
              <a:uFillTx/>
              <a:latin typeface="Arial"/>
            </a:endParaRPr>
          </a:p>
        </p:txBody>
      </p:sp>
      <p:grpSp>
        <p:nvGrpSpPr>
          <p:cNvPr id="103" name="MinusSignBlue 65">
            <a:extLst>
              <a:ext uri="{FF2B5EF4-FFF2-40B4-BE49-F238E27FC236}">
                <a16:creationId xmlns:a16="http://schemas.microsoft.com/office/drawing/2014/main" id="{C41C69AF-02B1-E7C7-4CA4-E6C43ED01ABC}"/>
              </a:ext>
            </a:extLst>
          </p:cNvPr>
          <p:cNvGrpSpPr>
            <a:grpSpLocks/>
          </p:cNvGrpSpPr>
          <p:nvPr>
            <p:custDataLst>
              <p:tags r:id="rId14"/>
            </p:custDataLst>
          </p:nvPr>
        </p:nvGrpSpPr>
        <p:grpSpPr>
          <a:xfrm>
            <a:off x="3660455" y="1945386"/>
            <a:ext cx="155448" cy="155448"/>
            <a:chOff x="1016000" y="1016000"/>
            <a:chExt cx="396228" cy="396228"/>
          </a:xfrm>
        </p:grpSpPr>
        <p:sp>
          <p:nvSpPr>
            <p:cNvPr id="104" name="Oval 103">
              <a:extLst>
                <a:ext uri="{FF2B5EF4-FFF2-40B4-BE49-F238E27FC236}">
                  <a16:creationId xmlns:a16="http://schemas.microsoft.com/office/drawing/2014/main" id="{2541DE5C-5389-0D27-A95C-FF39766C54A1}"/>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05" name="Graphic 104">
              <a:extLst>
                <a:ext uri="{FF2B5EF4-FFF2-40B4-BE49-F238E27FC236}">
                  <a16:creationId xmlns:a16="http://schemas.microsoft.com/office/drawing/2014/main" id="{46D6AD6A-BC80-9D71-7F8C-EC4BCCB4E21A}"/>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grpSp>
        <p:nvGrpSpPr>
          <p:cNvPr id="116" name="PlusSignWhite 203">
            <a:extLst>
              <a:ext uri="{FF2B5EF4-FFF2-40B4-BE49-F238E27FC236}">
                <a16:creationId xmlns:a16="http://schemas.microsoft.com/office/drawing/2014/main" id="{93CB3275-7B09-52B7-3144-B95009B62961}"/>
              </a:ext>
            </a:extLst>
          </p:cNvPr>
          <p:cNvGrpSpPr>
            <a:grpSpLocks/>
          </p:cNvGrpSpPr>
          <p:nvPr>
            <p:custDataLst>
              <p:tags r:id="rId15"/>
            </p:custDataLst>
          </p:nvPr>
        </p:nvGrpSpPr>
        <p:grpSpPr>
          <a:xfrm>
            <a:off x="3660455" y="5695050"/>
            <a:ext cx="155448" cy="155448"/>
            <a:chOff x="1016000" y="1016000"/>
            <a:chExt cx="396228" cy="396228"/>
          </a:xfrm>
          <a:solidFill>
            <a:schemeClr val="accent1"/>
          </a:solidFill>
        </p:grpSpPr>
        <p:sp>
          <p:nvSpPr>
            <p:cNvPr id="117" name="Oval 116">
              <a:extLst>
                <a:ext uri="{FF2B5EF4-FFF2-40B4-BE49-F238E27FC236}">
                  <a16:creationId xmlns:a16="http://schemas.microsoft.com/office/drawing/2014/main" id="{D7ECDFED-2A6C-D800-4308-1D541D191F06}"/>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18" name="Graphic 117">
              <a:extLst>
                <a:ext uri="{FF2B5EF4-FFF2-40B4-BE49-F238E27FC236}">
                  <a16:creationId xmlns:a16="http://schemas.microsoft.com/office/drawing/2014/main" id="{8BD2D647-4AE5-6031-2BFC-923D3F91E8CC}"/>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19" name="MinusSignBlue 65">
            <a:extLst>
              <a:ext uri="{FF2B5EF4-FFF2-40B4-BE49-F238E27FC236}">
                <a16:creationId xmlns:a16="http://schemas.microsoft.com/office/drawing/2014/main" id="{FE5CD1CB-AF72-479C-A8BB-901F83A5C784}"/>
              </a:ext>
            </a:extLst>
          </p:cNvPr>
          <p:cNvGrpSpPr>
            <a:grpSpLocks/>
          </p:cNvGrpSpPr>
          <p:nvPr>
            <p:custDataLst>
              <p:tags r:id="rId16"/>
            </p:custDataLst>
          </p:nvPr>
        </p:nvGrpSpPr>
        <p:grpSpPr>
          <a:xfrm>
            <a:off x="3660455" y="2314007"/>
            <a:ext cx="155448" cy="155448"/>
            <a:chOff x="1016000" y="1016000"/>
            <a:chExt cx="396228" cy="396228"/>
          </a:xfrm>
        </p:grpSpPr>
        <p:sp>
          <p:nvSpPr>
            <p:cNvPr id="120" name="Oval 119">
              <a:extLst>
                <a:ext uri="{FF2B5EF4-FFF2-40B4-BE49-F238E27FC236}">
                  <a16:creationId xmlns:a16="http://schemas.microsoft.com/office/drawing/2014/main" id="{36130229-BA2F-1F54-3E31-1F45539D6585}"/>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21" name="Graphic 120">
              <a:extLst>
                <a:ext uri="{FF2B5EF4-FFF2-40B4-BE49-F238E27FC236}">
                  <a16:creationId xmlns:a16="http://schemas.microsoft.com/office/drawing/2014/main" id="{DBD42B25-3CE6-C97A-8F35-FA8E5463CD83}"/>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grpSp>
        <p:nvGrpSpPr>
          <p:cNvPr id="122" name="MinusSignBlue 65">
            <a:extLst>
              <a:ext uri="{FF2B5EF4-FFF2-40B4-BE49-F238E27FC236}">
                <a16:creationId xmlns:a16="http://schemas.microsoft.com/office/drawing/2014/main" id="{E7447645-90D0-F52C-A39A-5B9EEF3E1B5B}"/>
              </a:ext>
            </a:extLst>
          </p:cNvPr>
          <p:cNvGrpSpPr>
            <a:grpSpLocks/>
          </p:cNvGrpSpPr>
          <p:nvPr>
            <p:custDataLst>
              <p:tags r:id="rId17"/>
            </p:custDataLst>
          </p:nvPr>
        </p:nvGrpSpPr>
        <p:grpSpPr>
          <a:xfrm>
            <a:off x="3660455" y="3287877"/>
            <a:ext cx="155448" cy="155448"/>
            <a:chOff x="1016000" y="1016000"/>
            <a:chExt cx="396228" cy="396228"/>
          </a:xfrm>
        </p:grpSpPr>
        <p:sp>
          <p:nvSpPr>
            <p:cNvPr id="123" name="Oval 122">
              <a:extLst>
                <a:ext uri="{FF2B5EF4-FFF2-40B4-BE49-F238E27FC236}">
                  <a16:creationId xmlns:a16="http://schemas.microsoft.com/office/drawing/2014/main" id="{2DE9DEC1-ADD9-7A85-DD93-4D32E7F399D4}"/>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24" name="Graphic 123">
              <a:extLst>
                <a:ext uri="{FF2B5EF4-FFF2-40B4-BE49-F238E27FC236}">
                  <a16:creationId xmlns:a16="http://schemas.microsoft.com/office/drawing/2014/main" id="{9B6CCFAA-5224-F4D2-E22D-AE2EAA93B7C4}"/>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grpSp>
        <p:nvGrpSpPr>
          <p:cNvPr id="128" name="PlusSignWhite 203">
            <a:extLst>
              <a:ext uri="{FF2B5EF4-FFF2-40B4-BE49-F238E27FC236}">
                <a16:creationId xmlns:a16="http://schemas.microsoft.com/office/drawing/2014/main" id="{FE2374B1-97A7-91B7-CA3E-D54C00B5F016}"/>
              </a:ext>
            </a:extLst>
          </p:cNvPr>
          <p:cNvGrpSpPr>
            <a:grpSpLocks/>
          </p:cNvGrpSpPr>
          <p:nvPr>
            <p:custDataLst>
              <p:tags r:id="rId18"/>
            </p:custDataLst>
          </p:nvPr>
        </p:nvGrpSpPr>
        <p:grpSpPr>
          <a:xfrm>
            <a:off x="3660455" y="5340954"/>
            <a:ext cx="155448" cy="155448"/>
            <a:chOff x="1016000" y="1016000"/>
            <a:chExt cx="396228" cy="396228"/>
          </a:xfrm>
          <a:solidFill>
            <a:schemeClr val="accent1"/>
          </a:solidFill>
        </p:grpSpPr>
        <p:sp>
          <p:nvSpPr>
            <p:cNvPr id="129" name="Oval 128">
              <a:extLst>
                <a:ext uri="{FF2B5EF4-FFF2-40B4-BE49-F238E27FC236}">
                  <a16:creationId xmlns:a16="http://schemas.microsoft.com/office/drawing/2014/main" id="{A2A3B29E-AFCA-051F-6BA9-49CF83964CD9}"/>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30" name="Graphic 129">
              <a:extLst>
                <a:ext uri="{FF2B5EF4-FFF2-40B4-BE49-F238E27FC236}">
                  <a16:creationId xmlns:a16="http://schemas.microsoft.com/office/drawing/2014/main" id="{7DC5F09B-870C-490D-C52F-5D364EA97EF8}"/>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grpSp>
        <p:nvGrpSpPr>
          <p:cNvPr id="134" name="MinusSignBlue 65">
            <a:extLst>
              <a:ext uri="{FF2B5EF4-FFF2-40B4-BE49-F238E27FC236}">
                <a16:creationId xmlns:a16="http://schemas.microsoft.com/office/drawing/2014/main" id="{AF3FC522-C3D7-B1A8-913E-F0CEB4F8A4FA}"/>
              </a:ext>
            </a:extLst>
          </p:cNvPr>
          <p:cNvGrpSpPr>
            <a:grpSpLocks/>
          </p:cNvGrpSpPr>
          <p:nvPr>
            <p:custDataLst>
              <p:tags r:id="rId19"/>
            </p:custDataLst>
          </p:nvPr>
        </p:nvGrpSpPr>
        <p:grpSpPr>
          <a:xfrm>
            <a:off x="3660455" y="2921273"/>
            <a:ext cx="155448" cy="155448"/>
            <a:chOff x="1016000" y="1016000"/>
            <a:chExt cx="396228" cy="396228"/>
          </a:xfrm>
        </p:grpSpPr>
        <p:sp>
          <p:nvSpPr>
            <p:cNvPr id="135" name="Oval 134">
              <a:extLst>
                <a:ext uri="{FF2B5EF4-FFF2-40B4-BE49-F238E27FC236}">
                  <a16:creationId xmlns:a16="http://schemas.microsoft.com/office/drawing/2014/main" id="{E70239F5-A8D1-4567-DD4D-EFBF74EA927A}"/>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36" name="Graphic 135">
              <a:extLst>
                <a:ext uri="{FF2B5EF4-FFF2-40B4-BE49-F238E27FC236}">
                  <a16:creationId xmlns:a16="http://schemas.microsoft.com/office/drawing/2014/main" id="{01071D6E-DF2E-A9DD-329C-09779D6DF06F}"/>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cxnSp>
        <p:nvCxnSpPr>
          <p:cNvPr id="16" name="Straight Connector 15">
            <a:extLst>
              <a:ext uri="{FF2B5EF4-FFF2-40B4-BE49-F238E27FC236}">
                <a16:creationId xmlns:a16="http://schemas.microsoft.com/office/drawing/2014/main" id="{C6633894-AEEE-4D36-80C1-4D5AEF0D0FB5}"/>
              </a:ext>
            </a:extLst>
          </p:cNvPr>
          <p:cNvCxnSpPr>
            <a:cxnSpLocks/>
          </p:cNvCxnSpPr>
          <p:nvPr>
            <p:custDataLst>
              <p:tags r:id="rId20"/>
            </p:custDataLst>
          </p:nvPr>
        </p:nvCxnSpPr>
        <p:spPr>
          <a:xfrm>
            <a:off x="539908" y="1867209"/>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3844812-B3AA-5BC5-90AB-523F94F3C971}"/>
              </a:ext>
            </a:extLst>
          </p:cNvPr>
          <p:cNvSpPr txBox="1">
            <a:spLocks/>
          </p:cNvSpPr>
          <p:nvPr/>
        </p:nvSpPr>
        <p:spPr>
          <a:xfrm>
            <a:off x="2700607"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a:t>
            </a:r>
          </a:p>
        </p:txBody>
      </p:sp>
      <p:sp>
        <p:nvSpPr>
          <p:cNvPr id="66" name="TextBox 65">
            <a:extLst>
              <a:ext uri="{FF2B5EF4-FFF2-40B4-BE49-F238E27FC236}">
                <a16:creationId xmlns:a16="http://schemas.microsoft.com/office/drawing/2014/main" id="{CC331ACF-485F-D2CF-3A1B-E9D65C6EBFDD}"/>
              </a:ext>
            </a:extLst>
          </p:cNvPr>
          <p:cNvSpPr txBox="1">
            <a:spLocks/>
          </p:cNvSpPr>
          <p:nvPr/>
        </p:nvSpPr>
        <p:spPr>
          <a:xfrm>
            <a:off x="1677535" y="1198538"/>
            <a:ext cx="198292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Assessment Score</a:t>
            </a:r>
          </a:p>
        </p:txBody>
      </p:sp>
      <p:cxnSp>
        <p:nvCxnSpPr>
          <p:cNvPr id="67" name="GreyLineSeparatorStrong 8">
            <a:extLst>
              <a:ext uri="{FF2B5EF4-FFF2-40B4-BE49-F238E27FC236}">
                <a16:creationId xmlns:a16="http://schemas.microsoft.com/office/drawing/2014/main" id="{BEA7BECA-F6EF-0BD2-EDE1-A1937B53B919}"/>
              </a:ext>
            </a:extLst>
          </p:cNvPr>
          <p:cNvCxnSpPr>
            <a:cxnSpLocks/>
          </p:cNvCxnSpPr>
          <p:nvPr>
            <p:custDataLst>
              <p:tags r:id="rId21"/>
            </p:custDataLst>
          </p:nvPr>
        </p:nvCxnSpPr>
        <p:spPr>
          <a:xfrm>
            <a:off x="1677535" y="1406164"/>
            <a:ext cx="1982920"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29F2723-6520-BA74-ABF5-389608F21C67}"/>
              </a:ext>
            </a:extLst>
          </p:cNvPr>
          <p:cNvSpPr txBox="1">
            <a:spLocks/>
          </p:cNvSpPr>
          <p:nvPr/>
        </p:nvSpPr>
        <p:spPr>
          <a:xfrm>
            <a:off x="554736" y="1462104"/>
            <a:ext cx="1060273"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77" name="TextBox 76">
            <a:extLst>
              <a:ext uri="{FF2B5EF4-FFF2-40B4-BE49-F238E27FC236}">
                <a16:creationId xmlns:a16="http://schemas.microsoft.com/office/drawing/2014/main" id="{89FA5954-CE8D-2930-A479-75A1127C977B}"/>
              </a:ext>
            </a:extLst>
          </p:cNvPr>
          <p:cNvSpPr txBox="1">
            <a:spLocks/>
          </p:cNvSpPr>
          <p:nvPr/>
        </p:nvSpPr>
        <p:spPr>
          <a:xfrm>
            <a:off x="3723679" y="1646770"/>
            <a:ext cx="3621681"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Observations</a:t>
            </a:r>
          </a:p>
        </p:txBody>
      </p:sp>
      <p:sp>
        <p:nvSpPr>
          <p:cNvPr id="17" name="TextBox 16">
            <a:extLst>
              <a:ext uri="{FF2B5EF4-FFF2-40B4-BE49-F238E27FC236}">
                <a16:creationId xmlns:a16="http://schemas.microsoft.com/office/drawing/2014/main" id="{16DABB43-386C-6CB2-2985-CB2BD4A1FE86}"/>
              </a:ext>
            </a:extLst>
          </p:cNvPr>
          <p:cNvSpPr txBox="1">
            <a:spLocks/>
          </p:cNvSpPr>
          <p:nvPr/>
        </p:nvSpPr>
        <p:spPr>
          <a:xfrm>
            <a:off x="1677535"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rgbClr val="000000"/>
              </a:buClr>
              <a:defRPr/>
            </a:pPr>
            <a:r>
              <a:rPr lang="en-US" sz="1200" b="1">
                <a:solidFill>
                  <a:srgbClr val="000000"/>
                </a:solidFill>
                <a:latin typeface="Arial"/>
                <a:cs typeface="Arial"/>
              </a:rPr>
              <a:t>Traditional</a:t>
            </a:r>
            <a:r>
              <a:rPr kumimoji="0" lang="en-US" sz="1200" b="1" i="0" u="none" strike="noStrike" kern="1200" cap="none" spc="0" normalizeH="0" baseline="0" noProof="0">
                <a:ln>
                  <a:noFill/>
                </a:ln>
                <a:solidFill>
                  <a:srgbClr val="000000"/>
                </a:solidFill>
                <a:effectLst/>
                <a:uLnTx/>
                <a:uFillTx/>
                <a:latin typeface="Arial"/>
                <a:cs typeface="Arial"/>
              </a:rPr>
              <a:t> AI</a:t>
            </a:r>
            <a:endParaRPr lang="en-US" sz="1200">
              <a:cs typeface="Arial"/>
            </a:endParaRPr>
          </a:p>
        </p:txBody>
      </p:sp>
      <p:sp>
        <p:nvSpPr>
          <p:cNvPr id="78" name="TextBox 77">
            <a:extLst>
              <a:ext uri="{FF2B5EF4-FFF2-40B4-BE49-F238E27FC236}">
                <a16:creationId xmlns:a16="http://schemas.microsoft.com/office/drawing/2014/main" id="{48A46A09-9828-8842-1BB7-86F418F91696}"/>
              </a:ext>
            </a:extLst>
          </p:cNvPr>
          <p:cNvSpPr txBox="1">
            <a:spLocks/>
          </p:cNvSpPr>
          <p:nvPr/>
        </p:nvSpPr>
        <p:spPr>
          <a:xfrm>
            <a:off x="7408584" y="1646770"/>
            <a:ext cx="4229379"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Implications for Client</a:t>
            </a:r>
          </a:p>
        </p:txBody>
      </p:sp>
      <p:sp>
        <p:nvSpPr>
          <p:cNvPr id="80" name="TextBox 73">
            <a:extLst>
              <a:ext uri="{FF2B5EF4-FFF2-40B4-BE49-F238E27FC236}">
                <a16:creationId xmlns:a16="http://schemas.microsoft.com/office/drawing/2014/main" id="{0318C98E-FC08-06CA-4DFE-9C34F6989374}"/>
              </a:ext>
            </a:extLst>
          </p:cNvPr>
          <p:cNvSpPr txBox="1"/>
          <p:nvPr/>
        </p:nvSpPr>
        <p:spPr>
          <a:xfrm>
            <a:off x="6784030" y="1015359"/>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81" name="TextBox 74">
            <a:extLst>
              <a:ext uri="{FF2B5EF4-FFF2-40B4-BE49-F238E27FC236}">
                <a16:creationId xmlns:a16="http://schemas.microsoft.com/office/drawing/2014/main" id="{E6EDEE4C-F067-5A33-AF2A-C235E30606CC}"/>
              </a:ext>
            </a:extLst>
          </p:cNvPr>
          <p:cNvSpPr txBox="1"/>
          <p:nvPr/>
        </p:nvSpPr>
        <p:spPr>
          <a:xfrm>
            <a:off x="7060352" y="1015359"/>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82" name="Legend1">
            <a:extLst>
              <a:ext uri="{FF2B5EF4-FFF2-40B4-BE49-F238E27FC236}">
                <a16:creationId xmlns:a16="http://schemas.microsoft.com/office/drawing/2014/main" id="{B09058C2-3797-9550-997F-17F017C63DE4}"/>
              </a:ext>
            </a:extLst>
          </p:cNvPr>
          <p:cNvSpPr txBox="1"/>
          <p:nvPr/>
        </p:nvSpPr>
        <p:spPr>
          <a:xfrm>
            <a:off x="8696584" y="1015359"/>
            <a:ext cx="234038"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Low</a:t>
            </a:r>
          </a:p>
        </p:txBody>
      </p:sp>
      <p:grpSp>
        <p:nvGrpSpPr>
          <p:cNvPr id="83" name="MoonLegend1">
            <a:extLst>
              <a:ext uri="{FF2B5EF4-FFF2-40B4-BE49-F238E27FC236}">
                <a16:creationId xmlns:a16="http://schemas.microsoft.com/office/drawing/2014/main" id="{32B79214-12C4-E130-0BBA-74BD6CD2BBD0}"/>
              </a:ext>
            </a:extLst>
          </p:cNvPr>
          <p:cNvGrpSpPr>
            <a:grpSpLocks noChangeAspect="1"/>
          </p:cNvGrpSpPr>
          <p:nvPr/>
        </p:nvGrpSpPr>
        <p:grpSpPr>
          <a:xfrm>
            <a:off x="8476410" y="1014579"/>
            <a:ext cx="155448" cy="155448"/>
            <a:chOff x="762000" y="1270000"/>
            <a:chExt cx="254000" cy="254000"/>
          </a:xfrm>
        </p:grpSpPr>
        <p:sp>
          <p:nvSpPr>
            <p:cNvPr id="147" name="Oval 146">
              <a:extLst>
                <a:ext uri="{FF2B5EF4-FFF2-40B4-BE49-F238E27FC236}">
                  <a16:creationId xmlns:a16="http://schemas.microsoft.com/office/drawing/2014/main" id="{81E16C90-FF64-F5DC-55E4-ED32E431C18D}"/>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48" name="Arc 147" hidden="1">
              <a:extLst>
                <a:ext uri="{FF2B5EF4-FFF2-40B4-BE49-F238E27FC236}">
                  <a16:creationId xmlns:a16="http://schemas.microsoft.com/office/drawing/2014/main" id="{590DADAB-6231-4E35-8079-6A03520D886A}"/>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84" name="Legend3">
            <a:extLst>
              <a:ext uri="{FF2B5EF4-FFF2-40B4-BE49-F238E27FC236}">
                <a16:creationId xmlns:a16="http://schemas.microsoft.com/office/drawing/2014/main" id="{413C6782-0346-EF2C-BCDE-7D4E697B06C8}"/>
              </a:ext>
            </a:extLst>
          </p:cNvPr>
          <p:cNvSpPr txBox="1"/>
          <p:nvPr/>
        </p:nvSpPr>
        <p:spPr>
          <a:xfrm>
            <a:off x="9215522" y="1015359"/>
            <a:ext cx="455253"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Medium</a:t>
            </a:r>
          </a:p>
        </p:txBody>
      </p:sp>
      <p:grpSp>
        <p:nvGrpSpPr>
          <p:cNvPr id="102" name="MoonLegend3">
            <a:extLst>
              <a:ext uri="{FF2B5EF4-FFF2-40B4-BE49-F238E27FC236}">
                <a16:creationId xmlns:a16="http://schemas.microsoft.com/office/drawing/2014/main" id="{031EAF67-AE47-69A6-ECB5-05C188600355}"/>
              </a:ext>
            </a:extLst>
          </p:cNvPr>
          <p:cNvGrpSpPr>
            <a:grpSpLocks noChangeAspect="1"/>
          </p:cNvGrpSpPr>
          <p:nvPr/>
        </p:nvGrpSpPr>
        <p:grpSpPr>
          <a:xfrm>
            <a:off x="8995348" y="1014579"/>
            <a:ext cx="155448" cy="155448"/>
            <a:chOff x="762000" y="1270000"/>
            <a:chExt cx="254000" cy="254000"/>
          </a:xfrm>
        </p:grpSpPr>
        <p:sp>
          <p:nvSpPr>
            <p:cNvPr id="145" name="Oval 144">
              <a:extLst>
                <a:ext uri="{FF2B5EF4-FFF2-40B4-BE49-F238E27FC236}">
                  <a16:creationId xmlns:a16="http://schemas.microsoft.com/office/drawing/2014/main" id="{68561F37-F6A1-306F-5568-833B7B065ADB}"/>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46" name="Arc 145">
              <a:extLst>
                <a:ext uri="{FF2B5EF4-FFF2-40B4-BE49-F238E27FC236}">
                  <a16:creationId xmlns:a16="http://schemas.microsoft.com/office/drawing/2014/main" id="{A6BEAA3E-8237-EADA-0A05-45B995C0A128}"/>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06" name="Legend5">
            <a:extLst>
              <a:ext uri="{FF2B5EF4-FFF2-40B4-BE49-F238E27FC236}">
                <a16:creationId xmlns:a16="http://schemas.microsoft.com/office/drawing/2014/main" id="{E8A36DD0-74EF-4292-8379-40F0ADBB8618}"/>
              </a:ext>
            </a:extLst>
          </p:cNvPr>
          <p:cNvSpPr txBox="1"/>
          <p:nvPr/>
        </p:nvSpPr>
        <p:spPr>
          <a:xfrm>
            <a:off x="9955675" y="1015359"/>
            <a:ext cx="262892"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High</a:t>
            </a:r>
          </a:p>
        </p:txBody>
      </p:sp>
      <p:grpSp>
        <p:nvGrpSpPr>
          <p:cNvPr id="107" name="MoonLegend5">
            <a:extLst>
              <a:ext uri="{FF2B5EF4-FFF2-40B4-BE49-F238E27FC236}">
                <a16:creationId xmlns:a16="http://schemas.microsoft.com/office/drawing/2014/main" id="{43D1A84F-B008-0335-E03B-0B16AC09BCB8}"/>
              </a:ext>
            </a:extLst>
          </p:cNvPr>
          <p:cNvGrpSpPr>
            <a:grpSpLocks noChangeAspect="1"/>
          </p:cNvGrpSpPr>
          <p:nvPr/>
        </p:nvGrpSpPr>
        <p:grpSpPr>
          <a:xfrm>
            <a:off x="9735501" y="1014579"/>
            <a:ext cx="155448" cy="155448"/>
            <a:chOff x="762000" y="1270000"/>
            <a:chExt cx="254000" cy="254000"/>
          </a:xfrm>
        </p:grpSpPr>
        <p:sp>
          <p:nvSpPr>
            <p:cNvPr id="143" name="Oval 142">
              <a:extLst>
                <a:ext uri="{FF2B5EF4-FFF2-40B4-BE49-F238E27FC236}">
                  <a16:creationId xmlns:a16="http://schemas.microsoft.com/office/drawing/2014/main" id="{8C97D6CC-A835-9530-6BD0-C88C7F631B58}"/>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44" name="Arc 143">
              <a:extLst>
                <a:ext uri="{FF2B5EF4-FFF2-40B4-BE49-F238E27FC236}">
                  <a16:creationId xmlns:a16="http://schemas.microsoft.com/office/drawing/2014/main" id="{4DB05F61-3639-3EA1-E407-43A65D6C8945}"/>
                </a:ext>
              </a:extLst>
            </p:cNvPr>
            <p:cNvSpPr/>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08" name="TextBox 107">
            <a:extLst>
              <a:ext uri="{FF2B5EF4-FFF2-40B4-BE49-F238E27FC236}">
                <a16:creationId xmlns:a16="http://schemas.microsoft.com/office/drawing/2014/main" id="{E1B7A928-B939-D705-3C84-6A731B77CEB6}"/>
              </a:ext>
            </a:extLst>
          </p:cNvPr>
          <p:cNvSpPr txBox="1"/>
          <p:nvPr/>
        </p:nvSpPr>
        <p:spPr>
          <a:xfrm>
            <a:off x="4760434" y="1015359"/>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Most critical for AI Data Readiness</a:t>
            </a:r>
          </a:p>
        </p:txBody>
      </p:sp>
      <p:sp>
        <p:nvSpPr>
          <p:cNvPr id="109" name="Rectangle 108">
            <a:extLst>
              <a:ext uri="{FF2B5EF4-FFF2-40B4-BE49-F238E27FC236}">
                <a16:creationId xmlns:a16="http://schemas.microsoft.com/office/drawing/2014/main" id="{A2328606-A3E2-1F4D-76AA-3B74D94701EA}"/>
              </a:ext>
            </a:extLst>
          </p:cNvPr>
          <p:cNvSpPr/>
          <p:nvPr/>
        </p:nvSpPr>
        <p:spPr>
          <a:xfrm>
            <a:off x="4540260" y="1014579"/>
            <a:ext cx="155448" cy="155448"/>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nvGrpSpPr>
          <p:cNvPr id="110" name="MinusSignBlue 65">
            <a:extLst>
              <a:ext uri="{FF2B5EF4-FFF2-40B4-BE49-F238E27FC236}">
                <a16:creationId xmlns:a16="http://schemas.microsoft.com/office/drawing/2014/main" id="{4B4260EE-1FF0-8201-F0F5-26B7D7EBA676}"/>
              </a:ext>
            </a:extLst>
          </p:cNvPr>
          <p:cNvGrpSpPr>
            <a:grpSpLocks noChangeAspect="1"/>
          </p:cNvGrpSpPr>
          <p:nvPr>
            <p:custDataLst>
              <p:tags r:id="rId22"/>
            </p:custDataLst>
          </p:nvPr>
        </p:nvGrpSpPr>
        <p:grpSpPr>
          <a:xfrm>
            <a:off x="10283293" y="1014579"/>
            <a:ext cx="155448" cy="155448"/>
            <a:chOff x="1016000" y="1016000"/>
            <a:chExt cx="396228" cy="396228"/>
          </a:xfrm>
        </p:grpSpPr>
        <p:sp>
          <p:nvSpPr>
            <p:cNvPr id="138" name="Oval 137">
              <a:extLst>
                <a:ext uri="{FF2B5EF4-FFF2-40B4-BE49-F238E27FC236}">
                  <a16:creationId xmlns:a16="http://schemas.microsoft.com/office/drawing/2014/main" id="{8AB8A7E6-0A98-EF78-B837-B243FD9C9B53}"/>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39" name="Graphic 138">
              <a:extLst>
                <a:ext uri="{FF2B5EF4-FFF2-40B4-BE49-F238E27FC236}">
                  <a16:creationId xmlns:a16="http://schemas.microsoft.com/office/drawing/2014/main" id="{AA97EB70-FC30-71D2-F521-67CEDB368D5A}"/>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sp>
        <p:nvSpPr>
          <p:cNvPr id="111" name="Legend3">
            <a:extLst>
              <a:ext uri="{FF2B5EF4-FFF2-40B4-BE49-F238E27FC236}">
                <a16:creationId xmlns:a16="http://schemas.microsoft.com/office/drawing/2014/main" id="{1F1FBE7C-D9C3-905F-81DA-D78B0DCC250B}"/>
              </a:ext>
            </a:extLst>
          </p:cNvPr>
          <p:cNvSpPr txBox="1"/>
          <p:nvPr/>
        </p:nvSpPr>
        <p:spPr>
          <a:xfrm>
            <a:off x="10503467" y="1015359"/>
            <a:ext cx="30457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Gaps</a:t>
            </a:r>
          </a:p>
        </p:txBody>
      </p:sp>
      <p:grpSp>
        <p:nvGrpSpPr>
          <p:cNvPr id="112" name="PlusSignWhite 203">
            <a:extLst>
              <a:ext uri="{FF2B5EF4-FFF2-40B4-BE49-F238E27FC236}">
                <a16:creationId xmlns:a16="http://schemas.microsoft.com/office/drawing/2014/main" id="{AB5D5DAE-B9D0-DF27-3B2A-A789C8DAA016}"/>
              </a:ext>
            </a:extLst>
          </p:cNvPr>
          <p:cNvGrpSpPr>
            <a:grpSpLocks/>
          </p:cNvGrpSpPr>
          <p:nvPr>
            <p:custDataLst>
              <p:tags r:id="rId23"/>
            </p:custDataLst>
          </p:nvPr>
        </p:nvGrpSpPr>
        <p:grpSpPr>
          <a:xfrm>
            <a:off x="10872764" y="1014579"/>
            <a:ext cx="155448" cy="155448"/>
            <a:chOff x="1016000" y="1016000"/>
            <a:chExt cx="396228" cy="396228"/>
          </a:xfrm>
          <a:solidFill>
            <a:schemeClr val="accent1"/>
          </a:solidFill>
        </p:grpSpPr>
        <p:sp>
          <p:nvSpPr>
            <p:cNvPr id="114" name="Oval 113">
              <a:extLst>
                <a:ext uri="{FF2B5EF4-FFF2-40B4-BE49-F238E27FC236}">
                  <a16:creationId xmlns:a16="http://schemas.microsoft.com/office/drawing/2014/main" id="{901D3B00-BC7A-476E-6834-B175DD0528AA}"/>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15" name="Graphic 114">
              <a:extLst>
                <a:ext uri="{FF2B5EF4-FFF2-40B4-BE49-F238E27FC236}">
                  <a16:creationId xmlns:a16="http://schemas.microsoft.com/office/drawing/2014/main" id="{8A8981B8-FDA9-C84B-8A2E-40483EDF9B39}"/>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sp>
        <p:nvSpPr>
          <p:cNvPr id="113" name="Legend3">
            <a:extLst>
              <a:ext uri="{FF2B5EF4-FFF2-40B4-BE49-F238E27FC236}">
                <a16:creationId xmlns:a16="http://schemas.microsoft.com/office/drawing/2014/main" id="{5C3AEF7A-665D-4E4A-C4E4-A822D7CC5B59}"/>
              </a:ext>
            </a:extLst>
          </p:cNvPr>
          <p:cNvSpPr txBox="1"/>
          <p:nvPr/>
        </p:nvSpPr>
        <p:spPr>
          <a:xfrm>
            <a:off x="11092942" y="1015359"/>
            <a:ext cx="54502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altLang="zh-CN" sz="1000"/>
              <a:t>Strengths</a:t>
            </a:r>
            <a:endParaRPr lang="en-US" sz="1000"/>
          </a:p>
        </p:txBody>
      </p:sp>
      <p:sp>
        <p:nvSpPr>
          <p:cNvPr id="21" name="TextBox 20">
            <a:extLst>
              <a:ext uri="{FF2B5EF4-FFF2-40B4-BE49-F238E27FC236}">
                <a16:creationId xmlns:a16="http://schemas.microsoft.com/office/drawing/2014/main" id="{8F35BA8A-8B6E-9DB0-BB2A-B16ABA32BCEA}"/>
              </a:ext>
            </a:extLst>
          </p:cNvPr>
          <p:cNvSpPr txBox="1">
            <a:spLocks/>
          </p:cNvSpPr>
          <p:nvPr/>
        </p:nvSpPr>
        <p:spPr>
          <a:xfrm>
            <a:off x="554735" y="3731672"/>
            <a:ext cx="986479"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t>Consent and purpose tagging</a:t>
            </a:r>
            <a:endParaRPr kumimoji="0" lang="en-US" sz="1100" b="1" i="0" u="none" strike="noStrike" kern="1200" cap="none" spc="0" normalizeH="0" baseline="0" noProof="0">
              <a:ln>
                <a:noFill/>
              </a:ln>
              <a:solidFill>
                <a:srgbClr val="000000"/>
              </a:solidFill>
              <a:effectLst/>
              <a:uLnTx/>
              <a:uFillTx/>
              <a:latin typeface="Arial"/>
            </a:endParaRPr>
          </a:p>
        </p:txBody>
      </p:sp>
      <p:sp>
        <p:nvSpPr>
          <p:cNvPr id="12" name="TextBox 11">
            <a:extLst>
              <a:ext uri="{FF2B5EF4-FFF2-40B4-BE49-F238E27FC236}">
                <a16:creationId xmlns:a16="http://schemas.microsoft.com/office/drawing/2014/main" id="{6B54A4CE-CC18-E7AB-47DD-9BC552A2C096}"/>
              </a:ext>
            </a:extLst>
          </p:cNvPr>
          <p:cNvSpPr txBox="1">
            <a:spLocks/>
          </p:cNvSpPr>
          <p:nvPr/>
        </p:nvSpPr>
        <p:spPr>
          <a:xfrm>
            <a:off x="3723679" y="3731672"/>
            <a:ext cx="3621681"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Reuse of data across use cases</a:t>
            </a:r>
            <a:r>
              <a:rPr lang="en-US" sz="1100"/>
              <a:t> without producer awareness; detection only through audit after the fact</a:t>
            </a:r>
          </a:p>
          <a:p>
            <a:pPr lvl="1">
              <a:buClr>
                <a:srgbClr val="000000"/>
              </a:buClr>
              <a:defRPr/>
            </a:pPr>
            <a:r>
              <a:rPr lang="en-US" sz="1100" b="1"/>
              <a:t>Manual reviews in model development </a:t>
            </a:r>
            <a:r>
              <a:rPr lang="en-US" sz="1100">
                <a:solidFill>
                  <a:schemeClr val="accent1"/>
                </a:solidFill>
              </a:rPr>
              <a:t>with no systematic consent/purpose tags for unstructured data, chunks, or embeddings</a:t>
            </a:r>
          </a:p>
        </p:txBody>
      </p:sp>
      <p:sp>
        <p:nvSpPr>
          <p:cNvPr id="15" name="TextBox 14">
            <a:extLst>
              <a:ext uri="{FF2B5EF4-FFF2-40B4-BE49-F238E27FC236}">
                <a16:creationId xmlns:a16="http://schemas.microsoft.com/office/drawing/2014/main" id="{110A7F66-AEFA-1DF8-8D88-078E9730879F}"/>
              </a:ext>
            </a:extLst>
          </p:cNvPr>
          <p:cNvSpPr txBox="1">
            <a:spLocks/>
          </p:cNvSpPr>
          <p:nvPr/>
        </p:nvSpPr>
        <p:spPr>
          <a:xfrm>
            <a:off x="7408584" y="3731672"/>
            <a:ext cx="4229379" cy="88485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Invisible misuse risk:</a:t>
            </a:r>
            <a:r>
              <a:rPr lang="en-US" sz="1100"/>
              <a:t> Data use issues only caught in audits, too late to prevent non-compliant usage and governance erosion</a:t>
            </a:r>
          </a:p>
          <a:p>
            <a:pPr lvl="1">
              <a:buClr>
                <a:srgbClr val="000000"/>
              </a:buClr>
              <a:defRPr/>
            </a:pPr>
            <a:r>
              <a:rPr lang="en-US" sz="1100" b="1">
                <a:solidFill>
                  <a:schemeClr val="accent1"/>
                </a:solidFill>
              </a:rPr>
              <a:t>Legal exposure from GenAI</a:t>
            </a:r>
            <a:r>
              <a:rPr lang="en-US" sz="1100">
                <a:solidFill>
                  <a:schemeClr val="accent1"/>
                </a:solidFill>
              </a:rPr>
              <a:t>: Lack of consent/purpose tagging on unstructured data and embeddings may allow restricted data to surface in outputs, creating legal risk</a:t>
            </a:r>
            <a:endParaRPr kumimoji="0" lang="en-US" sz="1100" b="0" i="0" u="none" strike="noStrike" kern="1200" cap="none" spc="0" normalizeH="0" baseline="0" noProof="0">
              <a:ln>
                <a:noFill/>
              </a:ln>
              <a:solidFill>
                <a:schemeClr val="accent1"/>
              </a:solidFill>
              <a:effectLst/>
              <a:uLnTx/>
              <a:uFillTx/>
              <a:latin typeface="Arial"/>
            </a:endParaRPr>
          </a:p>
        </p:txBody>
      </p:sp>
      <p:sp>
        <p:nvSpPr>
          <p:cNvPr id="54" name="Oval 53">
            <a:extLst>
              <a:ext uri="{FF2B5EF4-FFF2-40B4-BE49-F238E27FC236}">
                <a16:creationId xmlns:a16="http://schemas.microsoft.com/office/drawing/2014/main" id="{E8733A12-04A0-69B6-A905-CDB2A40913DF}"/>
              </a:ext>
            </a:extLst>
          </p:cNvPr>
          <p:cNvSpPr/>
          <p:nvPr>
            <p:custDataLst>
              <p:tags r:id="rId24"/>
            </p:custDataLst>
          </p:nvPr>
        </p:nvSpPr>
        <p:spPr>
          <a:xfrm>
            <a:off x="3043371" y="3731672"/>
            <a:ext cx="274320" cy="274317"/>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56" name="Oval 155">
            <a:extLst>
              <a:ext uri="{FF2B5EF4-FFF2-40B4-BE49-F238E27FC236}">
                <a16:creationId xmlns:a16="http://schemas.microsoft.com/office/drawing/2014/main" id="{E7C054D1-2203-1FA3-B79D-87515FAEBBE0}"/>
              </a:ext>
            </a:extLst>
          </p:cNvPr>
          <p:cNvSpPr/>
          <p:nvPr>
            <p:custDataLst>
              <p:tags r:id="rId25"/>
            </p:custDataLst>
          </p:nvPr>
        </p:nvSpPr>
        <p:spPr>
          <a:xfrm>
            <a:off x="2020299" y="3731672"/>
            <a:ext cx="274320" cy="274317"/>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grpSp>
        <p:nvGrpSpPr>
          <p:cNvPr id="131" name="MinusSignBlue 65">
            <a:extLst>
              <a:ext uri="{FF2B5EF4-FFF2-40B4-BE49-F238E27FC236}">
                <a16:creationId xmlns:a16="http://schemas.microsoft.com/office/drawing/2014/main" id="{9CE07464-39DB-2272-CCB8-F93B4D2603CA}"/>
              </a:ext>
            </a:extLst>
          </p:cNvPr>
          <p:cNvGrpSpPr>
            <a:grpSpLocks/>
          </p:cNvGrpSpPr>
          <p:nvPr>
            <p:custDataLst>
              <p:tags r:id="rId26"/>
            </p:custDataLst>
          </p:nvPr>
        </p:nvGrpSpPr>
        <p:grpSpPr>
          <a:xfrm>
            <a:off x="3660455" y="3758773"/>
            <a:ext cx="155448" cy="155448"/>
            <a:chOff x="1016000" y="1016000"/>
            <a:chExt cx="396228" cy="396228"/>
          </a:xfrm>
        </p:grpSpPr>
        <p:sp>
          <p:nvSpPr>
            <p:cNvPr id="132" name="Oval 131">
              <a:extLst>
                <a:ext uri="{FF2B5EF4-FFF2-40B4-BE49-F238E27FC236}">
                  <a16:creationId xmlns:a16="http://schemas.microsoft.com/office/drawing/2014/main" id="{736AEC9A-12C5-8966-0A59-811606133CDE}"/>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33" name="Graphic 132">
              <a:extLst>
                <a:ext uri="{FF2B5EF4-FFF2-40B4-BE49-F238E27FC236}">
                  <a16:creationId xmlns:a16="http://schemas.microsoft.com/office/drawing/2014/main" id="{68067AF4-FF1A-11B2-74DB-F8D284C2BA72}"/>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grpSp>
        <p:nvGrpSpPr>
          <p:cNvPr id="125" name="MinusSignBlue 65">
            <a:extLst>
              <a:ext uri="{FF2B5EF4-FFF2-40B4-BE49-F238E27FC236}">
                <a16:creationId xmlns:a16="http://schemas.microsoft.com/office/drawing/2014/main" id="{CE9B5D45-1A81-697D-33E4-79A10443DEF5}"/>
              </a:ext>
            </a:extLst>
          </p:cNvPr>
          <p:cNvGrpSpPr>
            <a:grpSpLocks/>
          </p:cNvGrpSpPr>
          <p:nvPr>
            <p:custDataLst>
              <p:tags r:id="rId27"/>
            </p:custDataLst>
          </p:nvPr>
        </p:nvGrpSpPr>
        <p:grpSpPr>
          <a:xfrm>
            <a:off x="3660455" y="4123014"/>
            <a:ext cx="155448" cy="155448"/>
            <a:chOff x="1016000" y="1016000"/>
            <a:chExt cx="396228" cy="396228"/>
          </a:xfrm>
        </p:grpSpPr>
        <p:sp>
          <p:nvSpPr>
            <p:cNvPr id="126" name="Oval 125">
              <a:extLst>
                <a:ext uri="{FF2B5EF4-FFF2-40B4-BE49-F238E27FC236}">
                  <a16:creationId xmlns:a16="http://schemas.microsoft.com/office/drawing/2014/main" id="{E330E23A-C8C6-5BC3-A88D-3D0B16799BF3}"/>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27" name="Graphic 126">
              <a:extLst>
                <a:ext uri="{FF2B5EF4-FFF2-40B4-BE49-F238E27FC236}">
                  <a16:creationId xmlns:a16="http://schemas.microsoft.com/office/drawing/2014/main" id="{E9763D2F-C1DF-E702-E1A0-9D6FD214E029}"/>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23614" y="1023614"/>
              <a:ext cx="381000" cy="381000"/>
            </a:xfrm>
            <a:prstGeom prst="rect">
              <a:avLst/>
            </a:prstGeom>
          </p:spPr>
        </p:pic>
      </p:grpSp>
      <p:grpSp>
        <p:nvGrpSpPr>
          <p:cNvPr id="27" name="MoonHalf 28">
            <a:extLst>
              <a:ext uri="{FF2B5EF4-FFF2-40B4-BE49-F238E27FC236}">
                <a16:creationId xmlns:a16="http://schemas.microsoft.com/office/drawing/2014/main" id="{26B4AE97-7E19-0D45-E01C-A2649BAC4401}"/>
              </a:ext>
            </a:extLst>
          </p:cNvPr>
          <p:cNvGrpSpPr>
            <a:grpSpLocks noChangeAspect="1"/>
          </p:cNvGrpSpPr>
          <p:nvPr>
            <p:custDataLst>
              <p:tags r:id="rId28"/>
            </p:custDataLst>
          </p:nvPr>
        </p:nvGrpSpPr>
        <p:grpSpPr>
          <a:xfrm>
            <a:off x="3063691" y="4716368"/>
            <a:ext cx="254000" cy="254000"/>
            <a:chOff x="762000" y="1270000"/>
            <a:chExt cx="254000" cy="254000"/>
          </a:xfrm>
        </p:grpSpPr>
        <p:sp>
          <p:nvSpPr>
            <p:cNvPr id="25" name="Oval 24">
              <a:extLst>
                <a:ext uri="{FF2B5EF4-FFF2-40B4-BE49-F238E27FC236}">
                  <a16:creationId xmlns:a16="http://schemas.microsoft.com/office/drawing/2014/main" id="{83140878-7ABC-2EB1-54B5-0FDB6E7649D7}"/>
                </a:ext>
              </a:extLst>
            </p:cNvPr>
            <p:cNvSpPr/>
            <p:nvPr>
              <p:custDataLst>
                <p:tags r:id="rId33"/>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6" name="Arc 25">
              <a:extLst>
                <a:ext uri="{FF2B5EF4-FFF2-40B4-BE49-F238E27FC236}">
                  <a16:creationId xmlns:a16="http://schemas.microsoft.com/office/drawing/2014/main" id="{64650127-F95C-7D37-6572-7992B2B09053}"/>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0" name="MoonHalf 28">
            <a:extLst>
              <a:ext uri="{FF2B5EF4-FFF2-40B4-BE49-F238E27FC236}">
                <a16:creationId xmlns:a16="http://schemas.microsoft.com/office/drawing/2014/main" id="{CDD7FC9A-AA6A-2000-A28B-7F84A76D8CE8}"/>
              </a:ext>
            </a:extLst>
          </p:cNvPr>
          <p:cNvGrpSpPr>
            <a:grpSpLocks noChangeAspect="1"/>
          </p:cNvGrpSpPr>
          <p:nvPr>
            <p:custDataLst>
              <p:tags r:id="rId29"/>
            </p:custDataLst>
          </p:nvPr>
        </p:nvGrpSpPr>
        <p:grpSpPr>
          <a:xfrm>
            <a:off x="2020299" y="4716368"/>
            <a:ext cx="254000" cy="254000"/>
            <a:chOff x="762000" y="1270000"/>
            <a:chExt cx="254000" cy="254000"/>
          </a:xfrm>
        </p:grpSpPr>
        <p:sp>
          <p:nvSpPr>
            <p:cNvPr id="31" name="Oval 30">
              <a:extLst>
                <a:ext uri="{FF2B5EF4-FFF2-40B4-BE49-F238E27FC236}">
                  <a16:creationId xmlns:a16="http://schemas.microsoft.com/office/drawing/2014/main" id="{B6B27295-0CE0-31CF-0E43-C204C06077C4}"/>
                </a:ext>
              </a:extLst>
            </p:cNvPr>
            <p:cNvSpPr/>
            <p:nvPr>
              <p:custDataLst>
                <p:tags r:id="rId31"/>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2" name="Arc 31">
              <a:extLst>
                <a:ext uri="{FF2B5EF4-FFF2-40B4-BE49-F238E27FC236}">
                  <a16:creationId xmlns:a16="http://schemas.microsoft.com/office/drawing/2014/main" id="{3FE1224B-C978-E601-E724-E7C80242F3A0}"/>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3" name="TextBox 32">
            <a:extLst>
              <a:ext uri="{FF2B5EF4-FFF2-40B4-BE49-F238E27FC236}">
                <a16:creationId xmlns:a16="http://schemas.microsoft.com/office/drawing/2014/main" id="{09F3249F-A26F-DF13-1195-05BCD8FCBD20}"/>
              </a:ext>
            </a:extLst>
          </p:cNvPr>
          <p:cNvSpPr txBox="1">
            <a:spLocks/>
          </p:cNvSpPr>
          <p:nvPr/>
        </p:nvSpPr>
        <p:spPr>
          <a:xfrm>
            <a:off x="3723679" y="4716368"/>
            <a:ext cx="3621681"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Separate version control for code and data, </a:t>
            </a:r>
            <a:r>
              <a:rPr lang="en-US" sz="1100"/>
              <a:t>with gaps remaining in automated lineage and legacy systems</a:t>
            </a:r>
            <a:endParaRPr lang="en-US" sz="1100">
              <a:solidFill>
                <a:schemeClr val="accent1"/>
              </a:solidFill>
            </a:endParaRPr>
          </a:p>
        </p:txBody>
      </p:sp>
      <p:sp>
        <p:nvSpPr>
          <p:cNvPr id="40" name="TextBox 39">
            <a:extLst>
              <a:ext uri="{FF2B5EF4-FFF2-40B4-BE49-F238E27FC236}">
                <a16:creationId xmlns:a16="http://schemas.microsoft.com/office/drawing/2014/main" id="{92507F04-CF50-CF5D-58BA-4B879DCAAAD6}"/>
              </a:ext>
            </a:extLst>
          </p:cNvPr>
          <p:cNvSpPr txBox="1">
            <a:spLocks/>
          </p:cNvSpPr>
          <p:nvPr/>
        </p:nvSpPr>
        <p:spPr>
          <a:xfrm>
            <a:off x="7408584" y="4716368"/>
            <a:ext cx="4229379"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000000"/>
              </a:buClr>
              <a:defRPr/>
            </a:pPr>
            <a:r>
              <a:rPr lang="en-US" sz="1100" b="1"/>
              <a:t>Limited reproducibility: </a:t>
            </a:r>
            <a:r>
              <a:rPr lang="en-US" sz="1100"/>
              <a:t>Immature automated lineage and weak linkage between code and data versions constrain reproducibility and auditability</a:t>
            </a:r>
            <a:endParaRPr kumimoji="0" lang="en-US" sz="1100" i="0" u="none" strike="noStrike" kern="1200" cap="none" spc="0" normalizeH="0" baseline="0" noProof="0">
              <a:ln>
                <a:noFill/>
              </a:ln>
              <a:solidFill>
                <a:schemeClr val="accent1"/>
              </a:solidFill>
              <a:effectLst/>
              <a:uLnTx/>
              <a:uFillTx/>
              <a:latin typeface="Arial"/>
            </a:endParaRPr>
          </a:p>
        </p:txBody>
      </p:sp>
      <p:grpSp>
        <p:nvGrpSpPr>
          <p:cNvPr id="42" name="PlusSignWhite 203">
            <a:extLst>
              <a:ext uri="{FF2B5EF4-FFF2-40B4-BE49-F238E27FC236}">
                <a16:creationId xmlns:a16="http://schemas.microsoft.com/office/drawing/2014/main" id="{F682A8A1-FDCA-86DD-7B98-48A884046D80}"/>
              </a:ext>
            </a:extLst>
          </p:cNvPr>
          <p:cNvGrpSpPr>
            <a:grpSpLocks/>
          </p:cNvGrpSpPr>
          <p:nvPr>
            <p:custDataLst>
              <p:tags r:id="rId30"/>
            </p:custDataLst>
          </p:nvPr>
        </p:nvGrpSpPr>
        <p:grpSpPr>
          <a:xfrm>
            <a:off x="3660455" y="4732799"/>
            <a:ext cx="155448" cy="155448"/>
            <a:chOff x="1016000" y="1016000"/>
            <a:chExt cx="396228" cy="396228"/>
          </a:xfrm>
          <a:solidFill>
            <a:schemeClr val="accent1"/>
          </a:solidFill>
        </p:grpSpPr>
        <p:sp>
          <p:nvSpPr>
            <p:cNvPr id="50" name="Oval 49">
              <a:extLst>
                <a:ext uri="{FF2B5EF4-FFF2-40B4-BE49-F238E27FC236}">
                  <a16:creationId xmlns:a16="http://schemas.microsoft.com/office/drawing/2014/main" id="{064434C6-24B9-E73B-31FD-1698E1849936}"/>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1" name="Graphic 50">
              <a:extLst>
                <a:ext uri="{FF2B5EF4-FFF2-40B4-BE49-F238E27FC236}">
                  <a16:creationId xmlns:a16="http://schemas.microsoft.com/office/drawing/2014/main" id="{AFCF69BB-94AD-76FB-02B3-9076B73FC837}"/>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23614" y="1023614"/>
              <a:ext cx="381000" cy="381000"/>
            </a:xfrm>
            <a:prstGeom prst="rect">
              <a:avLst/>
            </a:prstGeom>
          </p:spPr>
        </p:pic>
      </p:grpSp>
      <p:sp>
        <p:nvSpPr>
          <p:cNvPr id="13" name="Text Placeholder 12">
            <a:extLst>
              <a:ext uri="{FF2B5EF4-FFF2-40B4-BE49-F238E27FC236}">
                <a16:creationId xmlns:a16="http://schemas.microsoft.com/office/drawing/2014/main" id="{313086E4-DF69-1D4C-5BFE-BB3116C7C0EE}"/>
              </a:ext>
            </a:extLst>
          </p:cNvPr>
          <p:cNvSpPr>
            <a:spLocks noGrp="1"/>
          </p:cNvSpPr>
          <p:nvPr>
            <p:ph type="body" sz="quarter" idx="17"/>
          </p:nvPr>
        </p:nvSpPr>
        <p:spPr/>
        <p:txBody>
          <a:bodyPr/>
          <a:lstStyle/>
          <a:p>
            <a:endParaRPr lang="en-US"/>
          </a:p>
        </p:txBody>
      </p:sp>
    </p:spTree>
    <p:custDataLst>
      <p:tags r:id="rId1"/>
    </p:custDataLst>
    <p:extLst>
      <p:ext uri="{BB962C8B-B14F-4D97-AF65-F5344CB8AC3E}">
        <p14:creationId xmlns:p14="http://schemas.microsoft.com/office/powerpoint/2010/main" val="869148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0F66F-2F0D-063D-6321-41B3AB918E7E}"/>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7ED42329-9DCD-5197-1483-1AF5A7A6315C}"/>
              </a:ext>
            </a:extLst>
          </p:cNvPr>
          <p:cNvGraphicFramePr>
            <a:graphicFrameLocks noChangeAspect="1"/>
          </p:cNvGraphicFramePr>
          <p:nvPr>
            <p:custDataLst>
              <p:tags r:id="rId2"/>
            </p:custDataLst>
            <p:extLst>
              <p:ext uri="{D42A27DB-BD31-4B8C-83A1-F6EECF244321}">
                <p14:modId xmlns:p14="http://schemas.microsoft.com/office/powerpoint/2010/main" val="1104676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404" imgH="405" progId="TCLayout.ActiveDocument.1">
                  <p:embed/>
                </p:oleObj>
              </mc:Choice>
              <mc:Fallback>
                <p:oleObj name="think-cell Slide" r:id="rId44" imgW="404" imgH="405" progId="TCLayout.ActiveDocument.1">
                  <p:embed/>
                  <p:pic>
                    <p:nvPicPr>
                      <p:cNvPr id="5" name="Object 6" hidden="1">
                        <a:extLst>
                          <a:ext uri="{FF2B5EF4-FFF2-40B4-BE49-F238E27FC236}">
                            <a16:creationId xmlns:a16="http://schemas.microsoft.com/office/drawing/2014/main" id="{7ED42329-9DCD-5197-1483-1AF5A7A6315C}"/>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186" name="Rectangle 185">
            <a:extLst>
              <a:ext uri="{FF2B5EF4-FFF2-40B4-BE49-F238E27FC236}">
                <a16:creationId xmlns:a16="http://schemas.microsoft.com/office/drawing/2014/main" id="{0F14D567-A802-A65B-BF14-6168C9855817}"/>
              </a:ext>
            </a:extLst>
          </p:cNvPr>
          <p:cNvSpPr>
            <a:spLocks/>
          </p:cNvSpPr>
          <p:nvPr/>
        </p:nvSpPr>
        <p:spPr>
          <a:xfrm>
            <a:off x="484496" y="3083354"/>
            <a:ext cx="11193353" cy="289465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 name="2. Slide Title">
            <a:extLst>
              <a:ext uri="{FF2B5EF4-FFF2-40B4-BE49-F238E27FC236}">
                <a16:creationId xmlns:a16="http://schemas.microsoft.com/office/drawing/2014/main" id="{3706DE78-3519-0446-7E85-FE813450E5BC}"/>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dirty="0"/>
              <a:t>E. Governance &amp; Controls dimension observations and implications</a:t>
            </a:r>
          </a:p>
        </p:txBody>
      </p:sp>
      <p:sp>
        <p:nvSpPr>
          <p:cNvPr id="12" name="Text Placeholder 11">
            <a:extLst>
              <a:ext uri="{FF2B5EF4-FFF2-40B4-BE49-F238E27FC236}">
                <a16:creationId xmlns:a16="http://schemas.microsoft.com/office/drawing/2014/main" id="{9FFA40DE-2C6F-E10E-49A4-9AAFEA6DCAEC}"/>
              </a:ext>
            </a:extLst>
          </p:cNvPr>
          <p:cNvSpPr>
            <a:spLocks noGrp="1"/>
          </p:cNvSpPr>
          <p:nvPr>
            <p:ph type="body" sz="quarter" idx="17"/>
          </p:nvPr>
        </p:nvSpPr>
        <p:spPr/>
        <p:txBody>
          <a:bodyPr/>
          <a:lstStyle/>
          <a:p>
            <a:endParaRPr lang="en-US"/>
          </a:p>
        </p:txBody>
      </p:sp>
      <p:cxnSp>
        <p:nvCxnSpPr>
          <p:cNvPr id="6" name="Straight Connector 5">
            <a:extLst>
              <a:ext uri="{FF2B5EF4-FFF2-40B4-BE49-F238E27FC236}">
                <a16:creationId xmlns:a16="http://schemas.microsoft.com/office/drawing/2014/main" id="{C13D83A7-F76A-81DF-B117-ED2D6CBE4223}"/>
              </a:ext>
            </a:extLst>
          </p:cNvPr>
          <p:cNvCxnSpPr>
            <a:cxnSpLocks/>
          </p:cNvCxnSpPr>
          <p:nvPr>
            <p:custDataLst>
              <p:tags r:id="rId4"/>
            </p:custDataLst>
          </p:nvPr>
        </p:nvCxnSpPr>
        <p:spPr>
          <a:xfrm>
            <a:off x="539908" y="3053472"/>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F6EA7FF-0944-AC53-1156-0882703D163F}"/>
              </a:ext>
            </a:extLst>
          </p:cNvPr>
          <p:cNvCxnSpPr>
            <a:cxnSpLocks/>
          </p:cNvCxnSpPr>
          <p:nvPr>
            <p:custDataLst>
              <p:tags r:id="rId5"/>
            </p:custDataLst>
          </p:nvPr>
        </p:nvCxnSpPr>
        <p:spPr>
          <a:xfrm>
            <a:off x="539908" y="4035418"/>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115E9CC2-2A70-8AA9-F78B-A1453697A25D}"/>
              </a:ext>
            </a:extLst>
          </p:cNvPr>
          <p:cNvSpPr txBox="1">
            <a:spLocks/>
          </p:cNvSpPr>
          <p:nvPr/>
        </p:nvSpPr>
        <p:spPr>
          <a:xfrm>
            <a:off x="554038" y="1931557"/>
            <a:ext cx="902302"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Ownership &amp; stewardship</a:t>
            </a:r>
          </a:p>
        </p:txBody>
      </p:sp>
      <p:sp>
        <p:nvSpPr>
          <p:cNvPr id="60" name="TextBox 59">
            <a:extLst>
              <a:ext uri="{FF2B5EF4-FFF2-40B4-BE49-F238E27FC236}">
                <a16:creationId xmlns:a16="http://schemas.microsoft.com/office/drawing/2014/main" id="{1955D2AE-7C02-E65B-EAF4-80056DC37CFC}"/>
              </a:ext>
            </a:extLst>
          </p:cNvPr>
          <p:cNvSpPr txBox="1">
            <a:spLocks/>
          </p:cNvSpPr>
          <p:nvPr/>
        </p:nvSpPr>
        <p:spPr>
          <a:xfrm>
            <a:off x="3722981" y="1931557"/>
            <a:ext cx="3621681" cy="9233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dirty="0"/>
              <a:t>Clear accountability for models </a:t>
            </a:r>
            <a:r>
              <a:rPr lang="en-US" sz="1100" dirty="0"/>
              <a:t>and models outputs; </a:t>
            </a:r>
            <a:r>
              <a:rPr lang="en-US" sz="1100" b="1" dirty="0"/>
              <a:t>inconsistent stewardship for data sources/products </a:t>
            </a:r>
            <a:r>
              <a:rPr lang="en-US" sz="1100" dirty="0"/>
              <a:t>across many domains</a:t>
            </a:r>
          </a:p>
          <a:p>
            <a:pPr marL="171450" indent="-171450">
              <a:buFont typeface="Arial" panose="020B0604020202020204" pitchFamily="34" charset="0"/>
              <a:buChar char="•"/>
            </a:pPr>
            <a:r>
              <a:rPr lang="en-US" sz="1100" b="1" dirty="0">
                <a:solidFill>
                  <a:schemeClr val="accent1"/>
                </a:solidFill>
              </a:rPr>
              <a:t>No clear accountability for unstructured data </a:t>
            </a:r>
            <a:r>
              <a:rPr lang="en-US" sz="1100" dirty="0">
                <a:solidFill>
                  <a:schemeClr val="accent1"/>
                </a:solidFill>
              </a:rPr>
              <a:t>(e.g.,  ... articles with no owners) </a:t>
            </a:r>
            <a:endParaRPr lang="en-US" sz="1100" b="1" dirty="0">
              <a:solidFill>
                <a:schemeClr val="accent1"/>
              </a:solidFill>
            </a:endParaRPr>
          </a:p>
        </p:txBody>
      </p:sp>
      <p:sp>
        <p:nvSpPr>
          <p:cNvPr id="62" name="TextBox 61">
            <a:extLst>
              <a:ext uri="{FF2B5EF4-FFF2-40B4-BE49-F238E27FC236}">
                <a16:creationId xmlns:a16="http://schemas.microsoft.com/office/drawing/2014/main" id="{744BD26A-6C9B-5D78-1B61-4D7805A15BBA}"/>
              </a:ext>
            </a:extLst>
          </p:cNvPr>
          <p:cNvSpPr txBox="1">
            <a:spLocks/>
          </p:cNvSpPr>
          <p:nvPr/>
        </p:nvSpPr>
        <p:spPr>
          <a:xfrm>
            <a:off x="7407886" y="1931557"/>
            <a:ext cx="4229379" cy="10926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Broken accountability chain:</a:t>
            </a:r>
            <a:r>
              <a:rPr lang="en-US" sz="1100"/>
              <a:t> Accountability stops at the model output, with no clear owner for the data inputs, leaving a gap in responsibility for quality and governance</a:t>
            </a:r>
          </a:p>
          <a:p>
            <a:pPr marL="171450" indent="-171450">
              <a:buFont typeface="Arial" panose="020B0604020202020204" pitchFamily="34" charset="0"/>
              <a:buChar char="•"/>
            </a:pPr>
            <a:r>
              <a:rPr lang="en-US" sz="1100" b="1">
                <a:solidFill>
                  <a:schemeClr val="accent1"/>
                </a:solidFill>
              </a:rPr>
              <a:t>Slow issue resolution: </a:t>
            </a:r>
            <a:r>
              <a:rPr lang="en-US" sz="1100">
                <a:solidFill>
                  <a:schemeClr val="accent1"/>
                </a:solidFill>
              </a:rPr>
              <a:t>Lack of ownership for unstructured data means when problems arise, there is no clear steward to chase, delaying fixes</a:t>
            </a:r>
          </a:p>
        </p:txBody>
      </p:sp>
      <p:grpSp>
        <p:nvGrpSpPr>
          <p:cNvPr id="2" name="Group 1">
            <a:extLst>
              <a:ext uri="{FF2B5EF4-FFF2-40B4-BE49-F238E27FC236}">
                <a16:creationId xmlns:a16="http://schemas.microsoft.com/office/drawing/2014/main" id="{9CA88DD5-89DA-0926-AE86-225C9C376A51}"/>
              </a:ext>
            </a:extLst>
          </p:cNvPr>
          <p:cNvGrpSpPr>
            <a:grpSpLocks/>
          </p:cNvGrpSpPr>
          <p:nvPr/>
        </p:nvGrpSpPr>
        <p:grpSpPr>
          <a:xfrm>
            <a:off x="2019601" y="1931557"/>
            <a:ext cx="274320" cy="274320"/>
            <a:chOff x="2704217" y="2001746"/>
            <a:chExt cx="342654" cy="342655"/>
          </a:xfrm>
        </p:grpSpPr>
        <p:sp>
          <p:nvSpPr>
            <p:cNvPr id="9" name="Oval 8">
              <a:extLst>
                <a:ext uri="{FF2B5EF4-FFF2-40B4-BE49-F238E27FC236}">
                  <a16:creationId xmlns:a16="http://schemas.microsoft.com/office/drawing/2014/main" id="{F16D7E2C-C903-4C83-0334-AE2D664FABEC}"/>
                </a:ext>
              </a:extLst>
            </p:cNvPr>
            <p:cNvSpPr/>
            <p:nvPr>
              <p:custDataLst>
                <p:tags r:id="rId40"/>
              </p:custDataLst>
            </p:nvPr>
          </p:nvSpPr>
          <p:spPr>
            <a:xfrm>
              <a:off x="2704217" y="2001747"/>
              <a:ext cx="342654" cy="342654"/>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0" name="Arc 9">
              <a:extLst>
                <a:ext uri="{FF2B5EF4-FFF2-40B4-BE49-F238E27FC236}">
                  <a16:creationId xmlns:a16="http://schemas.microsoft.com/office/drawing/2014/main" id="{15BF173C-BEF3-237A-A6BE-1B1B6E157B42}"/>
                </a:ext>
              </a:extLst>
            </p:cNvPr>
            <p:cNvSpPr/>
            <p:nvPr>
              <p:custDataLst>
                <p:tags r:id="rId41"/>
              </p:custDataLst>
            </p:nvPr>
          </p:nvSpPr>
          <p:spPr>
            <a:xfrm>
              <a:off x="2704217" y="2001746"/>
              <a:ext cx="342654" cy="342654"/>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20" name="MoonEmpty 20">
            <a:extLst>
              <a:ext uri="{FF2B5EF4-FFF2-40B4-BE49-F238E27FC236}">
                <a16:creationId xmlns:a16="http://schemas.microsoft.com/office/drawing/2014/main" id="{EE393C69-7075-3AB6-F935-4207FD82A685}"/>
              </a:ext>
            </a:extLst>
          </p:cNvPr>
          <p:cNvGrpSpPr>
            <a:grpSpLocks/>
          </p:cNvGrpSpPr>
          <p:nvPr>
            <p:custDataLst>
              <p:tags r:id="rId6"/>
            </p:custDataLst>
          </p:nvPr>
        </p:nvGrpSpPr>
        <p:grpSpPr>
          <a:xfrm>
            <a:off x="3042673" y="1931557"/>
            <a:ext cx="274320" cy="274320"/>
            <a:chOff x="762000" y="1270000"/>
            <a:chExt cx="254000" cy="254000"/>
          </a:xfrm>
        </p:grpSpPr>
        <p:sp>
          <p:nvSpPr>
            <p:cNvPr id="16" name="Oval 15">
              <a:extLst>
                <a:ext uri="{FF2B5EF4-FFF2-40B4-BE49-F238E27FC236}">
                  <a16:creationId xmlns:a16="http://schemas.microsoft.com/office/drawing/2014/main" id="{20DCAAFE-B3A4-FD66-5DF2-1D996BF3C4E9}"/>
                </a:ext>
              </a:extLst>
            </p:cNvPr>
            <p:cNvSpPr/>
            <p:nvPr>
              <p:custDataLst>
                <p:tags r:id="rId38"/>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9" name="Arc 18" hidden="1">
              <a:extLst>
                <a:ext uri="{FF2B5EF4-FFF2-40B4-BE49-F238E27FC236}">
                  <a16:creationId xmlns:a16="http://schemas.microsoft.com/office/drawing/2014/main" id="{15586090-FCBF-1443-CF6F-4CDD47CAEDBE}"/>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63" name="TextBox 62">
            <a:extLst>
              <a:ext uri="{FF2B5EF4-FFF2-40B4-BE49-F238E27FC236}">
                <a16:creationId xmlns:a16="http://schemas.microsoft.com/office/drawing/2014/main" id="{08EC5FED-FAF9-0D80-2ABF-4F369CF6FB6F}"/>
              </a:ext>
            </a:extLst>
          </p:cNvPr>
          <p:cNvSpPr txBox="1">
            <a:spLocks/>
          </p:cNvSpPr>
          <p:nvPr/>
        </p:nvSpPr>
        <p:spPr>
          <a:xfrm>
            <a:off x="554736" y="3082780"/>
            <a:ext cx="1007106"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Access management</a:t>
            </a:r>
          </a:p>
        </p:txBody>
      </p:sp>
      <p:grpSp>
        <p:nvGrpSpPr>
          <p:cNvPr id="22" name="MoonEmpty 14">
            <a:extLst>
              <a:ext uri="{FF2B5EF4-FFF2-40B4-BE49-F238E27FC236}">
                <a16:creationId xmlns:a16="http://schemas.microsoft.com/office/drawing/2014/main" id="{4962E36E-EA4A-86B0-EB4F-C52EEA196C13}"/>
              </a:ext>
            </a:extLst>
          </p:cNvPr>
          <p:cNvGrpSpPr>
            <a:grpSpLocks/>
          </p:cNvGrpSpPr>
          <p:nvPr>
            <p:custDataLst>
              <p:tags r:id="rId7"/>
            </p:custDataLst>
          </p:nvPr>
        </p:nvGrpSpPr>
        <p:grpSpPr>
          <a:xfrm>
            <a:off x="2020299" y="3082780"/>
            <a:ext cx="274320" cy="274320"/>
            <a:chOff x="762000" y="1270000"/>
            <a:chExt cx="254000" cy="254000"/>
          </a:xfrm>
        </p:grpSpPr>
        <p:sp>
          <p:nvSpPr>
            <p:cNvPr id="26" name="Oval 25">
              <a:extLst>
                <a:ext uri="{FF2B5EF4-FFF2-40B4-BE49-F238E27FC236}">
                  <a16:creationId xmlns:a16="http://schemas.microsoft.com/office/drawing/2014/main" id="{463C7461-A7D3-BA55-2B0D-AC368BE64E8C}"/>
                </a:ext>
              </a:extLst>
            </p:cNvPr>
            <p:cNvSpPr/>
            <p:nvPr>
              <p:custDataLst>
                <p:tags r:id="rId36"/>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28" name="Arc 27">
              <a:extLst>
                <a:ext uri="{FF2B5EF4-FFF2-40B4-BE49-F238E27FC236}">
                  <a16:creationId xmlns:a16="http://schemas.microsoft.com/office/drawing/2014/main" id="{C78D94A3-E321-34D2-8924-511B6743164A}"/>
                </a:ext>
              </a:extLst>
            </p:cNvPr>
            <p:cNvSpPr/>
            <p:nvPr>
              <p:custDataLst>
                <p:tags r:id="rId37"/>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30" name="TextBox 29">
            <a:extLst>
              <a:ext uri="{FF2B5EF4-FFF2-40B4-BE49-F238E27FC236}">
                <a16:creationId xmlns:a16="http://schemas.microsoft.com/office/drawing/2014/main" id="{57083469-C18C-DB69-61E7-7573FD78643A}"/>
              </a:ext>
            </a:extLst>
          </p:cNvPr>
          <p:cNvSpPr txBox="1">
            <a:spLocks/>
          </p:cNvSpPr>
          <p:nvPr/>
        </p:nvSpPr>
        <p:spPr>
          <a:xfrm>
            <a:off x="3723679" y="3082780"/>
            <a:ext cx="3621681" cy="75405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Access control in place, </a:t>
            </a:r>
            <a:r>
              <a:rPr lang="en-US" sz="1100"/>
              <a:t>but approvals often granted without validation of requester role or need</a:t>
            </a:r>
            <a:endParaRPr lang="en-US" sz="1100" b="1">
              <a:solidFill>
                <a:schemeClr val="accent1"/>
              </a:solidFill>
            </a:endParaRPr>
          </a:p>
          <a:p>
            <a:pPr marL="171450" indent="-171450">
              <a:buFont typeface="Arial" panose="020B0604020202020204" pitchFamily="34" charset="0"/>
              <a:buChar char="•"/>
            </a:pPr>
            <a:r>
              <a:rPr lang="en-US" sz="1100" b="1">
                <a:solidFill>
                  <a:schemeClr val="accent1"/>
                </a:solidFill>
              </a:rPr>
              <a:t>Confidential data exposed through legacy practices </a:t>
            </a:r>
            <a:r>
              <a:rPr lang="en-US" sz="1100">
                <a:solidFill>
                  <a:schemeClr val="accent1"/>
                </a:solidFill>
              </a:rPr>
              <a:t>(e.g., sensitive docs in public SharePoint)</a:t>
            </a:r>
            <a:endParaRPr lang="en-US" sz="1100" b="1">
              <a:solidFill>
                <a:schemeClr val="accent1"/>
              </a:solidFill>
            </a:endParaRPr>
          </a:p>
        </p:txBody>
      </p:sp>
      <p:sp>
        <p:nvSpPr>
          <p:cNvPr id="64" name="TextBox 63">
            <a:extLst>
              <a:ext uri="{FF2B5EF4-FFF2-40B4-BE49-F238E27FC236}">
                <a16:creationId xmlns:a16="http://schemas.microsoft.com/office/drawing/2014/main" id="{0ACDD770-3D55-022C-33B5-76E2F75E00ED}"/>
              </a:ext>
            </a:extLst>
          </p:cNvPr>
          <p:cNvSpPr txBox="1">
            <a:spLocks/>
          </p:cNvSpPr>
          <p:nvPr/>
        </p:nvSpPr>
        <p:spPr>
          <a:xfrm>
            <a:off x="7408584" y="3082780"/>
            <a:ext cx="4229379"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Unauthorized access: </a:t>
            </a:r>
            <a:r>
              <a:rPr lang="en-US" sz="1100"/>
              <a:t>Uninformed approvals force teams to spend time informally chasing context on who should get access and could lead to breaches, inviting regulatory action </a:t>
            </a:r>
          </a:p>
          <a:p>
            <a:pPr marL="171450" indent="-171450">
              <a:buFont typeface="Arial" panose="020B0604020202020204" pitchFamily="34" charset="0"/>
              <a:buChar char="•"/>
            </a:pPr>
            <a:r>
              <a:rPr lang="en-US" sz="1100" b="1">
                <a:solidFill>
                  <a:schemeClr val="accent1"/>
                </a:solidFill>
              </a:rPr>
              <a:t>Sensitive data exposure: </a:t>
            </a:r>
            <a:r>
              <a:rPr lang="en-US" sz="1100">
                <a:solidFill>
                  <a:schemeClr val="accent1"/>
                </a:solidFill>
              </a:rPr>
              <a:t>Lack of proper controls could result in confidential data leakage</a:t>
            </a:r>
            <a:endParaRPr lang="en-US" sz="1100" b="1">
              <a:solidFill>
                <a:schemeClr val="accent1"/>
              </a:solidFill>
            </a:endParaRPr>
          </a:p>
        </p:txBody>
      </p:sp>
      <p:grpSp>
        <p:nvGrpSpPr>
          <p:cNvPr id="23" name="MoonEmpty 20">
            <a:extLst>
              <a:ext uri="{FF2B5EF4-FFF2-40B4-BE49-F238E27FC236}">
                <a16:creationId xmlns:a16="http://schemas.microsoft.com/office/drawing/2014/main" id="{3FFC0E69-EBF4-F02C-A0D0-CC05D66A20DA}"/>
              </a:ext>
            </a:extLst>
          </p:cNvPr>
          <p:cNvGrpSpPr>
            <a:grpSpLocks/>
          </p:cNvGrpSpPr>
          <p:nvPr>
            <p:custDataLst>
              <p:tags r:id="rId8"/>
            </p:custDataLst>
          </p:nvPr>
        </p:nvGrpSpPr>
        <p:grpSpPr>
          <a:xfrm>
            <a:off x="3043371" y="3082780"/>
            <a:ext cx="274320" cy="274320"/>
            <a:chOff x="762000" y="1270000"/>
            <a:chExt cx="254000" cy="254000"/>
          </a:xfrm>
        </p:grpSpPr>
        <p:sp>
          <p:nvSpPr>
            <p:cNvPr id="24" name="Oval 23">
              <a:extLst>
                <a:ext uri="{FF2B5EF4-FFF2-40B4-BE49-F238E27FC236}">
                  <a16:creationId xmlns:a16="http://schemas.microsoft.com/office/drawing/2014/main" id="{C9A581AB-A4C6-4B91-476E-C45BFCF4DA6F}"/>
                </a:ext>
              </a:extLst>
            </p:cNvPr>
            <p:cNvSpPr/>
            <p:nvPr>
              <p:custDataLst>
                <p:tags r:id="rId34"/>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25" name="Arc 24">
              <a:extLst>
                <a:ext uri="{FF2B5EF4-FFF2-40B4-BE49-F238E27FC236}">
                  <a16:creationId xmlns:a16="http://schemas.microsoft.com/office/drawing/2014/main" id="{5BD586F9-D7A1-040A-E899-04D435C17F92}"/>
                </a:ext>
              </a:extLst>
            </p:cNvPr>
            <p:cNvSpPr/>
            <p:nvPr>
              <p:custDataLst>
                <p:tags r:id="rId35"/>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74" name="TextBox 73">
            <a:extLst>
              <a:ext uri="{FF2B5EF4-FFF2-40B4-BE49-F238E27FC236}">
                <a16:creationId xmlns:a16="http://schemas.microsoft.com/office/drawing/2014/main" id="{A8A9DEC2-70F2-2CA9-1EAC-D1A16733C9BF}"/>
              </a:ext>
            </a:extLst>
          </p:cNvPr>
          <p:cNvSpPr txBox="1">
            <a:spLocks/>
          </p:cNvSpPr>
          <p:nvPr/>
        </p:nvSpPr>
        <p:spPr>
          <a:xfrm>
            <a:off x="554736" y="4064726"/>
            <a:ext cx="973900"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FFFFFF"/>
              </a:buClr>
              <a:buNone/>
              <a:defRPr/>
            </a:pPr>
            <a:r>
              <a:rPr lang="en-US" sz="1100" b="1"/>
              <a:t>Policies, standards, audit</a:t>
            </a:r>
          </a:p>
        </p:txBody>
      </p:sp>
      <p:grpSp>
        <p:nvGrpSpPr>
          <p:cNvPr id="35" name="MoonEmpty 14">
            <a:extLst>
              <a:ext uri="{FF2B5EF4-FFF2-40B4-BE49-F238E27FC236}">
                <a16:creationId xmlns:a16="http://schemas.microsoft.com/office/drawing/2014/main" id="{CF754E9E-BF0E-F13D-393B-D07425EF12D0}"/>
              </a:ext>
            </a:extLst>
          </p:cNvPr>
          <p:cNvGrpSpPr>
            <a:grpSpLocks/>
          </p:cNvGrpSpPr>
          <p:nvPr>
            <p:custDataLst>
              <p:tags r:id="rId9"/>
            </p:custDataLst>
          </p:nvPr>
        </p:nvGrpSpPr>
        <p:grpSpPr>
          <a:xfrm>
            <a:off x="2020299" y="4064726"/>
            <a:ext cx="274320" cy="274320"/>
            <a:chOff x="762000" y="1270000"/>
            <a:chExt cx="254000" cy="254000"/>
          </a:xfrm>
        </p:grpSpPr>
        <p:sp>
          <p:nvSpPr>
            <p:cNvPr id="37" name="Oval 36">
              <a:extLst>
                <a:ext uri="{FF2B5EF4-FFF2-40B4-BE49-F238E27FC236}">
                  <a16:creationId xmlns:a16="http://schemas.microsoft.com/office/drawing/2014/main" id="{C0D2A523-DED2-99A5-8AB2-31660B7A6EB6}"/>
                </a:ext>
              </a:extLst>
            </p:cNvPr>
            <p:cNvSpPr/>
            <p:nvPr>
              <p:custDataLst>
                <p:tags r:id="rId3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39" name="Arc 38">
              <a:extLst>
                <a:ext uri="{FF2B5EF4-FFF2-40B4-BE49-F238E27FC236}">
                  <a16:creationId xmlns:a16="http://schemas.microsoft.com/office/drawing/2014/main" id="{6ABC2D98-6A0A-ADEB-6A4C-A3701D7CE5D9}"/>
                </a:ext>
              </a:extLst>
            </p:cNvPr>
            <p:cNvSpPr/>
            <p:nvPr>
              <p:custDataLst>
                <p:tags r:id="rId3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59" name="TextBox 58">
            <a:extLst>
              <a:ext uri="{FF2B5EF4-FFF2-40B4-BE49-F238E27FC236}">
                <a16:creationId xmlns:a16="http://schemas.microsoft.com/office/drawing/2014/main" id="{09C7EF56-B3B7-84B6-A8F4-9243FC213CD3}"/>
              </a:ext>
            </a:extLst>
          </p:cNvPr>
          <p:cNvSpPr txBox="1">
            <a:spLocks/>
          </p:cNvSpPr>
          <p:nvPr/>
        </p:nvSpPr>
        <p:spPr>
          <a:xfrm>
            <a:off x="3723679" y="4064726"/>
            <a:ext cx="3621681" cy="100027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AI data policy</a:t>
            </a:r>
            <a:r>
              <a:rPr lang="en-US" sz="1100"/>
              <a:t> still under development</a:t>
            </a:r>
          </a:p>
          <a:p>
            <a:pPr marL="171450" indent="-171450">
              <a:buFont typeface="Arial" panose="020B0604020202020204" pitchFamily="34" charset="0"/>
              <a:buChar char="•"/>
            </a:pPr>
            <a:r>
              <a:rPr lang="en-US" sz="1100" b="1">
                <a:cs typeface="Arial"/>
              </a:rPr>
              <a:t>No specific guidelines for data usage, </a:t>
            </a:r>
            <a:r>
              <a:rPr lang="en-US" sz="1100">
                <a:cs typeface="Arial"/>
              </a:rPr>
              <a:t>with usage governed at the use case level</a:t>
            </a:r>
          </a:p>
          <a:p>
            <a:pPr marL="171450" indent="-171450">
              <a:buFont typeface="Arial" panose="020B0604020202020204" pitchFamily="34" charset="0"/>
              <a:buChar char="•"/>
            </a:pPr>
            <a:r>
              <a:rPr lang="en-US" sz="1100" b="1">
                <a:cs typeface="Arial"/>
              </a:rPr>
              <a:t>Internal audits performed at runtime</a:t>
            </a:r>
            <a:r>
              <a:rPr lang="en-US" sz="1100">
                <a:cs typeface="Arial"/>
              </a:rPr>
              <a:t>,</a:t>
            </a:r>
            <a:r>
              <a:rPr lang="en-US" sz="1100">
                <a:solidFill>
                  <a:schemeClr val="accent1"/>
                </a:solidFill>
                <a:cs typeface="Arial"/>
              </a:rPr>
              <a:t> but less mature for GenAI use cases</a:t>
            </a:r>
            <a:endParaRPr lang="en-US" sz="1100" b="1">
              <a:solidFill>
                <a:schemeClr val="accent1"/>
              </a:solidFill>
              <a:cs typeface="Arial"/>
            </a:endParaRPr>
          </a:p>
        </p:txBody>
      </p:sp>
      <p:sp>
        <p:nvSpPr>
          <p:cNvPr id="65" name="TextBox 64">
            <a:extLst>
              <a:ext uri="{FF2B5EF4-FFF2-40B4-BE49-F238E27FC236}">
                <a16:creationId xmlns:a16="http://schemas.microsoft.com/office/drawing/2014/main" id="{EB66F3DB-A903-47CA-3B12-4BD494CCCAF6}"/>
              </a:ext>
            </a:extLst>
          </p:cNvPr>
          <p:cNvSpPr txBox="1">
            <a:spLocks/>
          </p:cNvSpPr>
          <p:nvPr/>
        </p:nvSpPr>
        <p:spPr>
          <a:xfrm>
            <a:off x="7408584" y="4064726"/>
            <a:ext cx="4229379" cy="116955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Compliance gaps: </a:t>
            </a:r>
            <a:r>
              <a:rPr lang="en-US" sz="1100"/>
              <a:t>Lack of consistent AI policy leads to fragmented controls and possible regulatory scrutiny</a:t>
            </a:r>
          </a:p>
          <a:p>
            <a:pPr marL="171450" indent="-171450">
              <a:buFont typeface="Arial" panose="020B0604020202020204" pitchFamily="34" charset="0"/>
              <a:buChar char="•"/>
            </a:pPr>
            <a:r>
              <a:rPr lang="en-US" sz="1100" b="1"/>
              <a:t>Fragmented practices: </a:t>
            </a:r>
            <a:r>
              <a:rPr lang="en-US" sz="1100"/>
              <a:t>Inconsistent data usage governance prevents scaling, as governance is done on an ad-hoc basis</a:t>
            </a:r>
          </a:p>
          <a:p>
            <a:pPr marL="171450" indent="-171450">
              <a:buFont typeface="Arial" panose="020B0604020202020204" pitchFamily="34" charset="0"/>
              <a:buChar char="•"/>
            </a:pPr>
            <a:r>
              <a:rPr lang="en-US" sz="1100" b="1">
                <a:solidFill>
                  <a:schemeClr val="accent1"/>
                </a:solidFill>
              </a:rPr>
              <a:t>Audit gaps: </a:t>
            </a:r>
            <a:r>
              <a:rPr lang="en-US" sz="1100">
                <a:solidFill>
                  <a:schemeClr val="accent1"/>
                </a:solidFill>
              </a:rPr>
              <a:t>Immature GenAI audits allow bias and errors to go undetected</a:t>
            </a:r>
            <a:endParaRPr lang="en-US" sz="1100" b="1">
              <a:solidFill>
                <a:schemeClr val="accent1"/>
              </a:solidFill>
            </a:endParaRPr>
          </a:p>
        </p:txBody>
      </p:sp>
      <p:grpSp>
        <p:nvGrpSpPr>
          <p:cNvPr id="27" name="MoonEmpty 14">
            <a:extLst>
              <a:ext uri="{FF2B5EF4-FFF2-40B4-BE49-F238E27FC236}">
                <a16:creationId xmlns:a16="http://schemas.microsoft.com/office/drawing/2014/main" id="{552237A8-8507-C2CE-EE15-A5F112A028EC}"/>
              </a:ext>
            </a:extLst>
          </p:cNvPr>
          <p:cNvGrpSpPr>
            <a:grpSpLocks/>
          </p:cNvGrpSpPr>
          <p:nvPr>
            <p:custDataLst>
              <p:tags r:id="rId10"/>
            </p:custDataLst>
          </p:nvPr>
        </p:nvGrpSpPr>
        <p:grpSpPr>
          <a:xfrm>
            <a:off x="3043371" y="4064726"/>
            <a:ext cx="274320" cy="274320"/>
            <a:chOff x="762000" y="1270000"/>
            <a:chExt cx="254000" cy="254000"/>
          </a:xfrm>
        </p:grpSpPr>
        <p:sp>
          <p:nvSpPr>
            <p:cNvPr id="29" name="Oval 28">
              <a:extLst>
                <a:ext uri="{FF2B5EF4-FFF2-40B4-BE49-F238E27FC236}">
                  <a16:creationId xmlns:a16="http://schemas.microsoft.com/office/drawing/2014/main" id="{3AD471C7-6E6F-5B1F-EFEB-BB694D1D7AF4}"/>
                </a:ext>
              </a:extLst>
            </p:cNvPr>
            <p:cNvSpPr/>
            <p:nvPr>
              <p:custDataLst>
                <p:tags r:id="rId30"/>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31" name="Arc 30">
              <a:extLst>
                <a:ext uri="{FF2B5EF4-FFF2-40B4-BE49-F238E27FC236}">
                  <a16:creationId xmlns:a16="http://schemas.microsoft.com/office/drawing/2014/main" id="{333E2CC3-301B-0DE1-13A1-F3066F917DE0}"/>
                </a:ext>
              </a:extLst>
            </p:cNvPr>
            <p:cNvSpPr/>
            <p:nvPr>
              <p:custDataLst>
                <p:tags r:id="rId31"/>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cxnSp>
        <p:nvCxnSpPr>
          <p:cNvPr id="33" name="Straight Connector 32">
            <a:extLst>
              <a:ext uri="{FF2B5EF4-FFF2-40B4-BE49-F238E27FC236}">
                <a16:creationId xmlns:a16="http://schemas.microsoft.com/office/drawing/2014/main" id="{B51276A4-F7F1-AC7B-5CF7-6F17CB8B4E87}"/>
              </a:ext>
            </a:extLst>
          </p:cNvPr>
          <p:cNvCxnSpPr>
            <a:cxnSpLocks/>
          </p:cNvCxnSpPr>
          <p:nvPr>
            <p:custDataLst>
              <p:tags r:id="rId11"/>
            </p:custDataLst>
          </p:nvPr>
        </p:nvCxnSpPr>
        <p:spPr>
          <a:xfrm>
            <a:off x="539908" y="5263585"/>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8B311C8-FFD1-71B9-73BC-9C8219B92EEF}"/>
              </a:ext>
            </a:extLst>
          </p:cNvPr>
          <p:cNvSpPr txBox="1">
            <a:spLocks/>
          </p:cNvSpPr>
          <p:nvPr/>
        </p:nvSpPr>
        <p:spPr>
          <a:xfrm>
            <a:off x="554736" y="5292892"/>
            <a:ext cx="973900"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FFFFFF"/>
              </a:buClr>
              <a:buNone/>
              <a:defRPr/>
            </a:pPr>
            <a:r>
              <a:rPr lang="en-US" sz="1100" b="1"/>
              <a:t>Security, privacy, &amp; risk management</a:t>
            </a:r>
          </a:p>
        </p:txBody>
      </p:sp>
      <p:grpSp>
        <p:nvGrpSpPr>
          <p:cNvPr id="38" name="MoonEmpty 14">
            <a:extLst>
              <a:ext uri="{FF2B5EF4-FFF2-40B4-BE49-F238E27FC236}">
                <a16:creationId xmlns:a16="http://schemas.microsoft.com/office/drawing/2014/main" id="{FA983792-23CA-257D-B96C-354258E09CA3}"/>
              </a:ext>
            </a:extLst>
          </p:cNvPr>
          <p:cNvGrpSpPr>
            <a:grpSpLocks/>
          </p:cNvGrpSpPr>
          <p:nvPr>
            <p:custDataLst>
              <p:tags r:id="rId12"/>
            </p:custDataLst>
          </p:nvPr>
        </p:nvGrpSpPr>
        <p:grpSpPr>
          <a:xfrm>
            <a:off x="2020299" y="5292892"/>
            <a:ext cx="274320" cy="274320"/>
            <a:chOff x="762000" y="1270000"/>
            <a:chExt cx="254000" cy="254000"/>
          </a:xfrm>
        </p:grpSpPr>
        <p:sp>
          <p:nvSpPr>
            <p:cNvPr id="40" name="Oval 39">
              <a:extLst>
                <a:ext uri="{FF2B5EF4-FFF2-40B4-BE49-F238E27FC236}">
                  <a16:creationId xmlns:a16="http://schemas.microsoft.com/office/drawing/2014/main" id="{4B964B96-AD05-4DD8-A4A3-7248E6B82984}"/>
                </a:ext>
              </a:extLst>
            </p:cNvPr>
            <p:cNvSpPr/>
            <p:nvPr>
              <p:custDataLst>
                <p:tags r:id="rId28"/>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41" name="Arc 40">
              <a:extLst>
                <a:ext uri="{FF2B5EF4-FFF2-40B4-BE49-F238E27FC236}">
                  <a16:creationId xmlns:a16="http://schemas.microsoft.com/office/drawing/2014/main" id="{7896CC2A-E8F9-5190-474E-8A9BE4DD0A73}"/>
                </a:ext>
              </a:extLst>
            </p:cNvPr>
            <p:cNvSpPr/>
            <p:nvPr>
              <p:custDataLst>
                <p:tags r:id="rId29"/>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42" name="TextBox 41">
            <a:extLst>
              <a:ext uri="{FF2B5EF4-FFF2-40B4-BE49-F238E27FC236}">
                <a16:creationId xmlns:a16="http://schemas.microsoft.com/office/drawing/2014/main" id="{44CB4954-8D7B-114D-68FE-25FA6494E9A7}"/>
              </a:ext>
            </a:extLst>
          </p:cNvPr>
          <p:cNvSpPr txBox="1">
            <a:spLocks/>
          </p:cNvSpPr>
          <p:nvPr/>
        </p:nvSpPr>
        <p:spPr>
          <a:xfrm>
            <a:off x="3723679" y="5292892"/>
            <a:ext cx="3621681" cy="75405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solidFill>
                  <a:schemeClr val="accent1"/>
                </a:solidFill>
              </a:rPr>
              <a:t>No standardized/fully-defined security or privacy controls</a:t>
            </a:r>
            <a:r>
              <a:rPr lang="en-US" sz="1100">
                <a:solidFill>
                  <a:schemeClr val="accent1"/>
                </a:solidFill>
              </a:rPr>
              <a:t> for unstructured data </a:t>
            </a:r>
          </a:p>
        </p:txBody>
      </p:sp>
      <p:sp>
        <p:nvSpPr>
          <p:cNvPr id="44" name="TextBox 43">
            <a:extLst>
              <a:ext uri="{FF2B5EF4-FFF2-40B4-BE49-F238E27FC236}">
                <a16:creationId xmlns:a16="http://schemas.microsoft.com/office/drawing/2014/main" id="{2ED5F4F8-1B94-3D39-D90D-762E17E9CB48}"/>
              </a:ext>
            </a:extLst>
          </p:cNvPr>
          <p:cNvSpPr txBox="1">
            <a:spLocks/>
          </p:cNvSpPr>
          <p:nvPr/>
        </p:nvSpPr>
        <p:spPr>
          <a:xfrm>
            <a:off x="7408584" y="5292892"/>
            <a:ext cx="4229379"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solidFill>
                  <a:schemeClr val="accent1"/>
                </a:solidFill>
              </a:rPr>
              <a:t>Lack of scalability: </a:t>
            </a:r>
            <a:r>
              <a:rPr lang="en-US" sz="1100">
                <a:solidFill>
                  <a:schemeClr val="accent1"/>
                </a:solidFill>
              </a:rPr>
              <a:t>Absence of standardized controls leads to bespoke controls per data set, limiting scaling</a:t>
            </a:r>
            <a:endParaRPr lang="en-US" sz="1100" b="1"/>
          </a:p>
        </p:txBody>
      </p:sp>
      <p:grpSp>
        <p:nvGrpSpPr>
          <p:cNvPr id="50" name="MoonEmpty 14">
            <a:extLst>
              <a:ext uri="{FF2B5EF4-FFF2-40B4-BE49-F238E27FC236}">
                <a16:creationId xmlns:a16="http://schemas.microsoft.com/office/drawing/2014/main" id="{337E8B08-ED56-1780-4AA8-756301F63063}"/>
              </a:ext>
            </a:extLst>
          </p:cNvPr>
          <p:cNvGrpSpPr>
            <a:grpSpLocks/>
          </p:cNvGrpSpPr>
          <p:nvPr>
            <p:custDataLst>
              <p:tags r:id="rId13"/>
            </p:custDataLst>
          </p:nvPr>
        </p:nvGrpSpPr>
        <p:grpSpPr>
          <a:xfrm>
            <a:off x="3043371" y="5292892"/>
            <a:ext cx="274320" cy="274320"/>
            <a:chOff x="762000" y="1270000"/>
            <a:chExt cx="254000" cy="254000"/>
          </a:xfrm>
        </p:grpSpPr>
        <p:sp>
          <p:nvSpPr>
            <p:cNvPr id="51" name="Oval 50">
              <a:extLst>
                <a:ext uri="{FF2B5EF4-FFF2-40B4-BE49-F238E27FC236}">
                  <a16:creationId xmlns:a16="http://schemas.microsoft.com/office/drawing/2014/main" id="{60CA1229-CED7-E31D-5B4E-BF5BC6B10C21}"/>
                </a:ext>
              </a:extLst>
            </p:cNvPr>
            <p:cNvSpPr/>
            <p:nvPr>
              <p:custDataLst>
                <p:tags r:id="rId26"/>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52" name="Arc 51">
              <a:extLst>
                <a:ext uri="{FF2B5EF4-FFF2-40B4-BE49-F238E27FC236}">
                  <a16:creationId xmlns:a16="http://schemas.microsoft.com/office/drawing/2014/main" id="{F9D4A84F-6E55-893D-2E1A-AEA939203E91}"/>
                </a:ext>
              </a:extLst>
            </p:cNvPr>
            <p:cNvSpPr/>
            <p:nvPr>
              <p:custDataLst>
                <p:tags r:id="rId27"/>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57" name="MinusSignBlue 65">
            <a:extLst>
              <a:ext uri="{FF2B5EF4-FFF2-40B4-BE49-F238E27FC236}">
                <a16:creationId xmlns:a16="http://schemas.microsoft.com/office/drawing/2014/main" id="{408FDC62-9712-98EB-4371-BBFE33752F22}"/>
              </a:ext>
            </a:extLst>
          </p:cNvPr>
          <p:cNvGrpSpPr>
            <a:grpSpLocks noChangeAspect="1"/>
          </p:cNvGrpSpPr>
          <p:nvPr>
            <p:custDataLst>
              <p:tags r:id="rId14"/>
            </p:custDataLst>
          </p:nvPr>
        </p:nvGrpSpPr>
        <p:grpSpPr>
          <a:xfrm>
            <a:off x="3660455" y="2542787"/>
            <a:ext cx="155448" cy="155448"/>
            <a:chOff x="1016000" y="1016000"/>
            <a:chExt cx="396228" cy="396228"/>
          </a:xfrm>
        </p:grpSpPr>
        <p:sp>
          <p:nvSpPr>
            <p:cNvPr id="58" name="Oval 57">
              <a:extLst>
                <a:ext uri="{FF2B5EF4-FFF2-40B4-BE49-F238E27FC236}">
                  <a16:creationId xmlns:a16="http://schemas.microsoft.com/office/drawing/2014/main" id="{BA5D5EB8-C44A-E0CE-F612-B242530FB026}"/>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66" name="Graphic 65">
              <a:extLst>
                <a:ext uri="{FF2B5EF4-FFF2-40B4-BE49-F238E27FC236}">
                  <a16:creationId xmlns:a16="http://schemas.microsoft.com/office/drawing/2014/main" id="{53C6E74F-693B-CDCB-F751-E86E0117449B}"/>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grpSp>
        <p:nvGrpSpPr>
          <p:cNvPr id="72" name="PlusSignWhite 203">
            <a:extLst>
              <a:ext uri="{FF2B5EF4-FFF2-40B4-BE49-F238E27FC236}">
                <a16:creationId xmlns:a16="http://schemas.microsoft.com/office/drawing/2014/main" id="{C6E73FAE-543B-4F9A-4E23-D08DD197BDBF}"/>
              </a:ext>
            </a:extLst>
          </p:cNvPr>
          <p:cNvGrpSpPr>
            <a:grpSpLocks/>
          </p:cNvGrpSpPr>
          <p:nvPr>
            <p:custDataLst>
              <p:tags r:id="rId15"/>
            </p:custDataLst>
          </p:nvPr>
        </p:nvGrpSpPr>
        <p:grpSpPr>
          <a:xfrm>
            <a:off x="3660455" y="1945386"/>
            <a:ext cx="155448" cy="155448"/>
            <a:chOff x="1016000" y="1016000"/>
            <a:chExt cx="396228" cy="396228"/>
          </a:xfrm>
          <a:solidFill>
            <a:schemeClr val="accent1"/>
          </a:solidFill>
        </p:grpSpPr>
        <p:sp>
          <p:nvSpPr>
            <p:cNvPr id="73" name="Oval 72">
              <a:extLst>
                <a:ext uri="{FF2B5EF4-FFF2-40B4-BE49-F238E27FC236}">
                  <a16:creationId xmlns:a16="http://schemas.microsoft.com/office/drawing/2014/main" id="{891E7AE9-C862-E8B2-1E67-6CDB39174776}"/>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75" name="Graphic 74">
              <a:extLst>
                <a:ext uri="{FF2B5EF4-FFF2-40B4-BE49-F238E27FC236}">
                  <a16:creationId xmlns:a16="http://schemas.microsoft.com/office/drawing/2014/main" id="{852503AD-38C9-7DCA-2C4D-C3FF37C90554}"/>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23614" y="1023614"/>
              <a:ext cx="381000" cy="381000"/>
            </a:xfrm>
            <a:prstGeom prst="rect">
              <a:avLst/>
            </a:prstGeom>
          </p:spPr>
        </p:pic>
      </p:grpSp>
      <p:grpSp>
        <p:nvGrpSpPr>
          <p:cNvPr id="76" name="PlusSignWhite 203">
            <a:extLst>
              <a:ext uri="{FF2B5EF4-FFF2-40B4-BE49-F238E27FC236}">
                <a16:creationId xmlns:a16="http://schemas.microsoft.com/office/drawing/2014/main" id="{EEC11E03-4878-EBF7-48B9-B65F6174B802}"/>
              </a:ext>
            </a:extLst>
          </p:cNvPr>
          <p:cNvGrpSpPr>
            <a:grpSpLocks/>
          </p:cNvGrpSpPr>
          <p:nvPr>
            <p:custDataLst>
              <p:tags r:id="rId16"/>
            </p:custDataLst>
          </p:nvPr>
        </p:nvGrpSpPr>
        <p:grpSpPr>
          <a:xfrm>
            <a:off x="3660455" y="3097469"/>
            <a:ext cx="155448" cy="155448"/>
            <a:chOff x="1016000" y="1016000"/>
            <a:chExt cx="396228" cy="396228"/>
          </a:xfrm>
          <a:solidFill>
            <a:schemeClr val="accent1"/>
          </a:solidFill>
        </p:grpSpPr>
        <p:sp>
          <p:nvSpPr>
            <p:cNvPr id="77" name="Oval 76">
              <a:extLst>
                <a:ext uri="{FF2B5EF4-FFF2-40B4-BE49-F238E27FC236}">
                  <a16:creationId xmlns:a16="http://schemas.microsoft.com/office/drawing/2014/main" id="{395CDFD1-5FDB-FFE9-BF81-91641DEEBEA0}"/>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78" name="Graphic 77">
              <a:extLst>
                <a:ext uri="{FF2B5EF4-FFF2-40B4-BE49-F238E27FC236}">
                  <a16:creationId xmlns:a16="http://schemas.microsoft.com/office/drawing/2014/main" id="{630F68C5-AB71-62DA-4D3E-2F6DEBC09222}"/>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23614" y="1023614"/>
              <a:ext cx="381000" cy="381000"/>
            </a:xfrm>
            <a:prstGeom prst="rect">
              <a:avLst/>
            </a:prstGeom>
          </p:spPr>
        </p:pic>
      </p:grpSp>
      <p:grpSp>
        <p:nvGrpSpPr>
          <p:cNvPr id="79" name="MinusSignBlue 65">
            <a:extLst>
              <a:ext uri="{FF2B5EF4-FFF2-40B4-BE49-F238E27FC236}">
                <a16:creationId xmlns:a16="http://schemas.microsoft.com/office/drawing/2014/main" id="{4FBAA8DC-14C8-EA66-2C2D-368E763C03A9}"/>
              </a:ext>
            </a:extLst>
          </p:cNvPr>
          <p:cNvGrpSpPr>
            <a:grpSpLocks noChangeAspect="1"/>
          </p:cNvGrpSpPr>
          <p:nvPr>
            <p:custDataLst>
              <p:tags r:id="rId17"/>
            </p:custDataLst>
          </p:nvPr>
        </p:nvGrpSpPr>
        <p:grpSpPr>
          <a:xfrm>
            <a:off x="3660455" y="3501388"/>
            <a:ext cx="155448" cy="155448"/>
            <a:chOff x="1016000" y="1016000"/>
            <a:chExt cx="396228" cy="396228"/>
          </a:xfrm>
        </p:grpSpPr>
        <p:sp>
          <p:nvSpPr>
            <p:cNvPr id="80" name="Oval 79">
              <a:extLst>
                <a:ext uri="{FF2B5EF4-FFF2-40B4-BE49-F238E27FC236}">
                  <a16:creationId xmlns:a16="http://schemas.microsoft.com/office/drawing/2014/main" id="{6A8583D9-9613-B096-D968-ABF9E63FDE4D}"/>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81" name="Graphic 80">
              <a:extLst>
                <a:ext uri="{FF2B5EF4-FFF2-40B4-BE49-F238E27FC236}">
                  <a16:creationId xmlns:a16="http://schemas.microsoft.com/office/drawing/2014/main" id="{DB0B9112-224C-FA69-4B42-B39FCC89FCFF}"/>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grpSp>
        <p:nvGrpSpPr>
          <p:cNvPr id="82" name="MinusSignBlue 65">
            <a:extLst>
              <a:ext uri="{FF2B5EF4-FFF2-40B4-BE49-F238E27FC236}">
                <a16:creationId xmlns:a16="http://schemas.microsoft.com/office/drawing/2014/main" id="{AB334406-E681-C759-392A-F4F1FE444FAA}"/>
              </a:ext>
            </a:extLst>
          </p:cNvPr>
          <p:cNvGrpSpPr>
            <a:grpSpLocks noChangeAspect="1"/>
          </p:cNvGrpSpPr>
          <p:nvPr>
            <p:custDataLst>
              <p:tags r:id="rId18"/>
            </p:custDataLst>
          </p:nvPr>
        </p:nvGrpSpPr>
        <p:grpSpPr>
          <a:xfrm>
            <a:off x="3660455" y="4079428"/>
            <a:ext cx="155448" cy="155448"/>
            <a:chOff x="1016000" y="1016000"/>
            <a:chExt cx="396228" cy="396228"/>
          </a:xfrm>
        </p:grpSpPr>
        <p:sp>
          <p:nvSpPr>
            <p:cNvPr id="83" name="Oval 82">
              <a:extLst>
                <a:ext uri="{FF2B5EF4-FFF2-40B4-BE49-F238E27FC236}">
                  <a16:creationId xmlns:a16="http://schemas.microsoft.com/office/drawing/2014/main" id="{AC029C21-4494-C728-20C0-60CA43AF28E1}"/>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84" name="Graphic 83">
              <a:extLst>
                <a:ext uri="{FF2B5EF4-FFF2-40B4-BE49-F238E27FC236}">
                  <a16:creationId xmlns:a16="http://schemas.microsoft.com/office/drawing/2014/main" id="{63F11F35-806C-EE61-F648-040E090B6A8C}"/>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grpSp>
        <p:nvGrpSpPr>
          <p:cNvPr id="85" name="MinusSignBlue 65">
            <a:extLst>
              <a:ext uri="{FF2B5EF4-FFF2-40B4-BE49-F238E27FC236}">
                <a16:creationId xmlns:a16="http://schemas.microsoft.com/office/drawing/2014/main" id="{AF01FC21-106C-D886-4C42-ACB52F743F1D}"/>
              </a:ext>
            </a:extLst>
          </p:cNvPr>
          <p:cNvGrpSpPr>
            <a:grpSpLocks noChangeAspect="1"/>
          </p:cNvGrpSpPr>
          <p:nvPr>
            <p:custDataLst>
              <p:tags r:id="rId19"/>
            </p:custDataLst>
          </p:nvPr>
        </p:nvGrpSpPr>
        <p:grpSpPr>
          <a:xfrm>
            <a:off x="3660455" y="4330614"/>
            <a:ext cx="155448" cy="155448"/>
            <a:chOff x="1016000" y="1016000"/>
            <a:chExt cx="396228" cy="396228"/>
          </a:xfrm>
        </p:grpSpPr>
        <p:sp>
          <p:nvSpPr>
            <p:cNvPr id="87" name="Oval 86">
              <a:extLst>
                <a:ext uri="{FF2B5EF4-FFF2-40B4-BE49-F238E27FC236}">
                  <a16:creationId xmlns:a16="http://schemas.microsoft.com/office/drawing/2014/main" id="{3AE407BD-2A00-3E52-FFDF-0C71739BF7A6}"/>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88" name="Graphic 87">
              <a:extLst>
                <a:ext uri="{FF2B5EF4-FFF2-40B4-BE49-F238E27FC236}">
                  <a16:creationId xmlns:a16="http://schemas.microsoft.com/office/drawing/2014/main" id="{19F07A14-0CC1-5DBA-B674-B03BF91861BB}"/>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grpSp>
        <p:nvGrpSpPr>
          <p:cNvPr id="89" name="MinusSignBlue 65">
            <a:extLst>
              <a:ext uri="{FF2B5EF4-FFF2-40B4-BE49-F238E27FC236}">
                <a16:creationId xmlns:a16="http://schemas.microsoft.com/office/drawing/2014/main" id="{71478A56-91DC-C33A-1602-93C61D119CD1}"/>
              </a:ext>
            </a:extLst>
          </p:cNvPr>
          <p:cNvGrpSpPr>
            <a:grpSpLocks noChangeAspect="1"/>
          </p:cNvGrpSpPr>
          <p:nvPr>
            <p:custDataLst>
              <p:tags r:id="rId20"/>
            </p:custDataLst>
          </p:nvPr>
        </p:nvGrpSpPr>
        <p:grpSpPr>
          <a:xfrm>
            <a:off x="3660455" y="4726567"/>
            <a:ext cx="155448" cy="155448"/>
            <a:chOff x="1016000" y="1016000"/>
            <a:chExt cx="396228" cy="396228"/>
          </a:xfrm>
        </p:grpSpPr>
        <p:sp>
          <p:nvSpPr>
            <p:cNvPr id="90" name="Oval 89">
              <a:extLst>
                <a:ext uri="{FF2B5EF4-FFF2-40B4-BE49-F238E27FC236}">
                  <a16:creationId xmlns:a16="http://schemas.microsoft.com/office/drawing/2014/main" id="{5DB4BA7E-1CD1-4390-3295-33ED827133DF}"/>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91" name="Graphic 90">
              <a:extLst>
                <a:ext uri="{FF2B5EF4-FFF2-40B4-BE49-F238E27FC236}">
                  <a16:creationId xmlns:a16="http://schemas.microsoft.com/office/drawing/2014/main" id="{F7120808-1B61-49A9-F762-69B3C17E45D4}"/>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grpSp>
        <p:nvGrpSpPr>
          <p:cNvPr id="114" name="MinusSignBlue 65">
            <a:extLst>
              <a:ext uri="{FF2B5EF4-FFF2-40B4-BE49-F238E27FC236}">
                <a16:creationId xmlns:a16="http://schemas.microsoft.com/office/drawing/2014/main" id="{BF0B9F43-5BBF-FC5B-341D-1482A9A6B862}"/>
              </a:ext>
            </a:extLst>
          </p:cNvPr>
          <p:cNvGrpSpPr>
            <a:grpSpLocks noChangeAspect="1"/>
          </p:cNvGrpSpPr>
          <p:nvPr>
            <p:custDataLst>
              <p:tags r:id="rId21"/>
            </p:custDataLst>
          </p:nvPr>
        </p:nvGrpSpPr>
        <p:grpSpPr>
          <a:xfrm>
            <a:off x="3660455" y="5305505"/>
            <a:ext cx="155448" cy="155448"/>
            <a:chOff x="1016000" y="1016000"/>
            <a:chExt cx="396228" cy="396228"/>
          </a:xfrm>
        </p:grpSpPr>
        <p:sp>
          <p:nvSpPr>
            <p:cNvPr id="115" name="Oval 114">
              <a:extLst>
                <a:ext uri="{FF2B5EF4-FFF2-40B4-BE49-F238E27FC236}">
                  <a16:creationId xmlns:a16="http://schemas.microsoft.com/office/drawing/2014/main" id="{60E9AADB-25A3-0FBB-3DF3-1EC9E4C325BD}"/>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6" name="Graphic 115">
              <a:extLst>
                <a:ext uri="{FF2B5EF4-FFF2-40B4-BE49-F238E27FC236}">
                  <a16:creationId xmlns:a16="http://schemas.microsoft.com/office/drawing/2014/main" id="{9F985F2F-294F-513C-0E75-1997455A9B90}"/>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cxnSp>
        <p:nvCxnSpPr>
          <p:cNvPr id="146" name="Straight Connector 145">
            <a:extLst>
              <a:ext uri="{FF2B5EF4-FFF2-40B4-BE49-F238E27FC236}">
                <a16:creationId xmlns:a16="http://schemas.microsoft.com/office/drawing/2014/main" id="{093D595B-9CD7-30DF-E007-FB41A4B4ABE4}"/>
              </a:ext>
            </a:extLst>
          </p:cNvPr>
          <p:cNvCxnSpPr>
            <a:cxnSpLocks/>
          </p:cNvCxnSpPr>
          <p:nvPr>
            <p:custDataLst>
              <p:tags r:id="rId22"/>
            </p:custDataLst>
          </p:nvPr>
        </p:nvCxnSpPr>
        <p:spPr>
          <a:xfrm>
            <a:off x="539908" y="1867209"/>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87199CCB-B9D9-FB81-BE2E-225F09A4978E}"/>
              </a:ext>
            </a:extLst>
          </p:cNvPr>
          <p:cNvSpPr txBox="1">
            <a:spLocks/>
          </p:cNvSpPr>
          <p:nvPr/>
        </p:nvSpPr>
        <p:spPr>
          <a:xfrm>
            <a:off x="2700607"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a:t>
            </a:r>
          </a:p>
        </p:txBody>
      </p:sp>
      <p:sp>
        <p:nvSpPr>
          <p:cNvPr id="148" name="TextBox 147">
            <a:extLst>
              <a:ext uri="{FF2B5EF4-FFF2-40B4-BE49-F238E27FC236}">
                <a16:creationId xmlns:a16="http://schemas.microsoft.com/office/drawing/2014/main" id="{95BE6CBB-F696-99D8-0EF0-1CE0FAB0A46E}"/>
              </a:ext>
            </a:extLst>
          </p:cNvPr>
          <p:cNvSpPr txBox="1">
            <a:spLocks/>
          </p:cNvSpPr>
          <p:nvPr/>
        </p:nvSpPr>
        <p:spPr>
          <a:xfrm>
            <a:off x="1677535" y="1198538"/>
            <a:ext cx="198292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Assessment Score</a:t>
            </a:r>
          </a:p>
        </p:txBody>
      </p:sp>
      <p:cxnSp>
        <p:nvCxnSpPr>
          <p:cNvPr id="149" name="GreyLineSeparatorStrong 8">
            <a:extLst>
              <a:ext uri="{FF2B5EF4-FFF2-40B4-BE49-F238E27FC236}">
                <a16:creationId xmlns:a16="http://schemas.microsoft.com/office/drawing/2014/main" id="{DD658DD4-272E-295F-E571-D41DD299FCA7}"/>
              </a:ext>
            </a:extLst>
          </p:cNvPr>
          <p:cNvCxnSpPr>
            <a:cxnSpLocks/>
          </p:cNvCxnSpPr>
          <p:nvPr>
            <p:custDataLst>
              <p:tags r:id="rId23"/>
            </p:custDataLst>
          </p:nvPr>
        </p:nvCxnSpPr>
        <p:spPr>
          <a:xfrm>
            <a:off x="1677535" y="1406164"/>
            <a:ext cx="1982920"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2AD7BB1F-62B7-B23D-C1B2-F46D859A244E}"/>
              </a:ext>
            </a:extLst>
          </p:cNvPr>
          <p:cNvSpPr txBox="1">
            <a:spLocks/>
          </p:cNvSpPr>
          <p:nvPr/>
        </p:nvSpPr>
        <p:spPr>
          <a:xfrm>
            <a:off x="554736" y="1462104"/>
            <a:ext cx="1060273"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151" name="TextBox 150">
            <a:extLst>
              <a:ext uri="{FF2B5EF4-FFF2-40B4-BE49-F238E27FC236}">
                <a16:creationId xmlns:a16="http://schemas.microsoft.com/office/drawing/2014/main" id="{8CF90B5C-EE39-4627-1887-609032854FFD}"/>
              </a:ext>
            </a:extLst>
          </p:cNvPr>
          <p:cNvSpPr txBox="1">
            <a:spLocks/>
          </p:cNvSpPr>
          <p:nvPr/>
        </p:nvSpPr>
        <p:spPr>
          <a:xfrm>
            <a:off x="3723679" y="1646770"/>
            <a:ext cx="3621681"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Observations</a:t>
            </a:r>
          </a:p>
        </p:txBody>
      </p:sp>
      <p:sp>
        <p:nvSpPr>
          <p:cNvPr id="152" name="TextBox 151">
            <a:extLst>
              <a:ext uri="{FF2B5EF4-FFF2-40B4-BE49-F238E27FC236}">
                <a16:creationId xmlns:a16="http://schemas.microsoft.com/office/drawing/2014/main" id="{D5448D77-B85A-CDCD-309F-ACCD1F25B58B}"/>
              </a:ext>
            </a:extLst>
          </p:cNvPr>
          <p:cNvSpPr txBox="1">
            <a:spLocks/>
          </p:cNvSpPr>
          <p:nvPr/>
        </p:nvSpPr>
        <p:spPr>
          <a:xfrm>
            <a:off x="1677535"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rgbClr val="000000"/>
              </a:buClr>
              <a:defRPr/>
            </a:pPr>
            <a:r>
              <a:rPr lang="en-US" sz="1200" b="1">
                <a:solidFill>
                  <a:srgbClr val="000000"/>
                </a:solidFill>
                <a:latin typeface="Arial"/>
                <a:cs typeface="Arial"/>
              </a:rPr>
              <a:t>Traditional</a:t>
            </a:r>
            <a:r>
              <a:rPr kumimoji="0" lang="en-US" sz="1200" b="1" i="0" u="none" strike="noStrike" kern="1200" cap="none" spc="0" normalizeH="0" baseline="0" noProof="0">
                <a:ln>
                  <a:noFill/>
                </a:ln>
                <a:solidFill>
                  <a:srgbClr val="000000"/>
                </a:solidFill>
                <a:effectLst/>
                <a:uLnTx/>
                <a:uFillTx/>
                <a:latin typeface="Arial"/>
                <a:cs typeface="Arial"/>
              </a:rPr>
              <a:t> AI</a:t>
            </a:r>
            <a:endParaRPr lang="en-US" sz="1200">
              <a:cs typeface="Arial"/>
            </a:endParaRPr>
          </a:p>
        </p:txBody>
      </p:sp>
      <p:sp>
        <p:nvSpPr>
          <p:cNvPr id="153" name="TextBox 152">
            <a:extLst>
              <a:ext uri="{FF2B5EF4-FFF2-40B4-BE49-F238E27FC236}">
                <a16:creationId xmlns:a16="http://schemas.microsoft.com/office/drawing/2014/main" id="{2BB0A113-222A-BE86-7224-DD8939D1F385}"/>
              </a:ext>
            </a:extLst>
          </p:cNvPr>
          <p:cNvSpPr txBox="1">
            <a:spLocks/>
          </p:cNvSpPr>
          <p:nvPr/>
        </p:nvSpPr>
        <p:spPr>
          <a:xfrm>
            <a:off x="7408584" y="1646770"/>
            <a:ext cx="4229379"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Implications for Client</a:t>
            </a:r>
          </a:p>
        </p:txBody>
      </p:sp>
      <p:grpSp>
        <p:nvGrpSpPr>
          <p:cNvPr id="165" name="MinusSignBlue 65">
            <a:extLst>
              <a:ext uri="{FF2B5EF4-FFF2-40B4-BE49-F238E27FC236}">
                <a16:creationId xmlns:a16="http://schemas.microsoft.com/office/drawing/2014/main" id="{8DCFFD11-6859-2B0C-47F2-5C790368EE53}"/>
              </a:ext>
            </a:extLst>
          </p:cNvPr>
          <p:cNvGrpSpPr>
            <a:grpSpLocks noChangeAspect="1"/>
          </p:cNvGrpSpPr>
          <p:nvPr>
            <p:custDataLst>
              <p:tags r:id="rId24"/>
            </p:custDataLst>
          </p:nvPr>
        </p:nvGrpSpPr>
        <p:grpSpPr>
          <a:xfrm>
            <a:off x="10283293" y="715186"/>
            <a:ext cx="155448" cy="155448"/>
            <a:chOff x="1016000" y="1016000"/>
            <a:chExt cx="396228" cy="396228"/>
          </a:xfrm>
        </p:grpSpPr>
        <p:sp>
          <p:nvSpPr>
            <p:cNvPr id="171" name="Oval 170">
              <a:extLst>
                <a:ext uri="{FF2B5EF4-FFF2-40B4-BE49-F238E27FC236}">
                  <a16:creationId xmlns:a16="http://schemas.microsoft.com/office/drawing/2014/main" id="{E17D4BA0-8871-6F34-2DBA-FE193528ADE4}"/>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72" name="Graphic 171">
              <a:extLst>
                <a:ext uri="{FF2B5EF4-FFF2-40B4-BE49-F238E27FC236}">
                  <a16:creationId xmlns:a16="http://schemas.microsoft.com/office/drawing/2014/main" id="{CD1059EF-0B15-1B3D-37D4-AE79A9CB6DC0}"/>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23614" y="1023614"/>
              <a:ext cx="381000" cy="381000"/>
            </a:xfrm>
            <a:prstGeom prst="rect">
              <a:avLst/>
            </a:prstGeom>
          </p:spPr>
        </p:pic>
      </p:grpSp>
      <p:grpSp>
        <p:nvGrpSpPr>
          <p:cNvPr id="167" name="PlusSignWhite 203">
            <a:extLst>
              <a:ext uri="{FF2B5EF4-FFF2-40B4-BE49-F238E27FC236}">
                <a16:creationId xmlns:a16="http://schemas.microsoft.com/office/drawing/2014/main" id="{000FB338-28FF-C521-E36A-034B51B7F310}"/>
              </a:ext>
            </a:extLst>
          </p:cNvPr>
          <p:cNvGrpSpPr>
            <a:grpSpLocks/>
          </p:cNvGrpSpPr>
          <p:nvPr>
            <p:custDataLst>
              <p:tags r:id="rId25"/>
            </p:custDataLst>
          </p:nvPr>
        </p:nvGrpSpPr>
        <p:grpSpPr>
          <a:xfrm>
            <a:off x="10872764" y="715186"/>
            <a:ext cx="155448" cy="155448"/>
            <a:chOff x="1016000" y="1016000"/>
            <a:chExt cx="396228" cy="396228"/>
          </a:xfrm>
          <a:solidFill>
            <a:schemeClr val="accent1"/>
          </a:solidFill>
        </p:grpSpPr>
        <p:sp>
          <p:nvSpPr>
            <p:cNvPr id="169" name="Oval 168">
              <a:extLst>
                <a:ext uri="{FF2B5EF4-FFF2-40B4-BE49-F238E27FC236}">
                  <a16:creationId xmlns:a16="http://schemas.microsoft.com/office/drawing/2014/main" id="{C45A029A-9CA4-4EBE-289D-547F48836301}"/>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70" name="Graphic 169">
              <a:extLst>
                <a:ext uri="{FF2B5EF4-FFF2-40B4-BE49-F238E27FC236}">
                  <a16:creationId xmlns:a16="http://schemas.microsoft.com/office/drawing/2014/main" id="{90170FF2-7F78-B31D-C35A-4DC4C2AD2752}"/>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23614" y="1023614"/>
              <a:ext cx="381000" cy="381000"/>
            </a:xfrm>
            <a:prstGeom prst="rect">
              <a:avLst/>
            </a:prstGeom>
          </p:spPr>
        </p:pic>
      </p:grpSp>
      <p:sp>
        <p:nvSpPr>
          <p:cNvPr id="155" name="TextBox 73">
            <a:extLst>
              <a:ext uri="{FF2B5EF4-FFF2-40B4-BE49-F238E27FC236}">
                <a16:creationId xmlns:a16="http://schemas.microsoft.com/office/drawing/2014/main" id="{1CCD360B-C276-2870-25D6-4590C6516F51}"/>
              </a:ext>
            </a:extLst>
          </p:cNvPr>
          <p:cNvSpPr txBox="1"/>
          <p:nvPr/>
        </p:nvSpPr>
        <p:spPr>
          <a:xfrm>
            <a:off x="6784030" y="1015359"/>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156" name="TextBox 74">
            <a:extLst>
              <a:ext uri="{FF2B5EF4-FFF2-40B4-BE49-F238E27FC236}">
                <a16:creationId xmlns:a16="http://schemas.microsoft.com/office/drawing/2014/main" id="{C6CA32F0-FCAF-AAD3-0548-AEE6C25C2593}"/>
              </a:ext>
            </a:extLst>
          </p:cNvPr>
          <p:cNvSpPr txBox="1"/>
          <p:nvPr/>
        </p:nvSpPr>
        <p:spPr>
          <a:xfrm>
            <a:off x="7060352" y="1015359"/>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157" name="Legend1">
            <a:extLst>
              <a:ext uri="{FF2B5EF4-FFF2-40B4-BE49-F238E27FC236}">
                <a16:creationId xmlns:a16="http://schemas.microsoft.com/office/drawing/2014/main" id="{8207C72D-1DB9-FC8D-62BB-5C45DC8B87D6}"/>
              </a:ext>
            </a:extLst>
          </p:cNvPr>
          <p:cNvSpPr txBox="1"/>
          <p:nvPr/>
        </p:nvSpPr>
        <p:spPr>
          <a:xfrm>
            <a:off x="8696584" y="1015359"/>
            <a:ext cx="234038"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Low</a:t>
            </a:r>
          </a:p>
        </p:txBody>
      </p:sp>
      <p:grpSp>
        <p:nvGrpSpPr>
          <p:cNvPr id="158" name="MoonLegend1">
            <a:extLst>
              <a:ext uri="{FF2B5EF4-FFF2-40B4-BE49-F238E27FC236}">
                <a16:creationId xmlns:a16="http://schemas.microsoft.com/office/drawing/2014/main" id="{270C9968-C5F3-8DC7-7FB5-4BE1300596B5}"/>
              </a:ext>
            </a:extLst>
          </p:cNvPr>
          <p:cNvGrpSpPr>
            <a:grpSpLocks noChangeAspect="1"/>
          </p:cNvGrpSpPr>
          <p:nvPr/>
        </p:nvGrpSpPr>
        <p:grpSpPr>
          <a:xfrm>
            <a:off x="8476410" y="1014579"/>
            <a:ext cx="155448" cy="155448"/>
            <a:chOff x="762000" y="1270000"/>
            <a:chExt cx="254000" cy="254000"/>
          </a:xfrm>
        </p:grpSpPr>
        <p:sp>
          <p:nvSpPr>
            <p:cNvPr id="177" name="Oval 176">
              <a:extLst>
                <a:ext uri="{FF2B5EF4-FFF2-40B4-BE49-F238E27FC236}">
                  <a16:creationId xmlns:a16="http://schemas.microsoft.com/office/drawing/2014/main" id="{7DAEF265-AD61-14BD-16D4-1BD4CC2AF3F8}"/>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8" name="Arc 177" hidden="1">
              <a:extLst>
                <a:ext uri="{FF2B5EF4-FFF2-40B4-BE49-F238E27FC236}">
                  <a16:creationId xmlns:a16="http://schemas.microsoft.com/office/drawing/2014/main" id="{01A0B860-032C-A6A2-7BB1-D02851ECB8A4}"/>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59" name="Legend3">
            <a:extLst>
              <a:ext uri="{FF2B5EF4-FFF2-40B4-BE49-F238E27FC236}">
                <a16:creationId xmlns:a16="http://schemas.microsoft.com/office/drawing/2014/main" id="{950E5E88-B03C-40DD-5A12-7058921855C8}"/>
              </a:ext>
            </a:extLst>
          </p:cNvPr>
          <p:cNvSpPr txBox="1"/>
          <p:nvPr/>
        </p:nvSpPr>
        <p:spPr>
          <a:xfrm>
            <a:off x="9215522" y="1015359"/>
            <a:ext cx="455253"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Medium</a:t>
            </a:r>
          </a:p>
        </p:txBody>
      </p:sp>
      <p:grpSp>
        <p:nvGrpSpPr>
          <p:cNvPr id="160" name="MoonLegend3">
            <a:extLst>
              <a:ext uri="{FF2B5EF4-FFF2-40B4-BE49-F238E27FC236}">
                <a16:creationId xmlns:a16="http://schemas.microsoft.com/office/drawing/2014/main" id="{7C1F283B-0017-8E84-C885-830E1D9BBD7E}"/>
              </a:ext>
            </a:extLst>
          </p:cNvPr>
          <p:cNvGrpSpPr>
            <a:grpSpLocks noChangeAspect="1"/>
          </p:cNvGrpSpPr>
          <p:nvPr/>
        </p:nvGrpSpPr>
        <p:grpSpPr>
          <a:xfrm>
            <a:off x="8995348" y="1014579"/>
            <a:ext cx="155448" cy="155448"/>
            <a:chOff x="762000" y="1270000"/>
            <a:chExt cx="254000" cy="254000"/>
          </a:xfrm>
        </p:grpSpPr>
        <p:sp>
          <p:nvSpPr>
            <p:cNvPr id="175" name="Oval 174">
              <a:extLst>
                <a:ext uri="{FF2B5EF4-FFF2-40B4-BE49-F238E27FC236}">
                  <a16:creationId xmlns:a16="http://schemas.microsoft.com/office/drawing/2014/main" id="{3E3D97FB-38F0-E999-8EFE-0B0B1F6EF85B}"/>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6" name="Arc 175">
              <a:extLst>
                <a:ext uri="{FF2B5EF4-FFF2-40B4-BE49-F238E27FC236}">
                  <a16:creationId xmlns:a16="http://schemas.microsoft.com/office/drawing/2014/main" id="{530DA323-35A5-F134-93AF-223773CBCE06}"/>
                </a:ext>
              </a:extLst>
            </p:cNvPr>
            <p:cNvSpPr/>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61" name="Legend5">
            <a:extLst>
              <a:ext uri="{FF2B5EF4-FFF2-40B4-BE49-F238E27FC236}">
                <a16:creationId xmlns:a16="http://schemas.microsoft.com/office/drawing/2014/main" id="{E38F2028-7622-9C80-74E7-785AAB1142F0}"/>
              </a:ext>
            </a:extLst>
          </p:cNvPr>
          <p:cNvSpPr txBox="1"/>
          <p:nvPr/>
        </p:nvSpPr>
        <p:spPr>
          <a:xfrm>
            <a:off x="9955675" y="1015359"/>
            <a:ext cx="262892"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High</a:t>
            </a:r>
          </a:p>
        </p:txBody>
      </p:sp>
      <p:grpSp>
        <p:nvGrpSpPr>
          <p:cNvPr id="162" name="MoonLegend5">
            <a:extLst>
              <a:ext uri="{FF2B5EF4-FFF2-40B4-BE49-F238E27FC236}">
                <a16:creationId xmlns:a16="http://schemas.microsoft.com/office/drawing/2014/main" id="{4C19311C-8EA1-EFF9-43F1-67CC974DD6E4}"/>
              </a:ext>
            </a:extLst>
          </p:cNvPr>
          <p:cNvGrpSpPr>
            <a:grpSpLocks noChangeAspect="1"/>
          </p:cNvGrpSpPr>
          <p:nvPr/>
        </p:nvGrpSpPr>
        <p:grpSpPr>
          <a:xfrm>
            <a:off x="9735501" y="1014579"/>
            <a:ext cx="155448" cy="155448"/>
            <a:chOff x="762000" y="1270000"/>
            <a:chExt cx="254000" cy="254000"/>
          </a:xfrm>
        </p:grpSpPr>
        <p:sp>
          <p:nvSpPr>
            <p:cNvPr id="173" name="Oval 172">
              <a:extLst>
                <a:ext uri="{FF2B5EF4-FFF2-40B4-BE49-F238E27FC236}">
                  <a16:creationId xmlns:a16="http://schemas.microsoft.com/office/drawing/2014/main" id="{BE55578F-66E7-5A4C-3F25-538E138741F1}"/>
                </a:ext>
              </a:extLst>
            </p:cNvPr>
            <p:cNvSpPr/>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4" name="Arc 173">
              <a:extLst>
                <a:ext uri="{FF2B5EF4-FFF2-40B4-BE49-F238E27FC236}">
                  <a16:creationId xmlns:a16="http://schemas.microsoft.com/office/drawing/2014/main" id="{7BB43E67-7106-59C3-F81C-F491D152CDC5}"/>
                </a:ext>
              </a:extLst>
            </p:cNvPr>
            <p:cNvSpPr/>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grpSp>
      <p:sp>
        <p:nvSpPr>
          <p:cNvPr id="163" name="TextBox 162">
            <a:extLst>
              <a:ext uri="{FF2B5EF4-FFF2-40B4-BE49-F238E27FC236}">
                <a16:creationId xmlns:a16="http://schemas.microsoft.com/office/drawing/2014/main" id="{FDFDE2CC-8165-A619-4E5C-292DD81CAE1B}"/>
              </a:ext>
            </a:extLst>
          </p:cNvPr>
          <p:cNvSpPr txBox="1"/>
          <p:nvPr/>
        </p:nvSpPr>
        <p:spPr>
          <a:xfrm>
            <a:off x="4760434" y="1015359"/>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Most critical for AI Data Readiness</a:t>
            </a:r>
          </a:p>
        </p:txBody>
      </p:sp>
      <p:sp>
        <p:nvSpPr>
          <p:cNvPr id="164" name="Rectangle 163">
            <a:extLst>
              <a:ext uri="{FF2B5EF4-FFF2-40B4-BE49-F238E27FC236}">
                <a16:creationId xmlns:a16="http://schemas.microsoft.com/office/drawing/2014/main" id="{FD51EFF0-E2AD-1FDD-EFCE-57DE22C225EA}"/>
              </a:ext>
            </a:extLst>
          </p:cNvPr>
          <p:cNvSpPr/>
          <p:nvPr/>
        </p:nvSpPr>
        <p:spPr>
          <a:xfrm>
            <a:off x="4540260" y="1014579"/>
            <a:ext cx="155448" cy="155448"/>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sp>
        <p:nvSpPr>
          <p:cNvPr id="166" name="Legend3">
            <a:extLst>
              <a:ext uri="{FF2B5EF4-FFF2-40B4-BE49-F238E27FC236}">
                <a16:creationId xmlns:a16="http://schemas.microsoft.com/office/drawing/2014/main" id="{B388C67B-9AC9-50DB-0D0C-37E21002E225}"/>
              </a:ext>
            </a:extLst>
          </p:cNvPr>
          <p:cNvSpPr txBox="1"/>
          <p:nvPr/>
        </p:nvSpPr>
        <p:spPr>
          <a:xfrm>
            <a:off x="10503467" y="1015359"/>
            <a:ext cx="30457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Gaps</a:t>
            </a:r>
          </a:p>
        </p:txBody>
      </p:sp>
      <p:sp>
        <p:nvSpPr>
          <p:cNvPr id="168" name="Legend3">
            <a:extLst>
              <a:ext uri="{FF2B5EF4-FFF2-40B4-BE49-F238E27FC236}">
                <a16:creationId xmlns:a16="http://schemas.microsoft.com/office/drawing/2014/main" id="{1AF9C705-5286-8F57-34AB-05AC93242FEE}"/>
              </a:ext>
            </a:extLst>
          </p:cNvPr>
          <p:cNvSpPr txBox="1"/>
          <p:nvPr/>
        </p:nvSpPr>
        <p:spPr>
          <a:xfrm>
            <a:off x="11092942" y="1015359"/>
            <a:ext cx="54502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altLang="zh-CN" sz="1000"/>
              <a:t>Strengths</a:t>
            </a:r>
            <a:endParaRPr lang="en-US" sz="1000"/>
          </a:p>
        </p:txBody>
      </p:sp>
    </p:spTree>
    <p:custDataLst>
      <p:tags r:id="rId1"/>
    </p:custDataLst>
    <p:extLst>
      <p:ext uri="{BB962C8B-B14F-4D97-AF65-F5344CB8AC3E}">
        <p14:creationId xmlns:p14="http://schemas.microsoft.com/office/powerpoint/2010/main" val="4115033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65DB-6652-15A2-F15B-61A287D478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4F7B5BA-1ED4-BF6B-B7D3-FF84C654BC18}"/>
              </a:ext>
            </a:extLst>
          </p:cNvPr>
          <p:cNvSpPr>
            <a:spLocks/>
          </p:cNvSpPr>
          <p:nvPr/>
        </p:nvSpPr>
        <p:spPr>
          <a:xfrm>
            <a:off x="531699" y="1876293"/>
            <a:ext cx="11085460" cy="319136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graphicFrame>
        <p:nvGraphicFramePr>
          <p:cNvPr id="5" name="Object 6" hidden="1">
            <a:extLst>
              <a:ext uri="{FF2B5EF4-FFF2-40B4-BE49-F238E27FC236}">
                <a16:creationId xmlns:a16="http://schemas.microsoft.com/office/drawing/2014/main" id="{BAFF9FA6-D304-9138-BA95-C8F57E2871B8}"/>
              </a:ext>
            </a:extLst>
          </p:cNvPr>
          <p:cNvGraphicFramePr>
            <a:graphicFrameLocks noChangeAspect="1"/>
          </p:cNvGraphicFramePr>
          <p:nvPr>
            <p:custDataLst>
              <p:tags r:id="rId2"/>
            </p:custDataLst>
            <p:extLst>
              <p:ext uri="{D42A27DB-BD31-4B8C-83A1-F6EECF244321}">
                <p14:modId xmlns:p14="http://schemas.microsoft.com/office/powerpoint/2010/main" val="4097500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04" imgH="405" progId="TCLayout.ActiveDocument.1">
                  <p:embed/>
                </p:oleObj>
              </mc:Choice>
              <mc:Fallback>
                <p:oleObj name="think-cell Slide" r:id="rId36" imgW="404" imgH="405" progId="TCLayout.ActiveDocument.1">
                  <p:embed/>
                  <p:pic>
                    <p:nvPicPr>
                      <p:cNvPr id="5" name="Object 6" hidden="1">
                        <a:extLst>
                          <a:ext uri="{FF2B5EF4-FFF2-40B4-BE49-F238E27FC236}">
                            <a16:creationId xmlns:a16="http://schemas.microsoft.com/office/drawing/2014/main" id="{BAFF9FA6-D304-9138-BA95-C8F57E2871B8}"/>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2363436C-043A-C263-DFAA-60F3FF4CA024}"/>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dirty="0"/>
              <a:t>F. Platform &amp; Tooling dimension observations and implications</a:t>
            </a:r>
          </a:p>
        </p:txBody>
      </p:sp>
      <p:sp>
        <p:nvSpPr>
          <p:cNvPr id="3" name="Text Placeholder 2">
            <a:extLst>
              <a:ext uri="{FF2B5EF4-FFF2-40B4-BE49-F238E27FC236}">
                <a16:creationId xmlns:a16="http://schemas.microsoft.com/office/drawing/2014/main" id="{457018F7-6445-6DF2-B668-4910F39F734B}"/>
              </a:ext>
            </a:extLst>
          </p:cNvPr>
          <p:cNvSpPr>
            <a:spLocks noGrp="1"/>
          </p:cNvSpPr>
          <p:nvPr>
            <p:ph type="body" sz="quarter" idx="17"/>
          </p:nvPr>
        </p:nvSpPr>
        <p:spPr/>
        <p:txBody>
          <a:bodyPr/>
          <a:lstStyle/>
          <a:p>
            <a:endParaRPr lang="en-US"/>
          </a:p>
        </p:txBody>
      </p:sp>
      <p:cxnSp>
        <p:nvCxnSpPr>
          <p:cNvPr id="6" name="Straight Connector 5">
            <a:extLst>
              <a:ext uri="{FF2B5EF4-FFF2-40B4-BE49-F238E27FC236}">
                <a16:creationId xmlns:a16="http://schemas.microsoft.com/office/drawing/2014/main" id="{2406AAC2-DEBA-DACA-43AC-025F712A8EE7}"/>
              </a:ext>
            </a:extLst>
          </p:cNvPr>
          <p:cNvCxnSpPr>
            <a:cxnSpLocks/>
          </p:cNvCxnSpPr>
          <p:nvPr>
            <p:custDataLst>
              <p:tags r:id="rId4"/>
            </p:custDataLst>
          </p:nvPr>
        </p:nvCxnSpPr>
        <p:spPr>
          <a:xfrm>
            <a:off x="526421" y="3918015"/>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730BBDE-3E46-F276-6591-9627E346E10E}"/>
              </a:ext>
            </a:extLst>
          </p:cNvPr>
          <p:cNvCxnSpPr>
            <a:cxnSpLocks/>
          </p:cNvCxnSpPr>
          <p:nvPr>
            <p:custDataLst>
              <p:tags r:id="rId5"/>
            </p:custDataLst>
          </p:nvPr>
        </p:nvCxnSpPr>
        <p:spPr>
          <a:xfrm>
            <a:off x="526421" y="5079120"/>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56F4592D-DC9D-E609-0ECB-577526CE6F7D}"/>
              </a:ext>
            </a:extLst>
          </p:cNvPr>
          <p:cNvSpPr txBox="1">
            <a:spLocks/>
          </p:cNvSpPr>
          <p:nvPr/>
        </p:nvSpPr>
        <p:spPr>
          <a:xfrm>
            <a:off x="554038" y="1931557"/>
            <a:ext cx="902302"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761970" fontAlgn="base">
              <a:spcBef>
                <a:spcPts val="630"/>
              </a:spcBef>
              <a:spcAft>
                <a:spcPct val="0"/>
              </a:spcAft>
              <a:buClrTx/>
              <a:buSzTx/>
              <a:buNone/>
              <a:defRPr/>
            </a:pPr>
            <a:r>
              <a:rPr lang="en-US" sz="1100" b="1">
                <a:solidFill>
                  <a:srgbClr val="000000"/>
                </a:solidFill>
              </a:rPr>
              <a:t>Ingestion and integration</a:t>
            </a:r>
            <a:endParaRPr lang="en-US" sz="1100">
              <a:solidFill>
                <a:srgbClr val="000000"/>
              </a:solidFill>
            </a:endParaRPr>
          </a:p>
        </p:txBody>
      </p:sp>
      <p:sp>
        <p:nvSpPr>
          <p:cNvPr id="60" name="TextBox 59">
            <a:extLst>
              <a:ext uri="{FF2B5EF4-FFF2-40B4-BE49-F238E27FC236}">
                <a16:creationId xmlns:a16="http://schemas.microsoft.com/office/drawing/2014/main" id="{C93880E6-13ED-D5BC-F998-C90843BBA7A8}"/>
              </a:ext>
            </a:extLst>
          </p:cNvPr>
          <p:cNvSpPr txBox="1">
            <a:spLocks/>
          </p:cNvSpPr>
          <p:nvPr/>
        </p:nvSpPr>
        <p:spPr>
          <a:xfrm>
            <a:off x="3743211" y="1931557"/>
            <a:ext cx="3621681" cy="9233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cs typeface="Arial"/>
              </a:rPr>
              <a:t>Standard pipeline for traditional AI </a:t>
            </a:r>
            <a:r>
              <a:rPr lang="en-US" sz="1100">
                <a:cs typeface="Arial"/>
              </a:rPr>
              <a:t>with proper logging and version control; reusable SQL queries and code across projects</a:t>
            </a:r>
            <a:endParaRPr lang="en-US" sz="1100"/>
          </a:p>
          <a:p>
            <a:pPr marL="171450" indent="-171450">
              <a:buFont typeface="Arial" panose="020B0604020202020204" pitchFamily="34" charset="0"/>
              <a:buChar char="•"/>
            </a:pPr>
            <a:r>
              <a:rPr lang="en-US" sz="1100">
                <a:cs typeface="Arial"/>
              </a:rPr>
              <a:t>Legacy models either in process of migration or sunset, keeping traditional AI pipeline consistent</a:t>
            </a:r>
          </a:p>
          <a:p>
            <a:pPr marL="171450" indent="-171450">
              <a:buFont typeface="Arial" panose="020B0604020202020204" pitchFamily="34" charset="0"/>
              <a:buChar char="•"/>
            </a:pPr>
            <a:r>
              <a:rPr lang="en-US" sz="1100" b="1">
                <a:cs typeface="Arial"/>
              </a:rPr>
              <a:t>Lack of lineage and DQ checks</a:t>
            </a:r>
            <a:r>
              <a:rPr lang="en-US" sz="1100">
                <a:cs typeface="Arial"/>
              </a:rPr>
              <a:t> in both traditional AI and </a:t>
            </a:r>
            <a:r>
              <a:rPr lang="en-US" sz="1100" b="1">
                <a:solidFill>
                  <a:schemeClr val="accent1"/>
                </a:solidFill>
                <a:cs typeface="Arial"/>
              </a:rPr>
              <a:t>GenAI pipelines</a:t>
            </a:r>
          </a:p>
          <a:p>
            <a:pPr marL="171450" indent="-171450">
              <a:buFont typeface="Arial" panose="020B0604020202020204" pitchFamily="34" charset="0"/>
              <a:buChar char="•"/>
            </a:pPr>
            <a:r>
              <a:rPr lang="en-US" sz="1100" b="1">
                <a:solidFill>
                  <a:schemeClr val="accent1"/>
                </a:solidFill>
                <a:cs typeface="Arial"/>
              </a:rPr>
              <a:t>Unstructured data pipeline designed for current use case</a:t>
            </a:r>
            <a:r>
              <a:rPr lang="en-US" sz="1100">
                <a:solidFill>
                  <a:schemeClr val="accent1"/>
                </a:solidFill>
                <a:cs typeface="Arial"/>
              </a:rPr>
              <a:t>, early focus on standardization</a:t>
            </a:r>
            <a:endParaRPr lang="en-US" sz="1100" b="1">
              <a:solidFill>
                <a:schemeClr val="accent1"/>
              </a:solidFill>
              <a:cs typeface="Arial"/>
            </a:endParaRPr>
          </a:p>
        </p:txBody>
      </p:sp>
      <p:grpSp>
        <p:nvGrpSpPr>
          <p:cNvPr id="20" name="MoonEmpty 20">
            <a:extLst>
              <a:ext uri="{FF2B5EF4-FFF2-40B4-BE49-F238E27FC236}">
                <a16:creationId xmlns:a16="http://schemas.microsoft.com/office/drawing/2014/main" id="{1A2730BC-7263-C1FE-6826-9A59818DC972}"/>
              </a:ext>
            </a:extLst>
          </p:cNvPr>
          <p:cNvGrpSpPr>
            <a:grpSpLocks noChangeAspect="1"/>
          </p:cNvGrpSpPr>
          <p:nvPr>
            <p:custDataLst>
              <p:tags r:id="rId6"/>
            </p:custDataLst>
          </p:nvPr>
        </p:nvGrpSpPr>
        <p:grpSpPr>
          <a:xfrm>
            <a:off x="3042673" y="1931557"/>
            <a:ext cx="274320" cy="274320"/>
            <a:chOff x="762000" y="1270000"/>
            <a:chExt cx="254000" cy="254000"/>
          </a:xfrm>
        </p:grpSpPr>
        <p:sp>
          <p:nvSpPr>
            <p:cNvPr id="16" name="Oval 15">
              <a:extLst>
                <a:ext uri="{FF2B5EF4-FFF2-40B4-BE49-F238E27FC236}">
                  <a16:creationId xmlns:a16="http://schemas.microsoft.com/office/drawing/2014/main" id="{50D75E27-FCDA-68E1-3D88-B1BBB53674F3}"/>
                </a:ext>
              </a:extLst>
            </p:cNvPr>
            <p:cNvSpPr/>
            <p:nvPr>
              <p:custDataLst>
                <p:tags r:id="rId3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9" name="Arc 18">
              <a:extLst>
                <a:ext uri="{FF2B5EF4-FFF2-40B4-BE49-F238E27FC236}">
                  <a16:creationId xmlns:a16="http://schemas.microsoft.com/office/drawing/2014/main" id="{DDF91352-59A0-BAFB-1C81-B2190740C4AA}"/>
                </a:ext>
              </a:extLst>
            </p:cNvPr>
            <p:cNvSpPr/>
            <p:nvPr>
              <p:custDataLst>
                <p:tags r:id="rId3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63" name="TextBox 62">
            <a:extLst>
              <a:ext uri="{FF2B5EF4-FFF2-40B4-BE49-F238E27FC236}">
                <a16:creationId xmlns:a16="http://schemas.microsoft.com/office/drawing/2014/main" id="{7823C8C8-C63E-F634-B412-180455DE389B}"/>
              </a:ext>
            </a:extLst>
          </p:cNvPr>
          <p:cNvSpPr txBox="1">
            <a:spLocks/>
          </p:cNvSpPr>
          <p:nvPr/>
        </p:nvSpPr>
        <p:spPr>
          <a:xfrm>
            <a:off x="541249" y="3947323"/>
            <a:ext cx="1007106"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solidFill>
                  <a:srgbClr val="000000"/>
                </a:solidFill>
              </a:rPr>
              <a:t>Feature store, vector store, search</a:t>
            </a:r>
          </a:p>
        </p:txBody>
      </p:sp>
      <p:grpSp>
        <p:nvGrpSpPr>
          <p:cNvPr id="22" name="MoonEmpty 14">
            <a:extLst>
              <a:ext uri="{FF2B5EF4-FFF2-40B4-BE49-F238E27FC236}">
                <a16:creationId xmlns:a16="http://schemas.microsoft.com/office/drawing/2014/main" id="{F6B1163D-BACC-2CE8-5E3B-FCE50B005E0C}"/>
              </a:ext>
            </a:extLst>
          </p:cNvPr>
          <p:cNvGrpSpPr>
            <a:grpSpLocks/>
          </p:cNvGrpSpPr>
          <p:nvPr>
            <p:custDataLst>
              <p:tags r:id="rId7"/>
            </p:custDataLst>
          </p:nvPr>
        </p:nvGrpSpPr>
        <p:grpSpPr>
          <a:xfrm>
            <a:off x="2006812" y="3947323"/>
            <a:ext cx="274320" cy="274320"/>
            <a:chOff x="762000" y="1270000"/>
            <a:chExt cx="254000" cy="254000"/>
          </a:xfrm>
        </p:grpSpPr>
        <p:sp>
          <p:nvSpPr>
            <p:cNvPr id="26" name="Oval 25">
              <a:extLst>
                <a:ext uri="{FF2B5EF4-FFF2-40B4-BE49-F238E27FC236}">
                  <a16:creationId xmlns:a16="http://schemas.microsoft.com/office/drawing/2014/main" id="{4E802F57-51D6-4BD2-F73C-F1CA69F0919A}"/>
                </a:ext>
              </a:extLst>
            </p:cNvPr>
            <p:cNvSpPr/>
            <p:nvPr>
              <p:custDataLst>
                <p:tags r:id="rId30"/>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28" name="Arc 27">
              <a:extLst>
                <a:ext uri="{FF2B5EF4-FFF2-40B4-BE49-F238E27FC236}">
                  <a16:creationId xmlns:a16="http://schemas.microsoft.com/office/drawing/2014/main" id="{9FF561D3-A0C0-0883-2950-67E037AE4119}"/>
                </a:ext>
              </a:extLst>
            </p:cNvPr>
            <p:cNvSpPr/>
            <p:nvPr>
              <p:custDataLst>
                <p:tags r:id="rId31"/>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30" name="TextBox 29">
            <a:extLst>
              <a:ext uri="{FF2B5EF4-FFF2-40B4-BE49-F238E27FC236}">
                <a16:creationId xmlns:a16="http://schemas.microsoft.com/office/drawing/2014/main" id="{01896D85-CF2C-0416-6167-C36A26F1E576}"/>
              </a:ext>
            </a:extLst>
          </p:cNvPr>
          <p:cNvSpPr txBox="1">
            <a:spLocks/>
          </p:cNvSpPr>
          <p:nvPr/>
        </p:nvSpPr>
        <p:spPr>
          <a:xfrm>
            <a:off x="3710192" y="3947323"/>
            <a:ext cx="3621681" cy="103238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cs typeface="Arial"/>
              </a:rPr>
              <a:t>Centralized feature store for traditional AI </a:t>
            </a:r>
            <a:r>
              <a:rPr lang="en-US" sz="1100">
                <a:cs typeface="Arial"/>
              </a:rPr>
              <a:t>with model migration in process</a:t>
            </a:r>
          </a:p>
          <a:p>
            <a:pPr marL="171450" indent="-171450">
              <a:buFont typeface="Arial" panose="020B0604020202020204" pitchFamily="34" charset="0"/>
              <a:buChar char="•"/>
            </a:pPr>
            <a:r>
              <a:rPr lang="en-US" sz="1100" b="1">
                <a:solidFill>
                  <a:schemeClr val="accent1"/>
                </a:solidFill>
                <a:cs typeface="Arial"/>
              </a:rPr>
              <a:t>No centralized data storage/vector store</a:t>
            </a:r>
            <a:r>
              <a:rPr lang="en-US" sz="1100">
                <a:solidFill>
                  <a:schemeClr val="accent1"/>
                </a:solidFill>
                <a:cs typeface="Arial"/>
              </a:rPr>
              <a:t> for unstructured data; unstructured data stored only for current use cases</a:t>
            </a:r>
          </a:p>
        </p:txBody>
      </p:sp>
      <p:sp>
        <p:nvSpPr>
          <p:cNvPr id="64" name="TextBox 63">
            <a:extLst>
              <a:ext uri="{FF2B5EF4-FFF2-40B4-BE49-F238E27FC236}">
                <a16:creationId xmlns:a16="http://schemas.microsoft.com/office/drawing/2014/main" id="{46EA25BC-65A3-D3A0-9DDF-6D143C2C120B}"/>
              </a:ext>
            </a:extLst>
          </p:cNvPr>
          <p:cNvSpPr txBox="1">
            <a:spLocks/>
          </p:cNvSpPr>
          <p:nvPr/>
        </p:nvSpPr>
        <p:spPr>
          <a:xfrm>
            <a:off x="7395097" y="3947323"/>
            <a:ext cx="4229379" cy="5078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solidFill>
                  <a:schemeClr val="accent1"/>
                </a:solidFill>
                <a:cs typeface="Arial"/>
              </a:rPr>
              <a:t>Unstructured data storage and access</a:t>
            </a:r>
            <a:r>
              <a:rPr lang="en-US" sz="1100" b="1">
                <a:cs typeface="Arial"/>
              </a:rPr>
              <a:t>: </a:t>
            </a:r>
            <a:r>
              <a:rPr lang="en-US" sz="1100">
                <a:solidFill>
                  <a:schemeClr val="accent1"/>
                </a:solidFill>
                <a:cs typeface="Arial"/>
              </a:rPr>
              <a:t>Proper storage and access control with metadata tagging needs to be implemented </a:t>
            </a:r>
            <a:endParaRPr lang="en-US" sz="1100">
              <a:solidFill>
                <a:schemeClr val="accent1"/>
              </a:solidFill>
            </a:endParaRPr>
          </a:p>
        </p:txBody>
      </p:sp>
      <p:grpSp>
        <p:nvGrpSpPr>
          <p:cNvPr id="23" name="MoonEmpty 20">
            <a:extLst>
              <a:ext uri="{FF2B5EF4-FFF2-40B4-BE49-F238E27FC236}">
                <a16:creationId xmlns:a16="http://schemas.microsoft.com/office/drawing/2014/main" id="{7E337DBD-ECF9-CEEF-29B2-E7A777D58520}"/>
              </a:ext>
            </a:extLst>
          </p:cNvPr>
          <p:cNvGrpSpPr>
            <a:grpSpLocks/>
          </p:cNvGrpSpPr>
          <p:nvPr>
            <p:custDataLst>
              <p:tags r:id="rId8"/>
            </p:custDataLst>
          </p:nvPr>
        </p:nvGrpSpPr>
        <p:grpSpPr>
          <a:xfrm>
            <a:off x="3029884" y="3947323"/>
            <a:ext cx="274320" cy="274320"/>
            <a:chOff x="762000" y="1270000"/>
            <a:chExt cx="254000" cy="254000"/>
          </a:xfrm>
        </p:grpSpPr>
        <p:sp>
          <p:nvSpPr>
            <p:cNvPr id="24" name="Oval 23">
              <a:extLst>
                <a:ext uri="{FF2B5EF4-FFF2-40B4-BE49-F238E27FC236}">
                  <a16:creationId xmlns:a16="http://schemas.microsoft.com/office/drawing/2014/main" id="{41CDAF5C-0AF9-F2FE-84FB-FCFE0AD78DA5}"/>
                </a:ext>
              </a:extLst>
            </p:cNvPr>
            <p:cNvSpPr/>
            <p:nvPr>
              <p:custDataLst>
                <p:tags r:id="rId28"/>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25" name="Arc 24">
              <a:extLst>
                <a:ext uri="{FF2B5EF4-FFF2-40B4-BE49-F238E27FC236}">
                  <a16:creationId xmlns:a16="http://schemas.microsoft.com/office/drawing/2014/main" id="{6C6957CA-CB16-9B8D-CC90-7070A609631B}"/>
                </a:ext>
              </a:extLst>
            </p:cNvPr>
            <p:cNvSpPr/>
            <p:nvPr>
              <p:custDataLst>
                <p:tags r:id="rId29"/>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74" name="TextBox 73">
            <a:extLst>
              <a:ext uri="{FF2B5EF4-FFF2-40B4-BE49-F238E27FC236}">
                <a16:creationId xmlns:a16="http://schemas.microsoft.com/office/drawing/2014/main" id="{2B3A9B8E-2765-F49C-3675-B9A184D0D039}"/>
              </a:ext>
            </a:extLst>
          </p:cNvPr>
          <p:cNvSpPr txBox="1">
            <a:spLocks/>
          </p:cNvSpPr>
          <p:nvPr/>
        </p:nvSpPr>
        <p:spPr>
          <a:xfrm>
            <a:off x="541249" y="5189173"/>
            <a:ext cx="973900"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100" b="1">
                <a:solidFill>
                  <a:srgbClr val="000000"/>
                </a:solidFill>
              </a:rPr>
              <a:t>DevOps and CI/CD</a:t>
            </a:r>
          </a:p>
        </p:txBody>
      </p:sp>
      <p:sp>
        <p:nvSpPr>
          <p:cNvPr id="59" name="TextBox 58">
            <a:extLst>
              <a:ext uri="{FF2B5EF4-FFF2-40B4-BE49-F238E27FC236}">
                <a16:creationId xmlns:a16="http://schemas.microsoft.com/office/drawing/2014/main" id="{3E21CF68-7900-F9DB-770F-73743147696E}"/>
              </a:ext>
            </a:extLst>
          </p:cNvPr>
          <p:cNvSpPr txBox="1">
            <a:spLocks/>
          </p:cNvSpPr>
          <p:nvPr/>
        </p:nvSpPr>
        <p:spPr>
          <a:xfrm>
            <a:off x="3710192" y="5189173"/>
            <a:ext cx="3621681" cy="10926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solidFill>
                  <a:srgbClr val="000000"/>
                </a:solidFill>
                <a:cs typeface="Arial"/>
              </a:rPr>
              <a:t>CI/CD pipeline implemented across all projects </a:t>
            </a:r>
            <a:r>
              <a:rPr lang="en-US" sz="1100">
                <a:solidFill>
                  <a:srgbClr val="000000"/>
                </a:solidFill>
                <a:cs typeface="Arial"/>
              </a:rPr>
              <a:t>(e.g., ETL pipeline, software engineering, GenAI applications) with enterprise-level enforcement</a:t>
            </a:r>
          </a:p>
          <a:p>
            <a:pPr marL="171450" indent="-171450">
              <a:buFont typeface="Arial" panose="020B0604020202020204" pitchFamily="34" charset="0"/>
              <a:buChar char="•"/>
            </a:pPr>
            <a:r>
              <a:rPr lang="en-US" sz="1100" b="1">
                <a:solidFill>
                  <a:srgbClr val="000000"/>
                </a:solidFill>
                <a:cs typeface="Arial"/>
              </a:rPr>
              <a:t>Clear separation of dev, prod, test environments</a:t>
            </a:r>
            <a:r>
              <a:rPr lang="en-US" sz="1100">
                <a:solidFill>
                  <a:srgbClr val="000000"/>
                </a:solidFill>
                <a:cs typeface="Arial"/>
              </a:rPr>
              <a:t> for both code and data, but with some inconsistences across environments</a:t>
            </a:r>
          </a:p>
        </p:txBody>
      </p:sp>
      <p:grpSp>
        <p:nvGrpSpPr>
          <p:cNvPr id="57" name="MinusSignBlue 65">
            <a:extLst>
              <a:ext uri="{FF2B5EF4-FFF2-40B4-BE49-F238E27FC236}">
                <a16:creationId xmlns:a16="http://schemas.microsoft.com/office/drawing/2014/main" id="{0A121E6B-8E62-5548-ABEC-A5E735DFC718}"/>
              </a:ext>
            </a:extLst>
          </p:cNvPr>
          <p:cNvGrpSpPr>
            <a:grpSpLocks noChangeAspect="1"/>
          </p:cNvGrpSpPr>
          <p:nvPr>
            <p:custDataLst>
              <p:tags r:id="rId9"/>
            </p:custDataLst>
          </p:nvPr>
        </p:nvGrpSpPr>
        <p:grpSpPr>
          <a:xfrm>
            <a:off x="3667198" y="2930536"/>
            <a:ext cx="155448" cy="155448"/>
            <a:chOff x="1016000" y="1016000"/>
            <a:chExt cx="396228" cy="396228"/>
          </a:xfrm>
        </p:grpSpPr>
        <p:sp>
          <p:nvSpPr>
            <p:cNvPr id="58" name="Oval 57">
              <a:extLst>
                <a:ext uri="{FF2B5EF4-FFF2-40B4-BE49-F238E27FC236}">
                  <a16:creationId xmlns:a16="http://schemas.microsoft.com/office/drawing/2014/main" id="{E974ADF9-3FDF-0F06-8496-14D6FAC91F88}"/>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66" name="Graphic 65">
              <a:extLst>
                <a:ext uri="{FF2B5EF4-FFF2-40B4-BE49-F238E27FC236}">
                  <a16:creationId xmlns:a16="http://schemas.microsoft.com/office/drawing/2014/main" id="{6989BF98-281C-9C1C-3D08-E3E45A11AEB9}"/>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23614" y="1023614"/>
              <a:ext cx="381000" cy="381000"/>
            </a:xfrm>
            <a:prstGeom prst="rect">
              <a:avLst/>
            </a:prstGeom>
          </p:spPr>
        </p:pic>
      </p:grpSp>
      <p:grpSp>
        <p:nvGrpSpPr>
          <p:cNvPr id="72" name="PlusSignWhite 203">
            <a:extLst>
              <a:ext uri="{FF2B5EF4-FFF2-40B4-BE49-F238E27FC236}">
                <a16:creationId xmlns:a16="http://schemas.microsoft.com/office/drawing/2014/main" id="{E8FE9A17-351A-49E7-605B-84E6A710AD72}"/>
              </a:ext>
            </a:extLst>
          </p:cNvPr>
          <p:cNvGrpSpPr>
            <a:grpSpLocks/>
          </p:cNvGrpSpPr>
          <p:nvPr>
            <p:custDataLst>
              <p:tags r:id="rId10"/>
            </p:custDataLst>
          </p:nvPr>
        </p:nvGrpSpPr>
        <p:grpSpPr>
          <a:xfrm>
            <a:off x="3646968" y="1985846"/>
            <a:ext cx="155448" cy="155448"/>
            <a:chOff x="1016000" y="1016000"/>
            <a:chExt cx="396228" cy="396228"/>
          </a:xfrm>
          <a:solidFill>
            <a:schemeClr val="accent1"/>
          </a:solidFill>
        </p:grpSpPr>
        <p:sp>
          <p:nvSpPr>
            <p:cNvPr id="73" name="Oval 72">
              <a:extLst>
                <a:ext uri="{FF2B5EF4-FFF2-40B4-BE49-F238E27FC236}">
                  <a16:creationId xmlns:a16="http://schemas.microsoft.com/office/drawing/2014/main" id="{4A4F0A19-00D6-493A-7B95-8E81F226DF08}"/>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75" name="Graphic 74">
              <a:extLst>
                <a:ext uri="{FF2B5EF4-FFF2-40B4-BE49-F238E27FC236}">
                  <a16:creationId xmlns:a16="http://schemas.microsoft.com/office/drawing/2014/main" id="{5F4626BE-E112-9936-1885-1899CAF2A7B0}"/>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23614" y="1023614"/>
              <a:ext cx="381000" cy="381000"/>
            </a:xfrm>
            <a:prstGeom prst="rect">
              <a:avLst/>
            </a:prstGeom>
          </p:spPr>
        </p:pic>
      </p:grpSp>
      <p:grpSp>
        <p:nvGrpSpPr>
          <p:cNvPr id="76" name="PlusSignWhite 203">
            <a:extLst>
              <a:ext uri="{FF2B5EF4-FFF2-40B4-BE49-F238E27FC236}">
                <a16:creationId xmlns:a16="http://schemas.microsoft.com/office/drawing/2014/main" id="{76B5CA2F-67B5-C814-8BF2-1E49E2072FB1}"/>
              </a:ext>
            </a:extLst>
          </p:cNvPr>
          <p:cNvGrpSpPr>
            <a:grpSpLocks/>
          </p:cNvGrpSpPr>
          <p:nvPr>
            <p:custDataLst>
              <p:tags r:id="rId11"/>
            </p:custDataLst>
          </p:nvPr>
        </p:nvGrpSpPr>
        <p:grpSpPr>
          <a:xfrm>
            <a:off x="3646968" y="3962012"/>
            <a:ext cx="155448" cy="155448"/>
            <a:chOff x="1016000" y="1016000"/>
            <a:chExt cx="396228" cy="396228"/>
          </a:xfrm>
          <a:solidFill>
            <a:schemeClr val="accent1"/>
          </a:solidFill>
        </p:grpSpPr>
        <p:sp>
          <p:nvSpPr>
            <p:cNvPr id="77" name="Oval 76">
              <a:extLst>
                <a:ext uri="{FF2B5EF4-FFF2-40B4-BE49-F238E27FC236}">
                  <a16:creationId xmlns:a16="http://schemas.microsoft.com/office/drawing/2014/main" id="{B98F9797-76CD-0C3D-10CF-04D2E51A78EF}"/>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78" name="Graphic 77">
              <a:extLst>
                <a:ext uri="{FF2B5EF4-FFF2-40B4-BE49-F238E27FC236}">
                  <a16:creationId xmlns:a16="http://schemas.microsoft.com/office/drawing/2014/main" id="{AD5CB588-179D-2074-6CD1-B149DF87A781}"/>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23614" y="1023614"/>
              <a:ext cx="381000" cy="381000"/>
            </a:xfrm>
            <a:prstGeom prst="rect">
              <a:avLst/>
            </a:prstGeom>
          </p:spPr>
        </p:pic>
      </p:grpSp>
      <p:grpSp>
        <p:nvGrpSpPr>
          <p:cNvPr id="79" name="MinusSignBlue 65">
            <a:extLst>
              <a:ext uri="{FF2B5EF4-FFF2-40B4-BE49-F238E27FC236}">
                <a16:creationId xmlns:a16="http://schemas.microsoft.com/office/drawing/2014/main" id="{0155112C-141D-5AEF-C86F-3B1CCA8CD8F6}"/>
              </a:ext>
            </a:extLst>
          </p:cNvPr>
          <p:cNvGrpSpPr>
            <a:grpSpLocks noChangeAspect="1"/>
          </p:cNvGrpSpPr>
          <p:nvPr>
            <p:custDataLst>
              <p:tags r:id="rId12"/>
            </p:custDataLst>
          </p:nvPr>
        </p:nvGrpSpPr>
        <p:grpSpPr>
          <a:xfrm>
            <a:off x="3646968" y="4365931"/>
            <a:ext cx="155448" cy="155448"/>
            <a:chOff x="1016000" y="1016000"/>
            <a:chExt cx="396228" cy="396228"/>
          </a:xfrm>
        </p:grpSpPr>
        <p:sp>
          <p:nvSpPr>
            <p:cNvPr id="80" name="Oval 79">
              <a:extLst>
                <a:ext uri="{FF2B5EF4-FFF2-40B4-BE49-F238E27FC236}">
                  <a16:creationId xmlns:a16="http://schemas.microsoft.com/office/drawing/2014/main" id="{13561C1B-A002-C486-8B51-9ACDAC27F169}"/>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81" name="Graphic 80">
              <a:extLst>
                <a:ext uri="{FF2B5EF4-FFF2-40B4-BE49-F238E27FC236}">
                  <a16:creationId xmlns:a16="http://schemas.microsoft.com/office/drawing/2014/main" id="{E3E88CA6-0B3D-645F-17AF-4AB06955B673}"/>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23614" y="1023614"/>
              <a:ext cx="381000" cy="381000"/>
            </a:xfrm>
            <a:prstGeom prst="rect">
              <a:avLst/>
            </a:prstGeom>
          </p:spPr>
        </p:pic>
      </p:grpSp>
      <p:cxnSp>
        <p:nvCxnSpPr>
          <p:cNvPr id="146" name="Straight Connector 145">
            <a:extLst>
              <a:ext uri="{FF2B5EF4-FFF2-40B4-BE49-F238E27FC236}">
                <a16:creationId xmlns:a16="http://schemas.microsoft.com/office/drawing/2014/main" id="{F583E804-DCED-48F4-93C9-587F82F98846}"/>
              </a:ext>
            </a:extLst>
          </p:cNvPr>
          <p:cNvCxnSpPr>
            <a:cxnSpLocks/>
          </p:cNvCxnSpPr>
          <p:nvPr>
            <p:custDataLst>
              <p:tags r:id="rId13"/>
            </p:custDataLst>
          </p:nvPr>
        </p:nvCxnSpPr>
        <p:spPr>
          <a:xfrm>
            <a:off x="539908" y="1867209"/>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46F059E4-0195-219C-BF18-A174465E0E66}"/>
              </a:ext>
            </a:extLst>
          </p:cNvPr>
          <p:cNvSpPr txBox="1">
            <a:spLocks/>
          </p:cNvSpPr>
          <p:nvPr/>
        </p:nvSpPr>
        <p:spPr>
          <a:xfrm>
            <a:off x="2700607"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a:t>
            </a:r>
          </a:p>
        </p:txBody>
      </p:sp>
      <p:sp>
        <p:nvSpPr>
          <p:cNvPr id="148" name="TextBox 147">
            <a:extLst>
              <a:ext uri="{FF2B5EF4-FFF2-40B4-BE49-F238E27FC236}">
                <a16:creationId xmlns:a16="http://schemas.microsoft.com/office/drawing/2014/main" id="{EE54208C-370C-C394-B645-2A9D2FF47FD4}"/>
              </a:ext>
            </a:extLst>
          </p:cNvPr>
          <p:cNvSpPr txBox="1">
            <a:spLocks/>
          </p:cNvSpPr>
          <p:nvPr/>
        </p:nvSpPr>
        <p:spPr>
          <a:xfrm>
            <a:off x="1677535" y="1198538"/>
            <a:ext cx="198292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Assessment Score</a:t>
            </a:r>
          </a:p>
        </p:txBody>
      </p:sp>
      <p:cxnSp>
        <p:nvCxnSpPr>
          <p:cNvPr id="149" name="GreyLineSeparatorStrong 8">
            <a:extLst>
              <a:ext uri="{FF2B5EF4-FFF2-40B4-BE49-F238E27FC236}">
                <a16:creationId xmlns:a16="http://schemas.microsoft.com/office/drawing/2014/main" id="{8FF4D8FD-CCEA-B55B-BD5C-9AA2BA66B533}"/>
              </a:ext>
            </a:extLst>
          </p:cNvPr>
          <p:cNvCxnSpPr>
            <a:cxnSpLocks/>
          </p:cNvCxnSpPr>
          <p:nvPr>
            <p:custDataLst>
              <p:tags r:id="rId14"/>
            </p:custDataLst>
          </p:nvPr>
        </p:nvCxnSpPr>
        <p:spPr>
          <a:xfrm>
            <a:off x="1677535" y="1406164"/>
            <a:ext cx="1982920"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A87BBB59-C1DD-9DA6-362D-65390F4B4DC7}"/>
              </a:ext>
            </a:extLst>
          </p:cNvPr>
          <p:cNvSpPr txBox="1">
            <a:spLocks/>
          </p:cNvSpPr>
          <p:nvPr/>
        </p:nvSpPr>
        <p:spPr>
          <a:xfrm>
            <a:off x="554736" y="1462104"/>
            <a:ext cx="1060273"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151" name="TextBox 150">
            <a:extLst>
              <a:ext uri="{FF2B5EF4-FFF2-40B4-BE49-F238E27FC236}">
                <a16:creationId xmlns:a16="http://schemas.microsoft.com/office/drawing/2014/main" id="{CE1EA45A-3B4F-E5E6-EA5B-49625161F130}"/>
              </a:ext>
            </a:extLst>
          </p:cNvPr>
          <p:cNvSpPr txBox="1">
            <a:spLocks/>
          </p:cNvSpPr>
          <p:nvPr/>
        </p:nvSpPr>
        <p:spPr>
          <a:xfrm>
            <a:off x="3723679" y="1646770"/>
            <a:ext cx="3621681"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Observations</a:t>
            </a:r>
          </a:p>
        </p:txBody>
      </p:sp>
      <p:sp>
        <p:nvSpPr>
          <p:cNvPr id="152" name="TextBox 151">
            <a:extLst>
              <a:ext uri="{FF2B5EF4-FFF2-40B4-BE49-F238E27FC236}">
                <a16:creationId xmlns:a16="http://schemas.microsoft.com/office/drawing/2014/main" id="{6562C253-22EA-B0C2-5346-895A1F5F1806}"/>
              </a:ext>
            </a:extLst>
          </p:cNvPr>
          <p:cNvSpPr txBox="1">
            <a:spLocks/>
          </p:cNvSpPr>
          <p:nvPr/>
        </p:nvSpPr>
        <p:spPr>
          <a:xfrm>
            <a:off x="1677535" y="1462104"/>
            <a:ext cx="959848" cy="369332"/>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rgbClr val="000000"/>
              </a:buClr>
              <a:defRPr/>
            </a:pPr>
            <a:r>
              <a:rPr lang="en-US" sz="1200" b="1">
                <a:solidFill>
                  <a:srgbClr val="000000"/>
                </a:solidFill>
                <a:latin typeface="Arial"/>
                <a:cs typeface="Arial"/>
              </a:rPr>
              <a:t>Traditional</a:t>
            </a:r>
            <a:r>
              <a:rPr kumimoji="0" lang="en-US" sz="1200" b="1" i="0" u="none" strike="noStrike" kern="1200" cap="none" spc="0" normalizeH="0" baseline="0" noProof="0">
                <a:ln>
                  <a:noFill/>
                </a:ln>
                <a:solidFill>
                  <a:srgbClr val="000000"/>
                </a:solidFill>
                <a:effectLst/>
                <a:uLnTx/>
                <a:uFillTx/>
                <a:latin typeface="Arial"/>
                <a:cs typeface="Arial"/>
              </a:rPr>
              <a:t> AI</a:t>
            </a:r>
            <a:endParaRPr lang="en-US" sz="1200">
              <a:cs typeface="Arial"/>
            </a:endParaRPr>
          </a:p>
        </p:txBody>
      </p:sp>
      <p:sp>
        <p:nvSpPr>
          <p:cNvPr id="153" name="TextBox 152">
            <a:extLst>
              <a:ext uri="{FF2B5EF4-FFF2-40B4-BE49-F238E27FC236}">
                <a16:creationId xmlns:a16="http://schemas.microsoft.com/office/drawing/2014/main" id="{7679EC61-02EF-74D0-E049-8BB048894C56}"/>
              </a:ext>
            </a:extLst>
          </p:cNvPr>
          <p:cNvSpPr txBox="1">
            <a:spLocks/>
          </p:cNvSpPr>
          <p:nvPr/>
        </p:nvSpPr>
        <p:spPr>
          <a:xfrm>
            <a:off x="7408584" y="1646770"/>
            <a:ext cx="4229379"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Implications for Client</a:t>
            </a:r>
          </a:p>
        </p:txBody>
      </p:sp>
      <p:sp>
        <p:nvSpPr>
          <p:cNvPr id="155" name="TextBox 73">
            <a:extLst>
              <a:ext uri="{FF2B5EF4-FFF2-40B4-BE49-F238E27FC236}">
                <a16:creationId xmlns:a16="http://schemas.microsoft.com/office/drawing/2014/main" id="{B3124F15-E9A6-F5B0-6490-F77E68C66CB5}"/>
              </a:ext>
            </a:extLst>
          </p:cNvPr>
          <p:cNvSpPr txBox="1"/>
          <p:nvPr/>
        </p:nvSpPr>
        <p:spPr>
          <a:xfrm>
            <a:off x="6784030" y="1015359"/>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156" name="TextBox 74">
            <a:extLst>
              <a:ext uri="{FF2B5EF4-FFF2-40B4-BE49-F238E27FC236}">
                <a16:creationId xmlns:a16="http://schemas.microsoft.com/office/drawing/2014/main" id="{E034CF2C-0F5F-202D-BE99-45C0BDA28AD9}"/>
              </a:ext>
            </a:extLst>
          </p:cNvPr>
          <p:cNvSpPr txBox="1"/>
          <p:nvPr/>
        </p:nvSpPr>
        <p:spPr>
          <a:xfrm>
            <a:off x="7060352" y="1015359"/>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157" name="Legend1">
            <a:extLst>
              <a:ext uri="{FF2B5EF4-FFF2-40B4-BE49-F238E27FC236}">
                <a16:creationId xmlns:a16="http://schemas.microsoft.com/office/drawing/2014/main" id="{663AB518-3448-7999-41FA-D1EC623F9D60}"/>
              </a:ext>
            </a:extLst>
          </p:cNvPr>
          <p:cNvSpPr txBox="1"/>
          <p:nvPr/>
        </p:nvSpPr>
        <p:spPr>
          <a:xfrm>
            <a:off x="8696584" y="1015359"/>
            <a:ext cx="234038"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Low</a:t>
            </a:r>
          </a:p>
        </p:txBody>
      </p:sp>
      <p:sp>
        <p:nvSpPr>
          <p:cNvPr id="177" name="Oval 176">
            <a:extLst>
              <a:ext uri="{FF2B5EF4-FFF2-40B4-BE49-F238E27FC236}">
                <a16:creationId xmlns:a16="http://schemas.microsoft.com/office/drawing/2014/main" id="{9F19C063-84B3-56E2-4BDC-E649907C33F2}"/>
              </a:ext>
            </a:extLst>
          </p:cNvPr>
          <p:cNvSpPr/>
          <p:nvPr/>
        </p:nvSpPr>
        <p:spPr>
          <a:xfrm>
            <a:off x="8476410" y="1014579"/>
            <a:ext cx="155448" cy="155448"/>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8" name="Arc 177" hidden="1">
            <a:extLst>
              <a:ext uri="{FF2B5EF4-FFF2-40B4-BE49-F238E27FC236}">
                <a16:creationId xmlns:a16="http://schemas.microsoft.com/office/drawing/2014/main" id="{34E53EF6-F10E-7CC4-BF43-BFE333C409DF}"/>
              </a:ext>
            </a:extLst>
          </p:cNvPr>
          <p:cNvSpPr/>
          <p:nvPr/>
        </p:nvSpPr>
        <p:spPr>
          <a:xfrm>
            <a:off x="8476410" y="1014579"/>
            <a:ext cx="155448" cy="155448"/>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sp>
        <p:nvSpPr>
          <p:cNvPr id="159" name="Legend3">
            <a:extLst>
              <a:ext uri="{FF2B5EF4-FFF2-40B4-BE49-F238E27FC236}">
                <a16:creationId xmlns:a16="http://schemas.microsoft.com/office/drawing/2014/main" id="{BF048CCA-1830-AE6A-B93E-5A8FF53528B8}"/>
              </a:ext>
            </a:extLst>
          </p:cNvPr>
          <p:cNvSpPr txBox="1"/>
          <p:nvPr/>
        </p:nvSpPr>
        <p:spPr>
          <a:xfrm>
            <a:off x="9215522" y="1015359"/>
            <a:ext cx="455253"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Medium</a:t>
            </a:r>
          </a:p>
        </p:txBody>
      </p:sp>
      <p:sp>
        <p:nvSpPr>
          <p:cNvPr id="175" name="Oval 174">
            <a:extLst>
              <a:ext uri="{FF2B5EF4-FFF2-40B4-BE49-F238E27FC236}">
                <a16:creationId xmlns:a16="http://schemas.microsoft.com/office/drawing/2014/main" id="{2BEFC5AF-F8B7-04F0-B0D3-53336E1FD121}"/>
              </a:ext>
            </a:extLst>
          </p:cNvPr>
          <p:cNvSpPr/>
          <p:nvPr/>
        </p:nvSpPr>
        <p:spPr>
          <a:xfrm>
            <a:off x="8995348" y="1014579"/>
            <a:ext cx="155448" cy="155448"/>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6" name="Arc 175">
            <a:extLst>
              <a:ext uri="{FF2B5EF4-FFF2-40B4-BE49-F238E27FC236}">
                <a16:creationId xmlns:a16="http://schemas.microsoft.com/office/drawing/2014/main" id="{E1CB74FF-624F-4110-9702-D85AA6A3EE5B}"/>
              </a:ext>
            </a:extLst>
          </p:cNvPr>
          <p:cNvSpPr/>
          <p:nvPr/>
        </p:nvSpPr>
        <p:spPr>
          <a:xfrm>
            <a:off x="8995348" y="1014579"/>
            <a:ext cx="155448" cy="155448"/>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sp>
        <p:nvSpPr>
          <p:cNvPr id="161" name="Legend5">
            <a:extLst>
              <a:ext uri="{FF2B5EF4-FFF2-40B4-BE49-F238E27FC236}">
                <a16:creationId xmlns:a16="http://schemas.microsoft.com/office/drawing/2014/main" id="{58E074C6-1169-9A2D-83D9-B807C934D787}"/>
              </a:ext>
            </a:extLst>
          </p:cNvPr>
          <p:cNvSpPr txBox="1"/>
          <p:nvPr/>
        </p:nvSpPr>
        <p:spPr>
          <a:xfrm>
            <a:off x="9955675" y="1015359"/>
            <a:ext cx="262892"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a:t>High</a:t>
            </a:r>
          </a:p>
        </p:txBody>
      </p:sp>
      <p:sp>
        <p:nvSpPr>
          <p:cNvPr id="173" name="Oval 172">
            <a:extLst>
              <a:ext uri="{FF2B5EF4-FFF2-40B4-BE49-F238E27FC236}">
                <a16:creationId xmlns:a16="http://schemas.microsoft.com/office/drawing/2014/main" id="{A110AEF7-83F3-B5A7-42AC-C54AE17DE0BE}"/>
              </a:ext>
            </a:extLst>
          </p:cNvPr>
          <p:cNvSpPr/>
          <p:nvPr/>
        </p:nvSpPr>
        <p:spPr>
          <a:xfrm>
            <a:off x="9735501" y="1014579"/>
            <a:ext cx="155448" cy="155448"/>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en-US" sz="1000">
              <a:solidFill>
                <a:schemeClr val="tx1"/>
              </a:solidFill>
            </a:endParaRPr>
          </a:p>
        </p:txBody>
      </p:sp>
      <p:sp>
        <p:nvSpPr>
          <p:cNvPr id="174" name="Arc 173">
            <a:extLst>
              <a:ext uri="{FF2B5EF4-FFF2-40B4-BE49-F238E27FC236}">
                <a16:creationId xmlns:a16="http://schemas.microsoft.com/office/drawing/2014/main" id="{BD3D34F1-2B56-F028-BC87-9F74D1A7249D}"/>
              </a:ext>
            </a:extLst>
          </p:cNvPr>
          <p:cNvSpPr/>
          <p:nvPr/>
        </p:nvSpPr>
        <p:spPr>
          <a:xfrm>
            <a:off x="9735501" y="1014579"/>
            <a:ext cx="155448" cy="155448"/>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US" sz="1000"/>
          </a:p>
        </p:txBody>
      </p:sp>
      <p:sp>
        <p:nvSpPr>
          <p:cNvPr id="163" name="TextBox 162">
            <a:extLst>
              <a:ext uri="{FF2B5EF4-FFF2-40B4-BE49-F238E27FC236}">
                <a16:creationId xmlns:a16="http://schemas.microsoft.com/office/drawing/2014/main" id="{6E5C18D0-17AC-C5CB-6EF0-5AB529B49AD8}"/>
              </a:ext>
            </a:extLst>
          </p:cNvPr>
          <p:cNvSpPr txBox="1"/>
          <p:nvPr/>
        </p:nvSpPr>
        <p:spPr>
          <a:xfrm>
            <a:off x="4760434" y="1015359"/>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164" name="Rectangle 163">
            <a:extLst>
              <a:ext uri="{FF2B5EF4-FFF2-40B4-BE49-F238E27FC236}">
                <a16:creationId xmlns:a16="http://schemas.microsoft.com/office/drawing/2014/main" id="{C16EF940-371D-3959-A01D-BDE3F1F4BE1D}"/>
              </a:ext>
            </a:extLst>
          </p:cNvPr>
          <p:cNvSpPr/>
          <p:nvPr/>
        </p:nvSpPr>
        <p:spPr>
          <a:xfrm>
            <a:off x="4540260" y="1014579"/>
            <a:ext cx="155448" cy="155448"/>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sp>
        <p:nvSpPr>
          <p:cNvPr id="171" name="Oval 170">
            <a:extLst>
              <a:ext uri="{FF2B5EF4-FFF2-40B4-BE49-F238E27FC236}">
                <a16:creationId xmlns:a16="http://schemas.microsoft.com/office/drawing/2014/main" id="{BC4FC3DD-77D8-B2E9-F925-BA1298B2D21E}"/>
              </a:ext>
            </a:extLst>
          </p:cNvPr>
          <p:cNvSpPr/>
          <p:nvPr/>
        </p:nvSpPr>
        <p:spPr>
          <a:xfrm>
            <a:off x="10283293" y="1014579"/>
            <a:ext cx="155448" cy="15544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72" name="Graphic 171">
            <a:extLst>
              <a:ext uri="{FF2B5EF4-FFF2-40B4-BE49-F238E27FC236}">
                <a16:creationId xmlns:a16="http://schemas.microsoft.com/office/drawing/2014/main" id="{037E17AD-96FF-1A37-38D8-AD4D91FB822D}"/>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286280" y="1017566"/>
            <a:ext cx="149474" cy="149474"/>
          </a:xfrm>
          <a:prstGeom prst="rect">
            <a:avLst/>
          </a:prstGeom>
        </p:spPr>
      </p:pic>
      <p:sp>
        <p:nvSpPr>
          <p:cNvPr id="166" name="Legend3">
            <a:extLst>
              <a:ext uri="{FF2B5EF4-FFF2-40B4-BE49-F238E27FC236}">
                <a16:creationId xmlns:a16="http://schemas.microsoft.com/office/drawing/2014/main" id="{0FCD5F02-2AAF-93B2-4770-63C118EB24CF}"/>
              </a:ext>
            </a:extLst>
          </p:cNvPr>
          <p:cNvSpPr txBox="1"/>
          <p:nvPr/>
        </p:nvSpPr>
        <p:spPr>
          <a:xfrm>
            <a:off x="10503467" y="1015359"/>
            <a:ext cx="30457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sz="1000" dirty="0"/>
              <a:t>Gaps</a:t>
            </a:r>
          </a:p>
        </p:txBody>
      </p:sp>
      <p:sp>
        <p:nvSpPr>
          <p:cNvPr id="169" name="Oval 168">
            <a:extLst>
              <a:ext uri="{FF2B5EF4-FFF2-40B4-BE49-F238E27FC236}">
                <a16:creationId xmlns:a16="http://schemas.microsoft.com/office/drawing/2014/main" id="{10ACA9A3-24DE-D673-7483-97010577717A}"/>
              </a:ext>
            </a:extLst>
          </p:cNvPr>
          <p:cNvSpPr/>
          <p:nvPr/>
        </p:nvSpPr>
        <p:spPr>
          <a:xfrm>
            <a:off x="10872764" y="1014579"/>
            <a:ext cx="155448" cy="155448"/>
          </a:xfrm>
          <a:prstGeom prst="ellipse">
            <a:avLst/>
          </a:pr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err="1">
              <a:solidFill>
                <a:schemeClr val="bg1"/>
              </a:solidFill>
            </a:endParaRPr>
          </a:p>
        </p:txBody>
      </p:sp>
      <p:pic>
        <p:nvPicPr>
          <p:cNvPr id="170" name="Graphic 169">
            <a:extLst>
              <a:ext uri="{FF2B5EF4-FFF2-40B4-BE49-F238E27FC236}">
                <a16:creationId xmlns:a16="http://schemas.microsoft.com/office/drawing/2014/main" id="{5E3A7641-62B0-8351-A9DD-23E090013B37}"/>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875751" y="1017566"/>
            <a:ext cx="149474" cy="149474"/>
          </a:xfrm>
          <a:prstGeom prst="rect">
            <a:avLst/>
          </a:prstGeom>
        </p:spPr>
      </p:pic>
      <p:sp>
        <p:nvSpPr>
          <p:cNvPr id="168" name="Legend3">
            <a:extLst>
              <a:ext uri="{FF2B5EF4-FFF2-40B4-BE49-F238E27FC236}">
                <a16:creationId xmlns:a16="http://schemas.microsoft.com/office/drawing/2014/main" id="{D699B881-6E66-37F7-0E99-3EBFFE561A6D}"/>
              </a:ext>
            </a:extLst>
          </p:cNvPr>
          <p:cNvSpPr txBox="1"/>
          <p:nvPr/>
        </p:nvSpPr>
        <p:spPr>
          <a:xfrm>
            <a:off x="11092942" y="1015359"/>
            <a:ext cx="545021" cy="153888"/>
          </a:xfrm>
          <a:prstGeom prst="rect">
            <a:avLst/>
          </a:prstGeom>
          <a:noFill/>
          <a:ln>
            <a:noFill/>
            <a:miter lim="800000"/>
          </a:ln>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spcAft>
                <a:spcPts val="600"/>
              </a:spcAft>
            </a:pPr>
            <a:r>
              <a:rPr lang="en-US" altLang="zh-CN" sz="1000" dirty="0"/>
              <a:t>Strengths</a:t>
            </a:r>
            <a:endParaRPr lang="en-US" sz="1000" dirty="0"/>
          </a:p>
        </p:txBody>
      </p:sp>
      <p:grpSp>
        <p:nvGrpSpPr>
          <p:cNvPr id="14" name="MoonEmpty 20">
            <a:extLst>
              <a:ext uri="{FF2B5EF4-FFF2-40B4-BE49-F238E27FC236}">
                <a16:creationId xmlns:a16="http://schemas.microsoft.com/office/drawing/2014/main" id="{38FD9EBE-C38E-59F3-9B07-96517BF40F6A}"/>
              </a:ext>
            </a:extLst>
          </p:cNvPr>
          <p:cNvGrpSpPr>
            <a:grpSpLocks noChangeAspect="1"/>
          </p:cNvGrpSpPr>
          <p:nvPr>
            <p:custDataLst>
              <p:tags r:id="rId15"/>
            </p:custDataLst>
          </p:nvPr>
        </p:nvGrpSpPr>
        <p:grpSpPr>
          <a:xfrm>
            <a:off x="2020299" y="1931557"/>
            <a:ext cx="274320" cy="274320"/>
            <a:chOff x="762000" y="1270000"/>
            <a:chExt cx="254000" cy="254000"/>
          </a:xfrm>
        </p:grpSpPr>
        <p:sp>
          <p:nvSpPr>
            <p:cNvPr id="15" name="Oval 14">
              <a:extLst>
                <a:ext uri="{FF2B5EF4-FFF2-40B4-BE49-F238E27FC236}">
                  <a16:creationId xmlns:a16="http://schemas.microsoft.com/office/drawing/2014/main" id="{353483BA-9297-E4BA-2AE8-378D5BA7E98F}"/>
                </a:ext>
              </a:extLst>
            </p:cNvPr>
            <p:cNvSpPr/>
            <p:nvPr>
              <p:custDataLst>
                <p:tags r:id="rId26"/>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17" name="Arc 16">
              <a:extLst>
                <a:ext uri="{FF2B5EF4-FFF2-40B4-BE49-F238E27FC236}">
                  <a16:creationId xmlns:a16="http://schemas.microsoft.com/office/drawing/2014/main" id="{F3D30086-2675-78DA-5F16-8331325C8449}"/>
                </a:ext>
              </a:extLst>
            </p:cNvPr>
            <p:cNvSpPr/>
            <p:nvPr>
              <p:custDataLst>
                <p:tags r:id="rId27"/>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9" name="PlusSignWhite 203">
            <a:extLst>
              <a:ext uri="{FF2B5EF4-FFF2-40B4-BE49-F238E27FC236}">
                <a16:creationId xmlns:a16="http://schemas.microsoft.com/office/drawing/2014/main" id="{AB9AFF98-92D1-7CA2-B652-C7E9C0FCD12D}"/>
              </a:ext>
            </a:extLst>
          </p:cNvPr>
          <p:cNvGrpSpPr>
            <a:grpSpLocks/>
          </p:cNvGrpSpPr>
          <p:nvPr>
            <p:custDataLst>
              <p:tags r:id="rId16"/>
            </p:custDataLst>
          </p:nvPr>
        </p:nvGrpSpPr>
        <p:grpSpPr>
          <a:xfrm>
            <a:off x="3653711" y="2542564"/>
            <a:ext cx="155448" cy="155448"/>
            <a:chOff x="1016000" y="1016000"/>
            <a:chExt cx="396228" cy="396228"/>
          </a:xfrm>
          <a:solidFill>
            <a:schemeClr val="accent1"/>
          </a:solidFill>
        </p:grpSpPr>
        <p:sp>
          <p:nvSpPr>
            <p:cNvPr id="10" name="Oval 9">
              <a:extLst>
                <a:ext uri="{FF2B5EF4-FFF2-40B4-BE49-F238E27FC236}">
                  <a16:creationId xmlns:a16="http://schemas.microsoft.com/office/drawing/2014/main" id="{0AFBCCD0-657E-B8D0-1D87-F11F38A6C899}"/>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1" name="Graphic 10">
              <a:extLst>
                <a:ext uri="{FF2B5EF4-FFF2-40B4-BE49-F238E27FC236}">
                  <a16:creationId xmlns:a16="http://schemas.microsoft.com/office/drawing/2014/main" id="{4041217E-F665-6B1A-3CC3-E39297AC5084}"/>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23614" y="1023614"/>
              <a:ext cx="381000" cy="381000"/>
            </a:xfrm>
            <a:prstGeom prst="rect">
              <a:avLst/>
            </a:prstGeom>
          </p:spPr>
        </p:pic>
      </p:grpSp>
      <p:grpSp>
        <p:nvGrpSpPr>
          <p:cNvPr id="12" name="MinusSignBlue 65">
            <a:extLst>
              <a:ext uri="{FF2B5EF4-FFF2-40B4-BE49-F238E27FC236}">
                <a16:creationId xmlns:a16="http://schemas.microsoft.com/office/drawing/2014/main" id="{A29552F1-A240-3298-42D2-08DE6A235E23}"/>
              </a:ext>
            </a:extLst>
          </p:cNvPr>
          <p:cNvGrpSpPr>
            <a:grpSpLocks noChangeAspect="1"/>
          </p:cNvGrpSpPr>
          <p:nvPr>
            <p:custDataLst>
              <p:tags r:id="rId17"/>
            </p:custDataLst>
          </p:nvPr>
        </p:nvGrpSpPr>
        <p:grpSpPr>
          <a:xfrm>
            <a:off x="3667198" y="3348625"/>
            <a:ext cx="155448" cy="155448"/>
            <a:chOff x="1016000" y="1016000"/>
            <a:chExt cx="396228" cy="396228"/>
          </a:xfrm>
        </p:grpSpPr>
        <p:sp>
          <p:nvSpPr>
            <p:cNvPr id="13" name="Oval 12">
              <a:extLst>
                <a:ext uri="{FF2B5EF4-FFF2-40B4-BE49-F238E27FC236}">
                  <a16:creationId xmlns:a16="http://schemas.microsoft.com/office/drawing/2014/main" id="{361734BA-9EFB-9D17-EC8F-1B5DD501B9F1}"/>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18" name="Graphic 17">
              <a:extLst>
                <a:ext uri="{FF2B5EF4-FFF2-40B4-BE49-F238E27FC236}">
                  <a16:creationId xmlns:a16="http://schemas.microsoft.com/office/drawing/2014/main" id="{43CA6B11-7419-DB9C-13FE-6CB014121514}"/>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23614" y="1023614"/>
              <a:ext cx="381000" cy="381000"/>
            </a:xfrm>
            <a:prstGeom prst="rect">
              <a:avLst/>
            </a:prstGeom>
          </p:spPr>
        </p:pic>
      </p:grpSp>
      <p:sp>
        <p:nvSpPr>
          <p:cNvPr id="21" name="TextBox 20">
            <a:extLst>
              <a:ext uri="{FF2B5EF4-FFF2-40B4-BE49-F238E27FC236}">
                <a16:creationId xmlns:a16="http://schemas.microsoft.com/office/drawing/2014/main" id="{D6FEC976-9E3C-C308-9D37-28D7FAD4F9A1}"/>
              </a:ext>
            </a:extLst>
          </p:cNvPr>
          <p:cNvSpPr txBox="1">
            <a:spLocks/>
          </p:cNvSpPr>
          <p:nvPr/>
        </p:nvSpPr>
        <p:spPr>
          <a:xfrm>
            <a:off x="7415326" y="1931557"/>
            <a:ext cx="4229379" cy="150810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cs typeface="Arial"/>
              </a:rPr>
              <a:t>Poor data quality:  </a:t>
            </a:r>
            <a:r>
              <a:rPr lang="en-US" sz="1100">
                <a:cs typeface="Arial"/>
              </a:rPr>
              <a:t>Without DQ checks, bad data may be used to train models or supplement context for LLMs, leading to bad results and poor performance </a:t>
            </a:r>
          </a:p>
          <a:p>
            <a:pPr marL="171450" indent="-171450">
              <a:buFont typeface="Arial" panose="020B0604020202020204" pitchFamily="34" charset="0"/>
              <a:buChar char="•"/>
            </a:pPr>
            <a:r>
              <a:rPr lang="en-US" sz="1100" b="1">
                <a:cs typeface="Arial"/>
              </a:rPr>
              <a:t>Weak model explainability</a:t>
            </a:r>
            <a:r>
              <a:rPr lang="en-US" sz="1100">
                <a:cs typeface="Arial"/>
              </a:rPr>
              <a:t>: Without data lineage tracking, models can't be effectively explained with data in the backend</a:t>
            </a:r>
            <a:endParaRPr lang="en-US" sz="1100"/>
          </a:p>
          <a:p>
            <a:pPr marL="171450" indent="-171450">
              <a:buFont typeface="Arial" panose="020B0604020202020204" pitchFamily="34" charset="0"/>
              <a:buChar char="•"/>
            </a:pPr>
            <a:r>
              <a:rPr lang="en-US" sz="1100" b="1">
                <a:solidFill>
                  <a:schemeClr val="accent1"/>
                </a:solidFill>
                <a:cs typeface="Arial"/>
              </a:rPr>
              <a:t>Narrow focused unstructured data pipeline: </a:t>
            </a:r>
            <a:r>
              <a:rPr lang="en-US" sz="1100">
                <a:solidFill>
                  <a:schemeClr val="accent1"/>
                </a:solidFill>
                <a:cs typeface="Arial"/>
              </a:rPr>
              <a:t>Use-case driven GenAI app development could lead to inconsistent data pipeline, impacting reusability/scalability</a:t>
            </a:r>
          </a:p>
        </p:txBody>
      </p:sp>
      <p:grpSp>
        <p:nvGrpSpPr>
          <p:cNvPr id="36" name="PlusSignWhite 203">
            <a:extLst>
              <a:ext uri="{FF2B5EF4-FFF2-40B4-BE49-F238E27FC236}">
                <a16:creationId xmlns:a16="http://schemas.microsoft.com/office/drawing/2014/main" id="{C0B5328D-1BC0-245F-7B0A-7AEF835A99A8}"/>
              </a:ext>
            </a:extLst>
          </p:cNvPr>
          <p:cNvGrpSpPr>
            <a:grpSpLocks/>
          </p:cNvGrpSpPr>
          <p:nvPr>
            <p:custDataLst>
              <p:tags r:id="rId18"/>
            </p:custDataLst>
          </p:nvPr>
        </p:nvGrpSpPr>
        <p:grpSpPr>
          <a:xfrm>
            <a:off x="3633481" y="5243250"/>
            <a:ext cx="155448" cy="155448"/>
            <a:chOff x="1016000" y="1016000"/>
            <a:chExt cx="396228" cy="396228"/>
          </a:xfrm>
          <a:solidFill>
            <a:schemeClr val="accent1"/>
          </a:solidFill>
        </p:grpSpPr>
        <p:sp>
          <p:nvSpPr>
            <p:cNvPr id="38" name="Oval 37">
              <a:extLst>
                <a:ext uri="{FF2B5EF4-FFF2-40B4-BE49-F238E27FC236}">
                  <a16:creationId xmlns:a16="http://schemas.microsoft.com/office/drawing/2014/main" id="{B8041E4B-3CE5-1F3B-C7E2-5BBDA1F3EE02}"/>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40" name="Graphic 39">
              <a:extLst>
                <a:ext uri="{FF2B5EF4-FFF2-40B4-BE49-F238E27FC236}">
                  <a16:creationId xmlns:a16="http://schemas.microsoft.com/office/drawing/2014/main" id="{18EA68EF-8A13-C215-DA1E-F768EBBB144B}"/>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23614" y="1023614"/>
              <a:ext cx="381000" cy="381000"/>
            </a:xfrm>
            <a:prstGeom prst="rect">
              <a:avLst/>
            </a:prstGeom>
          </p:spPr>
        </p:pic>
      </p:grpSp>
      <p:grpSp>
        <p:nvGrpSpPr>
          <p:cNvPr id="41" name="PlusSignWhite 203">
            <a:extLst>
              <a:ext uri="{FF2B5EF4-FFF2-40B4-BE49-F238E27FC236}">
                <a16:creationId xmlns:a16="http://schemas.microsoft.com/office/drawing/2014/main" id="{CD12C74D-E69C-3B75-141B-DB29A0129D7D}"/>
              </a:ext>
            </a:extLst>
          </p:cNvPr>
          <p:cNvGrpSpPr>
            <a:grpSpLocks/>
          </p:cNvGrpSpPr>
          <p:nvPr>
            <p:custDataLst>
              <p:tags r:id="rId19"/>
            </p:custDataLst>
          </p:nvPr>
        </p:nvGrpSpPr>
        <p:grpSpPr>
          <a:xfrm>
            <a:off x="3633481" y="5816437"/>
            <a:ext cx="155448" cy="155448"/>
            <a:chOff x="1016000" y="1016000"/>
            <a:chExt cx="396228" cy="396228"/>
          </a:xfrm>
          <a:solidFill>
            <a:schemeClr val="accent1"/>
          </a:solidFill>
        </p:grpSpPr>
        <p:sp>
          <p:nvSpPr>
            <p:cNvPr id="42" name="Oval 41">
              <a:extLst>
                <a:ext uri="{FF2B5EF4-FFF2-40B4-BE49-F238E27FC236}">
                  <a16:creationId xmlns:a16="http://schemas.microsoft.com/office/drawing/2014/main" id="{63755FD5-D2EF-D208-3215-C5A47C8E5500}"/>
                </a:ext>
              </a:extLst>
            </p:cNvPr>
            <p:cNvSpPr/>
            <p:nvPr/>
          </p:nvSpPr>
          <p:spPr>
            <a:xfrm>
              <a:off x="1016000" y="1016000"/>
              <a:ext cx="396228" cy="396228"/>
            </a:xfrm>
            <a:prstGeom prst="ellipse">
              <a:avLst/>
            </a:prstGeom>
            <a:grp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pic>
          <p:nvPicPr>
            <p:cNvPr id="43" name="Graphic 42">
              <a:extLst>
                <a:ext uri="{FF2B5EF4-FFF2-40B4-BE49-F238E27FC236}">
                  <a16:creationId xmlns:a16="http://schemas.microsoft.com/office/drawing/2014/main" id="{5B38FB4E-D03D-FF2D-D30E-BADFB70BD8D5}"/>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23614" y="1023614"/>
              <a:ext cx="381000" cy="381000"/>
            </a:xfrm>
            <a:prstGeom prst="rect">
              <a:avLst/>
            </a:prstGeom>
          </p:spPr>
        </p:pic>
      </p:grpSp>
      <p:grpSp>
        <p:nvGrpSpPr>
          <p:cNvPr id="32" name="MoonEmpty 14">
            <a:extLst>
              <a:ext uri="{FF2B5EF4-FFF2-40B4-BE49-F238E27FC236}">
                <a16:creationId xmlns:a16="http://schemas.microsoft.com/office/drawing/2014/main" id="{B611B6B4-0835-AA19-7C09-E16BAFF1C8AC}"/>
              </a:ext>
            </a:extLst>
          </p:cNvPr>
          <p:cNvGrpSpPr>
            <a:grpSpLocks/>
          </p:cNvGrpSpPr>
          <p:nvPr>
            <p:custDataLst>
              <p:tags r:id="rId20"/>
            </p:custDataLst>
          </p:nvPr>
        </p:nvGrpSpPr>
        <p:grpSpPr>
          <a:xfrm>
            <a:off x="2006812" y="5189173"/>
            <a:ext cx="274320" cy="274320"/>
            <a:chOff x="762000" y="1270000"/>
            <a:chExt cx="254000" cy="254000"/>
          </a:xfrm>
        </p:grpSpPr>
        <p:sp>
          <p:nvSpPr>
            <p:cNvPr id="45" name="Oval 44">
              <a:extLst>
                <a:ext uri="{FF2B5EF4-FFF2-40B4-BE49-F238E27FC236}">
                  <a16:creationId xmlns:a16="http://schemas.microsoft.com/office/drawing/2014/main" id="{BE6A00EA-24D6-E1C5-06CF-88D4CC04544B}"/>
                </a:ext>
              </a:extLst>
            </p:cNvPr>
            <p:cNvSpPr/>
            <p:nvPr>
              <p:custDataLst>
                <p:tags r:id="rId24"/>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46" name="Arc 45">
              <a:extLst>
                <a:ext uri="{FF2B5EF4-FFF2-40B4-BE49-F238E27FC236}">
                  <a16:creationId xmlns:a16="http://schemas.microsoft.com/office/drawing/2014/main" id="{039C5BA4-A078-DB8E-43A1-EC1C33B60CEE}"/>
                </a:ext>
              </a:extLst>
            </p:cNvPr>
            <p:cNvSpPr/>
            <p:nvPr>
              <p:custDataLst>
                <p:tags r:id="rId25"/>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grpSp>
        <p:nvGrpSpPr>
          <p:cNvPr id="47" name="MoonEmpty 14">
            <a:extLst>
              <a:ext uri="{FF2B5EF4-FFF2-40B4-BE49-F238E27FC236}">
                <a16:creationId xmlns:a16="http://schemas.microsoft.com/office/drawing/2014/main" id="{FB8E0C1E-802D-3E69-FF2B-93986CB8C8AB}"/>
              </a:ext>
            </a:extLst>
          </p:cNvPr>
          <p:cNvGrpSpPr>
            <a:grpSpLocks/>
          </p:cNvGrpSpPr>
          <p:nvPr>
            <p:custDataLst>
              <p:tags r:id="rId21"/>
            </p:custDataLst>
          </p:nvPr>
        </p:nvGrpSpPr>
        <p:grpSpPr>
          <a:xfrm>
            <a:off x="3029884" y="5189173"/>
            <a:ext cx="274320" cy="274320"/>
            <a:chOff x="762000" y="1270000"/>
            <a:chExt cx="254000" cy="254000"/>
          </a:xfrm>
        </p:grpSpPr>
        <p:sp>
          <p:nvSpPr>
            <p:cNvPr id="48" name="Oval 47">
              <a:extLst>
                <a:ext uri="{FF2B5EF4-FFF2-40B4-BE49-F238E27FC236}">
                  <a16:creationId xmlns:a16="http://schemas.microsoft.com/office/drawing/2014/main" id="{D8D7B26C-F15E-5BAF-533B-64C995038089}"/>
                </a:ext>
              </a:extLst>
            </p:cNvPr>
            <p:cNvSpPr/>
            <p:nvPr>
              <p:custDataLst>
                <p:tags r:id="rId2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100" err="1">
                <a:solidFill>
                  <a:schemeClr val="bg1"/>
                </a:solidFill>
              </a:endParaRPr>
            </a:p>
          </p:txBody>
        </p:sp>
        <p:sp>
          <p:nvSpPr>
            <p:cNvPr id="49" name="Arc 48">
              <a:extLst>
                <a:ext uri="{FF2B5EF4-FFF2-40B4-BE49-F238E27FC236}">
                  <a16:creationId xmlns:a16="http://schemas.microsoft.com/office/drawing/2014/main" id="{2DE6DFB8-15A0-CA38-3CAB-AEFA1C6DC111}"/>
                </a:ext>
              </a:extLst>
            </p:cNvPr>
            <p:cNvSpPr/>
            <p:nvPr>
              <p:custDataLst>
                <p:tags r:id="rId2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p>
          </p:txBody>
        </p:sp>
      </p:grpSp>
      <p:sp>
        <p:nvSpPr>
          <p:cNvPr id="56" name="TextBox 55">
            <a:extLst>
              <a:ext uri="{FF2B5EF4-FFF2-40B4-BE49-F238E27FC236}">
                <a16:creationId xmlns:a16="http://schemas.microsoft.com/office/drawing/2014/main" id="{66A5FC3A-D211-A30A-707A-27FAB1B35650}"/>
              </a:ext>
            </a:extLst>
          </p:cNvPr>
          <p:cNvSpPr txBox="1">
            <a:spLocks/>
          </p:cNvSpPr>
          <p:nvPr/>
        </p:nvSpPr>
        <p:spPr>
          <a:xfrm>
            <a:off x="7395097" y="5189173"/>
            <a:ext cx="4229379" cy="5078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solidFill>
                  <a:srgbClr val="000000"/>
                </a:solidFill>
                <a:cs typeface="Arial"/>
              </a:rPr>
              <a:t>Delayed deployment and potential issues</a:t>
            </a:r>
            <a:r>
              <a:rPr lang="en-US" sz="1100">
                <a:solidFill>
                  <a:srgbClr val="000000"/>
                </a:solidFill>
                <a:cs typeface="Arial"/>
              </a:rPr>
              <a:t>: Inconsistent environments could lead to extra rework and debugging, and even potential runtime issues</a:t>
            </a:r>
          </a:p>
        </p:txBody>
      </p:sp>
    </p:spTree>
    <p:custDataLst>
      <p:tags r:id="rId1"/>
    </p:custDataLst>
    <p:extLst>
      <p:ext uri="{BB962C8B-B14F-4D97-AF65-F5344CB8AC3E}">
        <p14:creationId xmlns:p14="http://schemas.microsoft.com/office/powerpoint/2010/main" val="1446006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AA08-917F-5638-6156-F731483AF81A}"/>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DBB1B212-AE2C-A242-ED05-A7BAA247E67F}"/>
              </a:ext>
            </a:extLst>
          </p:cNvPr>
          <p:cNvGraphicFramePr>
            <a:graphicFrameLocks noChangeAspect="1"/>
          </p:cNvGraphicFramePr>
          <p:nvPr>
            <p:custDataLst>
              <p:tags r:id="rId2"/>
            </p:custDataLst>
            <p:extLst>
              <p:ext uri="{D42A27DB-BD31-4B8C-83A1-F6EECF244321}">
                <p14:modId xmlns:p14="http://schemas.microsoft.com/office/powerpoint/2010/main" val="59371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8" name="Object 6" hidden="1">
                        <a:extLst>
                          <a:ext uri="{FF2B5EF4-FFF2-40B4-BE49-F238E27FC236}">
                            <a16:creationId xmlns:a16="http://schemas.microsoft.com/office/drawing/2014/main" id="{DBB1B212-AE2C-A242-ED05-A7BAA247E67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2. Slide Title">
            <a:extLst>
              <a:ext uri="{FF2B5EF4-FFF2-40B4-BE49-F238E27FC236}">
                <a16:creationId xmlns:a16="http://schemas.microsoft.com/office/drawing/2014/main" id="{7DCBDD5D-4590-D12F-FC41-4B2DDE20C285}"/>
              </a:ext>
            </a:extLst>
          </p:cNvPr>
          <p:cNvSpPr>
            <a:spLocks noGrp="1"/>
          </p:cNvSpPr>
          <p:nvPr>
            <p:ph type="title"/>
            <p:custDataLst>
              <p:tags r:id="rId3"/>
            </p:custDataLst>
          </p:nvPr>
        </p:nvSpPr>
        <p:spPr/>
        <p:txBody>
          <a:bodyPr vert="horz"/>
          <a:lstStyle/>
          <a:p>
            <a:r>
              <a:rPr lang="en-US"/>
              <a:t>Content</a:t>
            </a:r>
          </a:p>
        </p:txBody>
      </p:sp>
      <p:sp>
        <p:nvSpPr>
          <p:cNvPr id="2" name="Subtitle 1">
            <a:extLst>
              <a:ext uri="{FF2B5EF4-FFF2-40B4-BE49-F238E27FC236}">
                <a16:creationId xmlns:a16="http://schemas.microsoft.com/office/drawing/2014/main" id="{68878D50-02E5-9D15-9AFB-4A0E1AB3FC67}"/>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68A2A3B9-AB21-74C8-B2FB-1FBB1E45D550}"/>
              </a:ext>
            </a:extLst>
          </p:cNvPr>
          <p:cNvSpPr>
            <a:spLocks noGrp="1"/>
          </p:cNvSpPr>
          <p:nvPr>
            <p:ph type="body" sz="quarter" idx="17"/>
          </p:nvPr>
        </p:nvSpPr>
        <p:spPr/>
        <p:txBody>
          <a:bodyPr/>
          <a:lstStyle/>
          <a:p>
            <a:endParaRPr lang="en-US"/>
          </a:p>
        </p:txBody>
      </p:sp>
      <p:sp>
        <p:nvSpPr>
          <p:cNvPr id="11" name="Text Placeholder 4">
            <a:hlinkClick r:id="rId11" action="ppaction://hlinksldjump"/>
            <a:extLst>
              <a:ext uri="{FF2B5EF4-FFF2-40B4-BE49-F238E27FC236}">
                <a16:creationId xmlns:a16="http://schemas.microsoft.com/office/drawing/2014/main" id="{1AF5DF51-5272-3AD9-A068-A45DBF682697}"/>
              </a:ext>
            </a:extLst>
          </p:cNvPr>
          <p:cNvSpPr>
            <a:spLocks noGrp="1"/>
          </p:cNvSpPr>
          <p:nvPr>
            <p:custDataLst>
              <p:tags r:id="rId4"/>
            </p:custDataLst>
          </p:nvPr>
        </p:nvSpPr>
        <p:spPr bwMode="auto">
          <a:xfrm>
            <a:off x="5699125" y="2614613"/>
            <a:ext cx="2659063"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lvl="1" indent="0">
              <a:spcBef>
                <a:spcPct val="0"/>
              </a:spcBef>
              <a:spcAft>
                <a:spcPct val="0"/>
              </a:spcAft>
              <a:buNone/>
            </a:pPr>
            <a:r>
              <a:rPr lang="en-US" altLang="en-US">
                <a:effectLst/>
                <a:cs typeface="+mn-cs"/>
              </a:rPr>
              <a:t>Rubric</a:t>
            </a:r>
            <a:endParaRPr lang="en-US">
              <a:cs typeface="+mn-cs"/>
            </a:endParaRPr>
          </a:p>
        </p:txBody>
      </p:sp>
      <p:sp>
        <p:nvSpPr>
          <p:cNvPr id="12" name="Text Placeholder 4">
            <a:hlinkClick r:id="rId12" action="ppaction://hlinksldjump"/>
            <a:extLst>
              <a:ext uri="{FF2B5EF4-FFF2-40B4-BE49-F238E27FC236}">
                <a16:creationId xmlns:a16="http://schemas.microsoft.com/office/drawing/2014/main" id="{7D7589F7-B40A-B766-A913-BD328F5593D4}"/>
              </a:ext>
            </a:extLst>
          </p:cNvPr>
          <p:cNvSpPr>
            <a:spLocks noGrp="1"/>
          </p:cNvSpPr>
          <p:nvPr>
            <p:custDataLst>
              <p:tags r:id="rId5"/>
            </p:custDataLst>
          </p:nvPr>
        </p:nvSpPr>
        <p:spPr bwMode="auto">
          <a:xfrm>
            <a:off x="5699125" y="3022600"/>
            <a:ext cx="2659063"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effectLst/>
                <a:cs typeface="+mn-cs"/>
              </a:rPr>
              <a:t>Current state assessment</a:t>
            </a:r>
            <a:endParaRPr lang="en-US">
              <a:cs typeface="+mn-cs"/>
            </a:endParaRPr>
          </a:p>
        </p:txBody>
      </p:sp>
      <p:sp>
        <p:nvSpPr>
          <p:cNvPr id="9" name="Text Placeholder 4">
            <a:extLst>
              <a:ext uri="{FF2B5EF4-FFF2-40B4-BE49-F238E27FC236}">
                <a16:creationId xmlns:a16="http://schemas.microsoft.com/office/drawing/2014/main" id="{DE3BBB13-42A3-2112-D9BE-C07BD85AF1CD}"/>
              </a:ext>
            </a:extLst>
          </p:cNvPr>
          <p:cNvSpPr>
            <a:spLocks noGrp="1"/>
          </p:cNvSpPr>
          <p:nvPr>
            <p:custDataLst>
              <p:tags r:id="rId6"/>
            </p:custDataLst>
          </p:nvPr>
        </p:nvSpPr>
        <p:spPr bwMode="auto">
          <a:xfrm>
            <a:off x="5699125" y="3429000"/>
            <a:ext cx="2659063" cy="406400"/>
          </a:xfrm>
          <a:prstGeom prst="rect">
            <a:avLst/>
          </a:prstGeom>
          <a:solidFill>
            <a:schemeClr val="accent1"/>
          </a:solidFill>
          <a:ln>
            <a:noFill/>
          </a:ln>
          <a:effec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b="1">
                <a:solidFill>
                  <a:schemeClr val="tx2"/>
                </a:solidFill>
                <a:cs typeface="+mn-cs"/>
              </a:rPr>
              <a:t>Peer comparisons</a:t>
            </a:r>
          </a:p>
        </p:txBody>
      </p:sp>
      <p:sp>
        <p:nvSpPr>
          <p:cNvPr id="15" name="Text Placeholder 4">
            <a:hlinkClick r:id="rId13" action="ppaction://hlinksldjump"/>
            <a:extLst>
              <a:ext uri="{FF2B5EF4-FFF2-40B4-BE49-F238E27FC236}">
                <a16:creationId xmlns:a16="http://schemas.microsoft.com/office/drawing/2014/main" id="{AE6F29EB-055E-0417-2C12-21D2A023F560}"/>
              </a:ext>
            </a:extLst>
          </p:cNvPr>
          <p:cNvSpPr>
            <a:spLocks noGrp="1"/>
          </p:cNvSpPr>
          <p:nvPr>
            <p:custDataLst>
              <p:tags r:id="rId7"/>
            </p:custDataLst>
          </p:nvPr>
        </p:nvSpPr>
        <p:spPr bwMode="auto">
          <a:xfrm>
            <a:off x="5699125" y="3835400"/>
            <a:ext cx="2659063"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effectLst/>
                <a:cs typeface="+mn-cs"/>
              </a:rPr>
              <a:t>Potential actions</a:t>
            </a:r>
            <a:endParaRPr lang="en-US">
              <a:cs typeface="+mn-cs"/>
            </a:endParaRPr>
          </a:p>
        </p:txBody>
      </p:sp>
    </p:spTree>
    <p:custDataLst>
      <p:tags r:id="rId1"/>
    </p:custDataLst>
    <p:extLst>
      <p:ext uri="{BB962C8B-B14F-4D97-AF65-F5344CB8AC3E}">
        <p14:creationId xmlns:p14="http://schemas.microsoft.com/office/powerpoint/2010/main" val="3770322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4F3A4-833D-706F-2598-A43B3A0FD7ED}"/>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A0365ACA-B722-739C-F590-E9C91DABCE6D}"/>
              </a:ext>
            </a:extLst>
          </p:cNvPr>
          <p:cNvGraphicFramePr>
            <a:graphicFrameLocks noChangeAspect="1"/>
          </p:cNvGraphicFramePr>
          <p:nvPr>
            <p:custDataLst>
              <p:tags r:id="rId2"/>
            </p:custDataLst>
            <p:extLst>
              <p:ext uri="{D42A27DB-BD31-4B8C-83A1-F6EECF244321}">
                <p14:modId xmlns:p14="http://schemas.microsoft.com/office/powerpoint/2010/main" val="118215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04" imgH="405" progId="TCLayout.ActiveDocument.1">
                  <p:embed/>
                </p:oleObj>
              </mc:Choice>
              <mc:Fallback>
                <p:oleObj name="think-cell Slide" r:id="rId24" imgW="404" imgH="405" progId="TCLayout.ActiveDocument.1">
                  <p:embed/>
                  <p:pic>
                    <p:nvPicPr>
                      <p:cNvPr id="8" name="Object 6" hidden="1">
                        <a:extLst>
                          <a:ext uri="{FF2B5EF4-FFF2-40B4-BE49-F238E27FC236}">
                            <a16:creationId xmlns:a16="http://schemas.microsoft.com/office/drawing/2014/main" id="{A0365ACA-B722-739C-F590-E9C91DABCE6D}"/>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DE79EAD7-BCCB-CF21-990B-E4D8E3D8C045}"/>
              </a:ext>
            </a:extLst>
          </p:cNvPr>
          <p:cNvSpPr>
            <a:spLocks noGrp="1"/>
          </p:cNvSpPr>
          <p:nvPr>
            <p:ph type="title"/>
            <p:custDataLst>
              <p:tags r:id="rId3"/>
            </p:custDataLst>
          </p:nvPr>
        </p:nvSpPr>
        <p:spPr>
          <a:xfrm>
            <a:off x="554736" y="172747"/>
            <a:ext cx="11082528" cy="731520"/>
          </a:xfrm>
        </p:spPr>
        <p:txBody>
          <a:bodyPr vert="horz">
            <a:noAutofit/>
          </a:bodyPr>
          <a:lstStyle/>
          <a:p>
            <a:r>
              <a:rPr lang="en-US" dirty="0"/>
              <a:t>Comparison of Client’s AI Data Readiness to peers (1/2)</a:t>
            </a:r>
          </a:p>
        </p:txBody>
      </p:sp>
      <p:sp>
        <p:nvSpPr>
          <p:cNvPr id="11" name="Text Placeholder 10">
            <a:extLst>
              <a:ext uri="{FF2B5EF4-FFF2-40B4-BE49-F238E27FC236}">
                <a16:creationId xmlns:a16="http://schemas.microsoft.com/office/drawing/2014/main" id="{AC130D1A-77F9-C22C-6B74-3EE78D6F3FB4}"/>
              </a:ext>
            </a:extLst>
          </p:cNvPr>
          <p:cNvSpPr>
            <a:spLocks noGrp="1"/>
          </p:cNvSpPr>
          <p:nvPr>
            <p:ph type="body" sz="quarter" idx="17"/>
          </p:nvPr>
        </p:nvSpPr>
        <p:spPr/>
        <p:txBody>
          <a:bodyPr/>
          <a:lstStyle/>
          <a:p>
            <a:endParaRPr lang="en-US"/>
          </a:p>
        </p:txBody>
      </p:sp>
      <p:grpSp>
        <p:nvGrpSpPr>
          <p:cNvPr id="137" name="Group 136">
            <a:extLst>
              <a:ext uri="{FF2B5EF4-FFF2-40B4-BE49-F238E27FC236}">
                <a16:creationId xmlns:a16="http://schemas.microsoft.com/office/drawing/2014/main" id="{4B488FE2-7316-B0DC-ACA3-9A4790DDB46B}"/>
              </a:ext>
            </a:extLst>
          </p:cNvPr>
          <p:cNvGrpSpPr/>
          <p:nvPr/>
        </p:nvGrpSpPr>
        <p:grpSpPr>
          <a:xfrm>
            <a:off x="4467149" y="6289709"/>
            <a:ext cx="1809418" cy="169277"/>
            <a:chOff x="4832470" y="6249781"/>
            <a:chExt cx="1809418" cy="169277"/>
          </a:xfrm>
        </p:grpSpPr>
        <p:sp>
          <p:nvSpPr>
            <p:cNvPr id="110" name="TextBox 109">
              <a:extLst>
                <a:ext uri="{FF2B5EF4-FFF2-40B4-BE49-F238E27FC236}">
                  <a16:creationId xmlns:a16="http://schemas.microsoft.com/office/drawing/2014/main" id="{AE934DB8-D5E6-7166-F8F6-07E72F5CF269}"/>
                </a:ext>
              </a:extLst>
            </p:cNvPr>
            <p:cNvSpPr txBox="1">
              <a:spLocks/>
            </p:cNvSpPr>
            <p:nvPr/>
          </p:nvSpPr>
          <p:spPr>
            <a:xfrm>
              <a:off x="4832470" y="6249781"/>
              <a:ext cx="351805"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Low</a:t>
              </a:r>
            </a:p>
          </p:txBody>
        </p:sp>
        <p:sp>
          <p:nvSpPr>
            <p:cNvPr id="113" name="TextBox 112">
              <a:extLst>
                <a:ext uri="{FF2B5EF4-FFF2-40B4-BE49-F238E27FC236}">
                  <a16:creationId xmlns:a16="http://schemas.microsoft.com/office/drawing/2014/main" id="{6AD57C04-D971-01B8-6635-115C72ECC2C4}"/>
                </a:ext>
              </a:extLst>
            </p:cNvPr>
            <p:cNvSpPr txBox="1">
              <a:spLocks/>
            </p:cNvSpPr>
            <p:nvPr/>
          </p:nvSpPr>
          <p:spPr>
            <a:xfrm>
              <a:off x="5433064" y="6249781"/>
              <a:ext cx="560109"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Medium</a:t>
              </a:r>
            </a:p>
          </p:txBody>
        </p:sp>
        <p:sp>
          <p:nvSpPr>
            <p:cNvPr id="114" name="TextBox 113">
              <a:extLst>
                <a:ext uri="{FF2B5EF4-FFF2-40B4-BE49-F238E27FC236}">
                  <a16:creationId xmlns:a16="http://schemas.microsoft.com/office/drawing/2014/main" id="{0971D46C-3870-E0B3-069C-9F083C8524D8}"/>
                </a:ext>
              </a:extLst>
            </p:cNvPr>
            <p:cNvSpPr txBox="1">
              <a:spLocks/>
            </p:cNvSpPr>
            <p:nvPr/>
          </p:nvSpPr>
          <p:spPr>
            <a:xfrm>
              <a:off x="6256026" y="6249781"/>
              <a:ext cx="385862"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High</a:t>
              </a:r>
            </a:p>
          </p:txBody>
        </p:sp>
      </p:grpSp>
      <p:grpSp>
        <p:nvGrpSpPr>
          <p:cNvPr id="138" name="Group 137">
            <a:extLst>
              <a:ext uri="{FF2B5EF4-FFF2-40B4-BE49-F238E27FC236}">
                <a16:creationId xmlns:a16="http://schemas.microsoft.com/office/drawing/2014/main" id="{431D5125-CAA3-73CC-F14F-C5648F9C071F}"/>
              </a:ext>
            </a:extLst>
          </p:cNvPr>
          <p:cNvGrpSpPr/>
          <p:nvPr/>
        </p:nvGrpSpPr>
        <p:grpSpPr>
          <a:xfrm>
            <a:off x="6425449" y="6289709"/>
            <a:ext cx="1809418" cy="169277"/>
            <a:chOff x="6790770" y="6249781"/>
            <a:chExt cx="1809418" cy="169277"/>
          </a:xfrm>
        </p:grpSpPr>
        <p:sp>
          <p:nvSpPr>
            <p:cNvPr id="115" name="TextBox 114">
              <a:extLst>
                <a:ext uri="{FF2B5EF4-FFF2-40B4-BE49-F238E27FC236}">
                  <a16:creationId xmlns:a16="http://schemas.microsoft.com/office/drawing/2014/main" id="{79047C8A-BB80-4DA7-D677-C8D382D05C8D}"/>
                </a:ext>
              </a:extLst>
            </p:cNvPr>
            <p:cNvSpPr txBox="1">
              <a:spLocks/>
            </p:cNvSpPr>
            <p:nvPr/>
          </p:nvSpPr>
          <p:spPr>
            <a:xfrm>
              <a:off x="6790770" y="6249781"/>
              <a:ext cx="351805"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Low</a:t>
              </a:r>
            </a:p>
          </p:txBody>
        </p:sp>
        <p:sp>
          <p:nvSpPr>
            <p:cNvPr id="116" name="TextBox 115">
              <a:extLst>
                <a:ext uri="{FF2B5EF4-FFF2-40B4-BE49-F238E27FC236}">
                  <a16:creationId xmlns:a16="http://schemas.microsoft.com/office/drawing/2014/main" id="{D7303E0F-46B2-1CC1-F620-61652723E307}"/>
                </a:ext>
              </a:extLst>
            </p:cNvPr>
            <p:cNvSpPr txBox="1">
              <a:spLocks/>
            </p:cNvSpPr>
            <p:nvPr/>
          </p:nvSpPr>
          <p:spPr>
            <a:xfrm>
              <a:off x="7391364" y="6249781"/>
              <a:ext cx="560109"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Medium</a:t>
              </a:r>
            </a:p>
          </p:txBody>
        </p:sp>
        <p:sp>
          <p:nvSpPr>
            <p:cNvPr id="123" name="TextBox 122">
              <a:extLst>
                <a:ext uri="{FF2B5EF4-FFF2-40B4-BE49-F238E27FC236}">
                  <a16:creationId xmlns:a16="http://schemas.microsoft.com/office/drawing/2014/main" id="{E4A97CD7-AA90-3CD4-D85B-E042C7D258E3}"/>
                </a:ext>
              </a:extLst>
            </p:cNvPr>
            <p:cNvSpPr txBox="1">
              <a:spLocks/>
            </p:cNvSpPr>
            <p:nvPr/>
          </p:nvSpPr>
          <p:spPr>
            <a:xfrm>
              <a:off x="8214326" y="6249781"/>
              <a:ext cx="385862"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High</a:t>
              </a:r>
            </a:p>
          </p:txBody>
        </p:sp>
      </p:grpSp>
      <p:grpSp>
        <p:nvGrpSpPr>
          <p:cNvPr id="69" name="Group 68">
            <a:extLst>
              <a:ext uri="{FF2B5EF4-FFF2-40B4-BE49-F238E27FC236}">
                <a16:creationId xmlns:a16="http://schemas.microsoft.com/office/drawing/2014/main" id="{CFC256CF-AB02-9B54-E4E9-C1695295FB09}"/>
              </a:ext>
            </a:extLst>
          </p:cNvPr>
          <p:cNvGrpSpPr/>
          <p:nvPr/>
        </p:nvGrpSpPr>
        <p:grpSpPr>
          <a:xfrm>
            <a:off x="571500" y="6349524"/>
            <a:ext cx="7279387" cy="270726"/>
            <a:chOff x="553973" y="6410136"/>
            <a:chExt cx="7279387" cy="270726"/>
          </a:xfrm>
        </p:grpSpPr>
        <p:sp>
          <p:nvSpPr>
            <p:cNvPr id="83" name="5. Source">
              <a:extLst>
                <a:ext uri="{FF2B5EF4-FFF2-40B4-BE49-F238E27FC236}">
                  <a16:creationId xmlns:a16="http://schemas.microsoft.com/office/drawing/2014/main" id="{D4CD3861-E3E4-3059-93E2-45BB4A66AFB4}"/>
                </a:ext>
              </a:extLst>
            </p:cNvPr>
            <p:cNvSpPr txBox="1"/>
            <p:nvPr>
              <p:custDataLst>
                <p:tags r:id="rId20"/>
              </p:custDataLst>
            </p:nvPr>
          </p:nvSpPr>
          <p:spPr>
            <a:xfrm>
              <a:off x="553973" y="6410136"/>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Expert interviews</a:t>
              </a:r>
            </a:p>
          </p:txBody>
        </p:sp>
        <p:sp>
          <p:nvSpPr>
            <p:cNvPr id="97" name="4. Footnote">
              <a:extLst>
                <a:ext uri="{FF2B5EF4-FFF2-40B4-BE49-F238E27FC236}">
                  <a16:creationId xmlns:a16="http://schemas.microsoft.com/office/drawing/2014/main" id="{525AF414-BC01-068E-E27F-5F116AC7F908}"/>
                </a:ext>
              </a:extLst>
            </p:cNvPr>
            <p:cNvSpPr txBox="1"/>
            <p:nvPr>
              <p:custDataLst>
                <p:tags r:id="rId21"/>
              </p:custDataLst>
            </p:nvPr>
          </p:nvSpPr>
          <p:spPr>
            <a:xfrm>
              <a:off x="554736" y="6557751"/>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1.	Large US financial services companies including retirement planners, investment banks, payment processors, FinTech firms, and insurance companies</a:t>
              </a:r>
            </a:p>
          </p:txBody>
        </p:sp>
      </p:grpSp>
      <p:sp>
        <p:nvSpPr>
          <p:cNvPr id="58" name="Rectangle 57">
            <a:extLst>
              <a:ext uri="{FF2B5EF4-FFF2-40B4-BE49-F238E27FC236}">
                <a16:creationId xmlns:a16="http://schemas.microsoft.com/office/drawing/2014/main" id="{B82DD5E9-8B50-2A86-C3A9-82EA3C5598F8}"/>
              </a:ext>
            </a:extLst>
          </p:cNvPr>
          <p:cNvSpPr>
            <a:spLocks/>
          </p:cNvSpPr>
          <p:nvPr/>
        </p:nvSpPr>
        <p:spPr>
          <a:xfrm>
            <a:off x="1800823" y="5907265"/>
            <a:ext cx="6437542" cy="40879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6" name="Rectangle 55">
            <a:extLst>
              <a:ext uri="{FF2B5EF4-FFF2-40B4-BE49-F238E27FC236}">
                <a16:creationId xmlns:a16="http://schemas.microsoft.com/office/drawing/2014/main" id="{D38FA6DD-85C6-96A5-F16B-A6D7FC7BAB52}"/>
              </a:ext>
            </a:extLst>
          </p:cNvPr>
          <p:cNvSpPr>
            <a:spLocks/>
          </p:cNvSpPr>
          <p:nvPr/>
        </p:nvSpPr>
        <p:spPr>
          <a:xfrm>
            <a:off x="1800823" y="4294285"/>
            <a:ext cx="6437543" cy="1207565"/>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4" name="Rectangle 33">
            <a:extLst>
              <a:ext uri="{FF2B5EF4-FFF2-40B4-BE49-F238E27FC236}">
                <a16:creationId xmlns:a16="http://schemas.microsoft.com/office/drawing/2014/main" id="{C29B99B5-F6F6-ED9C-7E39-4DA51EF363B8}"/>
              </a:ext>
            </a:extLst>
          </p:cNvPr>
          <p:cNvSpPr>
            <a:spLocks/>
          </p:cNvSpPr>
          <p:nvPr/>
        </p:nvSpPr>
        <p:spPr>
          <a:xfrm>
            <a:off x="1800823" y="3063921"/>
            <a:ext cx="6437542" cy="83788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9" name="Rectangle 8">
            <a:extLst>
              <a:ext uri="{FF2B5EF4-FFF2-40B4-BE49-F238E27FC236}">
                <a16:creationId xmlns:a16="http://schemas.microsoft.com/office/drawing/2014/main" id="{3955F0E3-94C7-BD13-F55A-07806BF0532D}"/>
              </a:ext>
            </a:extLst>
          </p:cNvPr>
          <p:cNvSpPr>
            <a:spLocks/>
          </p:cNvSpPr>
          <p:nvPr/>
        </p:nvSpPr>
        <p:spPr>
          <a:xfrm>
            <a:off x="1800823" y="2284779"/>
            <a:ext cx="6437541" cy="40879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39" name="Straight Connector 38">
            <a:extLst>
              <a:ext uri="{FF2B5EF4-FFF2-40B4-BE49-F238E27FC236}">
                <a16:creationId xmlns:a16="http://schemas.microsoft.com/office/drawing/2014/main" id="{6A215CF7-DB7C-46F7-C1B5-5432514C642F}"/>
              </a:ext>
            </a:extLst>
          </p:cNvPr>
          <p:cNvCxnSpPr>
            <a:cxnSpLocks/>
          </p:cNvCxnSpPr>
          <p:nvPr>
            <p:custDataLst>
              <p:tags r:id="rId4"/>
            </p:custDataLst>
          </p:nvPr>
        </p:nvCxnSpPr>
        <p:spPr>
          <a:xfrm>
            <a:off x="554736" y="4682116"/>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CDAB08E-D314-2305-B91E-A19B8C3431C2}"/>
              </a:ext>
            </a:extLst>
          </p:cNvPr>
          <p:cNvSpPr txBox="1">
            <a:spLocks/>
          </p:cNvSpPr>
          <p:nvPr/>
        </p:nvSpPr>
        <p:spPr>
          <a:xfrm>
            <a:off x="571501" y="1598527"/>
            <a:ext cx="932835" cy="15874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Observability</a:t>
            </a:r>
          </a:p>
        </p:txBody>
      </p:sp>
      <p:sp>
        <p:nvSpPr>
          <p:cNvPr id="7" name="TextBox 6">
            <a:extLst>
              <a:ext uri="{FF2B5EF4-FFF2-40B4-BE49-F238E27FC236}">
                <a16:creationId xmlns:a16="http://schemas.microsoft.com/office/drawing/2014/main" id="{978777DC-4E73-5EE9-E18A-7824D86103ED}"/>
              </a:ext>
            </a:extLst>
          </p:cNvPr>
          <p:cNvSpPr txBox="1">
            <a:spLocks/>
          </p:cNvSpPr>
          <p:nvPr/>
        </p:nvSpPr>
        <p:spPr>
          <a:xfrm>
            <a:off x="571500" y="2806091"/>
            <a:ext cx="932835" cy="3174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Data Type &amp; Quality</a:t>
            </a:r>
          </a:p>
        </p:txBody>
      </p:sp>
      <p:sp>
        <p:nvSpPr>
          <p:cNvPr id="10" name="TextBox 9">
            <a:extLst>
              <a:ext uri="{FF2B5EF4-FFF2-40B4-BE49-F238E27FC236}">
                <a16:creationId xmlns:a16="http://schemas.microsoft.com/office/drawing/2014/main" id="{083CA404-E75E-7CEC-B317-D9C7FA73E0E8}"/>
              </a:ext>
            </a:extLst>
          </p:cNvPr>
          <p:cNvSpPr txBox="1">
            <a:spLocks/>
          </p:cNvSpPr>
          <p:nvPr/>
        </p:nvSpPr>
        <p:spPr>
          <a:xfrm>
            <a:off x="571500" y="4818698"/>
            <a:ext cx="932835" cy="3174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Metadata Management</a:t>
            </a:r>
          </a:p>
        </p:txBody>
      </p:sp>
      <p:sp>
        <p:nvSpPr>
          <p:cNvPr id="70" name="TextBox 69">
            <a:extLst>
              <a:ext uri="{FF2B5EF4-FFF2-40B4-BE49-F238E27FC236}">
                <a16:creationId xmlns:a16="http://schemas.microsoft.com/office/drawing/2014/main" id="{9B85468E-F266-4DB9-EF0A-98F24D849B37}"/>
              </a:ext>
            </a:extLst>
          </p:cNvPr>
          <p:cNvSpPr txBox="1">
            <a:spLocks/>
          </p:cNvSpPr>
          <p:nvPr/>
        </p:nvSpPr>
        <p:spPr>
          <a:xfrm>
            <a:off x="1800824" y="2001049"/>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SLO and SLA monitoring</a:t>
            </a:r>
          </a:p>
        </p:txBody>
      </p:sp>
      <p:sp>
        <p:nvSpPr>
          <p:cNvPr id="72" name="TextBox 71">
            <a:extLst>
              <a:ext uri="{FF2B5EF4-FFF2-40B4-BE49-F238E27FC236}">
                <a16:creationId xmlns:a16="http://schemas.microsoft.com/office/drawing/2014/main" id="{BAB30245-842F-B46F-4FE1-7635AE1A5DB3}"/>
              </a:ext>
            </a:extLst>
          </p:cNvPr>
          <p:cNvSpPr txBox="1">
            <a:spLocks/>
          </p:cNvSpPr>
          <p:nvPr/>
        </p:nvSpPr>
        <p:spPr>
          <a:xfrm>
            <a:off x="1800824" y="2324198"/>
            <a:ext cx="2254676" cy="31748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Monitoring of anomaly detection and quality enforcement</a:t>
            </a:r>
          </a:p>
        </p:txBody>
      </p:sp>
      <p:sp>
        <p:nvSpPr>
          <p:cNvPr id="74" name="TextBox 73">
            <a:extLst>
              <a:ext uri="{FF2B5EF4-FFF2-40B4-BE49-F238E27FC236}">
                <a16:creationId xmlns:a16="http://schemas.microsoft.com/office/drawing/2014/main" id="{8D8D4147-F224-A07C-5969-648A9587DBFA}"/>
              </a:ext>
            </a:extLst>
          </p:cNvPr>
          <p:cNvSpPr txBox="1">
            <a:spLocks/>
          </p:cNvSpPr>
          <p:nvPr/>
        </p:nvSpPr>
        <p:spPr>
          <a:xfrm>
            <a:off x="1800824" y="2806091"/>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Validity and uniqueness</a:t>
            </a:r>
          </a:p>
        </p:txBody>
      </p:sp>
      <p:sp>
        <p:nvSpPr>
          <p:cNvPr id="76" name="TextBox 75">
            <a:extLst>
              <a:ext uri="{FF2B5EF4-FFF2-40B4-BE49-F238E27FC236}">
                <a16:creationId xmlns:a16="http://schemas.microsoft.com/office/drawing/2014/main" id="{AAF0DDAC-3220-3769-AE53-E14ED0068B3C}"/>
              </a:ext>
            </a:extLst>
          </p:cNvPr>
          <p:cNvSpPr txBox="1">
            <a:spLocks/>
          </p:cNvSpPr>
          <p:nvPr/>
        </p:nvSpPr>
        <p:spPr>
          <a:xfrm>
            <a:off x="1800824" y="3208613"/>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Accuracy and consistency</a:t>
            </a:r>
          </a:p>
        </p:txBody>
      </p:sp>
      <p:sp>
        <p:nvSpPr>
          <p:cNvPr id="80" name="TextBox 79">
            <a:extLst>
              <a:ext uri="{FF2B5EF4-FFF2-40B4-BE49-F238E27FC236}">
                <a16:creationId xmlns:a16="http://schemas.microsoft.com/office/drawing/2014/main" id="{A01C5F61-05D2-F31E-F46D-9AED20636F16}"/>
              </a:ext>
            </a:extLst>
          </p:cNvPr>
          <p:cNvSpPr txBox="1">
            <a:spLocks/>
          </p:cNvSpPr>
          <p:nvPr/>
        </p:nvSpPr>
        <p:spPr>
          <a:xfrm>
            <a:off x="1800824" y="3611134"/>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Completeness</a:t>
            </a:r>
          </a:p>
        </p:txBody>
      </p:sp>
      <p:sp>
        <p:nvSpPr>
          <p:cNvPr id="85" name="TextBox 84">
            <a:extLst>
              <a:ext uri="{FF2B5EF4-FFF2-40B4-BE49-F238E27FC236}">
                <a16:creationId xmlns:a16="http://schemas.microsoft.com/office/drawing/2014/main" id="{DC61A71D-0743-AE1A-3BD0-D2638974F4B9}"/>
              </a:ext>
            </a:extLst>
          </p:cNvPr>
          <p:cNvSpPr txBox="1">
            <a:spLocks/>
          </p:cNvSpPr>
          <p:nvPr/>
        </p:nvSpPr>
        <p:spPr>
          <a:xfrm>
            <a:off x="1800824" y="4013655"/>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Freshness and timeliness</a:t>
            </a:r>
          </a:p>
        </p:txBody>
      </p:sp>
      <p:sp>
        <p:nvSpPr>
          <p:cNvPr id="87" name="TextBox 86">
            <a:extLst>
              <a:ext uri="{FF2B5EF4-FFF2-40B4-BE49-F238E27FC236}">
                <a16:creationId xmlns:a16="http://schemas.microsoft.com/office/drawing/2014/main" id="{93375A31-3B84-356C-DF54-778CEBA138C8}"/>
              </a:ext>
            </a:extLst>
          </p:cNvPr>
          <p:cNvSpPr txBox="1">
            <a:spLocks/>
          </p:cNvSpPr>
          <p:nvPr/>
        </p:nvSpPr>
        <p:spPr>
          <a:xfrm>
            <a:off x="1800824" y="4416176"/>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Sensitivity tags </a:t>
            </a:r>
          </a:p>
        </p:txBody>
      </p:sp>
      <p:sp>
        <p:nvSpPr>
          <p:cNvPr id="89" name="TextBox 88">
            <a:extLst>
              <a:ext uri="{FF2B5EF4-FFF2-40B4-BE49-F238E27FC236}">
                <a16:creationId xmlns:a16="http://schemas.microsoft.com/office/drawing/2014/main" id="{971E5EC7-EB86-F15A-00FF-452D79CC9BF5}"/>
              </a:ext>
            </a:extLst>
          </p:cNvPr>
          <p:cNvSpPr txBox="1">
            <a:spLocks/>
          </p:cNvSpPr>
          <p:nvPr/>
        </p:nvSpPr>
        <p:spPr>
          <a:xfrm>
            <a:off x="1800824" y="4818698"/>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Catalog and glossary</a:t>
            </a:r>
          </a:p>
        </p:txBody>
      </p:sp>
      <p:sp>
        <p:nvSpPr>
          <p:cNvPr id="91" name="TextBox 90">
            <a:extLst>
              <a:ext uri="{FF2B5EF4-FFF2-40B4-BE49-F238E27FC236}">
                <a16:creationId xmlns:a16="http://schemas.microsoft.com/office/drawing/2014/main" id="{705FA526-919B-779C-90F2-149202E4DEA3}"/>
              </a:ext>
            </a:extLst>
          </p:cNvPr>
          <p:cNvSpPr txBox="1">
            <a:spLocks/>
          </p:cNvSpPr>
          <p:nvPr/>
        </p:nvSpPr>
        <p:spPr>
          <a:xfrm>
            <a:off x="1800824" y="5221219"/>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Knowledge management</a:t>
            </a:r>
          </a:p>
        </p:txBody>
      </p:sp>
      <p:sp>
        <p:nvSpPr>
          <p:cNvPr id="93" name="TextBox 92">
            <a:extLst>
              <a:ext uri="{FF2B5EF4-FFF2-40B4-BE49-F238E27FC236}">
                <a16:creationId xmlns:a16="http://schemas.microsoft.com/office/drawing/2014/main" id="{7D1029EF-3140-88D7-DD6C-89DCD22A5EB4}"/>
              </a:ext>
            </a:extLst>
          </p:cNvPr>
          <p:cNvSpPr txBox="1">
            <a:spLocks/>
          </p:cNvSpPr>
          <p:nvPr/>
        </p:nvSpPr>
        <p:spPr>
          <a:xfrm>
            <a:off x="1800824" y="5623740"/>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Schemas and data contracts</a:t>
            </a:r>
          </a:p>
        </p:txBody>
      </p:sp>
      <p:sp>
        <p:nvSpPr>
          <p:cNvPr id="95" name="TextBox 94">
            <a:extLst>
              <a:ext uri="{FF2B5EF4-FFF2-40B4-BE49-F238E27FC236}">
                <a16:creationId xmlns:a16="http://schemas.microsoft.com/office/drawing/2014/main" id="{7CFDBBC7-BD08-4890-0F8D-4515F682249F}"/>
              </a:ext>
            </a:extLst>
          </p:cNvPr>
          <p:cNvSpPr txBox="1">
            <a:spLocks/>
          </p:cNvSpPr>
          <p:nvPr/>
        </p:nvSpPr>
        <p:spPr>
          <a:xfrm>
            <a:off x="1800824" y="6026260"/>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Context tags</a:t>
            </a:r>
          </a:p>
        </p:txBody>
      </p:sp>
      <p:sp>
        <p:nvSpPr>
          <p:cNvPr id="100" name="TextBox 99">
            <a:extLst>
              <a:ext uri="{FF2B5EF4-FFF2-40B4-BE49-F238E27FC236}">
                <a16:creationId xmlns:a16="http://schemas.microsoft.com/office/drawing/2014/main" id="{07F0076E-EC4A-7D73-3135-55ACAFB260F8}"/>
              </a:ext>
            </a:extLst>
          </p:cNvPr>
          <p:cNvSpPr txBox="1">
            <a:spLocks/>
          </p:cNvSpPr>
          <p:nvPr/>
        </p:nvSpPr>
        <p:spPr>
          <a:xfrm>
            <a:off x="8436664" y="1516860"/>
            <a:ext cx="3200599" cy="117332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sz="900"/>
              <a:t>Peers trace full GenAI flows from request to response (e.g., prompt, content, model details, output target)</a:t>
            </a:r>
          </a:p>
          <a:p>
            <a:pPr lvl="1">
              <a:spcBef>
                <a:spcPct val="30000"/>
              </a:spcBef>
            </a:pPr>
            <a:r>
              <a:rPr lang="en-US" sz="900"/>
              <a:t>Peers use dashboards with alerts for latency, errors, throughput, usage, and answers backed by sources</a:t>
            </a:r>
          </a:p>
          <a:p>
            <a:pPr lvl="1">
              <a:spcBef>
                <a:spcPct val="30000"/>
              </a:spcBef>
            </a:pPr>
            <a:r>
              <a:rPr lang="en-US" sz="900"/>
              <a:t>Leaders automate checks for changing patterns or stale data, use test prompts to spot issues early, and apply inline safeguards for PII and policy</a:t>
            </a:r>
          </a:p>
        </p:txBody>
      </p:sp>
      <p:sp>
        <p:nvSpPr>
          <p:cNvPr id="102" name="TextBox 101">
            <a:extLst>
              <a:ext uri="{FF2B5EF4-FFF2-40B4-BE49-F238E27FC236}">
                <a16:creationId xmlns:a16="http://schemas.microsoft.com/office/drawing/2014/main" id="{8649B964-3575-F187-6261-A24A3C5A5071}"/>
              </a:ext>
            </a:extLst>
          </p:cNvPr>
          <p:cNvSpPr txBox="1">
            <a:spLocks/>
          </p:cNvSpPr>
          <p:nvPr/>
        </p:nvSpPr>
        <p:spPr>
          <a:xfrm>
            <a:off x="8436665" y="2761848"/>
            <a:ext cx="3040960" cy="17836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sz="900"/>
              <a:t>Peers standardize validity, uniqueness, and deduplication across structured and unstructured sources, with downstream checks</a:t>
            </a:r>
          </a:p>
          <a:p>
            <a:pPr lvl="1">
              <a:spcBef>
                <a:spcPct val="30000"/>
              </a:spcBef>
            </a:pPr>
            <a:r>
              <a:rPr lang="en-US" sz="900"/>
              <a:t>Leaders automate quality checks at load and retrieval, required fields present, correct formats, OCR accuracy, broken links, language checks, near-duplicate removal</a:t>
            </a:r>
          </a:p>
          <a:p>
            <a:pPr lvl="1">
              <a:spcBef>
                <a:spcPct val="30000"/>
              </a:spcBef>
            </a:pPr>
            <a:r>
              <a:rPr lang="en-US" sz="900"/>
              <a:t>Peers attach metadata to every document and chunk, including sensitivity, lineage, owner, and last updated, and block stale or incomplete content at retrieval</a:t>
            </a:r>
          </a:p>
          <a:p>
            <a:pPr lvl="1">
              <a:spcBef>
                <a:spcPct val="30000"/>
              </a:spcBef>
            </a:pPr>
            <a:r>
              <a:rPr lang="en-US" sz="900"/>
              <a:t>Leaders maintain trusted libraries of approved content, automate quality checks on stored text and embeddings, and review samples of high-risk material</a:t>
            </a:r>
          </a:p>
        </p:txBody>
      </p:sp>
      <p:sp>
        <p:nvSpPr>
          <p:cNvPr id="104" name="TextBox 103">
            <a:extLst>
              <a:ext uri="{FF2B5EF4-FFF2-40B4-BE49-F238E27FC236}">
                <a16:creationId xmlns:a16="http://schemas.microsoft.com/office/drawing/2014/main" id="{417382F9-0B09-8463-2A25-0F255C4A7229}"/>
              </a:ext>
            </a:extLst>
          </p:cNvPr>
          <p:cNvSpPr txBox="1">
            <a:spLocks/>
          </p:cNvSpPr>
          <p:nvPr/>
        </p:nvSpPr>
        <p:spPr>
          <a:xfrm>
            <a:off x="8436665" y="4754895"/>
            <a:ext cx="3040960" cy="139693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60000"/>
              </a:spcBef>
            </a:pPr>
            <a:r>
              <a:rPr lang="en-US" sz="900"/>
              <a:t>Peers use one tagging model across structured and unstructured data (e.g., sensitivity, audience, region, usage rights, owner, last updated, version)</a:t>
            </a:r>
          </a:p>
          <a:p>
            <a:pPr lvl="1">
              <a:spcBef>
                <a:spcPct val="60000"/>
              </a:spcBef>
            </a:pPr>
            <a:r>
              <a:rPr lang="en-US" sz="900"/>
              <a:t>Leaders automate tagging and relationships at ingest and update, enforce required tags, track coverage with dashboards and a fix queue</a:t>
            </a:r>
          </a:p>
          <a:p>
            <a:pPr lvl="1">
              <a:spcBef>
                <a:spcPct val="60000"/>
              </a:spcBef>
            </a:pPr>
            <a:r>
              <a:rPr lang="en-US" sz="900"/>
              <a:t>Peers make retrieval policy aware, tags drive filtering, masking, and redaction by user role, answers link back to sources for audit</a:t>
            </a:r>
          </a:p>
        </p:txBody>
      </p:sp>
      <p:cxnSp>
        <p:nvCxnSpPr>
          <p:cNvPr id="32" name="Straight Connector 31">
            <a:extLst>
              <a:ext uri="{FF2B5EF4-FFF2-40B4-BE49-F238E27FC236}">
                <a16:creationId xmlns:a16="http://schemas.microsoft.com/office/drawing/2014/main" id="{70D359E2-B619-4AAF-39C1-BFE3ACB71657}"/>
              </a:ext>
            </a:extLst>
          </p:cNvPr>
          <p:cNvCxnSpPr>
            <a:cxnSpLocks/>
          </p:cNvCxnSpPr>
          <p:nvPr>
            <p:custDataLst>
              <p:tags r:id="rId5"/>
            </p:custDataLst>
          </p:nvPr>
        </p:nvCxnSpPr>
        <p:spPr>
          <a:xfrm>
            <a:off x="1800824" y="1879159"/>
            <a:ext cx="643754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66C0A8F-B021-D9AB-8B06-92177F1F4AFB}"/>
              </a:ext>
            </a:extLst>
          </p:cNvPr>
          <p:cNvCxnSpPr>
            <a:cxnSpLocks/>
          </p:cNvCxnSpPr>
          <p:nvPr>
            <p:custDataLst>
              <p:tags r:id="rId6"/>
            </p:custDataLst>
          </p:nvPr>
        </p:nvCxnSpPr>
        <p:spPr>
          <a:xfrm>
            <a:off x="1800824" y="2281680"/>
            <a:ext cx="643754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7A2BA45-1C62-852A-9787-1B4832D3EF89}"/>
              </a:ext>
            </a:extLst>
          </p:cNvPr>
          <p:cNvCxnSpPr>
            <a:cxnSpLocks/>
            <a:endCxn id="34" idx="3"/>
          </p:cNvCxnSpPr>
          <p:nvPr>
            <p:custDataLst>
              <p:tags r:id="rId7"/>
            </p:custDataLst>
          </p:nvPr>
        </p:nvCxnSpPr>
        <p:spPr>
          <a:xfrm flipV="1">
            <a:off x="1800824" y="3482865"/>
            <a:ext cx="6437541" cy="6379"/>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C93E216-AD46-5A12-E593-C7D3B24012C7}"/>
              </a:ext>
            </a:extLst>
          </p:cNvPr>
          <p:cNvCxnSpPr>
            <a:cxnSpLocks/>
          </p:cNvCxnSpPr>
          <p:nvPr>
            <p:custDataLst>
              <p:tags r:id="rId8"/>
            </p:custDataLst>
          </p:nvPr>
        </p:nvCxnSpPr>
        <p:spPr>
          <a:xfrm>
            <a:off x="1800824" y="4294286"/>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A9B7221-519B-58E5-2400-8752FC895047}"/>
              </a:ext>
            </a:extLst>
          </p:cNvPr>
          <p:cNvCxnSpPr>
            <a:cxnSpLocks/>
          </p:cNvCxnSpPr>
          <p:nvPr>
            <p:custDataLst>
              <p:tags r:id="rId9"/>
            </p:custDataLst>
          </p:nvPr>
        </p:nvCxnSpPr>
        <p:spPr>
          <a:xfrm>
            <a:off x="1800824" y="5099329"/>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75271D3-2E82-8407-154F-42AEA537EB8A}"/>
              </a:ext>
            </a:extLst>
          </p:cNvPr>
          <p:cNvCxnSpPr>
            <a:cxnSpLocks/>
          </p:cNvCxnSpPr>
          <p:nvPr>
            <p:custDataLst>
              <p:tags r:id="rId10"/>
            </p:custDataLst>
          </p:nvPr>
        </p:nvCxnSpPr>
        <p:spPr>
          <a:xfrm>
            <a:off x="1800824" y="5501850"/>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F92E17A-F365-8D3D-B188-657D992E0EE7}"/>
              </a:ext>
            </a:extLst>
          </p:cNvPr>
          <p:cNvCxnSpPr>
            <a:cxnSpLocks/>
          </p:cNvCxnSpPr>
          <p:nvPr>
            <p:custDataLst>
              <p:tags r:id="rId11"/>
            </p:custDataLst>
          </p:nvPr>
        </p:nvCxnSpPr>
        <p:spPr>
          <a:xfrm>
            <a:off x="1800824" y="5904371"/>
            <a:ext cx="643754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FECBFB9E-07D0-9C2A-E8B7-8602350DB341}"/>
              </a:ext>
            </a:extLst>
          </p:cNvPr>
          <p:cNvCxnSpPr>
            <a:cxnSpLocks/>
          </p:cNvCxnSpPr>
          <p:nvPr>
            <p:custDataLst>
              <p:tags r:id="rId12"/>
            </p:custDataLst>
          </p:nvPr>
        </p:nvCxnSpPr>
        <p:spPr>
          <a:xfrm>
            <a:off x="1800824" y="3891765"/>
            <a:ext cx="643754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1BBE212C-89C3-FFA8-8B39-A07197B9E911}"/>
              </a:ext>
            </a:extLst>
          </p:cNvPr>
          <p:cNvSpPr txBox="1">
            <a:spLocks/>
          </p:cNvSpPr>
          <p:nvPr/>
        </p:nvSpPr>
        <p:spPr>
          <a:xfrm>
            <a:off x="1800824" y="1598527"/>
            <a:ext cx="2254676" cy="1587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Logs, metrics, traces</a:t>
            </a:r>
          </a:p>
        </p:txBody>
      </p:sp>
      <p:cxnSp>
        <p:nvCxnSpPr>
          <p:cNvPr id="374" name="Straight Connector 373">
            <a:extLst>
              <a:ext uri="{FF2B5EF4-FFF2-40B4-BE49-F238E27FC236}">
                <a16:creationId xmlns:a16="http://schemas.microsoft.com/office/drawing/2014/main" id="{E36DEB36-5CB9-C798-C057-FA9D16976553}"/>
              </a:ext>
            </a:extLst>
          </p:cNvPr>
          <p:cNvCxnSpPr>
            <a:cxnSpLocks/>
          </p:cNvCxnSpPr>
          <p:nvPr>
            <p:custDataLst>
              <p:tags r:id="rId13"/>
            </p:custDataLst>
          </p:nvPr>
        </p:nvCxnSpPr>
        <p:spPr>
          <a:xfrm>
            <a:off x="554736" y="1445335"/>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75" name="TextBox 374">
            <a:extLst>
              <a:ext uri="{FF2B5EF4-FFF2-40B4-BE49-F238E27FC236}">
                <a16:creationId xmlns:a16="http://schemas.microsoft.com/office/drawing/2014/main" id="{3DBBD6A3-E27F-202B-9BB3-1195C19DC8F7}"/>
              </a:ext>
            </a:extLst>
          </p:cNvPr>
          <p:cNvSpPr txBox="1">
            <a:spLocks/>
          </p:cNvSpPr>
          <p:nvPr>
            <p:custDataLst>
              <p:tags r:id="rId14"/>
            </p:custDataLst>
          </p:nvPr>
        </p:nvSpPr>
        <p:spPr>
          <a:xfrm>
            <a:off x="571501" y="1234598"/>
            <a:ext cx="932835" cy="20203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Dimension</a:t>
            </a:r>
          </a:p>
        </p:txBody>
      </p:sp>
      <p:sp>
        <p:nvSpPr>
          <p:cNvPr id="376" name="TextBox 375">
            <a:extLst>
              <a:ext uri="{FF2B5EF4-FFF2-40B4-BE49-F238E27FC236}">
                <a16:creationId xmlns:a16="http://schemas.microsoft.com/office/drawing/2014/main" id="{4690FB0B-D647-734F-BF45-47713CD760C2}"/>
              </a:ext>
            </a:extLst>
          </p:cNvPr>
          <p:cNvSpPr txBox="1">
            <a:spLocks/>
          </p:cNvSpPr>
          <p:nvPr>
            <p:custDataLst>
              <p:tags r:id="rId15"/>
            </p:custDataLst>
          </p:nvPr>
        </p:nvSpPr>
        <p:spPr>
          <a:xfrm>
            <a:off x="1800824" y="1234598"/>
            <a:ext cx="2735158" cy="20203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377" name="TextBox 376">
            <a:extLst>
              <a:ext uri="{FF2B5EF4-FFF2-40B4-BE49-F238E27FC236}">
                <a16:creationId xmlns:a16="http://schemas.microsoft.com/office/drawing/2014/main" id="{A2B75F7E-7AB6-0966-0B25-46B671CED05D}"/>
              </a:ext>
            </a:extLst>
          </p:cNvPr>
          <p:cNvSpPr txBox="1">
            <a:spLocks/>
          </p:cNvSpPr>
          <p:nvPr>
            <p:custDataLst>
              <p:tags r:id="rId16"/>
            </p:custDataLst>
          </p:nvPr>
        </p:nvSpPr>
        <p:spPr>
          <a:xfrm>
            <a:off x="8436665" y="1234598"/>
            <a:ext cx="2882593" cy="202036"/>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Leading peer practices</a:t>
            </a:r>
          </a:p>
        </p:txBody>
      </p:sp>
      <p:cxnSp>
        <p:nvCxnSpPr>
          <p:cNvPr id="128" name="Straight Connector 127">
            <a:extLst>
              <a:ext uri="{FF2B5EF4-FFF2-40B4-BE49-F238E27FC236}">
                <a16:creationId xmlns:a16="http://schemas.microsoft.com/office/drawing/2014/main" id="{FE2DA507-2B7C-658B-D50B-AEA6BB7565DB}"/>
              </a:ext>
            </a:extLst>
          </p:cNvPr>
          <p:cNvCxnSpPr>
            <a:cxnSpLocks/>
          </p:cNvCxnSpPr>
          <p:nvPr/>
        </p:nvCxnSpPr>
        <p:spPr>
          <a:xfrm>
            <a:off x="4467149" y="609562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E7CA195-31BB-461B-FC7F-4C127F346743}"/>
              </a:ext>
            </a:extLst>
          </p:cNvPr>
          <p:cNvCxnSpPr>
            <a:cxnSpLocks/>
          </p:cNvCxnSpPr>
          <p:nvPr/>
        </p:nvCxnSpPr>
        <p:spPr>
          <a:xfrm>
            <a:off x="6428249" y="609562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39F90657-931A-6A1E-7FAE-17540CACB283}"/>
              </a:ext>
            </a:extLst>
          </p:cNvPr>
          <p:cNvCxnSpPr>
            <a:cxnSpLocks/>
          </p:cNvCxnSpPr>
          <p:nvPr/>
        </p:nvCxnSpPr>
        <p:spPr>
          <a:xfrm>
            <a:off x="4467149" y="5696860"/>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46094CC-BD17-815A-8BEA-EA9E7CF0CCF4}"/>
              </a:ext>
            </a:extLst>
          </p:cNvPr>
          <p:cNvCxnSpPr>
            <a:cxnSpLocks/>
          </p:cNvCxnSpPr>
          <p:nvPr/>
        </p:nvCxnSpPr>
        <p:spPr>
          <a:xfrm>
            <a:off x="4571804" y="5660215"/>
            <a:ext cx="0" cy="73289"/>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89A20D9-06E7-2CBD-47CF-0AE57A0E4624}"/>
              </a:ext>
            </a:extLst>
          </p:cNvPr>
          <p:cNvCxnSpPr>
            <a:cxnSpLocks/>
          </p:cNvCxnSpPr>
          <p:nvPr/>
        </p:nvCxnSpPr>
        <p:spPr>
          <a:xfrm>
            <a:off x="6428249" y="5696860"/>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31D4220B-A2FC-D0BB-F06F-6055E367DC5F}"/>
              </a:ext>
            </a:extLst>
          </p:cNvPr>
          <p:cNvCxnSpPr>
            <a:cxnSpLocks/>
          </p:cNvCxnSpPr>
          <p:nvPr/>
        </p:nvCxnSpPr>
        <p:spPr>
          <a:xfrm>
            <a:off x="6533955" y="5660215"/>
            <a:ext cx="0" cy="73289"/>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A8389001-7CCA-120A-EB06-4C267E32642C}"/>
              </a:ext>
            </a:extLst>
          </p:cNvPr>
          <p:cNvCxnSpPr>
            <a:cxnSpLocks/>
          </p:cNvCxnSpPr>
          <p:nvPr/>
        </p:nvCxnSpPr>
        <p:spPr>
          <a:xfrm>
            <a:off x="4467149" y="5293745"/>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96F5517-C7FF-32F9-EB2F-D0F5B0C45D9E}"/>
              </a:ext>
            </a:extLst>
          </p:cNvPr>
          <p:cNvCxnSpPr>
            <a:cxnSpLocks/>
          </p:cNvCxnSpPr>
          <p:nvPr/>
        </p:nvCxnSpPr>
        <p:spPr>
          <a:xfrm>
            <a:off x="6428249" y="5293745"/>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89758C14-D621-A374-09BB-34506A184E34}"/>
              </a:ext>
            </a:extLst>
          </p:cNvPr>
          <p:cNvCxnSpPr>
            <a:cxnSpLocks/>
          </p:cNvCxnSpPr>
          <p:nvPr/>
        </p:nvCxnSpPr>
        <p:spPr>
          <a:xfrm>
            <a:off x="4467149" y="488853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81FA8FB-1460-7ADD-156C-8017CEAFB357}"/>
              </a:ext>
            </a:extLst>
          </p:cNvPr>
          <p:cNvCxnSpPr>
            <a:cxnSpLocks/>
          </p:cNvCxnSpPr>
          <p:nvPr/>
        </p:nvCxnSpPr>
        <p:spPr>
          <a:xfrm>
            <a:off x="6428249" y="488853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DA32BF9D-1205-9030-BC53-33EC8067C8C8}"/>
              </a:ext>
            </a:extLst>
          </p:cNvPr>
          <p:cNvCxnSpPr>
            <a:cxnSpLocks/>
          </p:cNvCxnSpPr>
          <p:nvPr/>
        </p:nvCxnSpPr>
        <p:spPr>
          <a:xfrm>
            <a:off x="4467149" y="4488200"/>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C0679EE0-DECD-B4DA-E495-1C316121FFE1}"/>
              </a:ext>
            </a:extLst>
          </p:cNvPr>
          <p:cNvCxnSpPr>
            <a:cxnSpLocks/>
          </p:cNvCxnSpPr>
          <p:nvPr/>
        </p:nvCxnSpPr>
        <p:spPr>
          <a:xfrm>
            <a:off x="6428249" y="4488200"/>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18DA8F92-944A-03AE-1707-73E5ECADD88B}"/>
              </a:ext>
            </a:extLst>
          </p:cNvPr>
          <p:cNvCxnSpPr>
            <a:cxnSpLocks/>
          </p:cNvCxnSpPr>
          <p:nvPr/>
        </p:nvCxnSpPr>
        <p:spPr>
          <a:xfrm>
            <a:off x="4467149" y="4090105"/>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9E6EA78-2896-F949-5D09-81446DA50961}"/>
              </a:ext>
            </a:extLst>
          </p:cNvPr>
          <p:cNvCxnSpPr>
            <a:cxnSpLocks/>
          </p:cNvCxnSpPr>
          <p:nvPr/>
        </p:nvCxnSpPr>
        <p:spPr>
          <a:xfrm>
            <a:off x="6428249" y="4090105"/>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D078C3FA-22E8-CA28-0C6B-E4110072DACB}"/>
              </a:ext>
            </a:extLst>
          </p:cNvPr>
          <p:cNvCxnSpPr>
            <a:cxnSpLocks/>
          </p:cNvCxnSpPr>
          <p:nvPr/>
        </p:nvCxnSpPr>
        <p:spPr>
          <a:xfrm>
            <a:off x="4467149" y="368471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7D346E40-7095-11EA-3AA3-D00AAEE550D5}"/>
              </a:ext>
            </a:extLst>
          </p:cNvPr>
          <p:cNvCxnSpPr>
            <a:cxnSpLocks/>
          </p:cNvCxnSpPr>
          <p:nvPr/>
        </p:nvCxnSpPr>
        <p:spPr>
          <a:xfrm>
            <a:off x="6428249" y="368471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69F168AF-3F82-6F8F-AA64-054C41221BCE}"/>
              </a:ext>
            </a:extLst>
          </p:cNvPr>
          <p:cNvCxnSpPr>
            <a:cxnSpLocks/>
          </p:cNvCxnSpPr>
          <p:nvPr/>
        </p:nvCxnSpPr>
        <p:spPr>
          <a:xfrm>
            <a:off x="4467149" y="3283298"/>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8CF22F09-4932-09EF-C42E-DF08CFBD1121}"/>
              </a:ext>
            </a:extLst>
          </p:cNvPr>
          <p:cNvCxnSpPr>
            <a:cxnSpLocks/>
          </p:cNvCxnSpPr>
          <p:nvPr/>
        </p:nvCxnSpPr>
        <p:spPr>
          <a:xfrm>
            <a:off x="6428249" y="3283298"/>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70C2DD03-C981-84E8-E8BE-8FE9FD367C6A}"/>
              </a:ext>
            </a:extLst>
          </p:cNvPr>
          <p:cNvCxnSpPr>
            <a:cxnSpLocks/>
          </p:cNvCxnSpPr>
          <p:nvPr/>
        </p:nvCxnSpPr>
        <p:spPr>
          <a:xfrm>
            <a:off x="4467149" y="2875935"/>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7F6BE383-C2C7-F8E6-02AF-445ED604F04F}"/>
              </a:ext>
            </a:extLst>
          </p:cNvPr>
          <p:cNvCxnSpPr>
            <a:cxnSpLocks/>
          </p:cNvCxnSpPr>
          <p:nvPr/>
        </p:nvCxnSpPr>
        <p:spPr>
          <a:xfrm>
            <a:off x="6428249" y="2875935"/>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A14E0CAB-A973-5849-E35D-45E9002188E5}"/>
              </a:ext>
            </a:extLst>
          </p:cNvPr>
          <p:cNvCxnSpPr>
            <a:cxnSpLocks/>
          </p:cNvCxnSpPr>
          <p:nvPr/>
        </p:nvCxnSpPr>
        <p:spPr>
          <a:xfrm>
            <a:off x="4467149" y="2473007"/>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8D2D8A5F-A48C-FEA8-557A-74E4B7937FE0}"/>
              </a:ext>
            </a:extLst>
          </p:cNvPr>
          <p:cNvCxnSpPr>
            <a:cxnSpLocks/>
          </p:cNvCxnSpPr>
          <p:nvPr/>
        </p:nvCxnSpPr>
        <p:spPr>
          <a:xfrm>
            <a:off x="6428249" y="2473007"/>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72" name="TextBox 371">
            <a:extLst>
              <a:ext uri="{FF2B5EF4-FFF2-40B4-BE49-F238E27FC236}">
                <a16:creationId xmlns:a16="http://schemas.microsoft.com/office/drawing/2014/main" id="{895C5159-2125-F2AD-690C-DEC51C912DEC}"/>
              </a:ext>
            </a:extLst>
          </p:cNvPr>
          <p:cNvSpPr txBox="1">
            <a:spLocks/>
          </p:cNvSpPr>
          <p:nvPr>
            <p:custDataLst>
              <p:tags r:id="rId17"/>
            </p:custDataLst>
          </p:nvPr>
        </p:nvSpPr>
        <p:spPr>
          <a:xfrm>
            <a:off x="4467149" y="1234598"/>
            <a:ext cx="1664612" cy="20203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Traditional AI score</a:t>
            </a:r>
          </a:p>
        </p:txBody>
      </p:sp>
      <p:sp>
        <p:nvSpPr>
          <p:cNvPr id="373" name="TextBox 372">
            <a:extLst>
              <a:ext uri="{FF2B5EF4-FFF2-40B4-BE49-F238E27FC236}">
                <a16:creationId xmlns:a16="http://schemas.microsoft.com/office/drawing/2014/main" id="{25A2653D-B168-9F9D-A3DA-57D1615FE08A}"/>
              </a:ext>
            </a:extLst>
          </p:cNvPr>
          <p:cNvSpPr txBox="1">
            <a:spLocks/>
          </p:cNvSpPr>
          <p:nvPr>
            <p:custDataLst>
              <p:tags r:id="rId18"/>
            </p:custDataLst>
          </p:nvPr>
        </p:nvSpPr>
        <p:spPr>
          <a:xfrm>
            <a:off x="6428249" y="1234598"/>
            <a:ext cx="1664612" cy="20203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 score </a:t>
            </a:r>
          </a:p>
        </p:txBody>
      </p:sp>
      <p:cxnSp>
        <p:nvCxnSpPr>
          <p:cNvPr id="12" name="Straight Connector 11">
            <a:extLst>
              <a:ext uri="{FF2B5EF4-FFF2-40B4-BE49-F238E27FC236}">
                <a16:creationId xmlns:a16="http://schemas.microsoft.com/office/drawing/2014/main" id="{290A282F-A9B8-6E3E-78E7-DBE08D9783AF}"/>
              </a:ext>
            </a:extLst>
          </p:cNvPr>
          <p:cNvCxnSpPr>
            <a:cxnSpLocks/>
          </p:cNvCxnSpPr>
          <p:nvPr/>
        </p:nvCxnSpPr>
        <p:spPr>
          <a:xfrm>
            <a:off x="4467149" y="2072411"/>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79016D-945F-5E5E-B10F-067C1B6FFE42}"/>
              </a:ext>
            </a:extLst>
          </p:cNvPr>
          <p:cNvCxnSpPr>
            <a:cxnSpLocks/>
          </p:cNvCxnSpPr>
          <p:nvPr/>
        </p:nvCxnSpPr>
        <p:spPr>
          <a:xfrm>
            <a:off x="6428249" y="207241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212211C-B320-4ADD-19E4-82B1EB331023}"/>
              </a:ext>
            </a:extLst>
          </p:cNvPr>
          <p:cNvCxnSpPr>
            <a:cxnSpLocks/>
          </p:cNvCxnSpPr>
          <p:nvPr/>
        </p:nvCxnSpPr>
        <p:spPr>
          <a:xfrm>
            <a:off x="4467149" y="166648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AB8F67C-93AB-BC12-7D82-C1B2EB10533C}"/>
              </a:ext>
            </a:extLst>
          </p:cNvPr>
          <p:cNvCxnSpPr>
            <a:cxnSpLocks/>
          </p:cNvCxnSpPr>
          <p:nvPr/>
        </p:nvCxnSpPr>
        <p:spPr>
          <a:xfrm>
            <a:off x="5299673" y="1629840"/>
            <a:ext cx="0" cy="73289"/>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D6F48D3-912B-B2B2-BB13-6F38950173BE}"/>
              </a:ext>
            </a:extLst>
          </p:cNvPr>
          <p:cNvCxnSpPr>
            <a:cxnSpLocks/>
          </p:cNvCxnSpPr>
          <p:nvPr/>
        </p:nvCxnSpPr>
        <p:spPr>
          <a:xfrm>
            <a:off x="6428249" y="166648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9" name="Rectangle: Rounded Corners 118">
            <a:extLst>
              <a:ext uri="{FF2B5EF4-FFF2-40B4-BE49-F238E27FC236}">
                <a16:creationId xmlns:a16="http://schemas.microsoft.com/office/drawing/2014/main" id="{3EF02B76-2511-F73E-E4DF-FA2284B75C94}"/>
              </a:ext>
            </a:extLst>
          </p:cNvPr>
          <p:cNvSpPr>
            <a:spLocks/>
          </p:cNvSpPr>
          <p:nvPr/>
        </p:nvSpPr>
        <p:spPr>
          <a:xfrm flipV="1">
            <a:off x="5287017" y="2442681"/>
            <a:ext cx="637534" cy="60654"/>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6" name="Straight Connector 5">
            <a:extLst>
              <a:ext uri="{FF2B5EF4-FFF2-40B4-BE49-F238E27FC236}">
                <a16:creationId xmlns:a16="http://schemas.microsoft.com/office/drawing/2014/main" id="{E2394D41-BC48-482D-CE56-B5F7A19FA4A7}"/>
              </a:ext>
            </a:extLst>
          </p:cNvPr>
          <p:cNvCxnSpPr>
            <a:cxnSpLocks/>
          </p:cNvCxnSpPr>
          <p:nvPr>
            <p:custDataLst>
              <p:tags r:id="rId19"/>
            </p:custDataLst>
          </p:nvPr>
        </p:nvCxnSpPr>
        <p:spPr>
          <a:xfrm>
            <a:off x="554736" y="2690183"/>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40" name="Oval 639">
            <a:extLst>
              <a:ext uri="{FF2B5EF4-FFF2-40B4-BE49-F238E27FC236}">
                <a16:creationId xmlns:a16="http://schemas.microsoft.com/office/drawing/2014/main" id="{C22612A0-97B8-8E04-FAA9-A9D330572788}"/>
              </a:ext>
            </a:extLst>
          </p:cNvPr>
          <p:cNvSpPr/>
          <p:nvPr/>
        </p:nvSpPr>
        <p:spPr bwMode="auto">
          <a:xfrm>
            <a:off x="9175979" y="1037521"/>
            <a:ext cx="114300" cy="107187"/>
          </a:xfrm>
          <a:prstGeom prst="ellipse">
            <a:avLst/>
          </a:prstGeom>
          <a:solidFill>
            <a:schemeClr val="accent1"/>
          </a:solidFill>
          <a:ln w="9525" cap="sq" cmpd="sng" algn="ctr">
            <a:solidFill>
              <a:schemeClr val="accent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43" name="TextBox 642">
            <a:extLst>
              <a:ext uri="{FF2B5EF4-FFF2-40B4-BE49-F238E27FC236}">
                <a16:creationId xmlns:a16="http://schemas.microsoft.com/office/drawing/2014/main" id="{26B802A1-81C2-0E51-E677-2E048ABCC469}"/>
              </a:ext>
            </a:extLst>
          </p:cNvPr>
          <p:cNvSpPr txBox="1"/>
          <p:nvPr/>
        </p:nvSpPr>
        <p:spPr>
          <a:xfrm>
            <a:off x="9353779" y="1018959"/>
            <a:ext cx="397545" cy="144311"/>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Client  </a:t>
            </a:r>
          </a:p>
        </p:txBody>
      </p:sp>
      <p:sp>
        <p:nvSpPr>
          <p:cNvPr id="59" name="TextBox 58">
            <a:extLst>
              <a:ext uri="{FF2B5EF4-FFF2-40B4-BE49-F238E27FC236}">
                <a16:creationId xmlns:a16="http://schemas.microsoft.com/office/drawing/2014/main" id="{AC671645-8F06-7EA4-B939-360D1AED1518}"/>
              </a:ext>
            </a:extLst>
          </p:cNvPr>
          <p:cNvSpPr txBox="1"/>
          <p:nvPr/>
        </p:nvSpPr>
        <p:spPr>
          <a:xfrm>
            <a:off x="7053004" y="1018227"/>
            <a:ext cx="1958870" cy="144311"/>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Most critical for AI Data Readiness</a:t>
            </a:r>
          </a:p>
        </p:txBody>
      </p:sp>
      <p:sp>
        <p:nvSpPr>
          <p:cNvPr id="66" name="Rectangle 65">
            <a:extLst>
              <a:ext uri="{FF2B5EF4-FFF2-40B4-BE49-F238E27FC236}">
                <a16:creationId xmlns:a16="http://schemas.microsoft.com/office/drawing/2014/main" id="{E3BA8D3F-5FBB-1452-542E-542423C1C8E1}"/>
              </a:ext>
            </a:extLst>
          </p:cNvPr>
          <p:cNvSpPr/>
          <p:nvPr/>
        </p:nvSpPr>
        <p:spPr>
          <a:xfrm>
            <a:off x="6832830" y="1017496"/>
            <a:ext cx="155448" cy="145774"/>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sp>
        <p:nvSpPr>
          <p:cNvPr id="108" name="Rectangle: Rounded Corners 107">
            <a:extLst>
              <a:ext uri="{FF2B5EF4-FFF2-40B4-BE49-F238E27FC236}">
                <a16:creationId xmlns:a16="http://schemas.microsoft.com/office/drawing/2014/main" id="{D9EF7F07-9E0C-0450-9E47-292A61FA66A4}"/>
              </a:ext>
            </a:extLst>
          </p:cNvPr>
          <p:cNvSpPr>
            <a:spLocks/>
          </p:cNvSpPr>
          <p:nvPr/>
        </p:nvSpPr>
        <p:spPr>
          <a:xfrm flipV="1">
            <a:off x="5287015" y="1635578"/>
            <a:ext cx="637535" cy="61813"/>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11" name="Rectangle: Rounded Corners 110">
            <a:extLst>
              <a:ext uri="{FF2B5EF4-FFF2-40B4-BE49-F238E27FC236}">
                <a16:creationId xmlns:a16="http://schemas.microsoft.com/office/drawing/2014/main" id="{AEC3995E-F9A9-F483-8F10-46E7FFC91558}"/>
              </a:ext>
            </a:extLst>
          </p:cNvPr>
          <p:cNvSpPr>
            <a:spLocks/>
          </p:cNvSpPr>
          <p:nvPr/>
        </p:nvSpPr>
        <p:spPr>
          <a:xfrm flipV="1">
            <a:off x="7253413" y="1633071"/>
            <a:ext cx="429809" cy="61813"/>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42" name="TextBox 641">
            <a:extLst>
              <a:ext uri="{FF2B5EF4-FFF2-40B4-BE49-F238E27FC236}">
                <a16:creationId xmlns:a16="http://schemas.microsoft.com/office/drawing/2014/main" id="{71BF3CCA-181B-C0A5-95D1-ED85369E243E}"/>
              </a:ext>
            </a:extLst>
          </p:cNvPr>
          <p:cNvSpPr txBox="1"/>
          <p:nvPr/>
        </p:nvSpPr>
        <p:spPr>
          <a:xfrm>
            <a:off x="10229850" y="1018959"/>
            <a:ext cx="1441100" cy="144311"/>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Financial services peers</a:t>
            </a:r>
            <a:r>
              <a:rPr lang="en-US" sz="1000" baseline="30000">
                <a:cs typeface="+mn-cs"/>
              </a:rPr>
              <a:t>1</a:t>
            </a:r>
            <a:r>
              <a:rPr lang="en-US" sz="1000">
                <a:cs typeface="+mn-cs"/>
              </a:rPr>
              <a:t> </a:t>
            </a:r>
          </a:p>
        </p:txBody>
      </p:sp>
      <p:sp>
        <p:nvSpPr>
          <p:cNvPr id="112" name="Rectangle: Rounded Corners 111">
            <a:extLst>
              <a:ext uri="{FF2B5EF4-FFF2-40B4-BE49-F238E27FC236}">
                <a16:creationId xmlns:a16="http://schemas.microsoft.com/office/drawing/2014/main" id="{7950441A-CB5C-ABA7-3057-75CD1791F4EF}"/>
              </a:ext>
            </a:extLst>
          </p:cNvPr>
          <p:cNvSpPr/>
          <p:nvPr/>
        </p:nvSpPr>
        <p:spPr>
          <a:xfrm>
            <a:off x="9944100" y="1059747"/>
            <a:ext cx="228600" cy="56388"/>
          </a:xfrm>
          <a:prstGeom prst="roundRect">
            <a:avLst/>
          </a:prstGeom>
          <a:solidFill>
            <a:srgbClr val="00A0DF"/>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4" name="Rectangle: Rounded Corners 123">
            <a:extLst>
              <a:ext uri="{FF2B5EF4-FFF2-40B4-BE49-F238E27FC236}">
                <a16:creationId xmlns:a16="http://schemas.microsoft.com/office/drawing/2014/main" id="{37F982C5-AF3A-F881-D3AB-97604576E26D}"/>
              </a:ext>
            </a:extLst>
          </p:cNvPr>
          <p:cNvSpPr>
            <a:spLocks/>
          </p:cNvSpPr>
          <p:nvPr/>
        </p:nvSpPr>
        <p:spPr>
          <a:xfrm flipV="1">
            <a:off x="6886700" y="2444718"/>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6" name="Rectangle: Rounded Corners 125">
            <a:extLst>
              <a:ext uri="{FF2B5EF4-FFF2-40B4-BE49-F238E27FC236}">
                <a16:creationId xmlns:a16="http://schemas.microsoft.com/office/drawing/2014/main" id="{5983AF02-50CA-1F0D-FEFF-223D8D8B840B}"/>
              </a:ext>
            </a:extLst>
          </p:cNvPr>
          <p:cNvSpPr>
            <a:spLocks/>
          </p:cNvSpPr>
          <p:nvPr/>
        </p:nvSpPr>
        <p:spPr>
          <a:xfrm flipV="1">
            <a:off x="5287016" y="4860303"/>
            <a:ext cx="844745" cy="56461"/>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9" name="Rectangle: Rounded Corners 128">
            <a:extLst>
              <a:ext uri="{FF2B5EF4-FFF2-40B4-BE49-F238E27FC236}">
                <a16:creationId xmlns:a16="http://schemas.microsoft.com/office/drawing/2014/main" id="{E71980C4-5B86-2022-A32E-8493E76F031A}"/>
              </a:ext>
            </a:extLst>
          </p:cNvPr>
          <p:cNvSpPr>
            <a:spLocks/>
          </p:cNvSpPr>
          <p:nvPr/>
        </p:nvSpPr>
        <p:spPr>
          <a:xfrm flipV="1">
            <a:off x="6886700" y="2847647"/>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31" name="Rectangle: Rounded Corners 130">
            <a:extLst>
              <a:ext uri="{FF2B5EF4-FFF2-40B4-BE49-F238E27FC236}">
                <a16:creationId xmlns:a16="http://schemas.microsoft.com/office/drawing/2014/main" id="{5F78E71D-FC40-39B3-769A-10CE78BD3C6A}"/>
              </a:ext>
            </a:extLst>
          </p:cNvPr>
          <p:cNvSpPr>
            <a:spLocks/>
          </p:cNvSpPr>
          <p:nvPr/>
        </p:nvSpPr>
        <p:spPr>
          <a:xfrm flipV="1">
            <a:off x="4935124" y="3255010"/>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33" name="Rectangle: Rounded Corners 132">
            <a:extLst>
              <a:ext uri="{FF2B5EF4-FFF2-40B4-BE49-F238E27FC236}">
                <a16:creationId xmlns:a16="http://schemas.microsoft.com/office/drawing/2014/main" id="{425887AE-8034-4B98-4944-753623DAEE96}"/>
              </a:ext>
            </a:extLst>
          </p:cNvPr>
          <p:cNvSpPr>
            <a:spLocks/>
          </p:cNvSpPr>
          <p:nvPr/>
        </p:nvSpPr>
        <p:spPr>
          <a:xfrm flipV="1">
            <a:off x="6896224" y="3255010"/>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35" name="Rectangle: Rounded Corners 134">
            <a:extLst>
              <a:ext uri="{FF2B5EF4-FFF2-40B4-BE49-F238E27FC236}">
                <a16:creationId xmlns:a16="http://schemas.microsoft.com/office/drawing/2014/main" id="{9C5B10DF-5704-4875-24FB-5C43751C14F4}"/>
              </a:ext>
            </a:extLst>
          </p:cNvPr>
          <p:cNvSpPr>
            <a:spLocks/>
          </p:cNvSpPr>
          <p:nvPr/>
        </p:nvSpPr>
        <p:spPr>
          <a:xfrm flipV="1">
            <a:off x="5220592" y="3656422"/>
            <a:ext cx="443193" cy="6133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2" name="Rectangle: Rounded Corners 141">
            <a:extLst>
              <a:ext uri="{FF2B5EF4-FFF2-40B4-BE49-F238E27FC236}">
                <a16:creationId xmlns:a16="http://schemas.microsoft.com/office/drawing/2014/main" id="{4BF02213-2F4B-D7F0-502D-B8626BE072AF}"/>
              </a:ext>
            </a:extLst>
          </p:cNvPr>
          <p:cNvSpPr>
            <a:spLocks/>
          </p:cNvSpPr>
          <p:nvPr/>
        </p:nvSpPr>
        <p:spPr>
          <a:xfrm flipV="1">
            <a:off x="4935124" y="4061816"/>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2" name="Rectangle: Rounded Corners 121">
            <a:extLst>
              <a:ext uri="{FF2B5EF4-FFF2-40B4-BE49-F238E27FC236}">
                <a16:creationId xmlns:a16="http://schemas.microsoft.com/office/drawing/2014/main" id="{B1933F50-F054-C7D6-3D6C-AAEB9256F28D}"/>
              </a:ext>
            </a:extLst>
          </p:cNvPr>
          <p:cNvSpPr>
            <a:spLocks/>
          </p:cNvSpPr>
          <p:nvPr/>
        </p:nvSpPr>
        <p:spPr>
          <a:xfrm flipV="1">
            <a:off x="5220593" y="2044623"/>
            <a:ext cx="703957" cy="55577"/>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0" name="Rectangle: Rounded Corners 139">
            <a:extLst>
              <a:ext uri="{FF2B5EF4-FFF2-40B4-BE49-F238E27FC236}">
                <a16:creationId xmlns:a16="http://schemas.microsoft.com/office/drawing/2014/main" id="{4959F354-420D-C3B6-A769-C63096D285F6}"/>
              </a:ext>
            </a:extLst>
          </p:cNvPr>
          <p:cNvSpPr>
            <a:spLocks/>
          </p:cNvSpPr>
          <p:nvPr/>
        </p:nvSpPr>
        <p:spPr>
          <a:xfrm flipV="1">
            <a:off x="6886700" y="2044123"/>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5" name="Rectangle: Rounded Corners 144">
            <a:extLst>
              <a:ext uri="{FF2B5EF4-FFF2-40B4-BE49-F238E27FC236}">
                <a16:creationId xmlns:a16="http://schemas.microsoft.com/office/drawing/2014/main" id="{2A9A6831-2A1C-2DEA-4BE7-FDE29B99BDFD}"/>
              </a:ext>
            </a:extLst>
          </p:cNvPr>
          <p:cNvSpPr>
            <a:spLocks/>
          </p:cNvSpPr>
          <p:nvPr/>
        </p:nvSpPr>
        <p:spPr>
          <a:xfrm flipV="1">
            <a:off x="7253413" y="3657025"/>
            <a:ext cx="429809" cy="55373"/>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7" name="Rectangle: Rounded Corners 146">
            <a:extLst>
              <a:ext uri="{FF2B5EF4-FFF2-40B4-BE49-F238E27FC236}">
                <a16:creationId xmlns:a16="http://schemas.microsoft.com/office/drawing/2014/main" id="{39432D7C-96B3-35DA-1421-C8B82366188E}"/>
              </a:ext>
            </a:extLst>
          </p:cNvPr>
          <p:cNvSpPr>
            <a:spLocks/>
          </p:cNvSpPr>
          <p:nvPr/>
        </p:nvSpPr>
        <p:spPr>
          <a:xfrm flipV="1">
            <a:off x="7253414" y="4061816"/>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52" name="Rectangle: Rounded Corners 151">
            <a:extLst>
              <a:ext uri="{FF2B5EF4-FFF2-40B4-BE49-F238E27FC236}">
                <a16:creationId xmlns:a16="http://schemas.microsoft.com/office/drawing/2014/main" id="{16886A28-1AC5-DB0C-745F-4EFAB9F68F68}"/>
              </a:ext>
            </a:extLst>
          </p:cNvPr>
          <p:cNvSpPr>
            <a:spLocks/>
          </p:cNvSpPr>
          <p:nvPr/>
        </p:nvSpPr>
        <p:spPr>
          <a:xfrm flipV="1">
            <a:off x="6524046" y="4860245"/>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57" name="Rectangle: Rounded Corners 156">
            <a:extLst>
              <a:ext uri="{FF2B5EF4-FFF2-40B4-BE49-F238E27FC236}">
                <a16:creationId xmlns:a16="http://schemas.microsoft.com/office/drawing/2014/main" id="{20C6F78E-D29B-C827-A782-5C9A292963EB}"/>
              </a:ext>
            </a:extLst>
          </p:cNvPr>
          <p:cNvSpPr>
            <a:spLocks/>
          </p:cNvSpPr>
          <p:nvPr/>
        </p:nvSpPr>
        <p:spPr>
          <a:xfrm flipV="1">
            <a:off x="5287017" y="4460123"/>
            <a:ext cx="561334" cy="56155"/>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69" name="Rectangle: Rounded Corners 168">
            <a:extLst>
              <a:ext uri="{FF2B5EF4-FFF2-40B4-BE49-F238E27FC236}">
                <a16:creationId xmlns:a16="http://schemas.microsoft.com/office/drawing/2014/main" id="{CE858D41-C69C-A354-CC31-FB3CE8A1D368}"/>
              </a:ext>
            </a:extLst>
          </p:cNvPr>
          <p:cNvSpPr>
            <a:spLocks/>
          </p:cNvSpPr>
          <p:nvPr/>
        </p:nvSpPr>
        <p:spPr>
          <a:xfrm flipV="1">
            <a:off x="5287016" y="2847647"/>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70" name="Rectangle: Rounded Corners 169">
            <a:extLst>
              <a:ext uri="{FF2B5EF4-FFF2-40B4-BE49-F238E27FC236}">
                <a16:creationId xmlns:a16="http://schemas.microsoft.com/office/drawing/2014/main" id="{78D8FFE2-88F5-33CF-3C7B-64FEAD6A7F48}"/>
              </a:ext>
            </a:extLst>
          </p:cNvPr>
          <p:cNvSpPr>
            <a:spLocks/>
          </p:cNvSpPr>
          <p:nvPr/>
        </p:nvSpPr>
        <p:spPr>
          <a:xfrm flipV="1">
            <a:off x="7253413" y="4460035"/>
            <a:ext cx="561334" cy="56332"/>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72" name="Rectangle: Rounded Corners 171">
            <a:extLst>
              <a:ext uri="{FF2B5EF4-FFF2-40B4-BE49-F238E27FC236}">
                <a16:creationId xmlns:a16="http://schemas.microsoft.com/office/drawing/2014/main" id="{CA79A2F7-461E-73D3-A291-4DE5F87CBAD3}"/>
              </a:ext>
            </a:extLst>
          </p:cNvPr>
          <p:cNvSpPr>
            <a:spLocks/>
          </p:cNvSpPr>
          <p:nvPr/>
        </p:nvSpPr>
        <p:spPr>
          <a:xfrm flipV="1">
            <a:off x="5287016" y="5265456"/>
            <a:ext cx="839447"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74" name="Rectangle: Rounded Corners 173">
            <a:extLst>
              <a:ext uri="{FF2B5EF4-FFF2-40B4-BE49-F238E27FC236}">
                <a16:creationId xmlns:a16="http://schemas.microsoft.com/office/drawing/2014/main" id="{813FCCB5-18DE-1881-12D4-A3CD2129FB94}"/>
              </a:ext>
            </a:extLst>
          </p:cNvPr>
          <p:cNvSpPr>
            <a:spLocks/>
          </p:cNvSpPr>
          <p:nvPr/>
        </p:nvSpPr>
        <p:spPr>
          <a:xfrm flipV="1">
            <a:off x="6896224" y="5265456"/>
            <a:ext cx="728662" cy="5657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77" name="Rectangle: Rounded Corners 176">
            <a:extLst>
              <a:ext uri="{FF2B5EF4-FFF2-40B4-BE49-F238E27FC236}">
                <a16:creationId xmlns:a16="http://schemas.microsoft.com/office/drawing/2014/main" id="{241A7F73-F1B6-84DC-EBD7-C4888F0AF0FD}"/>
              </a:ext>
            </a:extLst>
          </p:cNvPr>
          <p:cNvSpPr>
            <a:spLocks/>
          </p:cNvSpPr>
          <p:nvPr/>
        </p:nvSpPr>
        <p:spPr>
          <a:xfrm flipV="1">
            <a:off x="7253415" y="5668607"/>
            <a:ext cx="726434" cy="56504"/>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80" name="Rectangle: Rounded Corners 179">
            <a:extLst>
              <a:ext uri="{FF2B5EF4-FFF2-40B4-BE49-F238E27FC236}">
                <a16:creationId xmlns:a16="http://schemas.microsoft.com/office/drawing/2014/main" id="{5A4950F7-E81B-BDD8-D4D9-9E7120DAAA58}"/>
              </a:ext>
            </a:extLst>
          </p:cNvPr>
          <p:cNvSpPr>
            <a:spLocks/>
          </p:cNvSpPr>
          <p:nvPr/>
        </p:nvSpPr>
        <p:spPr>
          <a:xfrm flipV="1">
            <a:off x="5651347" y="5670334"/>
            <a:ext cx="480411" cy="53052"/>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82" name="Rectangle: Rounded Corners 181">
            <a:extLst>
              <a:ext uri="{FF2B5EF4-FFF2-40B4-BE49-F238E27FC236}">
                <a16:creationId xmlns:a16="http://schemas.microsoft.com/office/drawing/2014/main" id="{B02B66CC-9B22-A458-CA61-FF6CE39097CC}"/>
              </a:ext>
            </a:extLst>
          </p:cNvPr>
          <p:cNvSpPr>
            <a:spLocks/>
          </p:cNvSpPr>
          <p:nvPr/>
        </p:nvSpPr>
        <p:spPr>
          <a:xfrm flipV="1">
            <a:off x="5287017" y="6067364"/>
            <a:ext cx="726434" cy="56517"/>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86" name="Rectangle: Rounded Corners 185">
            <a:extLst>
              <a:ext uri="{FF2B5EF4-FFF2-40B4-BE49-F238E27FC236}">
                <a16:creationId xmlns:a16="http://schemas.microsoft.com/office/drawing/2014/main" id="{0DF828EB-EBFF-03E9-9DB1-CED2A646BDB9}"/>
              </a:ext>
            </a:extLst>
          </p:cNvPr>
          <p:cNvSpPr>
            <a:spLocks/>
          </p:cNvSpPr>
          <p:nvPr/>
        </p:nvSpPr>
        <p:spPr>
          <a:xfrm flipV="1">
            <a:off x="7253415" y="6067370"/>
            <a:ext cx="726434" cy="56504"/>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custDataLst>
      <p:tags r:id="rId1"/>
    </p:custDataLst>
    <p:extLst>
      <p:ext uri="{BB962C8B-B14F-4D97-AF65-F5344CB8AC3E}">
        <p14:creationId xmlns:p14="http://schemas.microsoft.com/office/powerpoint/2010/main" val="369076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FA7E8-91D6-70BB-23CC-6AC22FED932F}"/>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5FD90632-90B4-A551-FE31-0956DDC25209}"/>
              </a:ext>
            </a:extLst>
          </p:cNvPr>
          <p:cNvGraphicFramePr>
            <a:graphicFrameLocks noChangeAspect="1"/>
          </p:cNvGraphicFramePr>
          <p:nvPr>
            <p:custDataLst>
              <p:tags r:id="rId2"/>
            </p:custDataLst>
            <p:extLst>
              <p:ext uri="{D42A27DB-BD31-4B8C-83A1-F6EECF244321}">
                <p14:modId xmlns:p14="http://schemas.microsoft.com/office/powerpoint/2010/main" val="2287279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04" imgH="405" progId="TCLayout.ActiveDocument.1">
                  <p:embed/>
                </p:oleObj>
              </mc:Choice>
              <mc:Fallback>
                <p:oleObj name="think-cell Slide" r:id="rId25" imgW="404" imgH="405" progId="TCLayout.ActiveDocument.1">
                  <p:embed/>
                  <p:pic>
                    <p:nvPicPr>
                      <p:cNvPr id="8" name="Object 6" hidden="1">
                        <a:extLst>
                          <a:ext uri="{FF2B5EF4-FFF2-40B4-BE49-F238E27FC236}">
                            <a16:creationId xmlns:a16="http://schemas.microsoft.com/office/drawing/2014/main" id="{5FD90632-90B4-A551-FE31-0956DDC25209}"/>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7CC22E9-140D-173A-85E4-F01BA39BBEE0}"/>
              </a:ext>
            </a:extLst>
          </p:cNvPr>
          <p:cNvSpPr>
            <a:spLocks noGrp="1"/>
          </p:cNvSpPr>
          <p:nvPr>
            <p:ph type="title"/>
            <p:custDataLst>
              <p:tags r:id="rId3"/>
            </p:custDataLst>
          </p:nvPr>
        </p:nvSpPr>
        <p:spPr/>
        <p:txBody>
          <a:bodyPr vert="horz">
            <a:noAutofit/>
          </a:bodyPr>
          <a:lstStyle/>
          <a:p>
            <a:r>
              <a:rPr lang="en-US" dirty="0"/>
              <a:t>Comparison of Client’s AI Data Readiness to peers (2/2)</a:t>
            </a:r>
          </a:p>
        </p:txBody>
      </p:sp>
      <p:sp>
        <p:nvSpPr>
          <p:cNvPr id="9" name="Text Placeholder 8">
            <a:extLst>
              <a:ext uri="{FF2B5EF4-FFF2-40B4-BE49-F238E27FC236}">
                <a16:creationId xmlns:a16="http://schemas.microsoft.com/office/drawing/2014/main" id="{F7119697-7BC5-4A43-8262-3682325C6627}"/>
              </a:ext>
            </a:extLst>
          </p:cNvPr>
          <p:cNvSpPr>
            <a:spLocks noGrp="1"/>
          </p:cNvSpPr>
          <p:nvPr>
            <p:ph type="body" sz="quarter" idx="17"/>
          </p:nvPr>
        </p:nvSpPr>
        <p:spPr/>
        <p:txBody>
          <a:bodyPr/>
          <a:lstStyle/>
          <a:p>
            <a:endParaRPr lang="en-US"/>
          </a:p>
        </p:txBody>
      </p:sp>
      <p:grpSp>
        <p:nvGrpSpPr>
          <p:cNvPr id="126" name="Group 125">
            <a:extLst>
              <a:ext uri="{FF2B5EF4-FFF2-40B4-BE49-F238E27FC236}">
                <a16:creationId xmlns:a16="http://schemas.microsoft.com/office/drawing/2014/main" id="{6295A1BF-F91F-7D36-343B-191A27B192C2}"/>
              </a:ext>
            </a:extLst>
          </p:cNvPr>
          <p:cNvGrpSpPr/>
          <p:nvPr/>
        </p:nvGrpSpPr>
        <p:grpSpPr>
          <a:xfrm>
            <a:off x="571500" y="6349524"/>
            <a:ext cx="7279387" cy="270726"/>
            <a:chOff x="553973" y="6410136"/>
            <a:chExt cx="7279387" cy="270726"/>
          </a:xfrm>
        </p:grpSpPr>
        <p:sp>
          <p:nvSpPr>
            <p:cNvPr id="127" name="5. Source">
              <a:extLst>
                <a:ext uri="{FF2B5EF4-FFF2-40B4-BE49-F238E27FC236}">
                  <a16:creationId xmlns:a16="http://schemas.microsoft.com/office/drawing/2014/main" id="{0D773DCA-5217-D671-D22F-2FEBB148918D}"/>
                </a:ext>
              </a:extLst>
            </p:cNvPr>
            <p:cNvSpPr txBox="1"/>
            <p:nvPr>
              <p:custDataLst>
                <p:tags r:id="rId21"/>
              </p:custDataLst>
            </p:nvPr>
          </p:nvSpPr>
          <p:spPr>
            <a:xfrm>
              <a:off x="553973" y="6410136"/>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Expert interviews</a:t>
              </a:r>
            </a:p>
          </p:txBody>
        </p:sp>
        <p:sp>
          <p:nvSpPr>
            <p:cNvPr id="192" name="4. Footnote">
              <a:extLst>
                <a:ext uri="{FF2B5EF4-FFF2-40B4-BE49-F238E27FC236}">
                  <a16:creationId xmlns:a16="http://schemas.microsoft.com/office/drawing/2014/main" id="{CFDED89F-A00C-85AC-063F-DF276C3F3BD9}"/>
                </a:ext>
              </a:extLst>
            </p:cNvPr>
            <p:cNvSpPr txBox="1"/>
            <p:nvPr>
              <p:custDataLst>
                <p:tags r:id="rId22"/>
              </p:custDataLst>
            </p:nvPr>
          </p:nvSpPr>
          <p:spPr>
            <a:xfrm>
              <a:off x="554736" y="6557751"/>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1.	Large US financial services companies including retirement planners, investment banks, payment processors, FinTech firms, and insurance companies</a:t>
              </a:r>
            </a:p>
          </p:txBody>
        </p:sp>
      </p:grpSp>
      <p:sp>
        <p:nvSpPr>
          <p:cNvPr id="73" name="Rectangle 72">
            <a:extLst>
              <a:ext uri="{FF2B5EF4-FFF2-40B4-BE49-F238E27FC236}">
                <a16:creationId xmlns:a16="http://schemas.microsoft.com/office/drawing/2014/main" id="{566933D9-80D0-9914-3739-5235019CD70D}"/>
              </a:ext>
            </a:extLst>
          </p:cNvPr>
          <p:cNvSpPr>
            <a:spLocks/>
          </p:cNvSpPr>
          <p:nvPr/>
        </p:nvSpPr>
        <p:spPr>
          <a:xfrm>
            <a:off x="1800823" y="5215928"/>
            <a:ext cx="6437543" cy="814940"/>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1" name="Rectangle 70">
            <a:extLst>
              <a:ext uri="{FF2B5EF4-FFF2-40B4-BE49-F238E27FC236}">
                <a16:creationId xmlns:a16="http://schemas.microsoft.com/office/drawing/2014/main" id="{57E263F5-750D-D137-B4A6-3F8B1DEFDC56}"/>
              </a:ext>
            </a:extLst>
          </p:cNvPr>
          <p:cNvSpPr>
            <a:spLocks/>
          </p:cNvSpPr>
          <p:nvPr/>
        </p:nvSpPr>
        <p:spPr>
          <a:xfrm>
            <a:off x="1800823" y="3976153"/>
            <a:ext cx="6437543" cy="124874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 name="Rectangle 2">
            <a:extLst>
              <a:ext uri="{FF2B5EF4-FFF2-40B4-BE49-F238E27FC236}">
                <a16:creationId xmlns:a16="http://schemas.microsoft.com/office/drawing/2014/main" id="{CCB92322-F929-6272-1DAB-35F766940778}"/>
              </a:ext>
            </a:extLst>
          </p:cNvPr>
          <p:cNvSpPr>
            <a:spLocks/>
          </p:cNvSpPr>
          <p:nvPr/>
        </p:nvSpPr>
        <p:spPr>
          <a:xfrm>
            <a:off x="1800824" y="1496190"/>
            <a:ext cx="6437543" cy="84395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5" name="Straight Connector 4">
            <a:extLst>
              <a:ext uri="{FF2B5EF4-FFF2-40B4-BE49-F238E27FC236}">
                <a16:creationId xmlns:a16="http://schemas.microsoft.com/office/drawing/2014/main" id="{0932CA4D-34C2-B9F3-D75C-E813B3FAB9FC}"/>
              </a:ext>
            </a:extLst>
          </p:cNvPr>
          <p:cNvCxnSpPr>
            <a:cxnSpLocks/>
          </p:cNvCxnSpPr>
          <p:nvPr>
            <p:custDataLst>
              <p:tags r:id="rId4"/>
            </p:custDataLst>
          </p:nvPr>
        </p:nvCxnSpPr>
        <p:spPr>
          <a:xfrm>
            <a:off x="554736" y="1496190"/>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82BDFC8-39B6-9666-317D-50671AF79EAE}"/>
              </a:ext>
            </a:extLst>
          </p:cNvPr>
          <p:cNvSpPr txBox="1">
            <a:spLocks/>
          </p:cNvSpPr>
          <p:nvPr>
            <p:custDataLst>
              <p:tags r:id="rId5"/>
            </p:custDataLst>
          </p:nvPr>
        </p:nvSpPr>
        <p:spPr>
          <a:xfrm>
            <a:off x="571501" y="1283927"/>
            <a:ext cx="932835" cy="203499"/>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Dimension</a:t>
            </a:r>
          </a:p>
        </p:txBody>
      </p:sp>
      <p:sp>
        <p:nvSpPr>
          <p:cNvPr id="4" name="TextBox 3">
            <a:extLst>
              <a:ext uri="{FF2B5EF4-FFF2-40B4-BE49-F238E27FC236}">
                <a16:creationId xmlns:a16="http://schemas.microsoft.com/office/drawing/2014/main" id="{C0F7CB80-312A-77F2-84E7-C4FC766B6413}"/>
              </a:ext>
            </a:extLst>
          </p:cNvPr>
          <p:cNvSpPr txBox="1">
            <a:spLocks/>
          </p:cNvSpPr>
          <p:nvPr/>
        </p:nvSpPr>
        <p:spPr>
          <a:xfrm>
            <a:off x="571501" y="1552944"/>
            <a:ext cx="932835" cy="15989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Data Lineage</a:t>
            </a:r>
          </a:p>
        </p:txBody>
      </p:sp>
      <p:sp>
        <p:nvSpPr>
          <p:cNvPr id="7" name="TextBox 6">
            <a:extLst>
              <a:ext uri="{FF2B5EF4-FFF2-40B4-BE49-F238E27FC236}">
                <a16:creationId xmlns:a16="http://schemas.microsoft.com/office/drawing/2014/main" id="{DDF4302E-FD09-9388-2FF2-9C5631595323}"/>
              </a:ext>
            </a:extLst>
          </p:cNvPr>
          <p:cNvSpPr txBox="1">
            <a:spLocks/>
          </p:cNvSpPr>
          <p:nvPr/>
        </p:nvSpPr>
        <p:spPr>
          <a:xfrm>
            <a:off x="571500" y="3697852"/>
            <a:ext cx="932835"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Governance &amp; Controls</a:t>
            </a:r>
          </a:p>
        </p:txBody>
      </p:sp>
      <p:sp>
        <p:nvSpPr>
          <p:cNvPr id="10" name="TextBox 9">
            <a:extLst>
              <a:ext uri="{FF2B5EF4-FFF2-40B4-BE49-F238E27FC236}">
                <a16:creationId xmlns:a16="http://schemas.microsoft.com/office/drawing/2014/main" id="{00C3D259-CA75-01C8-D1AD-1B960D0D8875}"/>
              </a:ext>
            </a:extLst>
          </p:cNvPr>
          <p:cNvSpPr txBox="1">
            <a:spLocks/>
          </p:cNvSpPr>
          <p:nvPr/>
        </p:nvSpPr>
        <p:spPr>
          <a:xfrm>
            <a:off x="571500" y="5335742"/>
            <a:ext cx="932835"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Platform &amp; Tooling</a:t>
            </a:r>
          </a:p>
        </p:txBody>
      </p:sp>
      <p:sp>
        <p:nvSpPr>
          <p:cNvPr id="16" name="TextBox 15">
            <a:extLst>
              <a:ext uri="{FF2B5EF4-FFF2-40B4-BE49-F238E27FC236}">
                <a16:creationId xmlns:a16="http://schemas.microsoft.com/office/drawing/2014/main" id="{96655BE1-FAF8-1D68-DB91-C5D76158399F}"/>
              </a:ext>
            </a:extLst>
          </p:cNvPr>
          <p:cNvSpPr txBox="1">
            <a:spLocks/>
          </p:cNvSpPr>
          <p:nvPr>
            <p:custDataLst>
              <p:tags r:id="rId6"/>
            </p:custDataLst>
          </p:nvPr>
        </p:nvSpPr>
        <p:spPr>
          <a:xfrm>
            <a:off x="1800824" y="1283927"/>
            <a:ext cx="2735158" cy="203499"/>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Subdimension</a:t>
            </a:r>
          </a:p>
        </p:txBody>
      </p:sp>
      <p:sp>
        <p:nvSpPr>
          <p:cNvPr id="37" name="TextBox 36">
            <a:extLst>
              <a:ext uri="{FF2B5EF4-FFF2-40B4-BE49-F238E27FC236}">
                <a16:creationId xmlns:a16="http://schemas.microsoft.com/office/drawing/2014/main" id="{986D4728-731A-24AD-513D-117AA49105EC}"/>
              </a:ext>
            </a:extLst>
          </p:cNvPr>
          <p:cNvSpPr txBox="1">
            <a:spLocks/>
          </p:cNvSpPr>
          <p:nvPr/>
        </p:nvSpPr>
        <p:spPr>
          <a:xfrm>
            <a:off x="1800824" y="1650491"/>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End-to-end data</a:t>
            </a:r>
          </a:p>
        </p:txBody>
      </p:sp>
      <p:sp>
        <p:nvSpPr>
          <p:cNvPr id="70" name="TextBox 69">
            <a:extLst>
              <a:ext uri="{FF2B5EF4-FFF2-40B4-BE49-F238E27FC236}">
                <a16:creationId xmlns:a16="http://schemas.microsoft.com/office/drawing/2014/main" id="{7BF321AC-FB37-3428-6ECA-5FEF22922177}"/>
              </a:ext>
            </a:extLst>
          </p:cNvPr>
          <p:cNvSpPr txBox="1">
            <a:spLocks/>
          </p:cNvSpPr>
          <p:nvPr/>
        </p:nvSpPr>
        <p:spPr>
          <a:xfrm>
            <a:off x="1800824" y="2059963"/>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Version and change (data)</a:t>
            </a:r>
          </a:p>
        </p:txBody>
      </p:sp>
      <p:sp>
        <p:nvSpPr>
          <p:cNvPr id="72" name="TextBox 71">
            <a:extLst>
              <a:ext uri="{FF2B5EF4-FFF2-40B4-BE49-F238E27FC236}">
                <a16:creationId xmlns:a16="http://schemas.microsoft.com/office/drawing/2014/main" id="{493C552A-3787-B4B0-7A0D-4847300DDFD2}"/>
              </a:ext>
            </a:extLst>
          </p:cNvPr>
          <p:cNvSpPr txBox="1">
            <a:spLocks/>
          </p:cNvSpPr>
          <p:nvPr/>
        </p:nvSpPr>
        <p:spPr>
          <a:xfrm>
            <a:off x="1800824" y="2469435"/>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Consent and purpose tagging</a:t>
            </a:r>
          </a:p>
        </p:txBody>
      </p:sp>
      <p:sp>
        <p:nvSpPr>
          <p:cNvPr id="74" name="TextBox 73">
            <a:extLst>
              <a:ext uri="{FF2B5EF4-FFF2-40B4-BE49-F238E27FC236}">
                <a16:creationId xmlns:a16="http://schemas.microsoft.com/office/drawing/2014/main" id="{F02848AB-CCC9-F51B-310B-1D8AA83132D1}"/>
              </a:ext>
            </a:extLst>
          </p:cNvPr>
          <p:cNvSpPr txBox="1">
            <a:spLocks/>
          </p:cNvSpPr>
          <p:nvPr/>
        </p:nvSpPr>
        <p:spPr>
          <a:xfrm>
            <a:off x="1800824" y="2878908"/>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Code and feature store (logic)</a:t>
            </a:r>
          </a:p>
        </p:txBody>
      </p:sp>
      <p:sp>
        <p:nvSpPr>
          <p:cNvPr id="76" name="TextBox 75">
            <a:extLst>
              <a:ext uri="{FF2B5EF4-FFF2-40B4-BE49-F238E27FC236}">
                <a16:creationId xmlns:a16="http://schemas.microsoft.com/office/drawing/2014/main" id="{F6E65EBE-D594-4DB9-8238-C1896B90157D}"/>
              </a:ext>
            </a:extLst>
          </p:cNvPr>
          <p:cNvSpPr txBox="1">
            <a:spLocks/>
          </p:cNvSpPr>
          <p:nvPr/>
        </p:nvSpPr>
        <p:spPr>
          <a:xfrm>
            <a:off x="1800824" y="3288380"/>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Model input traceability</a:t>
            </a:r>
          </a:p>
        </p:txBody>
      </p:sp>
      <p:sp>
        <p:nvSpPr>
          <p:cNvPr id="80" name="TextBox 79">
            <a:extLst>
              <a:ext uri="{FF2B5EF4-FFF2-40B4-BE49-F238E27FC236}">
                <a16:creationId xmlns:a16="http://schemas.microsoft.com/office/drawing/2014/main" id="{066A1489-1FC7-0A39-4A5E-FDF025929C40}"/>
              </a:ext>
            </a:extLst>
          </p:cNvPr>
          <p:cNvSpPr txBox="1">
            <a:spLocks/>
          </p:cNvSpPr>
          <p:nvPr/>
        </p:nvSpPr>
        <p:spPr>
          <a:xfrm>
            <a:off x="1800824" y="3697852"/>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Ownership and stewardship</a:t>
            </a:r>
          </a:p>
        </p:txBody>
      </p:sp>
      <p:sp>
        <p:nvSpPr>
          <p:cNvPr id="85" name="TextBox 84">
            <a:extLst>
              <a:ext uri="{FF2B5EF4-FFF2-40B4-BE49-F238E27FC236}">
                <a16:creationId xmlns:a16="http://schemas.microsoft.com/office/drawing/2014/main" id="{30437B36-F51A-5032-BEA7-662705444848}"/>
              </a:ext>
            </a:extLst>
          </p:cNvPr>
          <p:cNvSpPr txBox="1">
            <a:spLocks/>
          </p:cNvSpPr>
          <p:nvPr/>
        </p:nvSpPr>
        <p:spPr>
          <a:xfrm>
            <a:off x="1800824" y="4107325"/>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Access management</a:t>
            </a:r>
          </a:p>
        </p:txBody>
      </p:sp>
      <p:sp>
        <p:nvSpPr>
          <p:cNvPr id="87" name="TextBox 86">
            <a:extLst>
              <a:ext uri="{FF2B5EF4-FFF2-40B4-BE49-F238E27FC236}">
                <a16:creationId xmlns:a16="http://schemas.microsoft.com/office/drawing/2014/main" id="{C4CDE5BE-E189-B634-F006-2107F683ADEF}"/>
              </a:ext>
            </a:extLst>
          </p:cNvPr>
          <p:cNvSpPr txBox="1">
            <a:spLocks/>
          </p:cNvSpPr>
          <p:nvPr/>
        </p:nvSpPr>
        <p:spPr>
          <a:xfrm>
            <a:off x="1800824" y="4516797"/>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Policies, standards, audit</a:t>
            </a:r>
          </a:p>
        </p:txBody>
      </p:sp>
      <p:sp>
        <p:nvSpPr>
          <p:cNvPr id="91" name="TextBox 90">
            <a:extLst>
              <a:ext uri="{FF2B5EF4-FFF2-40B4-BE49-F238E27FC236}">
                <a16:creationId xmlns:a16="http://schemas.microsoft.com/office/drawing/2014/main" id="{C64B38CC-C3EC-7817-ED12-B0DEB84CAE70}"/>
              </a:ext>
            </a:extLst>
          </p:cNvPr>
          <p:cNvSpPr txBox="1">
            <a:spLocks/>
          </p:cNvSpPr>
          <p:nvPr/>
        </p:nvSpPr>
        <p:spPr>
          <a:xfrm>
            <a:off x="1800824" y="5335742"/>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Ingestion and integration</a:t>
            </a:r>
          </a:p>
        </p:txBody>
      </p:sp>
      <p:sp>
        <p:nvSpPr>
          <p:cNvPr id="93" name="TextBox 92">
            <a:extLst>
              <a:ext uri="{FF2B5EF4-FFF2-40B4-BE49-F238E27FC236}">
                <a16:creationId xmlns:a16="http://schemas.microsoft.com/office/drawing/2014/main" id="{EB1D11DD-D51F-DDD1-2909-150A43D511C6}"/>
              </a:ext>
            </a:extLst>
          </p:cNvPr>
          <p:cNvSpPr txBox="1">
            <a:spLocks/>
          </p:cNvSpPr>
          <p:nvPr/>
        </p:nvSpPr>
        <p:spPr>
          <a:xfrm>
            <a:off x="1800824" y="5745214"/>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Feature store, vector store, search</a:t>
            </a:r>
          </a:p>
        </p:txBody>
      </p:sp>
      <p:sp>
        <p:nvSpPr>
          <p:cNvPr id="95" name="TextBox 94">
            <a:extLst>
              <a:ext uri="{FF2B5EF4-FFF2-40B4-BE49-F238E27FC236}">
                <a16:creationId xmlns:a16="http://schemas.microsoft.com/office/drawing/2014/main" id="{EA6E53C0-432E-28E7-80A6-142F342BD43D}"/>
              </a:ext>
            </a:extLst>
          </p:cNvPr>
          <p:cNvSpPr txBox="1">
            <a:spLocks/>
          </p:cNvSpPr>
          <p:nvPr/>
        </p:nvSpPr>
        <p:spPr>
          <a:xfrm>
            <a:off x="1800824" y="6154688"/>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DevOps and CI/CD</a:t>
            </a:r>
          </a:p>
        </p:txBody>
      </p:sp>
      <p:sp>
        <p:nvSpPr>
          <p:cNvPr id="50" name="TextBox 49">
            <a:extLst>
              <a:ext uri="{FF2B5EF4-FFF2-40B4-BE49-F238E27FC236}">
                <a16:creationId xmlns:a16="http://schemas.microsoft.com/office/drawing/2014/main" id="{8DB44F62-AC8A-9A9F-82BA-7810363AEBD7}"/>
              </a:ext>
            </a:extLst>
          </p:cNvPr>
          <p:cNvSpPr txBox="1">
            <a:spLocks/>
          </p:cNvSpPr>
          <p:nvPr>
            <p:custDataLst>
              <p:tags r:id="rId7"/>
            </p:custDataLst>
          </p:nvPr>
        </p:nvSpPr>
        <p:spPr>
          <a:xfrm>
            <a:off x="8436665" y="1279397"/>
            <a:ext cx="2882593" cy="203499"/>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400" b="1">
                <a:solidFill>
                  <a:srgbClr val="000000"/>
                </a:solidFill>
              </a:rPr>
              <a:t>Leading peer practices</a:t>
            </a:r>
          </a:p>
        </p:txBody>
      </p:sp>
      <p:sp>
        <p:nvSpPr>
          <p:cNvPr id="100" name="TextBox 99">
            <a:extLst>
              <a:ext uri="{FF2B5EF4-FFF2-40B4-BE49-F238E27FC236}">
                <a16:creationId xmlns:a16="http://schemas.microsoft.com/office/drawing/2014/main" id="{7D7DB52A-7EE1-2D6F-42B5-DE6FC7541F08}"/>
              </a:ext>
            </a:extLst>
          </p:cNvPr>
          <p:cNvSpPr txBox="1">
            <a:spLocks/>
          </p:cNvSpPr>
          <p:nvPr/>
        </p:nvSpPr>
        <p:spPr>
          <a:xfrm>
            <a:off x="8436665" y="1552944"/>
            <a:ext cx="3176339" cy="192742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sz="900" dirty="0"/>
              <a:t>Peers capture lineage end-to-end including derived artifacts (e.g., source, extraction, enrichment, retrieval, answer) incl. OCR, splitting, who changed what and when</a:t>
            </a:r>
          </a:p>
          <a:p>
            <a:pPr lvl="1">
              <a:spcBef>
                <a:spcPct val="30000"/>
              </a:spcBef>
            </a:pPr>
            <a:r>
              <a:rPr lang="en-US" sz="900" dirty="0"/>
              <a:t>Peers version sources, prompts, models, retrieval settings, each answer links to versions used</a:t>
            </a:r>
          </a:p>
          <a:p>
            <a:pPr lvl="1">
              <a:spcBef>
                <a:spcPct val="30000"/>
              </a:spcBef>
            </a:pPr>
            <a:r>
              <a:rPr lang="en-US" sz="900" dirty="0"/>
              <a:t>Leaders auto-capture versions of data, prompts, and models in a searchable lineage store, can replay any answer and restore past setup if there are issues</a:t>
            </a:r>
          </a:p>
          <a:p>
            <a:pPr lvl="1">
              <a:spcBef>
                <a:spcPct val="30000"/>
              </a:spcBef>
            </a:pPr>
            <a:r>
              <a:rPr lang="en-US" sz="900" dirty="0"/>
              <a:t>Leaders run pre-release checks using lineage, show affected apps and answers, require review when sensitive sources or critical flows are touched (e.g., adding sources with PII, updating prompt that cites policy, changing field used in decisions)</a:t>
            </a:r>
          </a:p>
        </p:txBody>
      </p:sp>
      <p:sp>
        <p:nvSpPr>
          <p:cNvPr id="102" name="TextBox 101">
            <a:extLst>
              <a:ext uri="{FF2B5EF4-FFF2-40B4-BE49-F238E27FC236}">
                <a16:creationId xmlns:a16="http://schemas.microsoft.com/office/drawing/2014/main" id="{E763FF94-6292-A96C-F6E2-748BC669BBE1}"/>
              </a:ext>
            </a:extLst>
          </p:cNvPr>
          <p:cNvSpPr txBox="1">
            <a:spLocks/>
          </p:cNvSpPr>
          <p:nvPr/>
        </p:nvSpPr>
        <p:spPr>
          <a:xfrm>
            <a:off x="8436664" y="3697852"/>
            <a:ext cx="3183835" cy="10495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sz="900" dirty="0"/>
              <a:t>Peers publish a GenAI policy with permitted use, data use and retention, human oversight, disclosure, monitoring, vendor expectations with existing control points (e.g., …) and standards updated to reflect localized expectations</a:t>
            </a:r>
          </a:p>
          <a:p>
            <a:pPr lvl="1">
              <a:spcBef>
                <a:spcPct val="30000"/>
              </a:spcBef>
            </a:pPr>
            <a:r>
              <a:rPr lang="en-US" sz="900" dirty="0"/>
              <a:t>Leaders embed policy in apps and workflows, automated approvals and release gates, rules enforce allow, deny, mask, de-identify, add disclaimers, full audit</a:t>
            </a:r>
          </a:p>
        </p:txBody>
      </p:sp>
      <p:sp>
        <p:nvSpPr>
          <p:cNvPr id="104" name="TextBox 103">
            <a:extLst>
              <a:ext uri="{FF2B5EF4-FFF2-40B4-BE49-F238E27FC236}">
                <a16:creationId xmlns:a16="http://schemas.microsoft.com/office/drawing/2014/main" id="{F54844C3-CFF9-80D6-8B9E-29D263D57741}"/>
              </a:ext>
            </a:extLst>
          </p:cNvPr>
          <p:cNvSpPr txBox="1">
            <a:spLocks/>
          </p:cNvSpPr>
          <p:nvPr/>
        </p:nvSpPr>
        <p:spPr>
          <a:xfrm>
            <a:off x="8436665" y="5335742"/>
            <a:ext cx="3176339" cy="86051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30000"/>
              </a:spcBef>
            </a:pPr>
            <a:r>
              <a:rPr lang="en-US" sz="900" dirty="0"/>
              <a:t>Peers run a shared data pipeline incl. RAG as a Service with unified ingestion, OCR, chunking optimization, tagging, de-dup, embedded quality checks, lineage</a:t>
            </a:r>
          </a:p>
          <a:p>
            <a:pPr lvl="1">
              <a:spcBef>
                <a:spcPct val="30000"/>
              </a:spcBef>
            </a:pPr>
            <a:r>
              <a:rPr lang="en-US" sz="900" dirty="0"/>
              <a:t>Peers run shared LLM gateways, route to models, integrate tools, enforce policy at retrieval and generation, monitor usage/ cost, track quality, capture logs, lineage</a:t>
            </a:r>
          </a:p>
        </p:txBody>
      </p:sp>
      <p:cxnSp>
        <p:nvCxnSpPr>
          <p:cNvPr id="36" name="Straight Connector 35">
            <a:extLst>
              <a:ext uri="{FF2B5EF4-FFF2-40B4-BE49-F238E27FC236}">
                <a16:creationId xmlns:a16="http://schemas.microsoft.com/office/drawing/2014/main" id="{6D2C1AB3-B6BB-666E-D616-4AE418C96C83}"/>
              </a:ext>
            </a:extLst>
          </p:cNvPr>
          <p:cNvCxnSpPr>
            <a:cxnSpLocks/>
          </p:cNvCxnSpPr>
          <p:nvPr>
            <p:custDataLst>
              <p:tags r:id="rId8"/>
            </p:custDataLst>
          </p:nvPr>
        </p:nvCxnSpPr>
        <p:spPr>
          <a:xfrm>
            <a:off x="554736" y="3564306"/>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719DE7F-77CA-F86C-EED3-E6C74EE9A694}"/>
              </a:ext>
            </a:extLst>
          </p:cNvPr>
          <p:cNvCxnSpPr>
            <a:cxnSpLocks/>
          </p:cNvCxnSpPr>
          <p:nvPr>
            <p:custDataLst>
              <p:tags r:id="rId9"/>
            </p:custDataLst>
          </p:nvPr>
        </p:nvCxnSpPr>
        <p:spPr>
          <a:xfrm>
            <a:off x="554736" y="5215815"/>
            <a:ext cx="1108252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9C91550-04C4-A703-ECAD-1A0FBBC585B7}"/>
              </a:ext>
            </a:extLst>
          </p:cNvPr>
          <p:cNvCxnSpPr>
            <a:cxnSpLocks/>
          </p:cNvCxnSpPr>
          <p:nvPr>
            <p:custDataLst>
              <p:tags r:id="rId10"/>
            </p:custDataLst>
          </p:nvPr>
        </p:nvCxnSpPr>
        <p:spPr>
          <a:xfrm>
            <a:off x="1800824" y="2749253"/>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A812EFB-9F8E-CC73-9688-D07A45B964CE}"/>
              </a:ext>
            </a:extLst>
          </p:cNvPr>
          <p:cNvCxnSpPr>
            <a:cxnSpLocks/>
          </p:cNvCxnSpPr>
          <p:nvPr>
            <p:custDataLst>
              <p:tags r:id="rId11"/>
            </p:custDataLst>
          </p:nvPr>
        </p:nvCxnSpPr>
        <p:spPr>
          <a:xfrm>
            <a:off x="1800824" y="4808288"/>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4C3B0F-AC2F-DAA5-D980-724BFA366B1E}"/>
              </a:ext>
            </a:extLst>
          </p:cNvPr>
          <p:cNvCxnSpPr>
            <a:cxnSpLocks/>
            <a:endCxn id="3" idx="3"/>
          </p:cNvCxnSpPr>
          <p:nvPr>
            <p:custDataLst>
              <p:tags r:id="rId12"/>
            </p:custDataLst>
          </p:nvPr>
        </p:nvCxnSpPr>
        <p:spPr>
          <a:xfrm flipV="1">
            <a:off x="1800824" y="1918168"/>
            <a:ext cx="6437543" cy="1603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250A9D2-65D3-11AA-EF62-20EACBBF113D}"/>
              </a:ext>
            </a:extLst>
          </p:cNvPr>
          <p:cNvCxnSpPr>
            <a:cxnSpLocks/>
          </p:cNvCxnSpPr>
          <p:nvPr>
            <p:custDataLst>
              <p:tags r:id="rId13"/>
            </p:custDataLst>
          </p:nvPr>
        </p:nvCxnSpPr>
        <p:spPr>
          <a:xfrm>
            <a:off x="1800824" y="2341726"/>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3A088B-5FA5-BA29-A151-D5A8DB329E92}"/>
              </a:ext>
            </a:extLst>
          </p:cNvPr>
          <p:cNvCxnSpPr>
            <a:cxnSpLocks/>
          </p:cNvCxnSpPr>
          <p:nvPr>
            <p:custDataLst>
              <p:tags r:id="rId14"/>
            </p:custDataLst>
          </p:nvPr>
        </p:nvCxnSpPr>
        <p:spPr>
          <a:xfrm>
            <a:off x="1800824" y="3156779"/>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5FF07DC-DC5E-8BB6-30A5-3222DD955A0D}"/>
              </a:ext>
            </a:extLst>
          </p:cNvPr>
          <p:cNvCxnSpPr>
            <a:cxnSpLocks/>
          </p:cNvCxnSpPr>
          <p:nvPr>
            <p:custDataLst>
              <p:tags r:id="rId15"/>
            </p:custDataLst>
          </p:nvPr>
        </p:nvCxnSpPr>
        <p:spPr>
          <a:xfrm>
            <a:off x="1800824" y="4379359"/>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A15E229-DB60-0C89-8C65-DE0E3B5E6113}"/>
              </a:ext>
            </a:extLst>
          </p:cNvPr>
          <p:cNvCxnSpPr>
            <a:cxnSpLocks/>
            <a:endCxn id="73" idx="3"/>
          </p:cNvCxnSpPr>
          <p:nvPr>
            <p:custDataLst>
              <p:tags r:id="rId16"/>
            </p:custDataLst>
          </p:nvPr>
        </p:nvCxnSpPr>
        <p:spPr>
          <a:xfrm>
            <a:off x="1800824" y="5623342"/>
            <a:ext cx="6437542" cy="57"/>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CEC4FF5-E91B-9427-CED2-A005F91DF7A4}"/>
              </a:ext>
            </a:extLst>
          </p:cNvPr>
          <p:cNvCxnSpPr>
            <a:cxnSpLocks/>
          </p:cNvCxnSpPr>
          <p:nvPr>
            <p:custDataLst>
              <p:tags r:id="rId17"/>
            </p:custDataLst>
          </p:nvPr>
        </p:nvCxnSpPr>
        <p:spPr>
          <a:xfrm>
            <a:off x="1800824" y="6030868"/>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16BB2C80-C1C4-641C-B45C-1D2495BD7D74}"/>
              </a:ext>
            </a:extLst>
          </p:cNvPr>
          <p:cNvCxnSpPr>
            <a:cxnSpLocks/>
          </p:cNvCxnSpPr>
          <p:nvPr>
            <p:custDataLst>
              <p:tags r:id="rId18"/>
            </p:custDataLst>
          </p:nvPr>
        </p:nvCxnSpPr>
        <p:spPr>
          <a:xfrm>
            <a:off x="1800824" y="3971833"/>
            <a:ext cx="643754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45705AD9-FE19-F9BD-9CC6-619399139B08}"/>
              </a:ext>
            </a:extLst>
          </p:cNvPr>
          <p:cNvCxnSpPr>
            <a:cxnSpLocks/>
          </p:cNvCxnSpPr>
          <p:nvPr/>
        </p:nvCxnSpPr>
        <p:spPr>
          <a:xfrm>
            <a:off x="4467149" y="459502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9DAF924D-8D37-C77A-32D5-395D7622A934}"/>
              </a:ext>
            </a:extLst>
          </p:cNvPr>
          <p:cNvCxnSpPr>
            <a:cxnSpLocks/>
          </p:cNvCxnSpPr>
          <p:nvPr/>
        </p:nvCxnSpPr>
        <p:spPr>
          <a:xfrm>
            <a:off x="6428249" y="459502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A66C3ED3-D811-C006-3F62-31F93BACB0C0}"/>
              </a:ext>
            </a:extLst>
          </p:cNvPr>
          <p:cNvCxnSpPr>
            <a:cxnSpLocks/>
          </p:cNvCxnSpPr>
          <p:nvPr/>
        </p:nvCxnSpPr>
        <p:spPr>
          <a:xfrm>
            <a:off x="6428249" y="3349841"/>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F8EB437-639B-059C-7828-FBEE4DD4A147}"/>
              </a:ext>
            </a:extLst>
          </p:cNvPr>
          <p:cNvSpPr txBox="1">
            <a:spLocks/>
          </p:cNvSpPr>
          <p:nvPr>
            <p:custDataLst>
              <p:tags r:id="rId19"/>
            </p:custDataLst>
          </p:nvPr>
        </p:nvSpPr>
        <p:spPr>
          <a:xfrm>
            <a:off x="4467149" y="1279397"/>
            <a:ext cx="1664612" cy="203499"/>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Traditional AI score</a:t>
            </a:r>
          </a:p>
        </p:txBody>
      </p:sp>
      <p:sp>
        <p:nvSpPr>
          <p:cNvPr id="30" name="TextBox 29">
            <a:extLst>
              <a:ext uri="{FF2B5EF4-FFF2-40B4-BE49-F238E27FC236}">
                <a16:creationId xmlns:a16="http://schemas.microsoft.com/office/drawing/2014/main" id="{1023E97C-834A-A3FF-84A4-A6862D75719A}"/>
              </a:ext>
            </a:extLst>
          </p:cNvPr>
          <p:cNvSpPr txBox="1">
            <a:spLocks/>
          </p:cNvSpPr>
          <p:nvPr>
            <p:custDataLst>
              <p:tags r:id="rId20"/>
            </p:custDataLst>
          </p:nvPr>
        </p:nvSpPr>
        <p:spPr>
          <a:xfrm>
            <a:off x="6428249" y="1279397"/>
            <a:ext cx="1664612" cy="203499"/>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Generative AI score </a:t>
            </a:r>
          </a:p>
        </p:txBody>
      </p:sp>
      <p:cxnSp>
        <p:nvCxnSpPr>
          <p:cNvPr id="119" name="Straight Connector 118">
            <a:extLst>
              <a:ext uri="{FF2B5EF4-FFF2-40B4-BE49-F238E27FC236}">
                <a16:creationId xmlns:a16="http://schemas.microsoft.com/office/drawing/2014/main" id="{0131C5AD-487B-6DA4-794E-79227AF7A33B}"/>
              </a:ext>
            </a:extLst>
          </p:cNvPr>
          <p:cNvCxnSpPr>
            <a:cxnSpLocks/>
          </p:cNvCxnSpPr>
          <p:nvPr/>
        </p:nvCxnSpPr>
        <p:spPr>
          <a:xfrm>
            <a:off x="4467149" y="6220036"/>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543E5FA-4D0D-EEA6-7F9B-0E2DA0674B1F}"/>
              </a:ext>
            </a:extLst>
          </p:cNvPr>
          <p:cNvCxnSpPr>
            <a:cxnSpLocks/>
          </p:cNvCxnSpPr>
          <p:nvPr/>
        </p:nvCxnSpPr>
        <p:spPr>
          <a:xfrm>
            <a:off x="6428249" y="6220036"/>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2262F3BF-7BF9-487E-A727-FE93074F213F}"/>
              </a:ext>
            </a:extLst>
          </p:cNvPr>
          <p:cNvCxnSpPr>
            <a:cxnSpLocks/>
          </p:cNvCxnSpPr>
          <p:nvPr/>
        </p:nvCxnSpPr>
        <p:spPr>
          <a:xfrm>
            <a:off x="4467149" y="580776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C682AA74-A324-BD7E-8492-DD64E1999F27}"/>
              </a:ext>
            </a:extLst>
          </p:cNvPr>
          <p:cNvCxnSpPr>
            <a:cxnSpLocks/>
          </p:cNvCxnSpPr>
          <p:nvPr/>
        </p:nvCxnSpPr>
        <p:spPr>
          <a:xfrm>
            <a:off x="6428249" y="580776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AF34C649-EA86-7B22-4955-6E03C9B66190}"/>
              </a:ext>
            </a:extLst>
          </p:cNvPr>
          <p:cNvCxnSpPr>
            <a:cxnSpLocks/>
          </p:cNvCxnSpPr>
          <p:nvPr/>
        </p:nvCxnSpPr>
        <p:spPr>
          <a:xfrm>
            <a:off x="4467149" y="2939838"/>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240CBA35-1FAB-F242-1649-C90A4A39EAFF}"/>
              </a:ext>
            </a:extLst>
          </p:cNvPr>
          <p:cNvCxnSpPr>
            <a:cxnSpLocks/>
          </p:cNvCxnSpPr>
          <p:nvPr/>
        </p:nvCxnSpPr>
        <p:spPr>
          <a:xfrm>
            <a:off x="6428249" y="2939838"/>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82225D0B-AB45-739C-E2F6-2EF6871FDC24}"/>
              </a:ext>
            </a:extLst>
          </p:cNvPr>
          <p:cNvCxnSpPr>
            <a:cxnSpLocks/>
          </p:cNvCxnSpPr>
          <p:nvPr/>
        </p:nvCxnSpPr>
        <p:spPr>
          <a:xfrm>
            <a:off x="4467149" y="1716567"/>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171D006F-CEAB-AE51-B1C7-CB46C03C0860}"/>
              </a:ext>
            </a:extLst>
          </p:cNvPr>
          <p:cNvCxnSpPr>
            <a:cxnSpLocks/>
          </p:cNvCxnSpPr>
          <p:nvPr/>
        </p:nvCxnSpPr>
        <p:spPr>
          <a:xfrm>
            <a:off x="6527051" y="1716567"/>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BBF96EDE-D3A9-3CD4-997E-15953FA6C1F3}"/>
              </a:ext>
            </a:extLst>
          </p:cNvPr>
          <p:cNvCxnSpPr>
            <a:cxnSpLocks/>
          </p:cNvCxnSpPr>
          <p:nvPr/>
        </p:nvCxnSpPr>
        <p:spPr>
          <a:xfrm>
            <a:off x="4467149" y="212409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DEA9D560-47D2-384D-B79D-3883D3984FA7}"/>
              </a:ext>
            </a:extLst>
          </p:cNvPr>
          <p:cNvCxnSpPr>
            <a:cxnSpLocks/>
          </p:cNvCxnSpPr>
          <p:nvPr/>
        </p:nvCxnSpPr>
        <p:spPr>
          <a:xfrm>
            <a:off x="6428249" y="2124094"/>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E85AF7DB-A787-55A7-DD89-0189D4CBFEAD}"/>
              </a:ext>
            </a:extLst>
          </p:cNvPr>
          <p:cNvCxnSpPr>
            <a:cxnSpLocks/>
          </p:cNvCxnSpPr>
          <p:nvPr/>
        </p:nvCxnSpPr>
        <p:spPr>
          <a:xfrm>
            <a:off x="4467149" y="2530616"/>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89132CD4-1CA1-AE7C-5981-5C4D21AB63D9}"/>
              </a:ext>
            </a:extLst>
          </p:cNvPr>
          <p:cNvCxnSpPr>
            <a:cxnSpLocks/>
          </p:cNvCxnSpPr>
          <p:nvPr/>
        </p:nvCxnSpPr>
        <p:spPr>
          <a:xfrm>
            <a:off x="6428249" y="2530616"/>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7541E9E8-769F-CDA7-44CF-EE25C47B933B}"/>
              </a:ext>
            </a:extLst>
          </p:cNvPr>
          <p:cNvCxnSpPr>
            <a:cxnSpLocks/>
          </p:cNvCxnSpPr>
          <p:nvPr/>
        </p:nvCxnSpPr>
        <p:spPr>
          <a:xfrm>
            <a:off x="4467149" y="5405709"/>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C30BE592-2C95-BC98-16D0-F50EFDB178DD}"/>
              </a:ext>
            </a:extLst>
          </p:cNvPr>
          <p:cNvCxnSpPr>
            <a:cxnSpLocks/>
          </p:cNvCxnSpPr>
          <p:nvPr/>
        </p:nvCxnSpPr>
        <p:spPr>
          <a:xfrm>
            <a:off x="6428249" y="5405709"/>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E38356C2-AD30-FEA2-50D5-93CFE072FBE0}"/>
              </a:ext>
            </a:extLst>
          </p:cNvPr>
          <p:cNvCxnSpPr>
            <a:cxnSpLocks/>
          </p:cNvCxnSpPr>
          <p:nvPr/>
        </p:nvCxnSpPr>
        <p:spPr>
          <a:xfrm>
            <a:off x="4467149" y="4999641"/>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B4D85A5E-6D44-EE0A-F6CE-F0C2FF5F1AD7}"/>
              </a:ext>
            </a:extLst>
          </p:cNvPr>
          <p:cNvCxnSpPr>
            <a:cxnSpLocks/>
          </p:cNvCxnSpPr>
          <p:nvPr/>
        </p:nvCxnSpPr>
        <p:spPr>
          <a:xfrm>
            <a:off x="6428249" y="4999641"/>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EDE33077-053F-6C76-E09D-8C90748E3A3C}"/>
              </a:ext>
            </a:extLst>
          </p:cNvPr>
          <p:cNvCxnSpPr>
            <a:cxnSpLocks/>
          </p:cNvCxnSpPr>
          <p:nvPr/>
        </p:nvCxnSpPr>
        <p:spPr>
          <a:xfrm>
            <a:off x="4467149" y="4161726"/>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72FE51A3-087E-D97F-8645-1A82A31DC1C3}"/>
              </a:ext>
            </a:extLst>
          </p:cNvPr>
          <p:cNvCxnSpPr>
            <a:cxnSpLocks/>
          </p:cNvCxnSpPr>
          <p:nvPr/>
        </p:nvCxnSpPr>
        <p:spPr>
          <a:xfrm>
            <a:off x="6428249" y="4161726"/>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3F20C929-9437-077A-A1D8-EB242EEAF06B}"/>
              </a:ext>
            </a:extLst>
          </p:cNvPr>
          <p:cNvCxnSpPr>
            <a:cxnSpLocks/>
          </p:cNvCxnSpPr>
          <p:nvPr/>
        </p:nvCxnSpPr>
        <p:spPr>
          <a:xfrm>
            <a:off x="4467149" y="375936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CCE901C5-4B43-E298-2E24-1EACC147F629}"/>
              </a:ext>
            </a:extLst>
          </p:cNvPr>
          <p:cNvCxnSpPr>
            <a:cxnSpLocks/>
          </p:cNvCxnSpPr>
          <p:nvPr/>
        </p:nvCxnSpPr>
        <p:spPr>
          <a:xfrm>
            <a:off x="6428249" y="3759362"/>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29377A8F-41D5-36A0-C036-EEB149992D64}"/>
              </a:ext>
            </a:extLst>
          </p:cNvPr>
          <p:cNvCxnSpPr>
            <a:cxnSpLocks/>
          </p:cNvCxnSpPr>
          <p:nvPr/>
        </p:nvCxnSpPr>
        <p:spPr>
          <a:xfrm>
            <a:off x="4467149" y="3349841"/>
            <a:ext cx="166461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E500DBC-E813-D50B-31B0-9B8AEA793A8B}"/>
              </a:ext>
            </a:extLst>
          </p:cNvPr>
          <p:cNvSpPr txBox="1">
            <a:spLocks/>
          </p:cNvSpPr>
          <p:nvPr/>
        </p:nvSpPr>
        <p:spPr>
          <a:xfrm>
            <a:off x="4467149" y="6305535"/>
            <a:ext cx="351805" cy="1598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Low</a:t>
            </a:r>
          </a:p>
        </p:txBody>
      </p:sp>
      <p:sp>
        <p:nvSpPr>
          <p:cNvPr id="18" name="TextBox 17">
            <a:extLst>
              <a:ext uri="{FF2B5EF4-FFF2-40B4-BE49-F238E27FC236}">
                <a16:creationId xmlns:a16="http://schemas.microsoft.com/office/drawing/2014/main" id="{DF8A7FBA-176C-AC4F-0BB9-10B5F41DA16A}"/>
              </a:ext>
            </a:extLst>
          </p:cNvPr>
          <p:cNvSpPr txBox="1">
            <a:spLocks/>
          </p:cNvSpPr>
          <p:nvPr/>
        </p:nvSpPr>
        <p:spPr>
          <a:xfrm>
            <a:off x="5067743" y="6305535"/>
            <a:ext cx="560109" cy="1598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Medium</a:t>
            </a:r>
          </a:p>
        </p:txBody>
      </p:sp>
      <p:sp>
        <p:nvSpPr>
          <p:cNvPr id="20" name="TextBox 19">
            <a:extLst>
              <a:ext uri="{FF2B5EF4-FFF2-40B4-BE49-F238E27FC236}">
                <a16:creationId xmlns:a16="http://schemas.microsoft.com/office/drawing/2014/main" id="{6F78D1A5-28B0-085E-F53A-29D4DD3504E0}"/>
              </a:ext>
            </a:extLst>
          </p:cNvPr>
          <p:cNvSpPr txBox="1">
            <a:spLocks/>
          </p:cNvSpPr>
          <p:nvPr/>
        </p:nvSpPr>
        <p:spPr>
          <a:xfrm>
            <a:off x="5890705" y="6305535"/>
            <a:ext cx="385862" cy="1598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High</a:t>
            </a:r>
          </a:p>
        </p:txBody>
      </p:sp>
      <p:sp>
        <p:nvSpPr>
          <p:cNvPr id="22" name="TextBox 21">
            <a:extLst>
              <a:ext uri="{FF2B5EF4-FFF2-40B4-BE49-F238E27FC236}">
                <a16:creationId xmlns:a16="http://schemas.microsoft.com/office/drawing/2014/main" id="{DB054AA5-60DB-E61F-2435-D6C5CB5A8F52}"/>
              </a:ext>
            </a:extLst>
          </p:cNvPr>
          <p:cNvSpPr txBox="1">
            <a:spLocks/>
          </p:cNvSpPr>
          <p:nvPr/>
        </p:nvSpPr>
        <p:spPr>
          <a:xfrm>
            <a:off x="6425449" y="6305535"/>
            <a:ext cx="351805" cy="1598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Low</a:t>
            </a:r>
          </a:p>
        </p:txBody>
      </p:sp>
      <p:sp>
        <p:nvSpPr>
          <p:cNvPr id="23" name="TextBox 22">
            <a:extLst>
              <a:ext uri="{FF2B5EF4-FFF2-40B4-BE49-F238E27FC236}">
                <a16:creationId xmlns:a16="http://schemas.microsoft.com/office/drawing/2014/main" id="{575B1EF4-B47A-25B7-8D6C-AEDBE7104B9F}"/>
              </a:ext>
            </a:extLst>
          </p:cNvPr>
          <p:cNvSpPr txBox="1">
            <a:spLocks/>
          </p:cNvSpPr>
          <p:nvPr/>
        </p:nvSpPr>
        <p:spPr>
          <a:xfrm>
            <a:off x="7026043" y="6305535"/>
            <a:ext cx="560109" cy="1598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Medium</a:t>
            </a:r>
          </a:p>
        </p:txBody>
      </p:sp>
      <p:sp>
        <p:nvSpPr>
          <p:cNvPr id="24" name="TextBox 23">
            <a:extLst>
              <a:ext uri="{FF2B5EF4-FFF2-40B4-BE49-F238E27FC236}">
                <a16:creationId xmlns:a16="http://schemas.microsoft.com/office/drawing/2014/main" id="{0CC57E3E-7703-BFC5-E3FD-C29C1D4DC363}"/>
              </a:ext>
            </a:extLst>
          </p:cNvPr>
          <p:cNvSpPr txBox="1">
            <a:spLocks/>
          </p:cNvSpPr>
          <p:nvPr/>
        </p:nvSpPr>
        <p:spPr>
          <a:xfrm>
            <a:off x="7849005" y="6305535"/>
            <a:ext cx="385862" cy="1598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High</a:t>
            </a:r>
          </a:p>
        </p:txBody>
      </p:sp>
      <p:sp>
        <p:nvSpPr>
          <p:cNvPr id="58" name="TextBox 57">
            <a:extLst>
              <a:ext uri="{FF2B5EF4-FFF2-40B4-BE49-F238E27FC236}">
                <a16:creationId xmlns:a16="http://schemas.microsoft.com/office/drawing/2014/main" id="{1B3B5BFF-C645-89BE-DB40-BEFFDDC66538}"/>
              </a:ext>
            </a:extLst>
          </p:cNvPr>
          <p:cNvSpPr txBox="1">
            <a:spLocks/>
          </p:cNvSpPr>
          <p:nvPr/>
        </p:nvSpPr>
        <p:spPr>
          <a:xfrm>
            <a:off x="1800824" y="4856701"/>
            <a:ext cx="2254676" cy="31978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None/>
              <a:tabLst/>
              <a:defRPr/>
            </a:pPr>
            <a:r>
              <a:rPr lang="en-US" sz="1100">
                <a:solidFill>
                  <a:srgbClr val="000000"/>
                </a:solidFill>
                <a:latin typeface="Arial"/>
              </a:rPr>
              <a:t>Security, privacy, and risk management</a:t>
            </a: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24" name="Rectangle: Rounded Corners 123">
            <a:extLst>
              <a:ext uri="{FF2B5EF4-FFF2-40B4-BE49-F238E27FC236}">
                <a16:creationId xmlns:a16="http://schemas.microsoft.com/office/drawing/2014/main" id="{1AA87B98-77E7-2085-405A-BBB8362067D7}"/>
              </a:ext>
            </a:extLst>
          </p:cNvPr>
          <p:cNvSpPr>
            <a:spLocks/>
          </p:cNvSpPr>
          <p:nvPr/>
        </p:nvSpPr>
        <p:spPr>
          <a:xfrm flipV="1">
            <a:off x="4935124" y="1689244"/>
            <a:ext cx="1037052" cy="51102"/>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93" name="Rectangle: Rounded Corners 192">
            <a:extLst>
              <a:ext uri="{FF2B5EF4-FFF2-40B4-BE49-F238E27FC236}">
                <a16:creationId xmlns:a16="http://schemas.microsoft.com/office/drawing/2014/main" id="{40D3D5A2-88E2-4FBB-4F95-9736584FA633}"/>
              </a:ext>
            </a:extLst>
          </p:cNvPr>
          <p:cNvSpPr>
            <a:spLocks/>
          </p:cNvSpPr>
          <p:nvPr/>
        </p:nvSpPr>
        <p:spPr>
          <a:xfrm flipV="1">
            <a:off x="6840831" y="1686246"/>
            <a:ext cx="1037052" cy="52809"/>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95" name="Rectangle: Rounded Corners 194">
            <a:extLst>
              <a:ext uri="{FF2B5EF4-FFF2-40B4-BE49-F238E27FC236}">
                <a16:creationId xmlns:a16="http://schemas.microsoft.com/office/drawing/2014/main" id="{54027AAC-DF08-8E34-130A-C99BA1DF6982}"/>
              </a:ext>
            </a:extLst>
          </p:cNvPr>
          <p:cNvSpPr>
            <a:spLocks/>
          </p:cNvSpPr>
          <p:nvPr/>
        </p:nvSpPr>
        <p:spPr>
          <a:xfrm flipV="1">
            <a:off x="4935124" y="2092115"/>
            <a:ext cx="728662"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98" name="Rectangle: Rounded Corners 197">
            <a:extLst>
              <a:ext uri="{FF2B5EF4-FFF2-40B4-BE49-F238E27FC236}">
                <a16:creationId xmlns:a16="http://schemas.microsoft.com/office/drawing/2014/main" id="{D086AD3F-FFE2-7042-E892-429441B39236}"/>
              </a:ext>
            </a:extLst>
          </p:cNvPr>
          <p:cNvSpPr>
            <a:spLocks/>
          </p:cNvSpPr>
          <p:nvPr/>
        </p:nvSpPr>
        <p:spPr>
          <a:xfrm flipV="1">
            <a:off x="6896224" y="2092115"/>
            <a:ext cx="728662"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99" name="Rectangle: Rounded Corners 198">
            <a:extLst>
              <a:ext uri="{FF2B5EF4-FFF2-40B4-BE49-F238E27FC236}">
                <a16:creationId xmlns:a16="http://schemas.microsoft.com/office/drawing/2014/main" id="{300AFD77-03D1-66D9-415F-FE225E49648A}"/>
              </a:ext>
            </a:extLst>
          </p:cNvPr>
          <p:cNvSpPr>
            <a:spLocks/>
          </p:cNvSpPr>
          <p:nvPr/>
        </p:nvSpPr>
        <p:spPr>
          <a:xfrm flipV="1">
            <a:off x="4935124" y="2500972"/>
            <a:ext cx="944224" cy="59289"/>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02" name="Rectangle: Rounded Corners 201">
            <a:extLst>
              <a:ext uri="{FF2B5EF4-FFF2-40B4-BE49-F238E27FC236}">
                <a16:creationId xmlns:a16="http://schemas.microsoft.com/office/drawing/2014/main" id="{F1C57EB7-C620-08A9-D61A-C8991442DCFE}"/>
              </a:ext>
            </a:extLst>
          </p:cNvPr>
          <p:cNvSpPr>
            <a:spLocks/>
          </p:cNvSpPr>
          <p:nvPr/>
        </p:nvSpPr>
        <p:spPr>
          <a:xfrm flipV="1">
            <a:off x="6886700" y="2500972"/>
            <a:ext cx="944224" cy="59289"/>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05" name="Rectangle: Rounded Corners 204">
            <a:extLst>
              <a:ext uri="{FF2B5EF4-FFF2-40B4-BE49-F238E27FC236}">
                <a16:creationId xmlns:a16="http://schemas.microsoft.com/office/drawing/2014/main" id="{5316E5C1-D9FE-B3B7-DDC5-270F9A52C95B}"/>
              </a:ext>
            </a:extLst>
          </p:cNvPr>
          <p:cNvSpPr>
            <a:spLocks/>
          </p:cNvSpPr>
          <p:nvPr/>
        </p:nvSpPr>
        <p:spPr>
          <a:xfrm flipV="1">
            <a:off x="5287017" y="2912337"/>
            <a:ext cx="592332" cy="55002"/>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07" name="Rectangle: Rounded Corners 206">
            <a:extLst>
              <a:ext uri="{FF2B5EF4-FFF2-40B4-BE49-F238E27FC236}">
                <a16:creationId xmlns:a16="http://schemas.microsoft.com/office/drawing/2014/main" id="{4697E727-7F59-A4ED-517F-50A208E19EE2}"/>
              </a:ext>
            </a:extLst>
          </p:cNvPr>
          <p:cNvSpPr>
            <a:spLocks/>
          </p:cNvSpPr>
          <p:nvPr/>
        </p:nvSpPr>
        <p:spPr>
          <a:xfrm flipV="1">
            <a:off x="7253415" y="2908848"/>
            <a:ext cx="577510" cy="61981"/>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11" name="Rectangle: Rounded Corners 210">
            <a:extLst>
              <a:ext uri="{FF2B5EF4-FFF2-40B4-BE49-F238E27FC236}">
                <a16:creationId xmlns:a16="http://schemas.microsoft.com/office/drawing/2014/main" id="{0BC8A867-A505-5606-118A-1BD0A0265B67}"/>
              </a:ext>
            </a:extLst>
          </p:cNvPr>
          <p:cNvSpPr>
            <a:spLocks/>
          </p:cNvSpPr>
          <p:nvPr/>
        </p:nvSpPr>
        <p:spPr>
          <a:xfrm flipV="1">
            <a:off x="5287016" y="3318679"/>
            <a:ext cx="844744"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13" name="Rectangle: Rounded Corners 212">
            <a:extLst>
              <a:ext uri="{FF2B5EF4-FFF2-40B4-BE49-F238E27FC236}">
                <a16:creationId xmlns:a16="http://schemas.microsoft.com/office/drawing/2014/main" id="{D730392C-1B92-0D37-5B68-328E9090F830}"/>
              </a:ext>
            </a:extLst>
          </p:cNvPr>
          <p:cNvSpPr>
            <a:spLocks/>
          </p:cNvSpPr>
          <p:nvPr/>
        </p:nvSpPr>
        <p:spPr>
          <a:xfrm flipV="1">
            <a:off x="7253414" y="3318679"/>
            <a:ext cx="728662"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16" name="Rectangle: Rounded Corners 215">
            <a:extLst>
              <a:ext uri="{FF2B5EF4-FFF2-40B4-BE49-F238E27FC236}">
                <a16:creationId xmlns:a16="http://schemas.microsoft.com/office/drawing/2014/main" id="{E8D527FD-AEAC-9AD5-E4A6-10A2FCD68B83}"/>
              </a:ext>
            </a:extLst>
          </p:cNvPr>
          <p:cNvSpPr>
            <a:spLocks/>
          </p:cNvSpPr>
          <p:nvPr/>
        </p:nvSpPr>
        <p:spPr>
          <a:xfrm flipV="1">
            <a:off x="5287016" y="3728199"/>
            <a:ext cx="844744"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19" name="Rectangle: Rounded Corners 218">
            <a:extLst>
              <a:ext uri="{FF2B5EF4-FFF2-40B4-BE49-F238E27FC236}">
                <a16:creationId xmlns:a16="http://schemas.microsoft.com/office/drawing/2014/main" id="{6F7D522E-16C6-725C-6E3A-89D74BDE1E1C}"/>
              </a:ext>
            </a:extLst>
          </p:cNvPr>
          <p:cNvSpPr>
            <a:spLocks/>
          </p:cNvSpPr>
          <p:nvPr/>
        </p:nvSpPr>
        <p:spPr>
          <a:xfrm flipV="1">
            <a:off x="6886700" y="3728199"/>
            <a:ext cx="728662"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22" name="Rectangle: Rounded Corners 221">
            <a:extLst>
              <a:ext uri="{FF2B5EF4-FFF2-40B4-BE49-F238E27FC236}">
                <a16:creationId xmlns:a16="http://schemas.microsoft.com/office/drawing/2014/main" id="{779E192F-BB2C-7FB6-1FB2-CB493B17F31A}"/>
              </a:ext>
            </a:extLst>
          </p:cNvPr>
          <p:cNvSpPr>
            <a:spLocks/>
          </p:cNvSpPr>
          <p:nvPr/>
        </p:nvSpPr>
        <p:spPr>
          <a:xfrm flipV="1">
            <a:off x="6886700" y="4133901"/>
            <a:ext cx="728662" cy="55469"/>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24" name="Rectangle: Rounded Corners 223">
            <a:extLst>
              <a:ext uri="{FF2B5EF4-FFF2-40B4-BE49-F238E27FC236}">
                <a16:creationId xmlns:a16="http://schemas.microsoft.com/office/drawing/2014/main" id="{95BCC50D-06D6-0D09-9BFB-2430D66AF6C1}"/>
              </a:ext>
            </a:extLst>
          </p:cNvPr>
          <p:cNvSpPr>
            <a:spLocks/>
          </p:cNvSpPr>
          <p:nvPr/>
        </p:nvSpPr>
        <p:spPr>
          <a:xfrm flipV="1">
            <a:off x="5301587" y="4133901"/>
            <a:ext cx="830171" cy="55469"/>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27" name="Rectangle: Rounded Corners 226">
            <a:extLst>
              <a:ext uri="{FF2B5EF4-FFF2-40B4-BE49-F238E27FC236}">
                <a16:creationId xmlns:a16="http://schemas.microsoft.com/office/drawing/2014/main" id="{53769334-9A88-1DE8-44FF-6EE83B8FD3CD}"/>
              </a:ext>
            </a:extLst>
          </p:cNvPr>
          <p:cNvSpPr>
            <a:spLocks/>
          </p:cNvSpPr>
          <p:nvPr/>
        </p:nvSpPr>
        <p:spPr>
          <a:xfrm flipV="1">
            <a:off x="5651347" y="4563861"/>
            <a:ext cx="480411"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28" name="Rectangle: Rounded Corners 227">
            <a:extLst>
              <a:ext uri="{FF2B5EF4-FFF2-40B4-BE49-F238E27FC236}">
                <a16:creationId xmlns:a16="http://schemas.microsoft.com/office/drawing/2014/main" id="{A2643DA7-25FE-E310-69B5-3C3EA73FCFDD}"/>
              </a:ext>
            </a:extLst>
          </p:cNvPr>
          <p:cNvSpPr>
            <a:spLocks/>
          </p:cNvSpPr>
          <p:nvPr/>
        </p:nvSpPr>
        <p:spPr>
          <a:xfrm flipV="1">
            <a:off x="6886700" y="4561169"/>
            <a:ext cx="1211458" cy="67711"/>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1" name="Rectangle: Rounded Corners 230">
            <a:extLst>
              <a:ext uri="{FF2B5EF4-FFF2-40B4-BE49-F238E27FC236}">
                <a16:creationId xmlns:a16="http://schemas.microsoft.com/office/drawing/2014/main" id="{1D9C6E72-6C73-B286-CEF6-1727CD1A5663}"/>
              </a:ext>
            </a:extLst>
          </p:cNvPr>
          <p:cNvSpPr>
            <a:spLocks/>
          </p:cNvSpPr>
          <p:nvPr/>
        </p:nvSpPr>
        <p:spPr>
          <a:xfrm flipV="1">
            <a:off x="5287016" y="4968478"/>
            <a:ext cx="844744"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3" name="Rectangle: Rounded Corners 232">
            <a:extLst>
              <a:ext uri="{FF2B5EF4-FFF2-40B4-BE49-F238E27FC236}">
                <a16:creationId xmlns:a16="http://schemas.microsoft.com/office/drawing/2014/main" id="{D61FC291-0279-5FBE-3891-62475720DDCC}"/>
              </a:ext>
            </a:extLst>
          </p:cNvPr>
          <p:cNvSpPr>
            <a:spLocks/>
          </p:cNvSpPr>
          <p:nvPr/>
        </p:nvSpPr>
        <p:spPr>
          <a:xfrm flipV="1">
            <a:off x="7253414" y="4968478"/>
            <a:ext cx="844744"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6" name="Rectangle: Rounded Corners 235">
            <a:extLst>
              <a:ext uri="{FF2B5EF4-FFF2-40B4-BE49-F238E27FC236}">
                <a16:creationId xmlns:a16="http://schemas.microsoft.com/office/drawing/2014/main" id="{F41F0F47-5E52-BA3C-E266-310B37ABEEAC}"/>
              </a:ext>
            </a:extLst>
          </p:cNvPr>
          <p:cNvSpPr>
            <a:spLocks/>
          </p:cNvSpPr>
          <p:nvPr/>
        </p:nvSpPr>
        <p:spPr>
          <a:xfrm flipV="1">
            <a:off x="4935124" y="5377545"/>
            <a:ext cx="728662"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8" name="Rectangle: Rounded Corners 237">
            <a:extLst>
              <a:ext uri="{FF2B5EF4-FFF2-40B4-BE49-F238E27FC236}">
                <a16:creationId xmlns:a16="http://schemas.microsoft.com/office/drawing/2014/main" id="{8D5C702D-C583-ABC6-14EE-933C2C4FAAD7}"/>
              </a:ext>
            </a:extLst>
          </p:cNvPr>
          <p:cNvSpPr>
            <a:spLocks/>
          </p:cNvSpPr>
          <p:nvPr/>
        </p:nvSpPr>
        <p:spPr>
          <a:xfrm flipV="1">
            <a:off x="7253414" y="5377545"/>
            <a:ext cx="844744"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41" name="Rectangle: Rounded Corners 240">
            <a:extLst>
              <a:ext uri="{FF2B5EF4-FFF2-40B4-BE49-F238E27FC236}">
                <a16:creationId xmlns:a16="http://schemas.microsoft.com/office/drawing/2014/main" id="{1A5A5BC6-D888-B33F-A25D-28F220885D49}"/>
              </a:ext>
            </a:extLst>
          </p:cNvPr>
          <p:cNvSpPr>
            <a:spLocks/>
          </p:cNvSpPr>
          <p:nvPr/>
        </p:nvSpPr>
        <p:spPr>
          <a:xfrm flipV="1">
            <a:off x="7253414" y="5776602"/>
            <a:ext cx="844744"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42" name="Rectangle: Rounded Corners 241">
            <a:extLst>
              <a:ext uri="{FF2B5EF4-FFF2-40B4-BE49-F238E27FC236}">
                <a16:creationId xmlns:a16="http://schemas.microsoft.com/office/drawing/2014/main" id="{6D1DFF6F-A4E5-34E8-A3F7-35277B88B488}"/>
              </a:ext>
            </a:extLst>
          </p:cNvPr>
          <p:cNvSpPr>
            <a:spLocks/>
          </p:cNvSpPr>
          <p:nvPr/>
        </p:nvSpPr>
        <p:spPr>
          <a:xfrm flipV="1">
            <a:off x="6886700" y="6189995"/>
            <a:ext cx="1051874" cy="60081"/>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45" name="Rectangle: Rounded Corners 244">
            <a:extLst>
              <a:ext uri="{FF2B5EF4-FFF2-40B4-BE49-F238E27FC236}">
                <a16:creationId xmlns:a16="http://schemas.microsoft.com/office/drawing/2014/main" id="{2ED85536-0AA9-90F9-1088-9E354D5406E0}"/>
              </a:ext>
            </a:extLst>
          </p:cNvPr>
          <p:cNvSpPr>
            <a:spLocks/>
          </p:cNvSpPr>
          <p:nvPr/>
        </p:nvSpPr>
        <p:spPr>
          <a:xfrm flipV="1">
            <a:off x="4935124" y="5776602"/>
            <a:ext cx="728662" cy="62326"/>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48" name="Rectangle: Rounded Corners 247">
            <a:extLst>
              <a:ext uri="{FF2B5EF4-FFF2-40B4-BE49-F238E27FC236}">
                <a16:creationId xmlns:a16="http://schemas.microsoft.com/office/drawing/2014/main" id="{6A4D8B04-BFFF-385D-0764-20C61C939C77}"/>
              </a:ext>
            </a:extLst>
          </p:cNvPr>
          <p:cNvSpPr>
            <a:spLocks/>
          </p:cNvSpPr>
          <p:nvPr/>
        </p:nvSpPr>
        <p:spPr>
          <a:xfrm flipV="1">
            <a:off x="4935124" y="6195312"/>
            <a:ext cx="1039004" cy="49448"/>
          </a:xfrm>
          <a:prstGeom prst="roundRect">
            <a:avLst/>
          </a:prstGeom>
          <a:solidFill>
            <a:srgbClr val="16A9E2"/>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51" name="Oval 250">
            <a:extLst>
              <a:ext uri="{FF2B5EF4-FFF2-40B4-BE49-F238E27FC236}">
                <a16:creationId xmlns:a16="http://schemas.microsoft.com/office/drawing/2014/main" id="{AD3B6C47-112A-81F3-4F1D-7534CA001457}"/>
              </a:ext>
            </a:extLst>
          </p:cNvPr>
          <p:cNvSpPr/>
          <p:nvPr/>
        </p:nvSpPr>
        <p:spPr bwMode="auto">
          <a:xfrm>
            <a:off x="9175979" y="1080893"/>
            <a:ext cx="114300" cy="107963"/>
          </a:xfrm>
          <a:prstGeom prst="ellipse">
            <a:avLst/>
          </a:prstGeom>
          <a:solidFill>
            <a:schemeClr val="accent1"/>
          </a:solidFill>
          <a:ln w="9525" cap="sq" cmpd="sng" algn="ctr">
            <a:solidFill>
              <a:schemeClr val="accent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52" name="TextBox 251">
            <a:extLst>
              <a:ext uri="{FF2B5EF4-FFF2-40B4-BE49-F238E27FC236}">
                <a16:creationId xmlns:a16="http://schemas.microsoft.com/office/drawing/2014/main" id="{936C3A48-44B5-D0AC-D1B0-938B1AE96BE0}"/>
              </a:ext>
            </a:extLst>
          </p:cNvPr>
          <p:cNvSpPr txBox="1"/>
          <p:nvPr/>
        </p:nvSpPr>
        <p:spPr>
          <a:xfrm>
            <a:off x="9353779" y="1062196"/>
            <a:ext cx="397545" cy="145356"/>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Client  </a:t>
            </a:r>
          </a:p>
        </p:txBody>
      </p:sp>
      <p:sp>
        <p:nvSpPr>
          <p:cNvPr id="255" name="TextBox 254">
            <a:extLst>
              <a:ext uri="{FF2B5EF4-FFF2-40B4-BE49-F238E27FC236}">
                <a16:creationId xmlns:a16="http://schemas.microsoft.com/office/drawing/2014/main" id="{A322DC8D-27D2-1DAB-1EE6-E679277D9569}"/>
              </a:ext>
            </a:extLst>
          </p:cNvPr>
          <p:cNvSpPr txBox="1"/>
          <p:nvPr/>
        </p:nvSpPr>
        <p:spPr>
          <a:xfrm>
            <a:off x="7053004" y="1061459"/>
            <a:ext cx="1958870" cy="14535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256" name="Rectangle 255">
            <a:extLst>
              <a:ext uri="{FF2B5EF4-FFF2-40B4-BE49-F238E27FC236}">
                <a16:creationId xmlns:a16="http://schemas.microsoft.com/office/drawing/2014/main" id="{54338398-FB1F-0A7D-6727-57ABE030C9B1}"/>
              </a:ext>
            </a:extLst>
          </p:cNvPr>
          <p:cNvSpPr/>
          <p:nvPr/>
        </p:nvSpPr>
        <p:spPr>
          <a:xfrm>
            <a:off x="6832830" y="1060722"/>
            <a:ext cx="155448" cy="146830"/>
          </a:xfrm>
          <a:prstGeom prst="rect">
            <a:avLst/>
          </a:prstGeom>
          <a:solidFill>
            <a:schemeClr val="accent2">
              <a:lumMod val="20000"/>
              <a:lumOff val="80000"/>
            </a:schemeClr>
          </a:solidFill>
          <a:ln w="19050" cap="sq">
            <a:solidFill>
              <a:schemeClr val="tx2">
                <a:lumMod val="20000"/>
                <a:lumOff val="8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sp>
        <p:nvSpPr>
          <p:cNvPr id="258" name="TextBox 257">
            <a:extLst>
              <a:ext uri="{FF2B5EF4-FFF2-40B4-BE49-F238E27FC236}">
                <a16:creationId xmlns:a16="http://schemas.microsoft.com/office/drawing/2014/main" id="{92ECDF2F-9C11-DCFA-E499-48136B80B192}"/>
              </a:ext>
            </a:extLst>
          </p:cNvPr>
          <p:cNvSpPr txBox="1"/>
          <p:nvPr/>
        </p:nvSpPr>
        <p:spPr>
          <a:xfrm>
            <a:off x="10229850" y="1062196"/>
            <a:ext cx="1441100" cy="145356"/>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Financial services peers</a:t>
            </a:r>
            <a:r>
              <a:rPr lang="en-US" sz="1000" baseline="30000">
                <a:cs typeface="+mn-cs"/>
              </a:rPr>
              <a:t>1</a:t>
            </a:r>
            <a:r>
              <a:rPr lang="en-US" sz="1000">
                <a:cs typeface="+mn-cs"/>
              </a:rPr>
              <a:t> </a:t>
            </a:r>
          </a:p>
        </p:txBody>
      </p:sp>
      <p:sp>
        <p:nvSpPr>
          <p:cNvPr id="259" name="Rectangle: Rounded Corners 258">
            <a:extLst>
              <a:ext uri="{FF2B5EF4-FFF2-40B4-BE49-F238E27FC236}">
                <a16:creationId xmlns:a16="http://schemas.microsoft.com/office/drawing/2014/main" id="{2D1BCE72-3A76-7756-256B-06278891DA70}"/>
              </a:ext>
            </a:extLst>
          </p:cNvPr>
          <p:cNvSpPr/>
          <p:nvPr/>
        </p:nvSpPr>
        <p:spPr>
          <a:xfrm>
            <a:off x="9944100" y="1099677"/>
            <a:ext cx="228600" cy="63999"/>
          </a:xfrm>
          <a:prstGeom prst="roundRect">
            <a:avLst/>
          </a:prstGeom>
          <a:solidFill>
            <a:srgbClr val="00A0DF"/>
          </a:solidFill>
          <a:ln w="6350" cap="sq">
            <a:solidFill>
              <a:srgbClr val="00A0D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custDataLst>
      <p:tags r:id="rId1"/>
    </p:custDataLst>
    <p:extLst>
      <p:ext uri="{BB962C8B-B14F-4D97-AF65-F5344CB8AC3E}">
        <p14:creationId xmlns:p14="http://schemas.microsoft.com/office/powerpoint/2010/main" val="1185599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A1223-BB9F-232F-80E1-68610968CD92}"/>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9D1FE5C3-299C-9CF4-CA55-19ACFD1FA7D1}"/>
              </a:ext>
            </a:extLst>
          </p:cNvPr>
          <p:cNvGraphicFramePr>
            <a:graphicFrameLocks noChangeAspect="1"/>
          </p:cNvGraphicFramePr>
          <p:nvPr>
            <p:custDataLst>
              <p:tags r:id="rId2"/>
            </p:custDataLst>
            <p:extLst>
              <p:ext uri="{D42A27DB-BD31-4B8C-83A1-F6EECF244321}">
                <p14:modId xmlns:p14="http://schemas.microsoft.com/office/powerpoint/2010/main" val="9628188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8" name="Object 6" hidden="1">
                        <a:extLst>
                          <a:ext uri="{FF2B5EF4-FFF2-40B4-BE49-F238E27FC236}">
                            <a16:creationId xmlns:a16="http://schemas.microsoft.com/office/drawing/2014/main" id="{9D1FE5C3-299C-9CF4-CA55-19ACFD1FA7D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2. Slide Title">
            <a:extLst>
              <a:ext uri="{FF2B5EF4-FFF2-40B4-BE49-F238E27FC236}">
                <a16:creationId xmlns:a16="http://schemas.microsoft.com/office/drawing/2014/main" id="{35195573-CC5B-47B3-CA94-2A3209EE0A0B}"/>
              </a:ext>
            </a:extLst>
          </p:cNvPr>
          <p:cNvSpPr>
            <a:spLocks noGrp="1"/>
          </p:cNvSpPr>
          <p:nvPr>
            <p:ph type="title"/>
            <p:custDataLst>
              <p:tags r:id="rId3"/>
            </p:custDataLst>
          </p:nvPr>
        </p:nvSpPr>
        <p:spPr/>
        <p:txBody>
          <a:bodyPr vert="horz"/>
          <a:lstStyle/>
          <a:p>
            <a:r>
              <a:rPr lang="en-US"/>
              <a:t>Content</a:t>
            </a:r>
          </a:p>
        </p:txBody>
      </p:sp>
      <p:sp>
        <p:nvSpPr>
          <p:cNvPr id="2" name="Subtitle 1">
            <a:extLst>
              <a:ext uri="{FF2B5EF4-FFF2-40B4-BE49-F238E27FC236}">
                <a16:creationId xmlns:a16="http://schemas.microsoft.com/office/drawing/2014/main" id="{5E5DEE1F-6EA4-82BB-5062-BE556EB45814}"/>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9D69D543-24C1-3AC9-56D0-64E6308A5732}"/>
              </a:ext>
            </a:extLst>
          </p:cNvPr>
          <p:cNvSpPr>
            <a:spLocks noGrp="1"/>
          </p:cNvSpPr>
          <p:nvPr>
            <p:ph type="body" sz="quarter" idx="17"/>
          </p:nvPr>
        </p:nvSpPr>
        <p:spPr/>
        <p:txBody>
          <a:bodyPr/>
          <a:lstStyle/>
          <a:p>
            <a:endParaRPr lang="en-US"/>
          </a:p>
        </p:txBody>
      </p:sp>
      <p:sp>
        <p:nvSpPr>
          <p:cNvPr id="11" name="Text Placeholder 4">
            <a:hlinkClick r:id="rId11" action="ppaction://hlinksldjump"/>
            <a:extLst>
              <a:ext uri="{FF2B5EF4-FFF2-40B4-BE49-F238E27FC236}">
                <a16:creationId xmlns:a16="http://schemas.microsoft.com/office/drawing/2014/main" id="{1C69AA25-D7BF-E9FE-198D-A73E5C470271}"/>
              </a:ext>
            </a:extLst>
          </p:cNvPr>
          <p:cNvSpPr>
            <a:spLocks noGrp="1"/>
          </p:cNvSpPr>
          <p:nvPr>
            <p:custDataLst>
              <p:tags r:id="rId4"/>
            </p:custDataLst>
          </p:nvPr>
        </p:nvSpPr>
        <p:spPr bwMode="auto">
          <a:xfrm>
            <a:off x="5699125" y="2614613"/>
            <a:ext cx="2659063" cy="4079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255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lvl="1" indent="0">
              <a:spcBef>
                <a:spcPct val="0"/>
              </a:spcBef>
              <a:spcAft>
                <a:spcPct val="0"/>
              </a:spcAft>
              <a:buNone/>
            </a:pPr>
            <a:r>
              <a:rPr lang="en-US" altLang="en-US">
                <a:effectLst/>
                <a:cs typeface="+mn-cs"/>
              </a:rPr>
              <a:t>Rubric</a:t>
            </a:r>
            <a:endParaRPr lang="en-US">
              <a:cs typeface="+mn-cs"/>
            </a:endParaRPr>
          </a:p>
        </p:txBody>
      </p:sp>
      <p:sp>
        <p:nvSpPr>
          <p:cNvPr id="12" name="Text Placeholder 4">
            <a:hlinkClick r:id="rId12" action="ppaction://hlinksldjump"/>
            <a:extLst>
              <a:ext uri="{FF2B5EF4-FFF2-40B4-BE49-F238E27FC236}">
                <a16:creationId xmlns:a16="http://schemas.microsoft.com/office/drawing/2014/main" id="{46D347BD-29D9-5173-D5B5-FC1BA47E1B57}"/>
              </a:ext>
            </a:extLst>
          </p:cNvPr>
          <p:cNvSpPr>
            <a:spLocks noGrp="1"/>
          </p:cNvSpPr>
          <p:nvPr>
            <p:custDataLst>
              <p:tags r:id="rId5"/>
            </p:custDataLst>
          </p:nvPr>
        </p:nvSpPr>
        <p:spPr bwMode="auto">
          <a:xfrm>
            <a:off x="5699125" y="3022600"/>
            <a:ext cx="2659063"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effectLst/>
                <a:cs typeface="+mn-cs"/>
              </a:rPr>
              <a:t>Current state assessment</a:t>
            </a:r>
            <a:endParaRPr lang="en-US">
              <a:cs typeface="+mn-cs"/>
            </a:endParaRPr>
          </a:p>
        </p:txBody>
      </p:sp>
      <p:sp>
        <p:nvSpPr>
          <p:cNvPr id="14" name="Text Placeholder 4">
            <a:hlinkClick r:id="rId13" action="ppaction://hlinksldjump"/>
            <a:extLst>
              <a:ext uri="{FF2B5EF4-FFF2-40B4-BE49-F238E27FC236}">
                <a16:creationId xmlns:a16="http://schemas.microsoft.com/office/drawing/2014/main" id="{39A0D69D-22B2-F4B3-07CE-B7350BAA4BDC}"/>
              </a:ext>
            </a:extLst>
          </p:cNvPr>
          <p:cNvSpPr>
            <a:spLocks noGrp="1"/>
          </p:cNvSpPr>
          <p:nvPr>
            <p:custDataLst>
              <p:tags r:id="rId6"/>
            </p:custDataLst>
          </p:nvPr>
        </p:nvSpPr>
        <p:spPr bwMode="auto">
          <a:xfrm>
            <a:off x="5699125" y="3429000"/>
            <a:ext cx="2659063" cy="406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80963" tIns="80963"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cs typeface="+mn-cs"/>
              </a:rPr>
              <a:t>Peer comparisons</a:t>
            </a:r>
          </a:p>
        </p:txBody>
      </p:sp>
      <p:sp>
        <p:nvSpPr>
          <p:cNvPr id="9" name="Text Placeholder 4">
            <a:extLst>
              <a:ext uri="{FF2B5EF4-FFF2-40B4-BE49-F238E27FC236}">
                <a16:creationId xmlns:a16="http://schemas.microsoft.com/office/drawing/2014/main" id="{259B9A12-D811-59BC-D438-E54B7F2C74AD}"/>
              </a:ext>
            </a:extLst>
          </p:cNvPr>
          <p:cNvSpPr>
            <a:spLocks noGrp="1"/>
          </p:cNvSpPr>
          <p:nvPr>
            <p:custDataLst>
              <p:tags r:id="rId7"/>
            </p:custDataLst>
          </p:nvPr>
        </p:nvSpPr>
        <p:spPr bwMode="auto">
          <a:xfrm>
            <a:off x="5699125" y="3835400"/>
            <a:ext cx="2659063" cy="407988"/>
          </a:xfrm>
          <a:prstGeom prst="rect">
            <a:avLst/>
          </a:prstGeom>
          <a:solidFill>
            <a:schemeClr val="accent1"/>
          </a:solidFill>
          <a:ln>
            <a:noFill/>
          </a:ln>
          <a:effectLst/>
        </p:spPr>
        <p:txBody>
          <a:bodyPr vert="horz" wrap="none" lIns="80963" tIns="82550" rIns="0" bIns="80963"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b="1">
                <a:solidFill>
                  <a:schemeClr val="tx2"/>
                </a:solidFill>
                <a:effectLst/>
                <a:cs typeface="+mn-cs"/>
              </a:rPr>
              <a:t>Potential actions</a:t>
            </a:r>
            <a:endParaRPr lang="en-US" b="1">
              <a:solidFill>
                <a:schemeClr val="tx2"/>
              </a:solidFill>
              <a:cs typeface="+mn-cs"/>
            </a:endParaRPr>
          </a:p>
        </p:txBody>
      </p:sp>
    </p:spTree>
    <p:custDataLst>
      <p:tags r:id="rId1"/>
    </p:custDataLst>
    <p:extLst>
      <p:ext uri="{BB962C8B-B14F-4D97-AF65-F5344CB8AC3E}">
        <p14:creationId xmlns:p14="http://schemas.microsoft.com/office/powerpoint/2010/main" val="2426418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72F7A0B6-F716-7D5B-B305-9DF3C0EFA56F}"/>
              </a:ext>
            </a:extLst>
          </p:cNvPr>
          <p:cNvGraphicFramePr>
            <a:graphicFrameLocks noChangeAspect="1"/>
          </p:cNvGraphicFramePr>
          <p:nvPr>
            <p:custDataLst>
              <p:tags r:id="rId2"/>
            </p:custDataLst>
            <p:extLst>
              <p:ext uri="{D42A27DB-BD31-4B8C-83A1-F6EECF244321}">
                <p14:modId xmlns:p14="http://schemas.microsoft.com/office/powerpoint/2010/main" val="19375682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04" imgH="405" progId="TCLayout.ActiveDocument.1">
                  <p:embed/>
                </p:oleObj>
              </mc:Choice>
              <mc:Fallback>
                <p:oleObj name="think-cell Slide" r:id="rId16" imgW="404" imgH="405" progId="TCLayout.ActiveDocument.1">
                  <p:embed/>
                  <p:pic>
                    <p:nvPicPr>
                      <p:cNvPr id="6" name="Object 6" hidden="1">
                        <a:extLst>
                          <a:ext uri="{FF2B5EF4-FFF2-40B4-BE49-F238E27FC236}">
                            <a16:creationId xmlns:a16="http://schemas.microsoft.com/office/drawing/2014/main" id="{72F7A0B6-F716-7D5B-B305-9DF3C0EFA56F}"/>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70577BE4-1BF5-5FA9-6011-724A1EDFDE17}"/>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a:noAutofit/>
          </a:bodyPr>
          <a:lstStyle/>
          <a:p>
            <a:r>
              <a:rPr lang="en-US"/>
              <a:t>A. Potential actions for Observability</a:t>
            </a:r>
          </a:p>
        </p:txBody>
      </p:sp>
      <p:sp>
        <p:nvSpPr>
          <p:cNvPr id="3" name="Text Placeholder 2">
            <a:extLst>
              <a:ext uri="{FF2B5EF4-FFF2-40B4-BE49-F238E27FC236}">
                <a16:creationId xmlns:a16="http://schemas.microsoft.com/office/drawing/2014/main" id="{25A3A1F1-1F18-B7A3-5793-9894913366DF}"/>
              </a:ext>
            </a:extLst>
          </p:cNvPr>
          <p:cNvSpPr>
            <a:spLocks noGrp="1"/>
          </p:cNvSpPr>
          <p:nvPr>
            <p:ph type="body" sz="quarter" idx="17"/>
          </p:nvPr>
        </p:nvSpPr>
        <p:spPr/>
        <p:txBody>
          <a:bodyPr/>
          <a:lstStyle/>
          <a:p>
            <a:endParaRPr lang="en-US"/>
          </a:p>
        </p:txBody>
      </p:sp>
      <p:sp>
        <p:nvSpPr>
          <p:cNvPr id="109" name="Arc 108" hidden="1">
            <a:extLst>
              <a:ext uri="{FF2B5EF4-FFF2-40B4-BE49-F238E27FC236}">
                <a16:creationId xmlns:a16="http://schemas.microsoft.com/office/drawing/2014/main" id="{B0A9C33E-E16A-F4D9-4AF1-32EC7BBC3C58}"/>
              </a:ext>
            </a:extLst>
          </p:cNvPr>
          <p:cNvSpPr/>
          <p:nvPr>
            <p:custDataLst>
              <p:tags r:id="rId4"/>
            </p:custDataLst>
          </p:nvPr>
        </p:nvSpPr>
        <p:spPr>
          <a:xfrm>
            <a:off x="10032338" y="2259530"/>
            <a:ext cx="342654" cy="342654"/>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Arc 80" hidden="1">
            <a:extLst>
              <a:ext uri="{FF2B5EF4-FFF2-40B4-BE49-F238E27FC236}">
                <a16:creationId xmlns:a16="http://schemas.microsoft.com/office/drawing/2014/main" id="{8C433C7F-0AAC-10F8-A90F-DA3FE6915D4D}"/>
              </a:ext>
            </a:extLst>
          </p:cNvPr>
          <p:cNvSpPr/>
          <p:nvPr>
            <p:custDataLst>
              <p:tags r:id="rId5"/>
            </p:custDataLst>
          </p:nvPr>
        </p:nvSpPr>
        <p:spPr>
          <a:xfrm>
            <a:off x="10525717" y="5574256"/>
            <a:ext cx="342654" cy="342654"/>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Rectangle 79">
            <a:extLst>
              <a:ext uri="{FF2B5EF4-FFF2-40B4-BE49-F238E27FC236}">
                <a16:creationId xmlns:a16="http://schemas.microsoft.com/office/drawing/2014/main" id="{73AFD813-E977-1D51-87FE-8EAB066EFC32}"/>
              </a:ext>
            </a:extLst>
          </p:cNvPr>
          <p:cNvSpPr>
            <a:spLocks/>
          </p:cNvSpPr>
          <p:nvPr/>
        </p:nvSpPr>
        <p:spPr>
          <a:xfrm>
            <a:off x="527900" y="4555693"/>
            <a:ext cx="11109361" cy="1266346"/>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26" name="Straight Connector 25">
            <a:extLst>
              <a:ext uri="{FF2B5EF4-FFF2-40B4-BE49-F238E27FC236}">
                <a16:creationId xmlns:a16="http://schemas.microsoft.com/office/drawing/2014/main" id="{0EE285CF-0990-66CD-DD1C-28951655CC69}"/>
              </a:ext>
            </a:extLst>
          </p:cNvPr>
          <p:cNvCxnSpPr>
            <a:cxnSpLocks/>
          </p:cNvCxnSpPr>
          <p:nvPr>
            <p:custDataLst>
              <p:tags r:id="rId6"/>
            </p:custDataLst>
          </p:nvPr>
        </p:nvCxnSpPr>
        <p:spPr>
          <a:xfrm>
            <a:off x="554735" y="3411178"/>
            <a:ext cx="11082526"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AE3D5DE-3E88-1605-3DA7-88A766D952E1}"/>
              </a:ext>
            </a:extLst>
          </p:cNvPr>
          <p:cNvCxnSpPr>
            <a:cxnSpLocks/>
          </p:cNvCxnSpPr>
          <p:nvPr>
            <p:custDataLst>
              <p:tags r:id="rId7"/>
            </p:custDataLst>
          </p:nvPr>
        </p:nvCxnSpPr>
        <p:spPr>
          <a:xfrm>
            <a:off x="554735" y="4555524"/>
            <a:ext cx="11082526"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AC0B474-6C9C-BF37-EF5E-22630817B165}"/>
              </a:ext>
            </a:extLst>
          </p:cNvPr>
          <p:cNvSpPr txBox="1">
            <a:spLocks/>
          </p:cNvSpPr>
          <p:nvPr/>
        </p:nvSpPr>
        <p:spPr>
          <a:xfrm>
            <a:off x="554736" y="3558765"/>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SLO and SLA monitoring</a:t>
            </a:r>
          </a:p>
        </p:txBody>
      </p:sp>
      <p:sp>
        <p:nvSpPr>
          <p:cNvPr id="35" name="TextBox 34">
            <a:extLst>
              <a:ext uri="{FF2B5EF4-FFF2-40B4-BE49-F238E27FC236}">
                <a16:creationId xmlns:a16="http://schemas.microsoft.com/office/drawing/2014/main" id="{2BFEFABF-045E-E708-3FE0-4D095028BD16}"/>
              </a:ext>
            </a:extLst>
          </p:cNvPr>
          <p:cNvSpPr txBox="1">
            <a:spLocks/>
          </p:cNvSpPr>
          <p:nvPr/>
        </p:nvSpPr>
        <p:spPr>
          <a:xfrm>
            <a:off x="554736" y="4703111"/>
            <a:ext cx="1312164" cy="9233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Monitoring of anomaly detection and quality enforcement</a:t>
            </a:r>
          </a:p>
        </p:txBody>
      </p:sp>
      <p:cxnSp>
        <p:nvCxnSpPr>
          <p:cNvPr id="67" name="LineBasicDefault 67">
            <a:extLst>
              <a:ext uri="{FF2B5EF4-FFF2-40B4-BE49-F238E27FC236}">
                <a16:creationId xmlns:a16="http://schemas.microsoft.com/office/drawing/2014/main" id="{35A69455-FE91-CF70-C4FF-31BEADAD826F}"/>
              </a:ext>
            </a:extLst>
          </p:cNvPr>
          <p:cNvCxnSpPr>
            <a:cxnSpLocks/>
          </p:cNvCxnSpPr>
          <p:nvPr>
            <p:custDataLst>
              <p:tags r:id="rId8"/>
            </p:custDataLst>
          </p:nvPr>
        </p:nvCxnSpPr>
        <p:spPr>
          <a:xfrm>
            <a:off x="2038352" y="2082166"/>
            <a:ext cx="9598912"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LineBasicDefault 67">
            <a:extLst>
              <a:ext uri="{FF2B5EF4-FFF2-40B4-BE49-F238E27FC236}">
                <a16:creationId xmlns:a16="http://schemas.microsoft.com/office/drawing/2014/main" id="{8C0E6AA1-8C0C-0CE0-B8C7-A85CE0BB7A1F}"/>
              </a:ext>
            </a:extLst>
          </p:cNvPr>
          <p:cNvCxnSpPr>
            <a:cxnSpLocks/>
          </p:cNvCxnSpPr>
          <p:nvPr>
            <p:custDataLst>
              <p:tags r:id="rId9"/>
            </p:custDataLst>
          </p:nvPr>
        </p:nvCxnSpPr>
        <p:spPr>
          <a:xfrm>
            <a:off x="2038350" y="4075684"/>
            <a:ext cx="9598912"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LineBasicDefault 67">
            <a:extLst>
              <a:ext uri="{FF2B5EF4-FFF2-40B4-BE49-F238E27FC236}">
                <a16:creationId xmlns:a16="http://schemas.microsoft.com/office/drawing/2014/main" id="{C78F3BA2-252B-1135-9317-59683C68592D}"/>
              </a:ext>
            </a:extLst>
          </p:cNvPr>
          <p:cNvCxnSpPr>
            <a:cxnSpLocks/>
          </p:cNvCxnSpPr>
          <p:nvPr>
            <p:custDataLst>
              <p:tags r:id="rId10"/>
            </p:custDataLst>
          </p:nvPr>
        </p:nvCxnSpPr>
        <p:spPr>
          <a:xfrm>
            <a:off x="2038351" y="5208470"/>
            <a:ext cx="9598912"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LineBasicDefault 67">
            <a:extLst>
              <a:ext uri="{FF2B5EF4-FFF2-40B4-BE49-F238E27FC236}">
                <a16:creationId xmlns:a16="http://schemas.microsoft.com/office/drawing/2014/main" id="{04BCBDA4-B960-AB18-D65F-43F47CF6922F}"/>
              </a:ext>
            </a:extLst>
          </p:cNvPr>
          <p:cNvCxnSpPr>
            <a:cxnSpLocks/>
          </p:cNvCxnSpPr>
          <p:nvPr>
            <p:custDataLst>
              <p:tags r:id="rId11"/>
            </p:custDataLst>
          </p:nvPr>
        </p:nvCxnSpPr>
        <p:spPr>
          <a:xfrm>
            <a:off x="2038351" y="2746672"/>
            <a:ext cx="9598912"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4F289D0D-6E14-052B-BA0F-E4C2FB552553}"/>
              </a:ext>
            </a:extLst>
          </p:cNvPr>
          <p:cNvSpPr>
            <a:spLocks/>
          </p:cNvSpPr>
          <p:nvPr>
            <p:custDataLst>
              <p:tags r:id="rId12"/>
            </p:custDataLst>
          </p:nvPr>
        </p:nvSpPr>
        <p:spPr>
          <a:xfrm>
            <a:off x="554736" y="5989151"/>
            <a:ext cx="11082528" cy="480417"/>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Policy related changes would be led by  ... </a:t>
            </a:r>
            <a:r>
              <a:rPr lang="en-US" sz="1200" dirty="0">
                <a:solidFill>
                  <a:schemeClr val="bg1"/>
                </a:solidFill>
                <a:latin typeface="Arial" panose="020B0604020202020204" pitchFamily="34" charset="0"/>
                <a:cs typeface="Arial" panose="020B0604020202020204" pitchFamily="34" charset="0"/>
              </a:rPr>
              <a:t>with support from the relevant SMEs (e.g.,  ...)</a:t>
            </a:r>
          </a:p>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Potential actions listed will be prioritized, refined, and sequenced </a:t>
            </a:r>
            <a:r>
              <a:rPr lang="en-US" sz="1200" dirty="0">
                <a:solidFill>
                  <a:schemeClr val="bg1"/>
                </a:solidFill>
                <a:latin typeface="Arial" panose="020B0604020202020204" pitchFamily="34" charset="0"/>
                <a:cs typeface="Arial" panose="020B0604020202020204" pitchFamily="34" charset="0"/>
              </a:rPr>
              <a:t>during the upcoming Identify &amp; Focus phase</a:t>
            </a:r>
          </a:p>
        </p:txBody>
      </p:sp>
      <p:sp>
        <p:nvSpPr>
          <p:cNvPr id="54" name="TextBox 53">
            <a:extLst>
              <a:ext uri="{FF2B5EF4-FFF2-40B4-BE49-F238E27FC236}">
                <a16:creationId xmlns:a16="http://schemas.microsoft.com/office/drawing/2014/main" id="{4C473064-29F4-696E-82B3-EB30AC0AF4BA}"/>
              </a:ext>
            </a:extLst>
          </p:cNvPr>
          <p:cNvSpPr txBox="1">
            <a:spLocks/>
          </p:cNvSpPr>
          <p:nvPr/>
        </p:nvSpPr>
        <p:spPr>
          <a:xfrm>
            <a:off x="2057665" y="2894259"/>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rgbClr val="005F83"/>
                </a:solidFill>
                <a:latin typeface="Arial" panose="020B0604020202020204" pitchFamily="34" charset="0"/>
                <a:sym typeface=""/>
              </a:rPr>
              <a:t>A3. </a:t>
            </a:r>
            <a:r>
              <a:rPr lang="en-US" sz="1200" b="1" dirty="0">
                <a:solidFill>
                  <a:srgbClr val="005F83"/>
                </a:solidFill>
                <a:latin typeface="Arial" panose="020B0604020202020204" pitchFamily="34" charset="0"/>
                <a:sym typeface=""/>
              </a:rPr>
              <a:t>[Policy]</a:t>
            </a:r>
            <a:r>
              <a:rPr lang="en-US" sz="1200" dirty="0">
                <a:solidFill>
                  <a:srgbClr val="005F83"/>
                </a:solidFill>
                <a:latin typeface="Arial" panose="020B0604020202020204" pitchFamily="34" charset="0"/>
                <a:sym typeface=""/>
              </a:rPr>
              <a:t> </a:t>
            </a:r>
            <a:r>
              <a:rPr lang="en-US" sz="1200" b="1" dirty="0">
                <a:solidFill>
                  <a:srgbClr val="005F83"/>
                </a:solidFill>
                <a:latin typeface="Arial" panose="020B0604020202020204" pitchFamily="34" charset="0"/>
                <a:sym typeface=""/>
              </a:rPr>
              <a:t>Define and enforce enterprise-wide standards for GenAI tracing and metrics</a:t>
            </a:r>
            <a:r>
              <a:rPr lang="en-US" sz="1200" dirty="0">
                <a:solidFill>
                  <a:srgbClr val="005F83"/>
                </a:solidFill>
                <a:latin typeface="Arial" panose="020B0604020202020204" pitchFamily="34" charset="0"/>
                <a:sym typeface=""/>
              </a:rPr>
              <a:t> that tie to business needs</a:t>
            </a:r>
          </a:p>
        </p:txBody>
      </p:sp>
      <p:sp>
        <p:nvSpPr>
          <p:cNvPr id="29" name="TextBox 28">
            <a:extLst>
              <a:ext uri="{FF2B5EF4-FFF2-40B4-BE49-F238E27FC236}">
                <a16:creationId xmlns:a16="http://schemas.microsoft.com/office/drawing/2014/main" id="{89FB29AE-22DF-9B14-0D5B-9FC7B1F35E95}"/>
              </a:ext>
            </a:extLst>
          </p:cNvPr>
          <p:cNvSpPr txBox="1">
            <a:spLocks/>
          </p:cNvSpPr>
          <p:nvPr/>
        </p:nvSpPr>
        <p:spPr>
          <a:xfrm>
            <a:off x="554736" y="1565247"/>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Logs, metrics, traces</a:t>
            </a:r>
          </a:p>
        </p:txBody>
      </p:sp>
      <p:sp>
        <p:nvSpPr>
          <p:cNvPr id="52" name="TextBox 51">
            <a:extLst>
              <a:ext uri="{FF2B5EF4-FFF2-40B4-BE49-F238E27FC236}">
                <a16:creationId xmlns:a16="http://schemas.microsoft.com/office/drawing/2014/main" id="{CBA0F96B-8593-9BCA-F1D1-B1F0BF215AE9}"/>
              </a:ext>
            </a:extLst>
          </p:cNvPr>
          <p:cNvSpPr txBox="1">
            <a:spLocks/>
          </p:cNvSpPr>
          <p:nvPr/>
        </p:nvSpPr>
        <p:spPr>
          <a:xfrm>
            <a:off x="2057666" y="1565247"/>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solidFill>
                  <a:srgbClr val="005F83"/>
                </a:solidFill>
                <a:latin typeface="Arial" panose="020B0604020202020204" pitchFamily="34" charset="0"/>
                <a:sym typeface=""/>
              </a:rPr>
              <a:t>A1. </a:t>
            </a:r>
            <a:r>
              <a:rPr lang="en-US" sz="1200" b="1">
                <a:solidFill>
                  <a:srgbClr val="005F83"/>
                </a:solidFill>
                <a:latin typeface="Arial" panose="020B0604020202020204" pitchFamily="34" charset="0"/>
                <a:sym typeface=""/>
              </a:rPr>
              <a:t>Implement distributed tracing </a:t>
            </a:r>
            <a:r>
              <a:rPr lang="en-US" sz="1200">
                <a:solidFill>
                  <a:srgbClr val="005F83"/>
                </a:solidFill>
                <a:latin typeface="Arial" panose="020B0604020202020204" pitchFamily="34" charset="0"/>
                <a:sym typeface=""/>
              </a:rPr>
              <a:t>to ensure consistent end-to-end visibility into unstructured data pipelines</a:t>
            </a:r>
          </a:p>
        </p:txBody>
      </p:sp>
      <p:sp>
        <p:nvSpPr>
          <p:cNvPr id="53" name="TextBox 52">
            <a:extLst>
              <a:ext uri="{FF2B5EF4-FFF2-40B4-BE49-F238E27FC236}">
                <a16:creationId xmlns:a16="http://schemas.microsoft.com/office/drawing/2014/main" id="{A444E609-FF82-EC4A-3417-6286A6B391FA}"/>
              </a:ext>
            </a:extLst>
          </p:cNvPr>
          <p:cNvSpPr txBox="1">
            <a:spLocks/>
          </p:cNvSpPr>
          <p:nvPr/>
        </p:nvSpPr>
        <p:spPr>
          <a:xfrm>
            <a:off x="2057666" y="2229753"/>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rgbClr val="000000"/>
                </a:solidFill>
                <a:latin typeface="Arial" panose="020B0604020202020204" pitchFamily="34" charset="0"/>
                <a:sym typeface=""/>
              </a:rPr>
              <a:t>A2. </a:t>
            </a:r>
            <a:r>
              <a:rPr lang="en-US" sz="1200" b="1" dirty="0">
                <a:solidFill>
                  <a:srgbClr val="000000"/>
                </a:solidFill>
                <a:latin typeface="Arial" panose="020B0604020202020204" pitchFamily="34" charset="0"/>
                <a:sym typeface=""/>
              </a:rPr>
              <a:t>Consolidate logs and dashboards in a central observability platform </a:t>
            </a:r>
            <a:r>
              <a:rPr lang="en-US" sz="1200" dirty="0">
                <a:solidFill>
                  <a:srgbClr val="000000"/>
                </a:solidFill>
                <a:latin typeface="Arial" panose="020B0604020202020204" pitchFamily="34" charset="0"/>
                <a:sym typeface=""/>
              </a:rPr>
              <a:t>with a unified, end-to-end view for all platforms (across …)</a:t>
            </a:r>
          </a:p>
        </p:txBody>
      </p:sp>
      <p:sp>
        <p:nvSpPr>
          <p:cNvPr id="50" name="TextBox 49">
            <a:extLst>
              <a:ext uri="{FF2B5EF4-FFF2-40B4-BE49-F238E27FC236}">
                <a16:creationId xmlns:a16="http://schemas.microsoft.com/office/drawing/2014/main" id="{D567E8E4-FD43-F4EA-E749-8B9E5B06664E}"/>
              </a:ext>
            </a:extLst>
          </p:cNvPr>
          <p:cNvSpPr txBox="1">
            <a:spLocks/>
          </p:cNvSpPr>
          <p:nvPr/>
        </p:nvSpPr>
        <p:spPr>
          <a:xfrm>
            <a:off x="2057665" y="3558765"/>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rgbClr val="000000"/>
                </a:solidFill>
                <a:latin typeface="Arial" panose="020B0604020202020204" pitchFamily="34" charset="0"/>
                <a:sym typeface=""/>
              </a:rPr>
              <a:t>A4. </a:t>
            </a:r>
            <a:r>
              <a:rPr lang="en-US" sz="1200" b="1" dirty="0">
                <a:solidFill>
                  <a:srgbClr val="000000"/>
                </a:solidFill>
                <a:latin typeface="Arial" panose="020B0604020202020204" pitchFamily="34" charset="0"/>
                <a:sym typeface=""/>
              </a:rPr>
              <a:t>Establish enterprise-wide automated alerts and tiered escalation </a:t>
            </a:r>
            <a:r>
              <a:rPr lang="en-US" sz="1200" dirty="0">
                <a:solidFill>
                  <a:srgbClr val="000000"/>
                </a:solidFill>
                <a:latin typeface="Arial" panose="020B0604020202020204" pitchFamily="34" charset="0"/>
                <a:sym typeface=""/>
              </a:rPr>
              <a:t>calibrated by pipeline use and business impact</a:t>
            </a:r>
          </a:p>
        </p:txBody>
      </p:sp>
      <p:sp>
        <p:nvSpPr>
          <p:cNvPr id="55" name="TextBox 54">
            <a:extLst>
              <a:ext uri="{FF2B5EF4-FFF2-40B4-BE49-F238E27FC236}">
                <a16:creationId xmlns:a16="http://schemas.microsoft.com/office/drawing/2014/main" id="{7088E3BD-744D-8395-C3E3-26A57BF0F16F}"/>
              </a:ext>
            </a:extLst>
          </p:cNvPr>
          <p:cNvSpPr txBox="1">
            <a:spLocks/>
          </p:cNvSpPr>
          <p:nvPr/>
        </p:nvSpPr>
        <p:spPr>
          <a:xfrm>
            <a:off x="2057665" y="4223271"/>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rgbClr val="005F83"/>
                </a:solidFill>
                <a:latin typeface="Arial" panose="020B0604020202020204" pitchFamily="34" charset="0"/>
                <a:sym typeface=""/>
              </a:rPr>
              <a:t>A5. </a:t>
            </a:r>
            <a:r>
              <a:rPr lang="en-US" sz="1200" b="1" dirty="0">
                <a:solidFill>
                  <a:srgbClr val="005F83"/>
                </a:solidFill>
                <a:latin typeface="Arial" panose="020B0604020202020204" pitchFamily="34" charset="0"/>
                <a:sym typeface=""/>
              </a:rPr>
              <a:t>Enforce usage tracking and thresholds </a:t>
            </a:r>
            <a:r>
              <a:rPr lang="en-US" sz="1200" dirty="0">
                <a:solidFill>
                  <a:srgbClr val="005F83"/>
                </a:solidFill>
                <a:latin typeface="Arial" panose="020B0604020202020204" pitchFamily="34" charset="0"/>
                <a:sym typeface=""/>
              </a:rPr>
              <a:t>to link consumption with cost and SLO/SLA compliance</a:t>
            </a:r>
          </a:p>
        </p:txBody>
      </p:sp>
      <p:sp>
        <p:nvSpPr>
          <p:cNvPr id="56" name="TextBox 55">
            <a:extLst>
              <a:ext uri="{FF2B5EF4-FFF2-40B4-BE49-F238E27FC236}">
                <a16:creationId xmlns:a16="http://schemas.microsoft.com/office/drawing/2014/main" id="{88FC4ACB-86C5-21D7-E19B-93C39FAFEFA0}"/>
              </a:ext>
            </a:extLst>
          </p:cNvPr>
          <p:cNvSpPr txBox="1">
            <a:spLocks/>
          </p:cNvSpPr>
          <p:nvPr/>
        </p:nvSpPr>
        <p:spPr>
          <a:xfrm>
            <a:off x="2057666" y="4703111"/>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rgbClr val="000000"/>
                </a:solidFill>
                <a:latin typeface="Arial" panose="020B0604020202020204" pitchFamily="34" charset="0"/>
                <a:sym typeface=""/>
              </a:rPr>
              <a:t>A6. </a:t>
            </a:r>
            <a:r>
              <a:rPr lang="en-US" sz="1200" b="1" dirty="0">
                <a:solidFill>
                  <a:srgbClr val="000000"/>
                </a:solidFill>
                <a:latin typeface="Arial" panose="020B0604020202020204" pitchFamily="34" charset="0"/>
                <a:sym typeface=""/>
              </a:rPr>
              <a:t>Introduce alerting for data quality issues </a:t>
            </a:r>
            <a:r>
              <a:rPr lang="en-US" sz="1200" dirty="0">
                <a:solidFill>
                  <a:srgbClr val="000000"/>
                </a:solidFill>
                <a:latin typeface="Arial" panose="020B0604020202020204" pitchFamily="34" charset="0"/>
                <a:sym typeface=""/>
              </a:rPr>
              <a:t>(e.g., incompleteness, stale data) across upstream data sources</a:t>
            </a:r>
          </a:p>
        </p:txBody>
      </p:sp>
      <p:sp>
        <p:nvSpPr>
          <p:cNvPr id="58" name="TextBox 57">
            <a:extLst>
              <a:ext uri="{FF2B5EF4-FFF2-40B4-BE49-F238E27FC236}">
                <a16:creationId xmlns:a16="http://schemas.microsoft.com/office/drawing/2014/main" id="{9E93E635-07E5-CC03-19D2-FF89FC63F51F}"/>
              </a:ext>
            </a:extLst>
          </p:cNvPr>
          <p:cNvSpPr txBox="1">
            <a:spLocks/>
          </p:cNvSpPr>
          <p:nvPr/>
        </p:nvSpPr>
        <p:spPr>
          <a:xfrm>
            <a:off x="2057665" y="5356055"/>
            <a:ext cx="9396397"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solidFill>
                  <a:srgbClr val="000000"/>
                </a:solidFill>
                <a:latin typeface="Arial" panose="020B0604020202020204" pitchFamily="34" charset="0"/>
                <a:sym typeface=""/>
              </a:rPr>
              <a:t>A7. </a:t>
            </a:r>
            <a:r>
              <a:rPr lang="en-US" sz="1200" b="1">
                <a:solidFill>
                  <a:srgbClr val="000000"/>
                </a:solidFill>
                <a:latin typeface="Arial" panose="020B0604020202020204" pitchFamily="34" charset="0"/>
                <a:sym typeface=""/>
              </a:rPr>
              <a:t>Deploy automated anomaly detection and alerting </a:t>
            </a:r>
            <a:r>
              <a:rPr lang="en-US" sz="1200">
                <a:solidFill>
                  <a:srgbClr val="000000"/>
                </a:solidFill>
                <a:latin typeface="Arial" panose="020B0604020202020204" pitchFamily="34" charset="0"/>
                <a:sym typeface=""/>
              </a:rPr>
              <a:t>to replace manual dashboard checks and proactively surface issues</a:t>
            </a:r>
          </a:p>
        </p:txBody>
      </p:sp>
      <p:grpSp>
        <p:nvGrpSpPr>
          <p:cNvPr id="8" name="Group 7">
            <a:extLst>
              <a:ext uri="{FF2B5EF4-FFF2-40B4-BE49-F238E27FC236}">
                <a16:creationId xmlns:a16="http://schemas.microsoft.com/office/drawing/2014/main" id="{181E853F-2641-E4C0-5904-6C93735E2FAD}"/>
              </a:ext>
            </a:extLst>
          </p:cNvPr>
          <p:cNvGrpSpPr/>
          <p:nvPr/>
        </p:nvGrpSpPr>
        <p:grpSpPr>
          <a:xfrm>
            <a:off x="7726791" y="1006853"/>
            <a:ext cx="3910473" cy="153888"/>
            <a:chOff x="7726791" y="834858"/>
            <a:chExt cx="3910473" cy="153888"/>
          </a:xfrm>
        </p:grpSpPr>
        <p:sp>
          <p:nvSpPr>
            <p:cNvPr id="48" name="TextBox 73">
              <a:extLst>
                <a:ext uri="{FF2B5EF4-FFF2-40B4-BE49-F238E27FC236}">
                  <a16:creationId xmlns:a16="http://schemas.microsoft.com/office/drawing/2014/main" id="{11DE2EAD-4722-E17E-CC5E-80385EA6D910}"/>
                </a:ext>
              </a:extLst>
            </p:cNvPr>
            <p:cNvSpPr txBox="1"/>
            <p:nvPr/>
          </p:nvSpPr>
          <p:spPr>
            <a:xfrm>
              <a:off x="10017530" y="834858"/>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59" name="TextBox 74">
              <a:extLst>
                <a:ext uri="{FF2B5EF4-FFF2-40B4-BE49-F238E27FC236}">
                  <a16:creationId xmlns:a16="http://schemas.microsoft.com/office/drawing/2014/main" id="{082A8300-5E87-A60B-B1D8-2B2FE8831DE8}"/>
                </a:ext>
              </a:extLst>
            </p:cNvPr>
            <p:cNvSpPr txBox="1"/>
            <p:nvPr/>
          </p:nvSpPr>
          <p:spPr>
            <a:xfrm>
              <a:off x="10285932" y="834858"/>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60" name="TextBox 59">
              <a:extLst>
                <a:ext uri="{FF2B5EF4-FFF2-40B4-BE49-F238E27FC236}">
                  <a16:creationId xmlns:a16="http://schemas.microsoft.com/office/drawing/2014/main" id="{958F8C33-84C2-38AD-54B8-C681F79F0117}"/>
                </a:ext>
              </a:extLst>
            </p:cNvPr>
            <p:cNvSpPr txBox="1"/>
            <p:nvPr/>
          </p:nvSpPr>
          <p:spPr>
            <a:xfrm>
              <a:off x="7925653" y="834858"/>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61" name="Rectangle 60">
              <a:extLst>
                <a:ext uri="{FF2B5EF4-FFF2-40B4-BE49-F238E27FC236}">
                  <a16:creationId xmlns:a16="http://schemas.microsoft.com/office/drawing/2014/main" id="{50EC9735-B18A-DD54-3010-5E4871F2B330}"/>
                </a:ext>
              </a:extLst>
            </p:cNvPr>
            <p:cNvSpPr>
              <a:spLocks/>
            </p:cNvSpPr>
            <p:nvPr/>
          </p:nvSpPr>
          <p:spPr>
            <a:xfrm>
              <a:off x="7726791" y="840774"/>
              <a:ext cx="142055" cy="142055"/>
            </a:xfrm>
            <a:prstGeom prst="rect">
              <a:avLst/>
            </a:prstGeom>
            <a:solidFill>
              <a:schemeClr val="accent2">
                <a:lumMod val="20000"/>
                <a:lumOff val="80000"/>
              </a:schemeClr>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cxnSp>
        <p:nvCxnSpPr>
          <p:cNvPr id="62" name="Straight Connector 61">
            <a:extLst>
              <a:ext uri="{FF2B5EF4-FFF2-40B4-BE49-F238E27FC236}">
                <a16:creationId xmlns:a16="http://schemas.microsoft.com/office/drawing/2014/main" id="{205F0116-627B-5B58-7FBD-B89B0B1AD6F0}"/>
              </a:ext>
            </a:extLst>
          </p:cNvPr>
          <p:cNvCxnSpPr>
            <a:cxnSpLocks/>
          </p:cNvCxnSpPr>
          <p:nvPr>
            <p:custDataLst>
              <p:tags r:id="rId13"/>
            </p:custDataLst>
          </p:nvPr>
        </p:nvCxnSpPr>
        <p:spPr>
          <a:xfrm>
            <a:off x="554736" y="1529271"/>
            <a:ext cx="11082526"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68871DD5-EEFB-DBF6-4250-620AB89A19FB}"/>
              </a:ext>
            </a:extLst>
          </p:cNvPr>
          <p:cNvSpPr txBox="1">
            <a:spLocks/>
          </p:cNvSpPr>
          <p:nvPr/>
        </p:nvSpPr>
        <p:spPr>
          <a:xfrm>
            <a:off x="554736" y="1068486"/>
            <a:ext cx="1312164" cy="43088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Sub-</a:t>
            </a:r>
            <a:br>
              <a:rPr lang="en-US" sz="1400" b="1"/>
            </a:br>
            <a:r>
              <a:rPr lang="en-US" sz="1400" b="1"/>
              <a:t>Dimension</a:t>
            </a:r>
          </a:p>
        </p:txBody>
      </p:sp>
      <p:sp>
        <p:nvSpPr>
          <p:cNvPr id="64" name="TextBox 63">
            <a:extLst>
              <a:ext uri="{FF2B5EF4-FFF2-40B4-BE49-F238E27FC236}">
                <a16:creationId xmlns:a16="http://schemas.microsoft.com/office/drawing/2014/main" id="{B7F50F1E-B96A-973C-90AA-5F24844F2B7C}"/>
              </a:ext>
            </a:extLst>
          </p:cNvPr>
          <p:cNvSpPr txBox="1">
            <a:spLocks/>
          </p:cNvSpPr>
          <p:nvPr/>
        </p:nvSpPr>
        <p:spPr>
          <a:xfrm>
            <a:off x="2057666" y="1283929"/>
            <a:ext cx="7651120" cy="21544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Potential actions</a:t>
            </a:r>
          </a:p>
        </p:txBody>
      </p:sp>
    </p:spTree>
    <p:custDataLst>
      <p:tags r:id="rId1"/>
    </p:custDataLst>
    <p:extLst>
      <p:ext uri="{BB962C8B-B14F-4D97-AF65-F5344CB8AC3E}">
        <p14:creationId xmlns:p14="http://schemas.microsoft.com/office/powerpoint/2010/main" val="2685186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38AC2-3CCC-1D66-31FF-6E6D69824D4A}"/>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DC7E670F-5007-84B7-7742-4ECD30C4C260}"/>
              </a:ext>
            </a:extLst>
          </p:cNvPr>
          <p:cNvGraphicFramePr>
            <a:graphicFrameLocks noChangeAspect="1"/>
          </p:cNvGraphicFramePr>
          <p:nvPr>
            <p:custDataLst>
              <p:tags r:id="rId2"/>
            </p:custDataLst>
            <p:extLst>
              <p:ext uri="{D42A27DB-BD31-4B8C-83A1-F6EECF244321}">
                <p14:modId xmlns:p14="http://schemas.microsoft.com/office/powerpoint/2010/main" val="3568838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04" imgH="405" progId="TCLayout.ActiveDocument.1">
                  <p:embed/>
                </p:oleObj>
              </mc:Choice>
              <mc:Fallback>
                <p:oleObj name="think-cell Slide" r:id="rId17" imgW="404" imgH="405" progId="TCLayout.ActiveDocument.1">
                  <p:embed/>
                  <p:pic>
                    <p:nvPicPr>
                      <p:cNvPr id="6" name="Object 6" hidden="1">
                        <a:extLst>
                          <a:ext uri="{FF2B5EF4-FFF2-40B4-BE49-F238E27FC236}">
                            <a16:creationId xmlns:a16="http://schemas.microsoft.com/office/drawing/2014/main" id="{DC7E670F-5007-84B7-7742-4ECD30C4C260}"/>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BA9B28D1-A84A-9F69-1F70-56C27C8CFC75}"/>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a:t>B. Potential actions for Data Type &amp; Quality </a:t>
            </a:r>
          </a:p>
        </p:txBody>
      </p:sp>
      <p:sp>
        <p:nvSpPr>
          <p:cNvPr id="13" name="Text Placeholder 12">
            <a:extLst>
              <a:ext uri="{FF2B5EF4-FFF2-40B4-BE49-F238E27FC236}">
                <a16:creationId xmlns:a16="http://schemas.microsoft.com/office/drawing/2014/main" id="{3F79E438-5E2B-9DEE-12BD-8E90B14ADF8A}"/>
              </a:ext>
            </a:extLst>
          </p:cNvPr>
          <p:cNvSpPr>
            <a:spLocks noGrp="1"/>
          </p:cNvSpPr>
          <p:nvPr>
            <p:ph type="body" sz="quarter" idx="17"/>
          </p:nvPr>
        </p:nvSpPr>
        <p:spPr/>
        <p:txBody>
          <a:bodyPr/>
          <a:lstStyle/>
          <a:p>
            <a:endParaRPr lang="en-US"/>
          </a:p>
        </p:txBody>
      </p:sp>
      <p:sp>
        <p:nvSpPr>
          <p:cNvPr id="28" name="Arc 27" hidden="1">
            <a:extLst>
              <a:ext uri="{FF2B5EF4-FFF2-40B4-BE49-F238E27FC236}">
                <a16:creationId xmlns:a16="http://schemas.microsoft.com/office/drawing/2014/main" id="{BE782AAD-EA70-95E7-B812-679EDC17FF1D}"/>
              </a:ext>
            </a:extLst>
          </p:cNvPr>
          <p:cNvSpPr/>
          <p:nvPr/>
        </p:nvSpPr>
        <p:spPr>
          <a:xfrm>
            <a:off x="9282507" y="591370"/>
            <a:ext cx="142055" cy="142055"/>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66" name="Rectangle 65">
            <a:extLst>
              <a:ext uri="{FF2B5EF4-FFF2-40B4-BE49-F238E27FC236}">
                <a16:creationId xmlns:a16="http://schemas.microsoft.com/office/drawing/2014/main" id="{76424E5A-6D07-966B-3D52-C2E1FC05530C}"/>
              </a:ext>
            </a:extLst>
          </p:cNvPr>
          <p:cNvSpPr>
            <a:spLocks/>
          </p:cNvSpPr>
          <p:nvPr/>
        </p:nvSpPr>
        <p:spPr>
          <a:xfrm>
            <a:off x="527900" y="5066153"/>
            <a:ext cx="11106887" cy="84486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65" name="Rectangle 64">
            <a:extLst>
              <a:ext uri="{FF2B5EF4-FFF2-40B4-BE49-F238E27FC236}">
                <a16:creationId xmlns:a16="http://schemas.microsoft.com/office/drawing/2014/main" id="{6F9B58F4-F7EC-8305-FB51-409B7682C760}"/>
              </a:ext>
            </a:extLst>
          </p:cNvPr>
          <p:cNvSpPr>
            <a:spLocks/>
          </p:cNvSpPr>
          <p:nvPr/>
        </p:nvSpPr>
        <p:spPr>
          <a:xfrm>
            <a:off x="527900" y="2409677"/>
            <a:ext cx="11106887" cy="175937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cxnSp>
        <p:nvCxnSpPr>
          <p:cNvPr id="26" name="Straight Connector 25">
            <a:extLst>
              <a:ext uri="{FF2B5EF4-FFF2-40B4-BE49-F238E27FC236}">
                <a16:creationId xmlns:a16="http://schemas.microsoft.com/office/drawing/2014/main" id="{10229BF7-8A8B-73AC-DAEF-6374DFD88617}"/>
              </a:ext>
            </a:extLst>
          </p:cNvPr>
          <p:cNvCxnSpPr>
            <a:cxnSpLocks/>
          </p:cNvCxnSpPr>
          <p:nvPr>
            <p:custDataLst>
              <p:tags r:id="rId4"/>
            </p:custDataLst>
          </p:nvPr>
        </p:nvCxnSpPr>
        <p:spPr>
          <a:xfrm>
            <a:off x="554737" y="2409679"/>
            <a:ext cx="11080051"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B71071C-DBCD-D6EF-4A71-7524E1D5F79B}"/>
              </a:ext>
            </a:extLst>
          </p:cNvPr>
          <p:cNvCxnSpPr>
            <a:cxnSpLocks/>
          </p:cNvCxnSpPr>
          <p:nvPr>
            <p:custDataLst>
              <p:tags r:id="rId5"/>
            </p:custDataLst>
          </p:nvPr>
        </p:nvCxnSpPr>
        <p:spPr>
          <a:xfrm>
            <a:off x="554737" y="3289367"/>
            <a:ext cx="11080051"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LineBasicDefault 67">
            <a:extLst>
              <a:ext uri="{FF2B5EF4-FFF2-40B4-BE49-F238E27FC236}">
                <a16:creationId xmlns:a16="http://schemas.microsoft.com/office/drawing/2014/main" id="{86CFEBBB-C753-6413-6DD8-E27FBAE19C75}"/>
              </a:ext>
            </a:extLst>
          </p:cNvPr>
          <p:cNvCxnSpPr>
            <a:cxnSpLocks/>
          </p:cNvCxnSpPr>
          <p:nvPr>
            <p:custDataLst>
              <p:tags r:id="rId6"/>
            </p:custDataLst>
          </p:nvPr>
        </p:nvCxnSpPr>
        <p:spPr>
          <a:xfrm>
            <a:off x="554737" y="4169055"/>
            <a:ext cx="11080051"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LineBasicDefault 67">
            <a:extLst>
              <a:ext uri="{FF2B5EF4-FFF2-40B4-BE49-F238E27FC236}">
                <a16:creationId xmlns:a16="http://schemas.microsoft.com/office/drawing/2014/main" id="{7D70820D-257C-BA6C-7954-9ED24DE06DD3}"/>
              </a:ext>
            </a:extLst>
          </p:cNvPr>
          <p:cNvCxnSpPr>
            <a:cxnSpLocks/>
          </p:cNvCxnSpPr>
          <p:nvPr>
            <p:custDataLst>
              <p:tags r:id="rId7"/>
            </p:custDataLst>
          </p:nvPr>
        </p:nvCxnSpPr>
        <p:spPr>
          <a:xfrm>
            <a:off x="554737" y="5048743"/>
            <a:ext cx="11080051"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LineBasicDefault 67">
            <a:extLst>
              <a:ext uri="{FF2B5EF4-FFF2-40B4-BE49-F238E27FC236}">
                <a16:creationId xmlns:a16="http://schemas.microsoft.com/office/drawing/2014/main" id="{189F4E5C-17D1-F663-FDC3-D463F1734F8C}"/>
              </a:ext>
            </a:extLst>
          </p:cNvPr>
          <p:cNvCxnSpPr>
            <a:cxnSpLocks/>
          </p:cNvCxnSpPr>
          <p:nvPr>
            <p:custDataLst>
              <p:tags r:id="rId8"/>
            </p:custDataLst>
          </p:nvPr>
        </p:nvCxnSpPr>
        <p:spPr>
          <a:xfrm>
            <a:off x="2038352" y="1969835"/>
            <a:ext cx="9596436"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LineBasicDefault 67">
            <a:extLst>
              <a:ext uri="{FF2B5EF4-FFF2-40B4-BE49-F238E27FC236}">
                <a16:creationId xmlns:a16="http://schemas.microsoft.com/office/drawing/2014/main" id="{743FFB3B-C64F-2098-CCFF-01871200E397}"/>
              </a:ext>
            </a:extLst>
          </p:cNvPr>
          <p:cNvCxnSpPr>
            <a:cxnSpLocks/>
          </p:cNvCxnSpPr>
          <p:nvPr>
            <p:custDataLst>
              <p:tags r:id="rId9"/>
            </p:custDataLst>
          </p:nvPr>
        </p:nvCxnSpPr>
        <p:spPr>
          <a:xfrm>
            <a:off x="2038351" y="2849523"/>
            <a:ext cx="9596436"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3524111-0893-CBBC-825C-C2C677A9CFB2}"/>
              </a:ext>
            </a:extLst>
          </p:cNvPr>
          <p:cNvSpPr txBox="1">
            <a:spLocks/>
          </p:cNvSpPr>
          <p:nvPr/>
        </p:nvSpPr>
        <p:spPr>
          <a:xfrm>
            <a:off x="554736" y="2444935"/>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Accuracy and consistency</a:t>
            </a:r>
          </a:p>
        </p:txBody>
      </p:sp>
      <p:sp>
        <p:nvSpPr>
          <p:cNvPr id="35" name="TextBox 34">
            <a:extLst>
              <a:ext uri="{FF2B5EF4-FFF2-40B4-BE49-F238E27FC236}">
                <a16:creationId xmlns:a16="http://schemas.microsoft.com/office/drawing/2014/main" id="{E7A6A7C5-3394-2B5B-0C25-B8458C9E7BDA}"/>
              </a:ext>
            </a:extLst>
          </p:cNvPr>
          <p:cNvSpPr txBox="1">
            <a:spLocks/>
          </p:cNvSpPr>
          <p:nvPr/>
        </p:nvSpPr>
        <p:spPr>
          <a:xfrm>
            <a:off x="554736" y="4204311"/>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Freshness and timeliness</a:t>
            </a:r>
          </a:p>
        </p:txBody>
      </p:sp>
      <p:sp>
        <p:nvSpPr>
          <p:cNvPr id="34" name="TextBox 33">
            <a:extLst>
              <a:ext uri="{FF2B5EF4-FFF2-40B4-BE49-F238E27FC236}">
                <a16:creationId xmlns:a16="http://schemas.microsoft.com/office/drawing/2014/main" id="{650A0575-E764-45BC-4525-61D5B02B5223}"/>
              </a:ext>
            </a:extLst>
          </p:cNvPr>
          <p:cNvSpPr txBox="1">
            <a:spLocks/>
          </p:cNvSpPr>
          <p:nvPr/>
        </p:nvSpPr>
        <p:spPr>
          <a:xfrm>
            <a:off x="554736" y="3324623"/>
            <a:ext cx="13121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Completeness</a:t>
            </a:r>
          </a:p>
        </p:txBody>
      </p:sp>
      <p:sp>
        <p:nvSpPr>
          <p:cNvPr id="39" name="TextBox 38">
            <a:extLst>
              <a:ext uri="{FF2B5EF4-FFF2-40B4-BE49-F238E27FC236}">
                <a16:creationId xmlns:a16="http://schemas.microsoft.com/office/drawing/2014/main" id="{697AFB5D-881A-F6E2-70EA-D91338833098}"/>
              </a:ext>
            </a:extLst>
          </p:cNvPr>
          <p:cNvSpPr txBox="1">
            <a:spLocks/>
          </p:cNvSpPr>
          <p:nvPr/>
        </p:nvSpPr>
        <p:spPr>
          <a:xfrm>
            <a:off x="554736" y="5083999"/>
            <a:ext cx="13121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Sensitivity tags</a:t>
            </a:r>
          </a:p>
        </p:txBody>
      </p:sp>
      <p:sp>
        <p:nvSpPr>
          <p:cNvPr id="29" name="TextBox 28">
            <a:extLst>
              <a:ext uri="{FF2B5EF4-FFF2-40B4-BE49-F238E27FC236}">
                <a16:creationId xmlns:a16="http://schemas.microsoft.com/office/drawing/2014/main" id="{1AF35E91-50DA-C955-D841-D2675C13956B}"/>
              </a:ext>
            </a:extLst>
          </p:cNvPr>
          <p:cNvSpPr txBox="1">
            <a:spLocks/>
          </p:cNvSpPr>
          <p:nvPr/>
        </p:nvSpPr>
        <p:spPr>
          <a:xfrm>
            <a:off x="554737" y="1565247"/>
            <a:ext cx="127672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Validity and uniqueness</a:t>
            </a:r>
          </a:p>
        </p:txBody>
      </p:sp>
      <p:sp>
        <p:nvSpPr>
          <p:cNvPr id="53" name="TextBox 52">
            <a:extLst>
              <a:ext uri="{FF2B5EF4-FFF2-40B4-BE49-F238E27FC236}">
                <a16:creationId xmlns:a16="http://schemas.microsoft.com/office/drawing/2014/main" id="{5738A884-F324-FD7C-E8B6-B8B298FEE9E8}"/>
              </a:ext>
            </a:extLst>
          </p:cNvPr>
          <p:cNvSpPr txBox="1">
            <a:spLocks/>
          </p:cNvSpPr>
          <p:nvPr/>
        </p:nvSpPr>
        <p:spPr>
          <a:xfrm>
            <a:off x="2057666" y="1565247"/>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200" b="0" i="0" u="none" strike="noStrike" kern="1200" cap="none" spc="0" normalizeH="0" baseline="0" noProof="0" dirty="0">
                <a:ln>
                  <a:noFill/>
                </a:ln>
                <a:solidFill>
                  <a:srgbClr val="000000"/>
                </a:solidFill>
                <a:effectLst/>
                <a:uLnTx/>
                <a:uFillTx/>
                <a:ea typeface="+mn-ea"/>
                <a:cs typeface="Arial" panose="020B0604020202020204" pitchFamily="34" charset="0"/>
              </a:rPr>
              <a:t>B</a:t>
            </a:r>
            <a:r>
              <a:rPr kumimoji="0" lang="en-US" sz="1200" i="0" u="none" strike="noStrike" kern="1200" cap="none" spc="0" normalizeH="0" baseline="0" noProof="0" dirty="0">
                <a:ln>
                  <a:noFill/>
                </a:ln>
                <a:solidFill>
                  <a:srgbClr val="000000"/>
                </a:solidFill>
                <a:effectLst/>
                <a:uLnTx/>
                <a:uFillTx/>
                <a:ea typeface="+mn-ea"/>
                <a:cs typeface="Arial" panose="020B0604020202020204" pitchFamily="34" charset="0"/>
              </a:rPr>
              <a:t>1.</a:t>
            </a:r>
            <a:r>
              <a:rPr kumimoji="0" lang="en-US" sz="1200" b="1" i="0" u="none" strike="noStrike" kern="1200" cap="none" spc="0" normalizeH="0" baseline="0" noProof="0" dirty="0">
                <a:ln>
                  <a:noFill/>
                </a:ln>
                <a:solidFill>
                  <a:srgbClr val="000000"/>
                </a:solidFill>
                <a:effectLst/>
                <a:uLnTx/>
                <a:uFillTx/>
                <a:ea typeface="+mn-ea"/>
                <a:cs typeface="Arial" panose="020B0604020202020204" pitchFamily="34" charset="0"/>
              </a:rPr>
              <a:t> [Policy] Establish enterprise standards for validity and uniqueness (e.g., schema enforcement) </a:t>
            </a:r>
            <a:r>
              <a:rPr kumimoji="0" lang="en-US" sz="1200" b="0" i="0" u="none" strike="noStrike" kern="1200" cap="none" spc="0" normalizeH="0" baseline="0" noProof="0" dirty="0">
                <a:ln>
                  <a:noFill/>
                </a:ln>
                <a:solidFill>
                  <a:srgbClr val="000000"/>
                </a:solidFill>
                <a:effectLst/>
                <a:uLnTx/>
                <a:uFillTx/>
                <a:ea typeface="+mn-ea"/>
                <a:cs typeface="Arial" panose="020B0604020202020204" pitchFamily="34" charset="0"/>
              </a:rPr>
              <a:t>that normalize data quality from mature data stores (e.g.,  ) to less mature ones (e.g., </a:t>
            </a:r>
            <a:r>
              <a:rPr kumimoji="0" lang="en-US" sz="1200" b="0" i="0" u="none" strike="noStrike" kern="1200" cap="none" spc="0" normalizeH="0" baseline="0" noProof="0" dirty="0">
                <a:ln>
                  <a:noFill/>
                </a:ln>
                <a:solidFill>
                  <a:srgbClr val="005F83"/>
                </a:solidFill>
                <a:effectLst/>
                <a:uLnTx/>
                <a:uFillTx/>
                <a:ea typeface="+mn-ea"/>
                <a:cs typeface="Arial" panose="020B0604020202020204" pitchFamily="34" charset="0"/>
              </a:rPr>
              <a:t> ...</a:t>
            </a:r>
            <a:r>
              <a:rPr kumimoji="0" lang="en-US" sz="1200" b="0" i="0" u="none" strike="noStrike" kern="1200" cap="none" spc="0" normalizeH="0" baseline="0" noProof="0" dirty="0">
                <a:ln>
                  <a:noFill/>
                </a:ln>
                <a:solidFill>
                  <a:srgbClr val="000000"/>
                </a:solidFill>
                <a:effectLst/>
                <a:uLnTx/>
                <a:uFillTx/>
                <a:ea typeface="+mn-ea"/>
                <a:cs typeface="Arial" panose="020B0604020202020204" pitchFamily="34" charset="0"/>
              </a:rPr>
              <a:t>)</a:t>
            </a:r>
          </a:p>
        </p:txBody>
      </p:sp>
      <p:sp>
        <p:nvSpPr>
          <p:cNvPr id="54" name="TextBox 53">
            <a:extLst>
              <a:ext uri="{FF2B5EF4-FFF2-40B4-BE49-F238E27FC236}">
                <a16:creationId xmlns:a16="http://schemas.microsoft.com/office/drawing/2014/main" id="{968A562C-7A0B-6E6D-6F07-BA02D61655F8}"/>
              </a:ext>
            </a:extLst>
          </p:cNvPr>
          <p:cNvSpPr txBox="1">
            <a:spLocks/>
          </p:cNvSpPr>
          <p:nvPr/>
        </p:nvSpPr>
        <p:spPr>
          <a:xfrm>
            <a:off x="2057666" y="2444935"/>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kumimoji="0" lang="en-US" sz="1200" b="0" i="0" u="none" strike="noStrike" kern="1200" cap="none" spc="-20" normalizeH="0" baseline="0" noProof="0" dirty="0">
                <a:ln>
                  <a:noFill/>
                </a:ln>
                <a:solidFill>
                  <a:srgbClr val="000000"/>
                </a:solidFill>
                <a:effectLst/>
                <a:uLnTx/>
                <a:uFillTx/>
              </a:rPr>
              <a:t>B3. </a:t>
            </a:r>
            <a:r>
              <a:rPr lang="en-US" sz="1200" b="1" spc="-20" dirty="0">
                <a:solidFill>
                  <a:srgbClr val="000000"/>
                </a:solidFill>
              </a:rPr>
              <a:t>[Policy] </a:t>
            </a:r>
            <a:r>
              <a:rPr kumimoji="0" lang="en-US" sz="1200" b="1" i="0" u="none" strike="noStrike" kern="1200" cap="none" spc="-20" normalizeH="0" baseline="0" noProof="0" dirty="0">
                <a:ln>
                  <a:noFill/>
                </a:ln>
                <a:solidFill>
                  <a:srgbClr val="000000"/>
                </a:solidFill>
                <a:effectLst/>
                <a:uLnTx/>
                <a:uFillTx/>
              </a:rPr>
              <a:t>Establish enterprise standards for accuracy and consistency (e.g., referential integrity checks) </a:t>
            </a:r>
            <a:r>
              <a:rPr kumimoji="0" lang="en-US" sz="1200" b="0" i="0" u="none" strike="noStrike" kern="1200" cap="none" spc="-20" normalizeH="0" baseline="0" noProof="0" dirty="0">
                <a:ln>
                  <a:noFill/>
                </a:ln>
                <a:solidFill>
                  <a:srgbClr val="000000"/>
                </a:solidFill>
                <a:effectLst/>
                <a:uLnTx/>
                <a:uFillTx/>
              </a:rPr>
              <a:t>that normalize data quality from mature data stores (e.g.,  ) to less mature ones (e.g., </a:t>
            </a:r>
            <a:r>
              <a:rPr kumimoji="0" lang="en-US" sz="1200" b="0" i="0" u="none" strike="noStrike" kern="1200" cap="none" spc="-20" normalizeH="0" baseline="0" noProof="0" dirty="0">
                <a:ln>
                  <a:noFill/>
                </a:ln>
                <a:solidFill>
                  <a:srgbClr val="005F83"/>
                </a:solidFill>
                <a:effectLst/>
                <a:uLnTx/>
                <a:uFillTx/>
              </a:rPr>
              <a:t> ...</a:t>
            </a:r>
            <a:r>
              <a:rPr kumimoji="0" lang="en-US" sz="1200" b="0" i="0" u="none" strike="noStrike" kern="1200" cap="none" spc="-20" normalizeH="0" baseline="0" noProof="0" dirty="0">
                <a:ln>
                  <a:noFill/>
                </a:ln>
                <a:solidFill>
                  <a:srgbClr val="000000"/>
                </a:solidFill>
                <a:effectLst/>
                <a:uLnTx/>
                <a:uFillTx/>
              </a:rPr>
              <a:t>)</a:t>
            </a:r>
          </a:p>
        </p:txBody>
      </p:sp>
      <p:sp>
        <p:nvSpPr>
          <p:cNvPr id="55" name="TextBox 54">
            <a:extLst>
              <a:ext uri="{FF2B5EF4-FFF2-40B4-BE49-F238E27FC236}">
                <a16:creationId xmlns:a16="http://schemas.microsoft.com/office/drawing/2014/main" id="{3451700A-3FB9-CE6B-B7A9-174EF7DCB2F0}"/>
              </a:ext>
            </a:extLst>
          </p:cNvPr>
          <p:cNvSpPr txBox="1">
            <a:spLocks/>
          </p:cNvSpPr>
          <p:nvPr/>
        </p:nvSpPr>
        <p:spPr>
          <a:xfrm>
            <a:off x="2057666" y="3324623"/>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kumimoji="0" lang="en-US" sz="1200" b="0" i="0" u="none" strike="noStrike" kern="1200" cap="none" spc="-20" normalizeH="0" baseline="0" noProof="0" dirty="0">
                <a:ln>
                  <a:noFill/>
                </a:ln>
                <a:solidFill>
                  <a:srgbClr val="000000"/>
                </a:solidFill>
                <a:effectLst/>
                <a:uLnTx/>
                <a:uFillTx/>
              </a:rPr>
              <a:t>B5. </a:t>
            </a:r>
            <a:r>
              <a:rPr lang="en-US" sz="1200" b="1" spc="-20" dirty="0">
                <a:solidFill>
                  <a:srgbClr val="000000"/>
                </a:solidFill>
              </a:rPr>
              <a:t>[Policy] </a:t>
            </a:r>
            <a:r>
              <a:rPr kumimoji="0" lang="en-US" sz="1200" b="1" i="0" u="none" strike="noStrike" kern="1200" cap="none" spc="-20" normalizeH="0" baseline="0" noProof="0" dirty="0">
                <a:ln>
                  <a:noFill/>
                </a:ln>
                <a:solidFill>
                  <a:srgbClr val="000000"/>
                </a:solidFill>
                <a:effectLst/>
                <a:uLnTx/>
                <a:uFillTx/>
              </a:rPr>
              <a:t>Establish enterprise standards for completeness (e.g., minimum data coverage, required fields) </a:t>
            </a:r>
            <a:r>
              <a:rPr kumimoji="0" lang="en-US" sz="1200" b="0" i="0" u="none" strike="noStrike" kern="1200" cap="none" spc="-20" normalizeH="0" baseline="0" noProof="0" dirty="0">
                <a:ln>
                  <a:noFill/>
                </a:ln>
                <a:solidFill>
                  <a:srgbClr val="000000"/>
                </a:solidFill>
                <a:effectLst/>
                <a:uLnTx/>
                <a:uFillTx/>
              </a:rPr>
              <a:t>that normalize data quality from mature data stores (e.g.,  ) to less mature ones (e.g., </a:t>
            </a:r>
            <a:r>
              <a:rPr kumimoji="0" lang="en-US" sz="1200" b="0" i="0" u="none" strike="noStrike" kern="1200" cap="none" spc="-20" normalizeH="0" baseline="0" noProof="0" dirty="0">
                <a:ln>
                  <a:noFill/>
                </a:ln>
                <a:solidFill>
                  <a:srgbClr val="005F83"/>
                </a:solidFill>
                <a:effectLst/>
                <a:uLnTx/>
                <a:uFillTx/>
              </a:rPr>
              <a:t> ...</a:t>
            </a:r>
            <a:r>
              <a:rPr kumimoji="0" lang="en-US" sz="1200" b="0" i="0" u="none" strike="noStrike" kern="1200" cap="none" spc="-20" normalizeH="0" baseline="0" noProof="0" dirty="0">
                <a:ln>
                  <a:noFill/>
                </a:ln>
                <a:solidFill>
                  <a:srgbClr val="000000"/>
                </a:solidFill>
                <a:effectLst/>
                <a:uLnTx/>
                <a:uFillTx/>
              </a:rPr>
              <a:t>)</a:t>
            </a:r>
          </a:p>
        </p:txBody>
      </p:sp>
      <p:sp>
        <p:nvSpPr>
          <p:cNvPr id="56" name="TextBox 55">
            <a:extLst>
              <a:ext uri="{FF2B5EF4-FFF2-40B4-BE49-F238E27FC236}">
                <a16:creationId xmlns:a16="http://schemas.microsoft.com/office/drawing/2014/main" id="{2800B986-CE8D-412C-864B-4EA29E20B858}"/>
              </a:ext>
            </a:extLst>
          </p:cNvPr>
          <p:cNvSpPr txBox="1">
            <a:spLocks/>
          </p:cNvSpPr>
          <p:nvPr/>
        </p:nvSpPr>
        <p:spPr>
          <a:xfrm>
            <a:off x="2057666" y="4204311"/>
            <a:ext cx="9467584" cy="5924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spcBef>
                <a:spcPct val="0"/>
              </a:spcBef>
              <a:buClr>
                <a:srgbClr val="000000"/>
              </a:buClr>
              <a:buNone/>
              <a:defRPr/>
            </a:pPr>
            <a:r>
              <a:rPr kumimoji="0" lang="en-US" sz="1200" b="0" i="0" u="none" strike="noStrike" kern="1200" cap="none" spc="0" normalizeH="0" baseline="0" noProof="0" dirty="0">
                <a:ln>
                  <a:noFill/>
                </a:ln>
                <a:solidFill>
                  <a:srgbClr val="000000"/>
                </a:solidFill>
                <a:effectLst/>
                <a:uLnTx/>
                <a:uFillTx/>
              </a:rPr>
              <a:t>B7. </a:t>
            </a:r>
            <a:r>
              <a:rPr lang="en-US" sz="1200" b="1" dirty="0">
                <a:solidFill>
                  <a:srgbClr val="000000"/>
                </a:solidFill>
              </a:rPr>
              <a:t>[Policy] Establish enterprise standards for freshness and timeliness (e.g., refresh cadence, latency SLAs)</a:t>
            </a:r>
            <a:r>
              <a:rPr lang="en-US" sz="1200" dirty="0">
                <a:solidFill>
                  <a:srgbClr val="000000"/>
                </a:solidFill>
              </a:rPr>
              <a:t> that normalize data quality across ...and vendor-managed pipelines</a:t>
            </a:r>
          </a:p>
          <a:p>
            <a:pPr lvl="0">
              <a:spcBef>
                <a:spcPct val="0"/>
              </a:spcBef>
              <a:buClr>
                <a:srgbClr val="000000"/>
              </a:buClr>
              <a:buNone/>
              <a:defRPr/>
            </a:pPr>
            <a:endParaRPr kumimoji="0" lang="en-US" sz="1200" i="0" u="none" strike="noStrike" kern="1200" cap="none" spc="0" normalizeH="0" baseline="0" noProof="0" dirty="0">
              <a:ln>
                <a:noFill/>
              </a:ln>
              <a:solidFill>
                <a:srgbClr val="005F83"/>
              </a:solidFill>
              <a:effectLst/>
              <a:uLnTx/>
              <a:uFillTx/>
            </a:endParaRPr>
          </a:p>
        </p:txBody>
      </p:sp>
      <p:cxnSp>
        <p:nvCxnSpPr>
          <p:cNvPr id="190" name="LineBasicDefault 67">
            <a:extLst>
              <a:ext uri="{FF2B5EF4-FFF2-40B4-BE49-F238E27FC236}">
                <a16:creationId xmlns:a16="http://schemas.microsoft.com/office/drawing/2014/main" id="{BD4CD3CC-815F-A9DC-036B-06CA8F82604E}"/>
              </a:ext>
            </a:extLst>
          </p:cNvPr>
          <p:cNvCxnSpPr>
            <a:cxnSpLocks/>
          </p:cNvCxnSpPr>
          <p:nvPr>
            <p:custDataLst>
              <p:tags r:id="rId10"/>
            </p:custDataLst>
          </p:nvPr>
        </p:nvCxnSpPr>
        <p:spPr>
          <a:xfrm>
            <a:off x="2038351" y="3729211"/>
            <a:ext cx="9596436"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3" name="LineBasicDefault 67">
            <a:extLst>
              <a:ext uri="{FF2B5EF4-FFF2-40B4-BE49-F238E27FC236}">
                <a16:creationId xmlns:a16="http://schemas.microsoft.com/office/drawing/2014/main" id="{1778447C-0094-419B-E998-A6A26FF90D75}"/>
              </a:ext>
            </a:extLst>
          </p:cNvPr>
          <p:cNvCxnSpPr>
            <a:cxnSpLocks/>
          </p:cNvCxnSpPr>
          <p:nvPr>
            <p:custDataLst>
              <p:tags r:id="rId11"/>
            </p:custDataLst>
          </p:nvPr>
        </p:nvCxnSpPr>
        <p:spPr>
          <a:xfrm>
            <a:off x="2038351" y="4608899"/>
            <a:ext cx="9596436"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4" name="TextBox 193">
            <a:extLst>
              <a:ext uri="{FF2B5EF4-FFF2-40B4-BE49-F238E27FC236}">
                <a16:creationId xmlns:a16="http://schemas.microsoft.com/office/drawing/2014/main" id="{6BF50BE9-C46F-F484-7BBE-F3749659A34F}"/>
              </a:ext>
            </a:extLst>
          </p:cNvPr>
          <p:cNvSpPr txBox="1">
            <a:spLocks/>
          </p:cNvSpPr>
          <p:nvPr/>
        </p:nvSpPr>
        <p:spPr>
          <a:xfrm>
            <a:off x="2057666" y="5083999"/>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spcBef>
                <a:spcPct val="0"/>
              </a:spcBef>
              <a:buClr>
                <a:srgbClr val="000000"/>
              </a:buClr>
              <a:buNone/>
              <a:defRPr/>
            </a:pPr>
            <a:r>
              <a:rPr kumimoji="0" lang="en-US" sz="1200" b="0" i="0" u="none" strike="noStrike" kern="1200" cap="none" spc="0" normalizeH="0" baseline="0" noProof="0" dirty="0">
                <a:ln>
                  <a:noFill/>
                </a:ln>
                <a:solidFill>
                  <a:srgbClr val="000000"/>
                </a:solidFill>
                <a:effectLst/>
                <a:uLnTx/>
                <a:uFillTx/>
              </a:rPr>
              <a:t>B9. </a:t>
            </a:r>
            <a:r>
              <a:rPr lang="en-US" sz="1200" b="1" dirty="0">
                <a:solidFill>
                  <a:srgbClr val="000000"/>
                </a:solidFill>
              </a:rPr>
              <a:t>[Policy] </a:t>
            </a:r>
            <a:r>
              <a:rPr kumimoji="0" lang="en-US" sz="1200" b="1" i="0" u="none" strike="noStrike" kern="1200" cap="none" spc="0" normalizeH="0" baseline="0" noProof="0" dirty="0">
                <a:ln>
                  <a:noFill/>
                </a:ln>
                <a:solidFill>
                  <a:srgbClr val="000000"/>
                </a:solidFill>
                <a:effectLst/>
                <a:uLnTx/>
                <a:uFillTx/>
              </a:rPr>
              <a:t>Establish enterprise standards for sensitivity tags (e.g., PII, corporate IP, financial records) </a:t>
            </a:r>
            <a:r>
              <a:rPr kumimoji="0" lang="en-US" sz="1200" b="0" i="0" u="none" strike="noStrike" kern="1200" cap="none" spc="0" normalizeH="0" baseline="0" noProof="0" dirty="0">
                <a:ln>
                  <a:noFill/>
                </a:ln>
                <a:solidFill>
                  <a:srgbClr val="000000"/>
                </a:solidFill>
                <a:effectLst/>
                <a:uLnTx/>
                <a:uFillTx/>
              </a:rPr>
              <a:t>that normalize data quality from mature data stores (e.g.,  ) to less mature ones (e.g., </a:t>
            </a:r>
            <a:r>
              <a:rPr kumimoji="0" lang="en-US" sz="1200" b="0" i="0" u="none" strike="noStrike" kern="1200" cap="none" spc="0" normalizeH="0" baseline="0" noProof="0" dirty="0">
                <a:ln>
                  <a:noFill/>
                </a:ln>
                <a:solidFill>
                  <a:srgbClr val="005F83"/>
                </a:solidFill>
                <a:effectLst/>
                <a:uLnTx/>
                <a:uFillTx/>
              </a:rPr>
              <a:t> ...</a:t>
            </a:r>
            <a:r>
              <a:rPr kumimoji="0" lang="en-US" sz="1200" b="0" i="0" u="none" strike="noStrike" kern="1200" cap="none" spc="0" normalizeH="0" baseline="0" noProof="0" dirty="0">
                <a:ln>
                  <a:noFill/>
                </a:ln>
                <a:solidFill>
                  <a:srgbClr val="000000"/>
                </a:solidFill>
                <a:effectLst/>
                <a:uLnTx/>
                <a:uFillTx/>
              </a:rPr>
              <a:t>)</a:t>
            </a:r>
            <a:endParaRPr kumimoji="0" lang="en-US" sz="1200" b="1" i="0" u="none" strike="noStrike" kern="1200" cap="none" spc="0" normalizeH="0" baseline="0" noProof="0" dirty="0">
              <a:ln>
                <a:noFill/>
              </a:ln>
              <a:solidFill>
                <a:srgbClr val="005F83"/>
              </a:solidFill>
              <a:effectLst/>
              <a:uLnTx/>
              <a:uFillTx/>
            </a:endParaRPr>
          </a:p>
        </p:txBody>
      </p:sp>
      <p:cxnSp>
        <p:nvCxnSpPr>
          <p:cNvPr id="198" name="LineBasicDefault 67">
            <a:extLst>
              <a:ext uri="{FF2B5EF4-FFF2-40B4-BE49-F238E27FC236}">
                <a16:creationId xmlns:a16="http://schemas.microsoft.com/office/drawing/2014/main" id="{76118596-D86E-60BD-ECDE-A1E0E49D60D3}"/>
              </a:ext>
            </a:extLst>
          </p:cNvPr>
          <p:cNvCxnSpPr>
            <a:cxnSpLocks/>
          </p:cNvCxnSpPr>
          <p:nvPr>
            <p:custDataLst>
              <p:tags r:id="rId12"/>
            </p:custDataLst>
          </p:nvPr>
        </p:nvCxnSpPr>
        <p:spPr>
          <a:xfrm>
            <a:off x="2038351" y="5488587"/>
            <a:ext cx="9596436" cy="0"/>
          </a:xfrm>
          <a:prstGeom prst="straightConnector1">
            <a:avLst/>
          </a:prstGeom>
          <a:ln w="63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EF2C4FC-37A7-7E47-30C0-23F3759F5455}"/>
              </a:ext>
            </a:extLst>
          </p:cNvPr>
          <p:cNvSpPr txBox="1">
            <a:spLocks/>
          </p:cNvSpPr>
          <p:nvPr/>
        </p:nvSpPr>
        <p:spPr>
          <a:xfrm>
            <a:off x="2057666" y="2005091"/>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
                <a:srgbClr val="000000"/>
              </a:buClr>
              <a:buSzPct val="100000"/>
              <a:buFont typeface="Segoe UI" panose="020B0502040204020203" pitchFamily="34" charset="0"/>
              <a:buNone/>
              <a:tabLst/>
              <a:defRPr/>
            </a:pP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B2.</a:t>
            </a: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 Embed validity and uniqueness checkpoints (e.g., schema validation, deduplication)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for structured and </a:t>
            </a:r>
            <a:r>
              <a:rPr kumimoji="0" lang="en-US" sz="1200" b="0" i="0" u="none" strike="noStrike" kern="1200" cap="none" spc="0" normalizeH="0" baseline="0" noProof="0">
                <a:ln>
                  <a:noFill/>
                </a:ln>
                <a:solidFill>
                  <a:srgbClr val="005F83"/>
                </a:solidFill>
                <a:effectLst/>
                <a:uLnTx/>
                <a:uFillTx/>
                <a:ea typeface="+mn-ea"/>
                <a:cs typeface="Arial" panose="020B0604020202020204" pitchFamily="34" charset="0"/>
              </a:rPr>
              <a:t>unstructured data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at ingestion to reduce reliance on upstream controls</a:t>
            </a:r>
          </a:p>
        </p:txBody>
      </p:sp>
      <p:sp>
        <p:nvSpPr>
          <p:cNvPr id="50" name="TextBox 49">
            <a:extLst>
              <a:ext uri="{FF2B5EF4-FFF2-40B4-BE49-F238E27FC236}">
                <a16:creationId xmlns:a16="http://schemas.microsoft.com/office/drawing/2014/main" id="{0AB9CEC1-01A9-AE9B-5907-68CFB62FE83F}"/>
              </a:ext>
            </a:extLst>
          </p:cNvPr>
          <p:cNvSpPr txBox="1">
            <a:spLocks/>
          </p:cNvSpPr>
          <p:nvPr/>
        </p:nvSpPr>
        <p:spPr>
          <a:xfrm>
            <a:off x="2057666" y="2884779"/>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
                <a:srgbClr val="000000"/>
              </a:buClr>
              <a:buSzPct val="100000"/>
              <a:buFont typeface="Segoe UI" panose="020B0502040204020203" pitchFamily="34" charset="0"/>
              <a:buNone/>
              <a:tabLst/>
              <a:defRPr/>
            </a:pP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B4.</a:t>
            </a: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 Embed accuracy and consistency checkpoints (e.g., cross-source reconciliation)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for structured and </a:t>
            </a:r>
            <a:r>
              <a:rPr kumimoji="0" lang="en-US" sz="1200" b="0" i="0" u="none" strike="noStrike" kern="1200" cap="none" spc="0" normalizeH="0" baseline="0" noProof="0">
                <a:ln>
                  <a:noFill/>
                </a:ln>
                <a:solidFill>
                  <a:srgbClr val="005F83"/>
                </a:solidFill>
                <a:effectLst/>
                <a:uLnTx/>
                <a:uFillTx/>
                <a:ea typeface="+mn-ea"/>
                <a:cs typeface="Arial" panose="020B0604020202020204" pitchFamily="34" charset="0"/>
              </a:rPr>
              <a:t>unstructured data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at ingestion to reduce reliance on upstream controls</a:t>
            </a:r>
          </a:p>
        </p:txBody>
      </p:sp>
      <p:sp>
        <p:nvSpPr>
          <p:cNvPr id="188" name="TextBox 187">
            <a:extLst>
              <a:ext uri="{FF2B5EF4-FFF2-40B4-BE49-F238E27FC236}">
                <a16:creationId xmlns:a16="http://schemas.microsoft.com/office/drawing/2014/main" id="{F77CFB3A-1AFD-71F0-D3FF-77D9D9E15CB3}"/>
              </a:ext>
            </a:extLst>
          </p:cNvPr>
          <p:cNvSpPr txBox="1">
            <a:spLocks/>
          </p:cNvSpPr>
          <p:nvPr/>
        </p:nvSpPr>
        <p:spPr>
          <a:xfrm>
            <a:off x="2057666" y="3764467"/>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
                <a:srgbClr val="000000"/>
              </a:buClr>
              <a:buSzPct val="100000"/>
              <a:buFont typeface="Segoe UI" panose="020B0502040204020203" pitchFamily="34" charset="0"/>
              <a:buNone/>
              <a:tabLst/>
              <a:defRPr/>
            </a:pP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B6.</a:t>
            </a: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 Embed completeness checkpoints (e.g., null checks, required field validation)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for structured and </a:t>
            </a:r>
            <a:r>
              <a:rPr kumimoji="0" lang="en-US" sz="1200" b="0" i="0" u="none" strike="noStrike" kern="1200" cap="none" spc="0" normalizeH="0" baseline="0" noProof="0">
                <a:ln>
                  <a:noFill/>
                </a:ln>
                <a:solidFill>
                  <a:srgbClr val="005F83"/>
                </a:solidFill>
                <a:effectLst/>
                <a:uLnTx/>
                <a:uFillTx/>
                <a:ea typeface="+mn-ea"/>
                <a:cs typeface="Arial" panose="020B0604020202020204" pitchFamily="34" charset="0"/>
              </a:rPr>
              <a:t>unstructured data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at ingestion to reduce reliance on upstream controls</a:t>
            </a:r>
          </a:p>
        </p:txBody>
      </p:sp>
      <p:sp>
        <p:nvSpPr>
          <p:cNvPr id="191" name="TextBox 190">
            <a:extLst>
              <a:ext uri="{FF2B5EF4-FFF2-40B4-BE49-F238E27FC236}">
                <a16:creationId xmlns:a16="http://schemas.microsoft.com/office/drawing/2014/main" id="{47FBFB58-D201-2974-3865-7374F70DA203}"/>
              </a:ext>
            </a:extLst>
          </p:cNvPr>
          <p:cNvSpPr txBox="1">
            <a:spLocks/>
          </p:cNvSpPr>
          <p:nvPr/>
        </p:nvSpPr>
        <p:spPr>
          <a:xfrm>
            <a:off x="2057666" y="4644155"/>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
                <a:srgbClr val="000000"/>
              </a:buClr>
              <a:buSzPct val="100000"/>
              <a:buFont typeface="Segoe UI" panose="020B0502040204020203" pitchFamily="34" charset="0"/>
              <a:buNone/>
              <a:tabLst/>
              <a:defRPr/>
            </a:pP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B8.</a:t>
            </a: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 Embed freshness checkpoints (e.g., stale record detection, record age thresholds) </a:t>
            </a:r>
            <a:r>
              <a:rPr kumimoji="0" lang="en-US" sz="1200" i="0" u="none" strike="noStrike" kern="1200" cap="none" spc="0" normalizeH="0" baseline="0" noProof="0">
                <a:ln>
                  <a:noFill/>
                </a:ln>
                <a:solidFill>
                  <a:srgbClr val="000000"/>
                </a:solidFill>
                <a:effectLst/>
                <a:uLnTx/>
                <a:uFillTx/>
                <a:ea typeface="+mn-ea"/>
                <a:cs typeface="Arial" panose="020B0604020202020204" pitchFamily="34" charset="0"/>
              </a:rPr>
              <a:t>for structured and unstructured data at ingestion to reduce reliance on upstream controls</a:t>
            </a:r>
          </a:p>
        </p:txBody>
      </p:sp>
      <p:sp>
        <p:nvSpPr>
          <p:cNvPr id="196" name="TextBox 195">
            <a:extLst>
              <a:ext uri="{FF2B5EF4-FFF2-40B4-BE49-F238E27FC236}">
                <a16:creationId xmlns:a16="http://schemas.microsoft.com/office/drawing/2014/main" id="{B8EE4670-540F-3C83-BBE9-8741BD64B9BE}"/>
              </a:ext>
            </a:extLst>
          </p:cNvPr>
          <p:cNvSpPr txBox="1">
            <a:spLocks/>
          </p:cNvSpPr>
          <p:nvPr/>
        </p:nvSpPr>
        <p:spPr>
          <a:xfrm>
            <a:off x="2057666" y="5523841"/>
            <a:ext cx="9467584"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300"/>
              </a:spcAft>
              <a:buClr>
                <a:srgbClr val="000000"/>
              </a:buClr>
              <a:buSzPct val="100000"/>
              <a:buFont typeface="Segoe UI" panose="020B0502040204020203" pitchFamily="34" charset="0"/>
              <a:buNone/>
              <a:tabLst/>
              <a:defRPr/>
            </a:pP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B10.</a:t>
            </a: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 Embed sensitivity tags (e.g., PII, corporate IP, financial records)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for structured and </a:t>
            </a:r>
            <a:r>
              <a:rPr kumimoji="0" lang="en-US" sz="1200" b="0" i="0" u="none" strike="noStrike" kern="1200" cap="none" spc="0" normalizeH="0" baseline="0" noProof="0">
                <a:ln>
                  <a:noFill/>
                </a:ln>
                <a:solidFill>
                  <a:srgbClr val="005F83"/>
                </a:solidFill>
                <a:effectLst/>
                <a:uLnTx/>
                <a:uFillTx/>
                <a:ea typeface="+mn-ea"/>
                <a:cs typeface="Arial" panose="020B0604020202020204" pitchFamily="34" charset="0"/>
              </a:rPr>
              <a:t>unstructured data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at ingestion to reduce reliance on upstream controls</a:t>
            </a:r>
          </a:p>
        </p:txBody>
      </p:sp>
      <p:grpSp>
        <p:nvGrpSpPr>
          <p:cNvPr id="17" name="Group 16">
            <a:extLst>
              <a:ext uri="{FF2B5EF4-FFF2-40B4-BE49-F238E27FC236}">
                <a16:creationId xmlns:a16="http://schemas.microsoft.com/office/drawing/2014/main" id="{E201355B-F3A8-8E5B-1420-C305E1623D75}"/>
              </a:ext>
            </a:extLst>
          </p:cNvPr>
          <p:cNvGrpSpPr/>
          <p:nvPr/>
        </p:nvGrpSpPr>
        <p:grpSpPr>
          <a:xfrm>
            <a:off x="7726791" y="1006853"/>
            <a:ext cx="3910473" cy="153888"/>
            <a:chOff x="7726791" y="834858"/>
            <a:chExt cx="3910473" cy="153888"/>
          </a:xfrm>
        </p:grpSpPr>
        <p:sp>
          <p:nvSpPr>
            <p:cNvPr id="3" name="TextBox 73">
              <a:extLst>
                <a:ext uri="{FF2B5EF4-FFF2-40B4-BE49-F238E27FC236}">
                  <a16:creationId xmlns:a16="http://schemas.microsoft.com/office/drawing/2014/main" id="{345BE71B-1D76-6476-F00D-034250D3A14E}"/>
                </a:ext>
              </a:extLst>
            </p:cNvPr>
            <p:cNvSpPr txBox="1"/>
            <p:nvPr/>
          </p:nvSpPr>
          <p:spPr>
            <a:xfrm>
              <a:off x="10017530" y="834858"/>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5" name="TextBox 74">
              <a:extLst>
                <a:ext uri="{FF2B5EF4-FFF2-40B4-BE49-F238E27FC236}">
                  <a16:creationId xmlns:a16="http://schemas.microsoft.com/office/drawing/2014/main" id="{8E3D7E80-3E00-0C9B-22CF-B79D3F4F6DFE}"/>
                </a:ext>
              </a:extLst>
            </p:cNvPr>
            <p:cNvSpPr txBox="1"/>
            <p:nvPr/>
          </p:nvSpPr>
          <p:spPr>
            <a:xfrm>
              <a:off x="10285932" y="834858"/>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7" name="TextBox 6">
              <a:extLst>
                <a:ext uri="{FF2B5EF4-FFF2-40B4-BE49-F238E27FC236}">
                  <a16:creationId xmlns:a16="http://schemas.microsoft.com/office/drawing/2014/main" id="{E0594FB7-E156-FBE1-B135-6A6362C325AD}"/>
                </a:ext>
              </a:extLst>
            </p:cNvPr>
            <p:cNvSpPr txBox="1"/>
            <p:nvPr/>
          </p:nvSpPr>
          <p:spPr>
            <a:xfrm>
              <a:off x="7925653" y="834858"/>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8" name="Rectangle 7">
              <a:extLst>
                <a:ext uri="{FF2B5EF4-FFF2-40B4-BE49-F238E27FC236}">
                  <a16:creationId xmlns:a16="http://schemas.microsoft.com/office/drawing/2014/main" id="{0DD3F276-C118-C643-18A5-EAB3651FA9D1}"/>
                </a:ext>
              </a:extLst>
            </p:cNvPr>
            <p:cNvSpPr>
              <a:spLocks/>
            </p:cNvSpPr>
            <p:nvPr/>
          </p:nvSpPr>
          <p:spPr>
            <a:xfrm>
              <a:off x="7726791" y="840774"/>
              <a:ext cx="142055" cy="142055"/>
            </a:xfrm>
            <a:prstGeom prst="rect">
              <a:avLst/>
            </a:prstGeom>
            <a:solidFill>
              <a:schemeClr val="accent2">
                <a:lumMod val="20000"/>
                <a:lumOff val="80000"/>
              </a:schemeClr>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cxnSp>
        <p:nvCxnSpPr>
          <p:cNvPr id="9" name="Straight Connector 8">
            <a:extLst>
              <a:ext uri="{FF2B5EF4-FFF2-40B4-BE49-F238E27FC236}">
                <a16:creationId xmlns:a16="http://schemas.microsoft.com/office/drawing/2014/main" id="{EB62BB16-92C4-E753-3A9F-39458E7C79D1}"/>
              </a:ext>
            </a:extLst>
          </p:cNvPr>
          <p:cNvCxnSpPr>
            <a:cxnSpLocks/>
          </p:cNvCxnSpPr>
          <p:nvPr>
            <p:custDataLst>
              <p:tags r:id="rId13"/>
            </p:custDataLst>
          </p:nvPr>
        </p:nvCxnSpPr>
        <p:spPr>
          <a:xfrm>
            <a:off x="554737" y="1529271"/>
            <a:ext cx="11080051" cy="31955"/>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6B3FC3-5D4A-E4FF-5C8A-BB7082C4520A}"/>
              </a:ext>
            </a:extLst>
          </p:cNvPr>
          <p:cNvSpPr txBox="1">
            <a:spLocks/>
          </p:cNvSpPr>
          <p:nvPr/>
        </p:nvSpPr>
        <p:spPr>
          <a:xfrm>
            <a:off x="554736" y="1068486"/>
            <a:ext cx="1312164" cy="43088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Sub-</a:t>
            </a:r>
            <a:br>
              <a:rPr lang="en-US" sz="1400" b="1"/>
            </a:br>
            <a:r>
              <a:rPr lang="en-US" sz="1400" b="1"/>
              <a:t>Dimension</a:t>
            </a:r>
          </a:p>
        </p:txBody>
      </p:sp>
      <p:sp>
        <p:nvSpPr>
          <p:cNvPr id="11" name="TextBox 10">
            <a:extLst>
              <a:ext uri="{FF2B5EF4-FFF2-40B4-BE49-F238E27FC236}">
                <a16:creationId xmlns:a16="http://schemas.microsoft.com/office/drawing/2014/main" id="{154C0678-06BA-40DE-E70E-5747A469CCF5}"/>
              </a:ext>
            </a:extLst>
          </p:cNvPr>
          <p:cNvSpPr txBox="1">
            <a:spLocks/>
          </p:cNvSpPr>
          <p:nvPr/>
        </p:nvSpPr>
        <p:spPr>
          <a:xfrm>
            <a:off x="2057666" y="1283929"/>
            <a:ext cx="7651120"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Potential actions</a:t>
            </a:r>
          </a:p>
        </p:txBody>
      </p:sp>
      <p:sp>
        <p:nvSpPr>
          <p:cNvPr id="14" name="Rectangle 13">
            <a:extLst>
              <a:ext uri="{FF2B5EF4-FFF2-40B4-BE49-F238E27FC236}">
                <a16:creationId xmlns:a16="http://schemas.microsoft.com/office/drawing/2014/main" id="{8971B2B8-042A-4B04-ABA4-8AD998B9B487}"/>
              </a:ext>
            </a:extLst>
          </p:cNvPr>
          <p:cNvSpPr>
            <a:spLocks/>
          </p:cNvSpPr>
          <p:nvPr>
            <p:custDataLst>
              <p:tags r:id="rId14"/>
            </p:custDataLst>
          </p:nvPr>
        </p:nvSpPr>
        <p:spPr>
          <a:xfrm>
            <a:off x="554736" y="5989151"/>
            <a:ext cx="11082528" cy="480417"/>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Policy related changes would be led by  ... </a:t>
            </a:r>
            <a:r>
              <a:rPr lang="en-US" sz="1200" dirty="0">
                <a:solidFill>
                  <a:schemeClr val="bg1"/>
                </a:solidFill>
                <a:latin typeface="Arial" panose="020B0604020202020204" pitchFamily="34" charset="0"/>
                <a:cs typeface="Arial" panose="020B0604020202020204" pitchFamily="34" charset="0"/>
              </a:rPr>
              <a:t>with support from the relevant SMEs (e.g.,  ...)</a:t>
            </a:r>
          </a:p>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Potential actions listed will be prioritized, refined, and sequenced </a:t>
            </a:r>
            <a:r>
              <a:rPr lang="en-US" sz="1200" dirty="0">
                <a:solidFill>
                  <a:schemeClr val="bg1"/>
                </a:solidFill>
                <a:latin typeface="Arial" panose="020B0604020202020204" pitchFamily="34" charset="0"/>
                <a:cs typeface="Arial" panose="020B0604020202020204" pitchFamily="34" charset="0"/>
              </a:rPr>
              <a:t>during the upcoming Identify &amp; Focus phase</a:t>
            </a:r>
          </a:p>
        </p:txBody>
      </p:sp>
    </p:spTree>
    <p:custDataLst>
      <p:tags r:id="rId1"/>
    </p:custDataLst>
    <p:extLst>
      <p:ext uri="{BB962C8B-B14F-4D97-AF65-F5344CB8AC3E}">
        <p14:creationId xmlns:p14="http://schemas.microsoft.com/office/powerpoint/2010/main" val="2242066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Object 6" hidden="1">
            <a:extLst>
              <a:ext uri="{FF2B5EF4-FFF2-40B4-BE49-F238E27FC236}">
                <a16:creationId xmlns:a16="http://schemas.microsoft.com/office/drawing/2014/main" id="{B9BF486E-0D33-604C-551A-C9B5AF7914E6}"/>
              </a:ext>
            </a:extLst>
          </p:cNvPr>
          <p:cNvGraphicFramePr>
            <a:graphicFrameLocks noChangeAspect="1"/>
          </p:cNvGraphicFramePr>
          <p:nvPr>
            <p:custDataLst>
              <p:tags r:id="rId2"/>
            </p:custDataLst>
            <p:extLst>
              <p:ext uri="{D42A27DB-BD31-4B8C-83A1-F6EECF244321}">
                <p14:modId xmlns:p14="http://schemas.microsoft.com/office/powerpoint/2010/main" val="2731849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4" imgH="405" progId="TCLayout.ActiveDocument.1">
                  <p:embed/>
                </p:oleObj>
              </mc:Choice>
              <mc:Fallback>
                <p:oleObj name="think-cell Slide" r:id="rId13" imgW="404" imgH="405" progId="TCLayout.ActiveDocument.1">
                  <p:embed/>
                  <p:pic>
                    <p:nvPicPr>
                      <p:cNvPr id="71" name="Object 6" hidden="1">
                        <a:extLst>
                          <a:ext uri="{FF2B5EF4-FFF2-40B4-BE49-F238E27FC236}">
                            <a16:creationId xmlns:a16="http://schemas.microsoft.com/office/drawing/2014/main" id="{B9BF486E-0D33-604C-551A-C9B5AF7914E6}"/>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C31BF2EE-EE88-267A-65E6-B2FC830FBF33}"/>
              </a:ext>
            </a:extLst>
          </p:cNvPr>
          <p:cNvSpPr>
            <a:spLocks noGrp="1"/>
          </p:cNvSpPr>
          <p:nvPr>
            <p:ph type="title"/>
            <p:custDataLst>
              <p:tags r:id="rId3"/>
            </p:custDataLst>
          </p:nvPr>
        </p:nvSpPr>
        <p:spPr/>
        <p:txBody>
          <a:bodyPr vert="horz">
            <a:noAutofit/>
          </a:bodyPr>
          <a:lstStyle/>
          <a:p>
            <a:r>
              <a:rPr lang="en-US"/>
              <a:t>C. Potential actions for Metadata Management</a:t>
            </a:r>
          </a:p>
        </p:txBody>
      </p:sp>
      <p:sp>
        <p:nvSpPr>
          <p:cNvPr id="20" name="Text Placeholder 19">
            <a:extLst>
              <a:ext uri="{FF2B5EF4-FFF2-40B4-BE49-F238E27FC236}">
                <a16:creationId xmlns:a16="http://schemas.microsoft.com/office/drawing/2014/main" id="{2B740DF3-9887-F7A9-2268-BC9B4F4AC828}"/>
              </a:ext>
            </a:extLst>
          </p:cNvPr>
          <p:cNvSpPr>
            <a:spLocks noGrp="1"/>
          </p:cNvSpPr>
          <p:nvPr>
            <p:ph type="body" sz="quarter" idx="17"/>
          </p:nvPr>
        </p:nvSpPr>
        <p:spPr/>
        <p:txBody>
          <a:bodyPr/>
          <a:lstStyle/>
          <a:p>
            <a:endParaRPr lang="en-US"/>
          </a:p>
        </p:txBody>
      </p:sp>
      <p:sp>
        <p:nvSpPr>
          <p:cNvPr id="65" name="Rectangle 64">
            <a:extLst>
              <a:ext uri="{FF2B5EF4-FFF2-40B4-BE49-F238E27FC236}">
                <a16:creationId xmlns:a16="http://schemas.microsoft.com/office/drawing/2014/main" id="{C500687C-21EB-BE72-76CD-34F3B8B19D2D}"/>
              </a:ext>
            </a:extLst>
          </p:cNvPr>
          <p:cNvSpPr>
            <a:spLocks/>
          </p:cNvSpPr>
          <p:nvPr/>
        </p:nvSpPr>
        <p:spPr>
          <a:xfrm>
            <a:off x="527900" y="3291652"/>
            <a:ext cx="11109362" cy="627092"/>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4" name="Rectangle 63">
            <a:extLst>
              <a:ext uri="{FF2B5EF4-FFF2-40B4-BE49-F238E27FC236}">
                <a16:creationId xmlns:a16="http://schemas.microsoft.com/office/drawing/2014/main" id="{54DDC5CA-A578-2ACA-AB6E-FD1D35AD1DB9}"/>
              </a:ext>
            </a:extLst>
          </p:cNvPr>
          <p:cNvSpPr>
            <a:spLocks/>
          </p:cNvSpPr>
          <p:nvPr/>
        </p:nvSpPr>
        <p:spPr>
          <a:xfrm>
            <a:off x="527901" y="1529271"/>
            <a:ext cx="11109362" cy="1145686"/>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6" name="Straight Connector 5">
            <a:extLst>
              <a:ext uri="{FF2B5EF4-FFF2-40B4-BE49-F238E27FC236}">
                <a16:creationId xmlns:a16="http://schemas.microsoft.com/office/drawing/2014/main" id="{5121F0AD-A760-B88B-52A3-80EE682D8225}"/>
              </a:ext>
            </a:extLst>
          </p:cNvPr>
          <p:cNvCxnSpPr>
            <a:cxnSpLocks/>
          </p:cNvCxnSpPr>
          <p:nvPr>
            <p:custDataLst>
              <p:tags r:id="rId4"/>
            </p:custDataLst>
          </p:nvPr>
        </p:nvCxnSpPr>
        <p:spPr>
          <a:xfrm>
            <a:off x="554737" y="2058261"/>
            <a:ext cx="11082527"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6643631-EF38-4FF5-DE2B-4406553A4C5E}"/>
              </a:ext>
            </a:extLst>
          </p:cNvPr>
          <p:cNvCxnSpPr>
            <a:cxnSpLocks/>
          </p:cNvCxnSpPr>
          <p:nvPr>
            <p:custDataLst>
              <p:tags r:id="rId5"/>
            </p:custDataLst>
          </p:nvPr>
        </p:nvCxnSpPr>
        <p:spPr>
          <a:xfrm>
            <a:off x="554737" y="2674957"/>
            <a:ext cx="11082527"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B35BF8E-19D1-2A44-B8A0-A1AB7C2E5B01}"/>
              </a:ext>
            </a:extLst>
          </p:cNvPr>
          <p:cNvCxnSpPr>
            <a:cxnSpLocks/>
          </p:cNvCxnSpPr>
          <p:nvPr>
            <p:custDataLst>
              <p:tags r:id="rId6"/>
            </p:custDataLst>
          </p:nvPr>
        </p:nvCxnSpPr>
        <p:spPr>
          <a:xfrm>
            <a:off x="554737" y="3291653"/>
            <a:ext cx="11082527"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FEBC97C-EA06-7AB2-DC7B-5DF8D8268547}"/>
              </a:ext>
            </a:extLst>
          </p:cNvPr>
          <p:cNvSpPr txBox="1">
            <a:spLocks/>
          </p:cNvSpPr>
          <p:nvPr/>
        </p:nvSpPr>
        <p:spPr>
          <a:xfrm>
            <a:off x="554736" y="3415337"/>
            <a:ext cx="13121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latin typeface="+mj-lt"/>
              </a:rPr>
              <a:t>Context tags</a:t>
            </a:r>
            <a:endParaRPr kumimoji="0" lang="en-US" sz="1200" b="1" i="0" u="none" strike="noStrike" kern="1200" cap="none" spc="0" normalizeH="0" baseline="0" noProof="0">
              <a:ln>
                <a:noFill/>
              </a:ln>
              <a:solidFill>
                <a:srgbClr val="000000"/>
              </a:solidFill>
              <a:effectLst/>
              <a:uLnTx/>
              <a:uFillTx/>
              <a:latin typeface="+mj-lt"/>
            </a:endParaRPr>
          </a:p>
        </p:txBody>
      </p:sp>
      <p:sp>
        <p:nvSpPr>
          <p:cNvPr id="38" name="TextBox 37">
            <a:extLst>
              <a:ext uri="{FF2B5EF4-FFF2-40B4-BE49-F238E27FC236}">
                <a16:creationId xmlns:a16="http://schemas.microsoft.com/office/drawing/2014/main" id="{54DA6CB7-2BB8-8E8C-E519-C148931CCC7F}"/>
              </a:ext>
            </a:extLst>
          </p:cNvPr>
          <p:cNvSpPr txBox="1">
            <a:spLocks/>
          </p:cNvSpPr>
          <p:nvPr/>
        </p:nvSpPr>
        <p:spPr>
          <a:xfrm>
            <a:off x="2057666" y="3415337"/>
            <a:ext cx="9362810"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C4. </a:t>
            </a:r>
            <a:r>
              <a:rPr lang="en-US" b="1"/>
              <a:t>[Policy]</a:t>
            </a:r>
            <a:r>
              <a:rPr lang="en-US"/>
              <a:t> </a:t>
            </a:r>
            <a:r>
              <a:rPr lang="en-US" b="1">
                <a:solidFill>
                  <a:srgbClr val="000000"/>
                </a:solidFill>
                <a:latin typeface="Arial" panose="020B0604020202020204" pitchFamily="34" charset="0"/>
                <a:sym typeface=""/>
              </a:rPr>
              <a:t>Establish context tagging standards </a:t>
            </a:r>
            <a:r>
              <a:rPr lang="en-US">
                <a:solidFill>
                  <a:srgbClr val="000000"/>
                </a:solidFill>
                <a:latin typeface="Arial" panose="020B0604020202020204" pitchFamily="34" charset="0"/>
                <a:sym typeface=""/>
              </a:rPr>
              <a:t>(e.g., tag data as client, account)</a:t>
            </a:r>
            <a:endParaRPr lang="en-US">
              <a:solidFill>
                <a:schemeClr val="accent1"/>
              </a:solidFill>
              <a:latin typeface="+mj-lt"/>
            </a:endParaRPr>
          </a:p>
        </p:txBody>
      </p:sp>
      <p:sp>
        <p:nvSpPr>
          <p:cNvPr id="26" name="TextBox 25">
            <a:extLst>
              <a:ext uri="{FF2B5EF4-FFF2-40B4-BE49-F238E27FC236}">
                <a16:creationId xmlns:a16="http://schemas.microsoft.com/office/drawing/2014/main" id="{B9153433-49D0-01F4-9FB4-FEC1FBA735E3}"/>
              </a:ext>
            </a:extLst>
          </p:cNvPr>
          <p:cNvSpPr txBox="1">
            <a:spLocks/>
          </p:cNvSpPr>
          <p:nvPr/>
        </p:nvSpPr>
        <p:spPr>
          <a:xfrm>
            <a:off x="554736" y="2798639"/>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latin typeface="+mj-lt"/>
              </a:rPr>
              <a:t>Schemas and data contracts</a:t>
            </a:r>
            <a:endParaRPr kumimoji="0" lang="en-US" sz="1200" b="1" i="0" u="none" strike="noStrike" kern="1200" cap="none" spc="0" normalizeH="0" baseline="0" noProof="0">
              <a:ln>
                <a:noFill/>
              </a:ln>
              <a:solidFill>
                <a:srgbClr val="000000"/>
              </a:solidFill>
              <a:effectLst/>
              <a:uLnTx/>
              <a:uFillTx/>
              <a:latin typeface="+mj-lt"/>
            </a:endParaRPr>
          </a:p>
        </p:txBody>
      </p:sp>
      <p:sp>
        <p:nvSpPr>
          <p:cNvPr id="28" name="TextBox 27">
            <a:extLst>
              <a:ext uri="{FF2B5EF4-FFF2-40B4-BE49-F238E27FC236}">
                <a16:creationId xmlns:a16="http://schemas.microsoft.com/office/drawing/2014/main" id="{1279B42A-E975-39D7-21BA-42DF5892E735}"/>
              </a:ext>
            </a:extLst>
          </p:cNvPr>
          <p:cNvSpPr txBox="1">
            <a:spLocks/>
          </p:cNvSpPr>
          <p:nvPr/>
        </p:nvSpPr>
        <p:spPr>
          <a:xfrm>
            <a:off x="2057666" y="2798639"/>
            <a:ext cx="9362810"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C3. </a:t>
            </a:r>
            <a:r>
              <a:rPr lang="en-US" b="1">
                <a:solidFill>
                  <a:srgbClr val="000000"/>
                </a:solidFill>
              </a:rPr>
              <a:t>[Policy] </a:t>
            </a:r>
            <a:r>
              <a:rPr lang="en-US">
                <a:solidFill>
                  <a:srgbClr val="000000"/>
                </a:solidFill>
                <a:sym typeface=""/>
              </a:rPr>
              <a:t>Define schema, contract rules (e.g., standardized fields, required metadata) and enforcement op. model </a:t>
            </a:r>
            <a:r>
              <a:rPr lang="en-US"/>
              <a:t>across structured and </a:t>
            </a:r>
            <a:r>
              <a:rPr lang="en-US">
                <a:solidFill>
                  <a:schemeClr val="accent1"/>
                </a:solidFill>
              </a:rPr>
              <a:t>unstructured data</a:t>
            </a:r>
          </a:p>
        </p:txBody>
      </p:sp>
      <p:sp>
        <p:nvSpPr>
          <p:cNvPr id="16" name="TextBox 15">
            <a:extLst>
              <a:ext uri="{FF2B5EF4-FFF2-40B4-BE49-F238E27FC236}">
                <a16:creationId xmlns:a16="http://schemas.microsoft.com/office/drawing/2014/main" id="{E614FC4C-9DEF-F4AA-9829-211FFA6175BE}"/>
              </a:ext>
            </a:extLst>
          </p:cNvPr>
          <p:cNvSpPr txBox="1">
            <a:spLocks/>
          </p:cNvSpPr>
          <p:nvPr/>
        </p:nvSpPr>
        <p:spPr>
          <a:xfrm>
            <a:off x="554736" y="2181943"/>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latin typeface="+mj-lt"/>
              </a:rPr>
              <a:t>Knowledge</a:t>
            </a:r>
            <a:r>
              <a:rPr lang="en-US" sz="1200">
                <a:latin typeface="+mj-lt"/>
              </a:rPr>
              <a:t> </a:t>
            </a:r>
            <a:r>
              <a:rPr lang="en-US" sz="1200" b="1">
                <a:latin typeface="+mj-lt"/>
              </a:rPr>
              <a:t>Management</a:t>
            </a:r>
            <a:endParaRPr kumimoji="0" lang="en-US" sz="1200" b="1" i="0" u="none" strike="noStrike" kern="1200" cap="none" spc="0" normalizeH="0" baseline="0" noProof="0">
              <a:ln>
                <a:noFill/>
              </a:ln>
              <a:solidFill>
                <a:srgbClr val="000000"/>
              </a:solidFill>
              <a:effectLst/>
              <a:uLnTx/>
              <a:uFillTx/>
              <a:latin typeface="+mj-lt"/>
            </a:endParaRPr>
          </a:p>
        </p:txBody>
      </p:sp>
      <p:sp>
        <p:nvSpPr>
          <p:cNvPr id="18" name="TextBox 17">
            <a:extLst>
              <a:ext uri="{FF2B5EF4-FFF2-40B4-BE49-F238E27FC236}">
                <a16:creationId xmlns:a16="http://schemas.microsoft.com/office/drawing/2014/main" id="{7878895B-FAC7-E582-22A8-0B745C07AC7B}"/>
              </a:ext>
            </a:extLst>
          </p:cNvPr>
          <p:cNvSpPr txBox="1">
            <a:spLocks/>
          </p:cNvSpPr>
          <p:nvPr/>
        </p:nvSpPr>
        <p:spPr>
          <a:xfrm>
            <a:off x="2057666" y="2181943"/>
            <a:ext cx="9362810"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solidFill>
                  <a:schemeClr val="accent1"/>
                </a:solidFill>
              </a:rPr>
              <a:t>C2. </a:t>
            </a:r>
            <a:r>
              <a:rPr lang="en-US" b="1">
                <a:solidFill>
                  <a:schemeClr val="accent1"/>
                </a:solidFill>
              </a:rPr>
              <a:t>Develop an enterprise concept model</a:t>
            </a:r>
            <a:r>
              <a:rPr lang="en-US">
                <a:solidFill>
                  <a:schemeClr val="accent1"/>
                </a:solidFill>
              </a:rPr>
              <a:t> linking structured and unstructured data</a:t>
            </a:r>
            <a:endParaRPr lang="en-US">
              <a:solidFill>
                <a:schemeClr val="accent1"/>
              </a:solidFill>
              <a:latin typeface="+mj-lt"/>
            </a:endParaRPr>
          </a:p>
        </p:txBody>
      </p:sp>
      <p:sp>
        <p:nvSpPr>
          <p:cNvPr id="10" name="TextBox 9">
            <a:extLst>
              <a:ext uri="{FF2B5EF4-FFF2-40B4-BE49-F238E27FC236}">
                <a16:creationId xmlns:a16="http://schemas.microsoft.com/office/drawing/2014/main" id="{50E6F862-C356-3D3C-1821-C9F20AC36DA7}"/>
              </a:ext>
            </a:extLst>
          </p:cNvPr>
          <p:cNvSpPr txBox="1">
            <a:spLocks/>
          </p:cNvSpPr>
          <p:nvPr/>
        </p:nvSpPr>
        <p:spPr>
          <a:xfrm>
            <a:off x="554736" y="1565247"/>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latin typeface="+mj-lt"/>
              </a:rPr>
              <a:t>Catalog and glossary</a:t>
            </a:r>
          </a:p>
        </p:txBody>
      </p:sp>
      <p:sp>
        <p:nvSpPr>
          <p:cNvPr id="12" name="TextBox 11">
            <a:extLst>
              <a:ext uri="{FF2B5EF4-FFF2-40B4-BE49-F238E27FC236}">
                <a16:creationId xmlns:a16="http://schemas.microsoft.com/office/drawing/2014/main" id="{6AFD09B4-764F-CB9D-2557-2DD4E3D7CE8C}"/>
              </a:ext>
            </a:extLst>
          </p:cNvPr>
          <p:cNvSpPr txBox="1">
            <a:spLocks/>
          </p:cNvSpPr>
          <p:nvPr/>
        </p:nvSpPr>
        <p:spPr>
          <a:xfrm>
            <a:off x="2057666" y="1565247"/>
            <a:ext cx="9362810"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t>C1. </a:t>
            </a:r>
            <a:r>
              <a:rPr lang="en-US" sz="1200" b="1"/>
              <a:t>Build a centralized enterprise catalog</a:t>
            </a:r>
            <a:r>
              <a:rPr lang="en-US" sz="1200"/>
              <a:t> spanning structured and </a:t>
            </a:r>
            <a:r>
              <a:rPr lang="en-US" sz="1200">
                <a:solidFill>
                  <a:schemeClr val="accent1"/>
                </a:solidFill>
              </a:rPr>
              <a:t>unstructured </a:t>
            </a:r>
            <a:r>
              <a:rPr lang="en-US" sz="1200">
                <a:solidFill>
                  <a:schemeClr val="tx1"/>
                </a:solidFill>
              </a:rPr>
              <a:t>data</a:t>
            </a:r>
          </a:p>
        </p:txBody>
      </p:sp>
      <p:grpSp>
        <p:nvGrpSpPr>
          <p:cNvPr id="34" name="Group 33">
            <a:extLst>
              <a:ext uri="{FF2B5EF4-FFF2-40B4-BE49-F238E27FC236}">
                <a16:creationId xmlns:a16="http://schemas.microsoft.com/office/drawing/2014/main" id="{DFA4D363-AAE1-985C-D9BE-9553EF6667BB}"/>
              </a:ext>
            </a:extLst>
          </p:cNvPr>
          <p:cNvGrpSpPr/>
          <p:nvPr/>
        </p:nvGrpSpPr>
        <p:grpSpPr>
          <a:xfrm>
            <a:off x="7726791" y="1006853"/>
            <a:ext cx="3910473" cy="153888"/>
            <a:chOff x="7726791" y="1006853"/>
            <a:chExt cx="3910473" cy="153888"/>
          </a:xfrm>
        </p:grpSpPr>
        <p:sp>
          <p:nvSpPr>
            <p:cNvPr id="3" name="TextBox 73">
              <a:extLst>
                <a:ext uri="{FF2B5EF4-FFF2-40B4-BE49-F238E27FC236}">
                  <a16:creationId xmlns:a16="http://schemas.microsoft.com/office/drawing/2014/main" id="{D54680CA-B726-7F3D-E6DD-AF32DF398749}"/>
                </a:ext>
              </a:extLst>
            </p:cNvPr>
            <p:cNvSpPr txBox="1"/>
            <p:nvPr/>
          </p:nvSpPr>
          <p:spPr>
            <a:xfrm>
              <a:off x="10017530" y="1006853"/>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5" name="TextBox 74">
              <a:extLst>
                <a:ext uri="{FF2B5EF4-FFF2-40B4-BE49-F238E27FC236}">
                  <a16:creationId xmlns:a16="http://schemas.microsoft.com/office/drawing/2014/main" id="{4D5A55A4-D2D2-EB1C-38A1-073040B92139}"/>
                </a:ext>
              </a:extLst>
            </p:cNvPr>
            <p:cNvSpPr txBox="1"/>
            <p:nvPr/>
          </p:nvSpPr>
          <p:spPr>
            <a:xfrm>
              <a:off x="10285932" y="1006853"/>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9" name="TextBox 8">
              <a:extLst>
                <a:ext uri="{FF2B5EF4-FFF2-40B4-BE49-F238E27FC236}">
                  <a16:creationId xmlns:a16="http://schemas.microsoft.com/office/drawing/2014/main" id="{0FC1B660-8305-1D0D-F730-8FA6DA73C568}"/>
                </a:ext>
              </a:extLst>
            </p:cNvPr>
            <p:cNvSpPr txBox="1"/>
            <p:nvPr/>
          </p:nvSpPr>
          <p:spPr>
            <a:xfrm>
              <a:off x="7925653" y="1006853"/>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11" name="Rectangle 10">
              <a:extLst>
                <a:ext uri="{FF2B5EF4-FFF2-40B4-BE49-F238E27FC236}">
                  <a16:creationId xmlns:a16="http://schemas.microsoft.com/office/drawing/2014/main" id="{D17884A9-11B7-EAB1-B856-808373AB5AEC}"/>
                </a:ext>
              </a:extLst>
            </p:cNvPr>
            <p:cNvSpPr>
              <a:spLocks/>
            </p:cNvSpPr>
            <p:nvPr/>
          </p:nvSpPr>
          <p:spPr>
            <a:xfrm>
              <a:off x="7726791" y="1012769"/>
              <a:ext cx="142055" cy="142055"/>
            </a:xfrm>
            <a:prstGeom prst="rect">
              <a:avLst/>
            </a:prstGeom>
            <a:solidFill>
              <a:schemeClr val="accent2">
                <a:lumMod val="20000"/>
                <a:lumOff val="80000"/>
              </a:schemeClr>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cxnSp>
        <p:nvCxnSpPr>
          <p:cNvPr id="13" name="Straight Connector 12">
            <a:extLst>
              <a:ext uri="{FF2B5EF4-FFF2-40B4-BE49-F238E27FC236}">
                <a16:creationId xmlns:a16="http://schemas.microsoft.com/office/drawing/2014/main" id="{49ED5C93-CDDD-E00C-1137-101C0B0AAFEB}"/>
              </a:ext>
            </a:extLst>
          </p:cNvPr>
          <p:cNvCxnSpPr>
            <a:cxnSpLocks/>
          </p:cNvCxnSpPr>
          <p:nvPr>
            <p:custDataLst>
              <p:tags r:id="rId7"/>
            </p:custDataLst>
          </p:nvPr>
        </p:nvCxnSpPr>
        <p:spPr>
          <a:xfrm>
            <a:off x="554737" y="1529271"/>
            <a:ext cx="11082527"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81A4E35-9B9D-44A7-2A49-117DB78CA32A}"/>
              </a:ext>
            </a:extLst>
          </p:cNvPr>
          <p:cNvSpPr txBox="1">
            <a:spLocks/>
          </p:cNvSpPr>
          <p:nvPr/>
        </p:nvSpPr>
        <p:spPr>
          <a:xfrm>
            <a:off x="554736" y="1068486"/>
            <a:ext cx="1312164" cy="43088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Sub-</a:t>
            </a:r>
            <a:br>
              <a:rPr lang="en-US" sz="1400" b="1"/>
            </a:br>
            <a:r>
              <a:rPr lang="en-US" sz="1400" b="1"/>
              <a:t>Dimension</a:t>
            </a:r>
          </a:p>
        </p:txBody>
      </p:sp>
      <p:sp>
        <p:nvSpPr>
          <p:cNvPr id="15" name="TextBox 14">
            <a:extLst>
              <a:ext uri="{FF2B5EF4-FFF2-40B4-BE49-F238E27FC236}">
                <a16:creationId xmlns:a16="http://schemas.microsoft.com/office/drawing/2014/main" id="{95A930A5-59CF-1ABD-D81F-6435A0E0FB10}"/>
              </a:ext>
            </a:extLst>
          </p:cNvPr>
          <p:cNvSpPr txBox="1">
            <a:spLocks/>
          </p:cNvSpPr>
          <p:nvPr/>
        </p:nvSpPr>
        <p:spPr>
          <a:xfrm>
            <a:off x="2057666" y="1283929"/>
            <a:ext cx="7651120"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Potential actions</a:t>
            </a:r>
          </a:p>
        </p:txBody>
      </p:sp>
      <p:cxnSp>
        <p:nvCxnSpPr>
          <p:cNvPr id="21" name="Straight Connector 20">
            <a:extLst>
              <a:ext uri="{FF2B5EF4-FFF2-40B4-BE49-F238E27FC236}">
                <a16:creationId xmlns:a16="http://schemas.microsoft.com/office/drawing/2014/main" id="{FA8C4F6A-5812-2C19-4C1B-8A8511A026BC}"/>
              </a:ext>
            </a:extLst>
          </p:cNvPr>
          <p:cNvCxnSpPr>
            <a:cxnSpLocks/>
          </p:cNvCxnSpPr>
          <p:nvPr>
            <p:custDataLst>
              <p:tags r:id="rId8"/>
            </p:custDataLst>
          </p:nvPr>
        </p:nvCxnSpPr>
        <p:spPr>
          <a:xfrm>
            <a:off x="554737" y="3921968"/>
            <a:ext cx="11082527"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78CFE82-3C2C-F81A-C98E-26CFDFDCA796}"/>
              </a:ext>
            </a:extLst>
          </p:cNvPr>
          <p:cNvCxnSpPr>
            <a:cxnSpLocks/>
          </p:cNvCxnSpPr>
          <p:nvPr>
            <p:custDataLst>
              <p:tags r:id="rId9"/>
            </p:custDataLst>
          </p:nvPr>
        </p:nvCxnSpPr>
        <p:spPr>
          <a:xfrm>
            <a:off x="554737" y="4538664"/>
            <a:ext cx="11082527" cy="0"/>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6243E72-63EC-3BC2-B53F-5E92605D190F}"/>
              </a:ext>
            </a:extLst>
          </p:cNvPr>
          <p:cNvSpPr txBox="1">
            <a:spLocks/>
          </p:cNvSpPr>
          <p:nvPr/>
        </p:nvSpPr>
        <p:spPr>
          <a:xfrm>
            <a:off x="554736" y="4045650"/>
            <a:ext cx="13121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latin typeface="+mj-lt"/>
              </a:rPr>
              <a:t>Context tags</a:t>
            </a:r>
            <a:endParaRPr kumimoji="0" lang="en-US" sz="1200" b="1" i="0" u="none" strike="noStrike" kern="1200" cap="none" spc="0" normalizeH="0" baseline="0" noProof="0">
              <a:ln>
                <a:noFill/>
              </a:ln>
              <a:solidFill>
                <a:srgbClr val="000000"/>
              </a:solidFill>
              <a:effectLst/>
              <a:uLnTx/>
              <a:uFillTx/>
              <a:latin typeface="+mj-lt"/>
            </a:endParaRPr>
          </a:p>
        </p:txBody>
      </p:sp>
      <p:sp>
        <p:nvSpPr>
          <p:cNvPr id="25" name="TextBox 24">
            <a:extLst>
              <a:ext uri="{FF2B5EF4-FFF2-40B4-BE49-F238E27FC236}">
                <a16:creationId xmlns:a16="http://schemas.microsoft.com/office/drawing/2014/main" id="{5130F8EF-BB65-D444-A07C-83928BED41F2}"/>
              </a:ext>
            </a:extLst>
          </p:cNvPr>
          <p:cNvSpPr txBox="1">
            <a:spLocks/>
          </p:cNvSpPr>
          <p:nvPr/>
        </p:nvSpPr>
        <p:spPr>
          <a:xfrm>
            <a:off x="2057666" y="4045650"/>
            <a:ext cx="9362810"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C5. </a:t>
            </a:r>
            <a:r>
              <a:rPr lang="en-US" b="1">
                <a:solidFill>
                  <a:srgbClr val="000000"/>
                </a:solidFill>
                <a:latin typeface="Arial" panose="020B0604020202020204" pitchFamily="34" charset="0"/>
                <a:sym typeface=""/>
              </a:rPr>
              <a:t>Embed context tagging </a:t>
            </a:r>
            <a:r>
              <a:rPr lang="en-US">
                <a:solidFill>
                  <a:srgbClr val="000000"/>
                </a:solidFill>
                <a:latin typeface="Arial" panose="020B0604020202020204" pitchFamily="34" charset="0"/>
                <a:sym typeface=""/>
              </a:rPr>
              <a:t>(e.g., tag data as client, account) into pipeline</a:t>
            </a:r>
          </a:p>
          <a:p>
            <a:pPr marL="0" indent="0">
              <a:buNone/>
            </a:pPr>
            <a:endParaRPr lang="en-US">
              <a:solidFill>
                <a:schemeClr val="accent1"/>
              </a:solidFill>
            </a:endParaRPr>
          </a:p>
        </p:txBody>
      </p:sp>
      <p:sp>
        <p:nvSpPr>
          <p:cNvPr id="17" name="Rectangle 16">
            <a:extLst>
              <a:ext uri="{FF2B5EF4-FFF2-40B4-BE49-F238E27FC236}">
                <a16:creationId xmlns:a16="http://schemas.microsoft.com/office/drawing/2014/main" id="{B6093AD7-EA79-2AC0-3358-C295EB9BD64E}"/>
              </a:ext>
            </a:extLst>
          </p:cNvPr>
          <p:cNvSpPr>
            <a:spLocks/>
          </p:cNvSpPr>
          <p:nvPr>
            <p:custDataLst>
              <p:tags r:id="rId10"/>
            </p:custDataLst>
          </p:nvPr>
        </p:nvSpPr>
        <p:spPr>
          <a:xfrm>
            <a:off x="554736" y="5989151"/>
            <a:ext cx="11082528" cy="480417"/>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Policy related changes would be led by  ... </a:t>
            </a:r>
            <a:r>
              <a:rPr lang="en-US" sz="1200" dirty="0">
                <a:solidFill>
                  <a:schemeClr val="bg1"/>
                </a:solidFill>
                <a:latin typeface="Arial" panose="020B0604020202020204" pitchFamily="34" charset="0"/>
                <a:cs typeface="Arial" panose="020B0604020202020204" pitchFamily="34" charset="0"/>
              </a:rPr>
              <a:t>with support from the relevant SMEs (e.g.,  ...)</a:t>
            </a:r>
          </a:p>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Potential actions listed will be prioritized, refined, and sequenced </a:t>
            </a:r>
            <a:r>
              <a:rPr lang="en-US" sz="1200" dirty="0">
                <a:solidFill>
                  <a:schemeClr val="bg1"/>
                </a:solidFill>
                <a:latin typeface="Arial" panose="020B0604020202020204" pitchFamily="34" charset="0"/>
                <a:cs typeface="Arial" panose="020B0604020202020204" pitchFamily="34" charset="0"/>
              </a:rPr>
              <a:t>during the upcoming Identify &amp; Focus phase</a:t>
            </a:r>
          </a:p>
        </p:txBody>
      </p:sp>
    </p:spTree>
    <p:custDataLst>
      <p:tags r:id="rId1"/>
    </p:custDataLst>
    <p:extLst>
      <p:ext uri="{BB962C8B-B14F-4D97-AF65-F5344CB8AC3E}">
        <p14:creationId xmlns:p14="http://schemas.microsoft.com/office/powerpoint/2010/main" val="4134437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E46BA-4E31-A816-EF3B-D4F8DFD63884}"/>
            </a:ext>
          </a:extLst>
        </p:cNvPr>
        <p:cNvGrpSpPr/>
        <p:nvPr/>
      </p:nvGrpSpPr>
      <p:grpSpPr>
        <a:xfrm>
          <a:off x="0" y="0"/>
          <a:ext cx="0" cy="0"/>
          <a:chOff x="0" y="0"/>
          <a:chExt cx="0" cy="0"/>
        </a:xfrm>
      </p:grpSpPr>
      <p:graphicFrame>
        <p:nvGraphicFramePr>
          <p:cNvPr id="44" name="Object 6" hidden="1">
            <a:extLst>
              <a:ext uri="{FF2B5EF4-FFF2-40B4-BE49-F238E27FC236}">
                <a16:creationId xmlns:a16="http://schemas.microsoft.com/office/drawing/2014/main" id="{D46BC932-D24B-264A-0679-A8815332A7BA}"/>
              </a:ext>
            </a:extLst>
          </p:cNvPr>
          <p:cNvGraphicFramePr>
            <a:graphicFrameLocks noChangeAspect="1"/>
          </p:cNvGraphicFramePr>
          <p:nvPr>
            <p:custDataLst>
              <p:tags r:id="rId2"/>
            </p:custDataLst>
            <p:extLst>
              <p:ext uri="{D42A27DB-BD31-4B8C-83A1-F6EECF244321}">
                <p14:modId xmlns:p14="http://schemas.microsoft.com/office/powerpoint/2010/main" val="854411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04" imgH="405" progId="TCLayout.ActiveDocument.1">
                  <p:embed/>
                </p:oleObj>
              </mc:Choice>
              <mc:Fallback>
                <p:oleObj name="think-cell Slide" r:id="rId14" imgW="404" imgH="405" progId="TCLayout.ActiveDocument.1">
                  <p:embed/>
                  <p:pic>
                    <p:nvPicPr>
                      <p:cNvPr id="44" name="Object 6" hidden="1">
                        <a:extLst>
                          <a:ext uri="{FF2B5EF4-FFF2-40B4-BE49-F238E27FC236}">
                            <a16:creationId xmlns:a16="http://schemas.microsoft.com/office/drawing/2014/main" id="{D46BC932-D24B-264A-0679-A8815332A7B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578E4118-DAF4-AB2B-E793-EE8BAA721C62}"/>
              </a:ext>
            </a:extLst>
          </p:cNvPr>
          <p:cNvSpPr>
            <a:spLocks noGrp="1"/>
          </p:cNvSpPr>
          <p:nvPr>
            <p:ph type="title"/>
            <p:custDataLst>
              <p:tags r:id="rId3"/>
            </p:custDataLst>
          </p:nvPr>
        </p:nvSpPr>
        <p:spPr/>
        <p:txBody>
          <a:bodyPr vert="horz">
            <a:noAutofit/>
          </a:bodyPr>
          <a:lstStyle/>
          <a:p>
            <a:r>
              <a:rPr lang="en-US"/>
              <a:t>D. Potential actions for Data Lineage</a:t>
            </a:r>
          </a:p>
        </p:txBody>
      </p:sp>
      <p:sp>
        <p:nvSpPr>
          <p:cNvPr id="19" name="Text Placeholder 18">
            <a:extLst>
              <a:ext uri="{FF2B5EF4-FFF2-40B4-BE49-F238E27FC236}">
                <a16:creationId xmlns:a16="http://schemas.microsoft.com/office/drawing/2014/main" id="{B363AB21-12F2-2875-7802-2D3FA0F0FA5E}"/>
              </a:ext>
            </a:extLst>
          </p:cNvPr>
          <p:cNvSpPr>
            <a:spLocks noGrp="1"/>
          </p:cNvSpPr>
          <p:nvPr>
            <p:ph type="body" sz="quarter" idx="17"/>
          </p:nvPr>
        </p:nvSpPr>
        <p:spPr/>
        <p:txBody>
          <a:bodyPr/>
          <a:lstStyle/>
          <a:p>
            <a:endParaRPr lang="en-US"/>
          </a:p>
        </p:txBody>
      </p:sp>
      <p:sp>
        <p:nvSpPr>
          <p:cNvPr id="94" name="Rectangle 93">
            <a:extLst>
              <a:ext uri="{FF2B5EF4-FFF2-40B4-BE49-F238E27FC236}">
                <a16:creationId xmlns:a16="http://schemas.microsoft.com/office/drawing/2014/main" id="{0F18446E-8C49-90E3-33F8-D4E13506D5B3}"/>
              </a:ext>
            </a:extLst>
          </p:cNvPr>
          <p:cNvSpPr>
            <a:spLocks/>
          </p:cNvSpPr>
          <p:nvPr/>
        </p:nvSpPr>
        <p:spPr>
          <a:xfrm>
            <a:off x="527900" y="1529271"/>
            <a:ext cx="11106887" cy="181950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6" name="Straight Connector 5">
            <a:extLst>
              <a:ext uri="{FF2B5EF4-FFF2-40B4-BE49-F238E27FC236}">
                <a16:creationId xmlns:a16="http://schemas.microsoft.com/office/drawing/2014/main" id="{0CC90D7D-B3EE-FE65-A178-BD048FB6FADF}"/>
              </a:ext>
            </a:extLst>
          </p:cNvPr>
          <p:cNvCxnSpPr>
            <a:cxnSpLocks/>
          </p:cNvCxnSpPr>
          <p:nvPr>
            <p:custDataLst>
              <p:tags r:id="rId4"/>
            </p:custDataLst>
          </p:nvPr>
        </p:nvCxnSpPr>
        <p:spPr>
          <a:xfrm>
            <a:off x="554737" y="2514283"/>
            <a:ext cx="1108005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F961319-FB4E-BD3B-6D8D-530C94DFB38D}"/>
              </a:ext>
            </a:extLst>
          </p:cNvPr>
          <p:cNvCxnSpPr>
            <a:cxnSpLocks/>
          </p:cNvCxnSpPr>
          <p:nvPr>
            <p:custDataLst>
              <p:tags r:id="rId5"/>
            </p:custDataLst>
          </p:nvPr>
        </p:nvCxnSpPr>
        <p:spPr>
          <a:xfrm>
            <a:off x="2038351" y="3023863"/>
            <a:ext cx="9596437"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52F7EDF-EAD3-FD6B-E990-46CF49DD4532}"/>
              </a:ext>
            </a:extLst>
          </p:cNvPr>
          <p:cNvCxnSpPr>
            <a:cxnSpLocks/>
          </p:cNvCxnSpPr>
          <p:nvPr>
            <p:custDataLst>
              <p:tags r:id="rId6"/>
            </p:custDataLst>
          </p:nvPr>
        </p:nvCxnSpPr>
        <p:spPr>
          <a:xfrm>
            <a:off x="554737" y="3348777"/>
            <a:ext cx="11080051"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6492736-AEA1-3744-BD45-D0E459DA047C}"/>
              </a:ext>
            </a:extLst>
          </p:cNvPr>
          <p:cNvCxnSpPr>
            <a:cxnSpLocks/>
          </p:cNvCxnSpPr>
          <p:nvPr>
            <p:custDataLst>
              <p:tags r:id="rId7"/>
            </p:custDataLst>
          </p:nvPr>
        </p:nvCxnSpPr>
        <p:spPr>
          <a:xfrm>
            <a:off x="554737" y="4367937"/>
            <a:ext cx="1108005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3F5FF05-723D-61BB-B7D1-F7FD6C3D969F}"/>
              </a:ext>
            </a:extLst>
          </p:cNvPr>
          <p:cNvCxnSpPr>
            <a:cxnSpLocks/>
          </p:cNvCxnSpPr>
          <p:nvPr>
            <p:custDataLst>
              <p:tags r:id="rId8"/>
            </p:custDataLst>
          </p:nvPr>
        </p:nvCxnSpPr>
        <p:spPr>
          <a:xfrm>
            <a:off x="2038351" y="3858357"/>
            <a:ext cx="9596437"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2CCA7AD-96A9-7AF4-EBFB-2448755E32E5}"/>
              </a:ext>
            </a:extLst>
          </p:cNvPr>
          <p:cNvSpPr txBox="1">
            <a:spLocks/>
          </p:cNvSpPr>
          <p:nvPr/>
        </p:nvSpPr>
        <p:spPr>
          <a:xfrm>
            <a:off x="554736" y="2584407"/>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Version and change (data)</a:t>
            </a:r>
            <a:endParaRPr lang="en-US" sz="1200" b="1">
              <a:solidFill>
                <a:srgbClr val="000000"/>
              </a:solidFill>
            </a:endParaRPr>
          </a:p>
        </p:txBody>
      </p:sp>
      <p:sp>
        <p:nvSpPr>
          <p:cNvPr id="23" name="TextBox 22">
            <a:extLst>
              <a:ext uri="{FF2B5EF4-FFF2-40B4-BE49-F238E27FC236}">
                <a16:creationId xmlns:a16="http://schemas.microsoft.com/office/drawing/2014/main" id="{53218AE0-5B20-047B-20AB-903DC3299F95}"/>
              </a:ext>
            </a:extLst>
          </p:cNvPr>
          <p:cNvSpPr txBox="1">
            <a:spLocks/>
          </p:cNvSpPr>
          <p:nvPr/>
        </p:nvSpPr>
        <p:spPr>
          <a:xfrm>
            <a:off x="2057666" y="2584407"/>
            <a:ext cx="9367521"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dirty="0"/>
              <a:t>D3. </a:t>
            </a:r>
            <a:r>
              <a:rPr lang="en-US" b="1" dirty="0">
                <a:solidFill>
                  <a:srgbClr val="000000"/>
                </a:solidFill>
              </a:rPr>
              <a:t>[Policy] </a:t>
            </a:r>
            <a:r>
              <a:rPr lang="en-US" b="1" dirty="0"/>
              <a:t>Enforce</a:t>
            </a:r>
            <a:r>
              <a:rPr lang="en-US" dirty="0"/>
              <a:t> </a:t>
            </a:r>
            <a:r>
              <a:rPr lang="en-US" b="1" dirty="0"/>
              <a:t>standardization</a:t>
            </a:r>
            <a:r>
              <a:rPr lang="en-US" dirty="0"/>
              <a:t> for schema versioning, scaling good practice from   across other stores</a:t>
            </a:r>
            <a:r>
              <a:rPr lang="en-US" b="1" dirty="0"/>
              <a:t> </a:t>
            </a:r>
            <a:endParaRPr lang="en-US" dirty="0"/>
          </a:p>
        </p:txBody>
      </p:sp>
      <p:sp>
        <p:nvSpPr>
          <p:cNvPr id="11" name="TextBox 10">
            <a:extLst>
              <a:ext uri="{FF2B5EF4-FFF2-40B4-BE49-F238E27FC236}">
                <a16:creationId xmlns:a16="http://schemas.microsoft.com/office/drawing/2014/main" id="{4BC10550-EECC-D774-31D8-B64D5943473A}"/>
              </a:ext>
            </a:extLst>
          </p:cNvPr>
          <p:cNvSpPr txBox="1">
            <a:spLocks/>
          </p:cNvSpPr>
          <p:nvPr/>
        </p:nvSpPr>
        <p:spPr>
          <a:xfrm>
            <a:off x="554736" y="3418901"/>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Consent and purpose tagging</a:t>
            </a:r>
            <a:endParaRPr lang="en-US" sz="1200" b="1">
              <a:solidFill>
                <a:srgbClr val="000000"/>
              </a:solidFill>
            </a:endParaRPr>
          </a:p>
        </p:txBody>
      </p:sp>
      <p:sp>
        <p:nvSpPr>
          <p:cNvPr id="26" name="TextBox 25">
            <a:extLst>
              <a:ext uri="{FF2B5EF4-FFF2-40B4-BE49-F238E27FC236}">
                <a16:creationId xmlns:a16="http://schemas.microsoft.com/office/drawing/2014/main" id="{BDF54D1E-E0C0-1EF0-A878-675696C67301}"/>
              </a:ext>
            </a:extLst>
          </p:cNvPr>
          <p:cNvSpPr txBox="1">
            <a:spLocks/>
          </p:cNvSpPr>
          <p:nvPr/>
        </p:nvSpPr>
        <p:spPr>
          <a:xfrm>
            <a:off x="2057666" y="3418901"/>
            <a:ext cx="9367521"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D5.</a:t>
            </a:r>
            <a:r>
              <a:rPr lang="en-US" b="1">
                <a:solidFill>
                  <a:srgbClr val="000000"/>
                </a:solidFill>
              </a:rPr>
              <a:t> [Policy]</a:t>
            </a:r>
            <a:r>
              <a:rPr lang="en-US"/>
              <a:t> </a:t>
            </a:r>
            <a:r>
              <a:rPr lang="en-US" b="1"/>
              <a:t>Establish purposed-based tagging </a:t>
            </a:r>
            <a:r>
              <a:rPr lang="en-US"/>
              <a:t>to prevent unauthorized cross-use</a:t>
            </a:r>
          </a:p>
        </p:txBody>
      </p:sp>
      <p:cxnSp>
        <p:nvCxnSpPr>
          <p:cNvPr id="121" name="Straight Connector 120">
            <a:extLst>
              <a:ext uri="{FF2B5EF4-FFF2-40B4-BE49-F238E27FC236}">
                <a16:creationId xmlns:a16="http://schemas.microsoft.com/office/drawing/2014/main" id="{342BA4BA-A221-70FC-0BE5-E68E39F56601}"/>
              </a:ext>
            </a:extLst>
          </p:cNvPr>
          <p:cNvCxnSpPr>
            <a:cxnSpLocks/>
          </p:cNvCxnSpPr>
          <p:nvPr>
            <p:custDataLst>
              <p:tags r:id="rId9"/>
            </p:custDataLst>
          </p:nvPr>
        </p:nvCxnSpPr>
        <p:spPr>
          <a:xfrm>
            <a:off x="2038351" y="2004703"/>
            <a:ext cx="9596437"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8BD9C4B-4E55-2818-5938-A8179CDA173D}"/>
              </a:ext>
            </a:extLst>
          </p:cNvPr>
          <p:cNvSpPr txBox="1">
            <a:spLocks/>
          </p:cNvSpPr>
          <p:nvPr/>
        </p:nvSpPr>
        <p:spPr>
          <a:xfrm>
            <a:off x="554736" y="1565247"/>
            <a:ext cx="13121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End-to-end data</a:t>
            </a:r>
          </a:p>
        </p:txBody>
      </p:sp>
      <p:sp>
        <p:nvSpPr>
          <p:cNvPr id="122" name="TextBox 121">
            <a:extLst>
              <a:ext uri="{FF2B5EF4-FFF2-40B4-BE49-F238E27FC236}">
                <a16:creationId xmlns:a16="http://schemas.microsoft.com/office/drawing/2014/main" id="{784FDA93-E89E-B305-67D0-D479DAEA845B}"/>
              </a:ext>
            </a:extLst>
          </p:cNvPr>
          <p:cNvSpPr txBox="1">
            <a:spLocks/>
          </p:cNvSpPr>
          <p:nvPr/>
        </p:nvSpPr>
        <p:spPr>
          <a:xfrm>
            <a:off x="2057666" y="1565247"/>
            <a:ext cx="9367521"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D1. </a:t>
            </a:r>
            <a:r>
              <a:rPr lang="en-US" b="1">
                <a:solidFill>
                  <a:srgbClr val="000000"/>
                </a:solidFill>
              </a:rPr>
              <a:t>[Policy] </a:t>
            </a:r>
            <a:r>
              <a:rPr lang="en-US" b="1"/>
              <a:t>Establish enterprise policies and standards for end-to-end lineage</a:t>
            </a:r>
            <a:r>
              <a:rPr lang="en-US"/>
              <a:t> covering both structured and </a:t>
            </a:r>
            <a:r>
              <a:rPr lang="en-US">
                <a:solidFill>
                  <a:schemeClr val="accent1"/>
                </a:solidFill>
              </a:rPr>
              <a:t>unstructured data</a:t>
            </a:r>
          </a:p>
        </p:txBody>
      </p:sp>
      <p:sp>
        <p:nvSpPr>
          <p:cNvPr id="20" name="TextBox 19">
            <a:extLst>
              <a:ext uri="{FF2B5EF4-FFF2-40B4-BE49-F238E27FC236}">
                <a16:creationId xmlns:a16="http://schemas.microsoft.com/office/drawing/2014/main" id="{F740E2C4-888D-929D-07CF-8D181E8AF96F}"/>
              </a:ext>
            </a:extLst>
          </p:cNvPr>
          <p:cNvSpPr txBox="1">
            <a:spLocks/>
          </p:cNvSpPr>
          <p:nvPr/>
        </p:nvSpPr>
        <p:spPr>
          <a:xfrm>
            <a:off x="2057666" y="2074827"/>
            <a:ext cx="9367521"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latin typeface="+mn-lt"/>
              </a:rPr>
              <a:t>D2. </a:t>
            </a:r>
            <a:r>
              <a:rPr lang="en-US" sz="1200" b="1">
                <a:latin typeface="+mn-lt"/>
              </a:rPr>
              <a:t>Embed automated lineage tracking into unstructured data pipelines</a:t>
            </a:r>
            <a:r>
              <a:rPr lang="en-US" sz="1200">
                <a:latin typeface="+mn-lt"/>
              </a:rPr>
              <a:t> to ensure consistency and visibility across ingestion, transformation, and consumption</a:t>
            </a:r>
          </a:p>
        </p:txBody>
      </p:sp>
      <p:sp>
        <p:nvSpPr>
          <p:cNvPr id="38" name="TextBox 37">
            <a:extLst>
              <a:ext uri="{FF2B5EF4-FFF2-40B4-BE49-F238E27FC236}">
                <a16:creationId xmlns:a16="http://schemas.microsoft.com/office/drawing/2014/main" id="{1AEB8FD1-3E2F-3203-706A-7B41AB379254}"/>
              </a:ext>
            </a:extLst>
          </p:cNvPr>
          <p:cNvSpPr txBox="1">
            <a:spLocks/>
          </p:cNvSpPr>
          <p:nvPr/>
        </p:nvSpPr>
        <p:spPr>
          <a:xfrm>
            <a:off x="2057666" y="3093987"/>
            <a:ext cx="9367521"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solidFill>
                  <a:schemeClr val="accent1"/>
                </a:solidFill>
              </a:rPr>
              <a:t>D4. </a:t>
            </a:r>
            <a:r>
              <a:rPr lang="en-US" b="1">
                <a:solidFill>
                  <a:schemeClr val="accent1"/>
                </a:solidFill>
              </a:rPr>
              <a:t>Implement versioning controls </a:t>
            </a:r>
            <a:r>
              <a:rPr lang="en-US">
                <a:solidFill>
                  <a:schemeClr val="accent1"/>
                </a:solidFill>
              </a:rPr>
              <a:t>to expand automatic versioning to unstructured data </a:t>
            </a:r>
            <a:endParaRPr lang="en-US" b="1">
              <a:solidFill>
                <a:schemeClr val="accent1"/>
              </a:solidFill>
            </a:endParaRPr>
          </a:p>
        </p:txBody>
      </p:sp>
      <p:sp>
        <p:nvSpPr>
          <p:cNvPr id="50" name="TextBox 49">
            <a:extLst>
              <a:ext uri="{FF2B5EF4-FFF2-40B4-BE49-F238E27FC236}">
                <a16:creationId xmlns:a16="http://schemas.microsoft.com/office/drawing/2014/main" id="{F16E304E-B80B-8347-804F-B59A9FD2750B}"/>
              </a:ext>
            </a:extLst>
          </p:cNvPr>
          <p:cNvSpPr txBox="1">
            <a:spLocks/>
          </p:cNvSpPr>
          <p:nvPr/>
        </p:nvSpPr>
        <p:spPr>
          <a:xfrm>
            <a:off x="2057666" y="3928481"/>
            <a:ext cx="9367521"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solidFill>
                  <a:schemeClr val="accent1"/>
                </a:solidFill>
              </a:rPr>
              <a:t>D6. </a:t>
            </a:r>
            <a:r>
              <a:rPr lang="en-US" b="1">
                <a:solidFill>
                  <a:schemeClr val="accent1"/>
                </a:solidFill>
              </a:rPr>
              <a:t>Establish</a:t>
            </a:r>
            <a:r>
              <a:rPr lang="en-US">
                <a:solidFill>
                  <a:schemeClr val="accent1"/>
                </a:solidFill>
              </a:rPr>
              <a:t> </a:t>
            </a:r>
            <a:r>
              <a:rPr lang="en-US" b="1">
                <a:solidFill>
                  <a:schemeClr val="accent1"/>
                </a:solidFill>
              </a:rPr>
              <a:t>purpose / consent-based tagging for unstructured data </a:t>
            </a:r>
            <a:r>
              <a:rPr lang="en-US">
                <a:solidFill>
                  <a:schemeClr val="accent1"/>
                </a:solidFill>
              </a:rPr>
              <a:t>and</a:t>
            </a:r>
            <a:r>
              <a:rPr lang="en-US" b="1">
                <a:solidFill>
                  <a:schemeClr val="accent1"/>
                </a:solidFill>
              </a:rPr>
              <a:t> embeddings </a:t>
            </a:r>
            <a:r>
              <a:rPr lang="en-US">
                <a:solidFill>
                  <a:schemeClr val="accent1"/>
                </a:solidFill>
              </a:rPr>
              <a:t>with automated blocking of restricted content</a:t>
            </a:r>
          </a:p>
        </p:txBody>
      </p:sp>
      <p:sp>
        <p:nvSpPr>
          <p:cNvPr id="12" name="TextBox 11">
            <a:extLst>
              <a:ext uri="{FF2B5EF4-FFF2-40B4-BE49-F238E27FC236}">
                <a16:creationId xmlns:a16="http://schemas.microsoft.com/office/drawing/2014/main" id="{149DAFB3-81B9-AC37-5B7D-6CC1180DDB59}"/>
              </a:ext>
            </a:extLst>
          </p:cNvPr>
          <p:cNvSpPr txBox="1">
            <a:spLocks/>
          </p:cNvSpPr>
          <p:nvPr/>
        </p:nvSpPr>
        <p:spPr>
          <a:xfrm>
            <a:off x="554736" y="4438061"/>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Model input traceability</a:t>
            </a:r>
            <a:endParaRPr lang="en-US" sz="1200" b="1">
              <a:solidFill>
                <a:srgbClr val="000000"/>
              </a:solidFill>
            </a:endParaRPr>
          </a:p>
        </p:txBody>
      </p:sp>
      <p:sp>
        <p:nvSpPr>
          <p:cNvPr id="42" name="TextBox 41">
            <a:extLst>
              <a:ext uri="{FF2B5EF4-FFF2-40B4-BE49-F238E27FC236}">
                <a16:creationId xmlns:a16="http://schemas.microsoft.com/office/drawing/2014/main" id="{26FC02AA-9FB7-6160-FB5E-7F423B82E5A3}"/>
              </a:ext>
            </a:extLst>
          </p:cNvPr>
          <p:cNvSpPr txBox="1">
            <a:spLocks/>
          </p:cNvSpPr>
          <p:nvPr/>
        </p:nvSpPr>
        <p:spPr>
          <a:xfrm>
            <a:off x="2057666" y="4438061"/>
            <a:ext cx="9367521"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solidFill>
                  <a:schemeClr val="accent1"/>
                </a:solidFill>
              </a:rPr>
              <a:t>D7. </a:t>
            </a:r>
            <a:r>
              <a:rPr lang="en-US" b="1">
                <a:solidFill>
                  <a:schemeClr val="accent1"/>
                </a:solidFill>
              </a:rPr>
              <a:t>Scale current GenAI traceability capabilities </a:t>
            </a:r>
            <a:r>
              <a:rPr lang="en-US">
                <a:solidFill>
                  <a:schemeClr val="accent1"/>
                </a:solidFill>
              </a:rPr>
              <a:t>to future, more complex use cases</a:t>
            </a:r>
          </a:p>
        </p:txBody>
      </p:sp>
      <p:grpSp>
        <p:nvGrpSpPr>
          <p:cNvPr id="24" name="Group 23">
            <a:extLst>
              <a:ext uri="{FF2B5EF4-FFF2-40B4-BE49-F238E27FC236}">
                <a16:creationId xmlns:a16="http://schemas.microsoft.com/office/drawing/2014/main" id="{60974F42-5546-9FB5-618A-57B985B2BBBA}"/>
              </a:ext>
            </a:extLst>
          </p:cNvPr>
          <p:cNvGrpSpPr/>
          <p:nvPr/>
        </p:nvGrpSpPr>
        <p:grpSpPr>
          <a:xfrm>
            <a:off x="7726791" y="1006853"/>
            <a:ext cx="3910473" cy="153888"/>
            <a:chOff x="7726791" y="834858"/>
            <a:chExt cx="3910473" cy="153888"/>
          </a:xfrm>
        </p:grpSpPr>
        <p:sp>
          <p:nvSpPr>
            <p:cNvPr id="3" name="TextBox 73">
              <a:extLst>
                <a:ext uri="{FF2B5EF4-FFF2-40B4-BE49-F238E27FC236}">
                  <a16:creationId xmlns:a16="http://schemas.microsoft.com/office/drawing/2014/main" id="{DD7067B8-FD33-536B-4CF2-D21384D10BB2}"/>
                </a:ext>
              </a:extLst>
            </p:cNvPr>
            <p:cNvSpPr txBox="1"/>
            <p:nvPr/>
          </p:nvSpPr>
          <p:spPr>
            <a:xfrm>
              <a:off x="10017530" y="834858"/>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5" name="TextBox 74">
              <a:extLst>
                <a:ext uri="{FF2B5EF4-FFF2-40B4-BE49-F238E27FC236}">
                  <a16:creationId xmlns:a16="http://schemas.microsoft.com/office/drawing/2014/main" id="{74E6BAFD-5698-1F8A-F4E0-3652599A354D}"/>
                </a:ext>
              </a:extLst>
            </p:cNvPr>
            <p:cNvSpPr txBox="1"/>
            <p:nvPr/>
          </p:nvSpPr>
          <p:spPr>
            <a:xfrm>
              <a:off x="10285932" y="834858"/>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dirty="0"/>
                <a:t>Pertinent to Gen AI only</a:t>
              </a:r>
            </a:p>
          </p:txBody>
        </p:sp>
        <p:sp>
          <p:nvSpPr>
            <p:cNvPr id="13" name="TextBox 12">
              <a:extLst>
                <a:ext uri="{FF2B5EF4-FFF2-40B4-BE49-F238E27FC236}">
                  <a16:creationId xmlns:a16="http://schemas.microsoft.com/office/drawing/2014/main" id="{54A6F41D-8047-9BC4-590B-1E697F936C0F}"/>
                </a:ext>
              </a:extLst>
            </p:cNvPr>
            <p:cNvSpPr txBox="1"/>
            <p:nvPr/>
          </p:nvSpPr>
          <p:spPr>
            <a:xfrm>
              <a:off x="7925653" y="834858"/>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14" name="Rectangle 13">
              <a:extLst>
                <a:ext uri="{FF2B5EF4-FFF2-40B4-BE49-F238E27FC236}">
                  <a16:creationId xmlns:a16="http://schemas.microsoft.com/office/drawing/2014/main" id="{33437A8C-D416-36EB-7AEE-BE9B4705538E}"/>
                </a:ext>
              </a:extLst>
            </p:cNvPr>
            <p:cNvSpPr>
              <a:spLocks/>
            </p:cNvSpPr>
            <p:nvPr/>
          </p:nvSpPr>
          <p:spPr>
            <a:xfrm>
              <a:off x="7726791" y="840774"/>
              <a:ext cx="142055" cy="142055"/>
            </a:xfrm>
            <a:prstGeom prst="rect">
              <a:avLst/>
            </a:prstGeom>
            <a:solidFill>
              <a:schemeClr val="accent2">
                <a:lumMod val="20000"/>
                <a:lumOff val="80000"/>
              </a:schemeClr>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cxnSp>
        <p:nvCxnSpPr>
          <p:cNvPr id="15" name="Straight Connector 14">
            <a:extLst>
              <a:ext uri="{FF2B5EF4-FFF2-40B4-BE49-F238E27FC236}">
                <a16:creationId xmlns:a16="http://schemas.microsoft.com/office/drawing/2014/main" id="{DF871FAB-E0C6-828F-212F-932979E9E8F8}"/>
              </a:ext>
            </a:extLst>
          </p:cNvPr>
          <p:cNvCxnSpPr>
            <a:cxnSpLocks/>
          </p:cNvCxnSpPr>
          <p:nvPr>
            <p:custDataLst>
              <p:tags r:id="rId10"/>
            </p:custDataLst>
          </p:nvPr>
        </p:nvCxnSpPr>
        <p:spPr>
          <a:xfrm>
            <a:off x="554737" y="1529271"/>
            <a:ext cx="1108005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F1E1C35-800C-792F-B7BC-79B3FF061B99}"/>
              </a:ext>
            </a:extLst>
          </p:cNvPr>
          <p:cNvSpPr txBox="1">
            <a:spLocks/>
          </p:cNvSpPr>
          <p:nvPr/>
        </p:nvSpPr>
        <p:spPr>
          <a:xfrm>
            <a:off x="554736" y="1068486"/>
            <a:ext cx="1312164"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Sub-</a:t>
            </a:r>
            <a:br>
              <a:rPr lang="en-US" sz="1400" b="1"/>
            </a:br>
            <a:r>
              <a:rPr lang="en-US" sz="1400" b="1"/>
              <a:t>Dimension</a:t>
            </a:r>
          </a:p>
        </p:txBody>
      </p:sp>
      <p:sp>
        <p:nvSpPr>
          <p:cNvPr id="17" name="TextBox 16">
            <a:extLst>
              <a:ext uri="{FF2B5EF4-FFF2-40B4-BE49-F238E27FC236}">
                <a16:creationId xmlns:a16="http://schemas.microsoft.com/office/drawing/2014/main" id="{73BD9D66-CAC4-4894-C69D-B7B8BAFF32AB}"/>
              </a:ext>
            </a:extLst>
          </p:cNvPr>
          <p:cNvSpPr txBox="1">
            <a:spLocks/>
          </p:cNvSpPr>
          <p:nvPr/>
        </p:nvSpPr>
        <p:spPr>
          <a:xfrm>
            <a:off x="2057666" y="1283929"/>
            <a:ext cx="7651120"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Potential actions</a:t>
            </a:r>
          </a:p>
        </p:txBody>
      </p:sp>
      <p:sp>
        <p:nvSpPr>
          <p:cNvPr id="8" name="Rectangle 7">
            <a:extLst>
              <a:ext uri="{FF2B5EF4-FFF2-40B4-BE49-F238E27FC236}">
                <a16:creationId xmlns:a16="http://schemas.microsoft.com/office/drawing/2014/main" id="{F809ACA5-8418-E32C-426D-BBD6233712CD}"/>
              </a:ext>
            </a:extLst>
          </p:cNvPr>
          <p:cNvSpPr>
            <a:spLocks/>
          </p:cNvSpPr>
          <p:nvPr>
            <p:custDataLst>
              <p:tags r:id="rId11"/>
            </p:custDataLst>
          </p:nvPr>
        </p:nvSpPr>
        <p:spPr>
          <a:xfrm>
            <a:off x="554736" y="5989151"/>
            <a:ext cx="11082528" cy="480417"/>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Policy related changes would be led by  ... </a:t>
            </a:r>
            <a:r>
              <a:rPr lang="en-US" sz="1200" dirty="0">
                <a:solidFill>
                  <a:schemeClr val="bg1"/>
                </a:solidFill>
                <a:latin typeface="Arial" panose="020B0604020202020204" pitchFamily="34" charset="0"/>
                <a:cs typeface="Arial" panose="020B0604020202020204" pitchFamily="34" charset="0"/>
              </a:rPr>
              <a:t>with support from the relevant SMEs (e.g.,  ...)</a:t>
            </a:r>
          </a:p>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Potential actions listed will be prioritized, refined, and sequenced </a:t>
            </a:r>
            <a:r>
              <a:rPr lang="en-US" sz="1200" dirty="0">
                <a:solidFill>
                  <a:schemeClr val="bg1"/>
                </a:solidFill>
                <a:latin typeface="Arial" panose="020B0604020202020204" pitchFamily="34" charset="0"/>
                <a:cs typeface="Arial" panose="020B0604020202020204" pitchFamily="34" charset="0"/>
              </a:rPr>
              <a:t>during the upcoming Identify &amp; Focus phase</a:t>
            </a:r>
          </a:p>
        </p:txBody>
      </p:sp>
    </p:spTree>
    <p:custDataLst>
      <p:tags r:id="rId1"/>
    </p:custDataLst>
    <p:extLst>
      <p:ext uri="{BB962C8B-B14F-4D97-AF65-F5344CB8AC3E}">
        <p14:creationId xmlns:p14="http://schemas.microsoft.com/office/powerpoint/2010/main" val="19276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8A063-7FC0-881F-5D80-6D2FA2F010F9}"/>
            </a:ext>
          </a:extLst>
        </p:cNvPr>
        <p:cNvGrpSpPr/>
        <p:nvPr/>
      </p:nvGrpSpPr>
      <p:grpSpPr>
        <a:xfrm>
          <a:off x="0" y="0"/>
          <a:ext cx="0" cy="0"/>
          <a:chOff x="0" y="0"/>
          <a:chExt cx="0" cy="0"/>
        </a:xfrm>
      </p:grpSpPr>
      <p:graphicFrame>
        <p:nvGraphicFramePr>
          <p:cNvPr id="44" name="Object 6" hidden="1">
            <a:extLst>
              <a:ext uri="{FF2B5EF4-FFF2-40B4-BE49-F238E27FC236}">
                <a16:creationId xmlns:a16="http://schemas.microsoft.com/office/drawing/2014/main" id="{4B4498F4-C0B1-B754-DDAB-165280E0D7E4}"/>
              </a:ext>
            </a:extLst>
          </p:cNvPr>
          <p:cNvGraphicFramePr>
            <a:graphicFrameLocks noChangeAspect="1"/>
          </p:cNvGraphicFramePr>
          <p:nvPr>
            <p:custDataLst>
              <p:tags r:id="rId2"/>
            </p:custDataLst>
            <p:extLst>
              <p:ext uri="{D42A27DB-BD31-4B8C-83A1-F6EECF244321}">
                <p14:modId xmlns:p14="http://schemas.microsoft.com/office/powerpoint/2010/main" val="4002988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4" imgH="405" progId="TCLayout.ActiveDocument.1">
                  <p:embed/>
                </p:oleObj>
              </mc:Choice>
              <mc:Fallback>
                <p:oleObj name="think-cell Slide" r:id="rId13" imgW="404" imgH="405" progId="TCLayout.ActiveDocument.1">
                  <p:embed/>
                  <p:pic>
                    <p:nvPicPr>
                      <p:cNvPr id="44" name="Object 6" hidden="1">
                        <a:extLst>
                          <a:ext uri="{FF2B5EF4-FFF2-40B4-BE49-F238E27FC236}">
                            <a16:creationId xmlns:a16="http://schemas.microsoft.com/office/drawing/2014/main" id="{4B4498F4-C0B1-B754-DDAB-165280E0D7E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8D757FDC-6C7E-9F88-EC0D-D1394C15E1A9}"/>
              </a:ext>
            </a:extLst>
          </p:cNvPr>
          <p:cNvSpPr>
            <a:spLocks noGrp="1"/>
          </p:cNvSpPr>
          <p:nvPr>
            <p:ph type="title"/>
            <p:custDataLst>
              <p:tags r:id="rId3"/>
            </p:custDataLst>
          </p:nvPr>
        </p:nvSpPr>
        <p:spPr/>
        <p:txBody>
          <a:bodyPr vert="horz"/>
          <a:lstStyle/>
          <a:p>
            <a:r>
              <a:rPr lang="en-US" dirty="0"/>
              <a:t>E. Potential actions for Governance &amp; Controls</a:t>
            </a:r>
          </a:p>
        </p:txBody>
      </p:sp>
      <p:sp>
        <p:nvSpPr>
          <p:cNvPr id="13" name="Text Placeholder 12">
            <a:extLst>
              <a:ext uri="{FF2B5EF4-FFF2-40B4-BE49-F238E27FC236}">
                <a16:creationId xmlns:a16="http://schemas.microsoft.com/office/drawing/2014/main" id="{E3075E23-9B6E-F266-083F-F30B87C31A28}"/>
              </a:ext>
            </a:extLst>
          </p:cNvPr>
          <p:cNvSpPr>
            <a:spLocks noGrp="1"/>
          </p:cNvSpPr>
          <p:nvPr>
            <p:ph type="body" sz="quarter" idx="17"/>
          </p:nvPr>
        </p:nvSpPr>
        <p:spPr/>
        <p:txBody>
          <a:bodyPr/>
          <a:lstStyle/>
          <a:p>
            <a:endParaRPr lang="en-US"/>
          </a:p>
        </p:txBody>
      </p:sp>
      <p:sp>
        <p:nvSpPr>
          <p:cNvPr id="79" name="Rectangle 78">
            <a:extLst>
              <a:ext uri="{FF2B5EF4-FFF2-40B4-BE49-F238E27FC236}">
                <a16:creationId xmlns:a16="http://schemas.microsoft.com/office/drawing/2014/main" id="{5DDFF82D-513D-E971-9C67-D9461DB58079}"/>
              </a:ext>
            </a:extLst>
          </p:cNvPr>
          <p:cNvSpPr>
            <a:spLocks/>
          </p:cNvSpPr>
          <p:nvPr/>
        </p:nvSpPr>
        <p:spPr>
          <a:xfrm>
            <a:off x="527900" y="2140498"/>
            <a:ext cx="11109363" cy="3755800"/>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6" name="Straight Connector 5">
            <a:extLst>
              <a:ext uri="{FF2B5EF4-FFF2-40B4-BE49-F238E27FC236}">
                <a16:creationId xmlns:a16="http://schemas.microsoft.com/office/drawing/2014/main" id="{0E8FCC74-CE54-EAA1-342C-EF7DE436F301}"/>
              </a:ext>
            </a:extLst>
          </p:cNvPr>
          <p:cNvCxnSpPr>
            <a:cxnSpLocks/>
          </p:cNvCxnSpPr>
          <p:nvPr>
            <p:custDataLst>
              <p:tags r:id="rId4"/>
            </p:custDataLst>
          </p:nvPr>
        </p:nvCxnSpPr>
        <p:spPr>
          <a:xfrm>
            <a:off x="554738" y="2140497"/>
            <a:ext cx="11082527"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3B3C359-7F15-8A2F-1637-6C1885318B17}"/>
              </a:ext>
            </a:extLst>
          </p:cNvPr>
          <p:cNvCxnSpPr>
            <a:cxnSpLocks/>
          </p:cNvCxnSpPr>
          <p:nvPr>
            <p:custDataLst>
              <p:tags r:id="rId5"/>
            </p:custDataLst>
          </p:nvPr>
        </p:nvCxnSpPr>
        <p:spPr>
          <a:xfrm>
            <a:off x="554738" y="3362949"/>
            <a:ext cx="11082527"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CDB8CBE-E779-5CE7-F250-45EBAE2B7C93}"/>
              </a:ext>
            </a:extLst>
          </p:cNvPr>
          <p:cNvSpPr txBox="1">
            <a:spLocks/>
          </p:cNvSpPr>
          <p:nvPr/>
        </p:nvSpPr>
        <p:spPr>
          <a:xfrm>
            <a:off x="554737" y="1587741"/>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Ownership and stewardship</a:t>
            </a:r>
          </a:p>
        </p:txBody>
      </p:sp>
      <p:sp>
        <p:nvSpPr>
          <p:cNvPr id="20" name="TextBox 19">
            <a:extLst>
              <a:ext uri="{FF2B5EF4-FFF2-40B4-BE49-F238E27FC236}">
                <a16:creationId xmlns:a16="http://schemas.microsoft.com/office/drawing/2014/main" id="{0E71B021-CD9A-4DA2-7A16-AFFFC2763E1C}"/>
              </a:ext>
            </a:extLst>
          </p:cNvPr>
          <p:cNvSpPr txBox="1">
            <a:spLocks/>
          </p:cNvSpPr>
          <p:nvPr/>
        </p:nvSpPr>
        <p:spPr>
          <a:xfrm>
            <a:off x="2057666" y="1587741"/>
            <a:ext cx="9343759"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latin typeface="+mn-lt"/>
              </a:rPr>
              <a:t>E1. </a:t>
            </a:r>
            <a:r>
              <a:rPr lang="en-US" sz="1200" b="1">
                <a:latin typeface="+mn-lt"/>
              </a:rPr>
              <a:t>[Policy] Assign clear owners and stewards </a:t>
            </a:r>
            <a:r>
              <a:rPr lang="en-US" sz="1200">
                <a:latin typeface="+mn-lt"/>
              </a:rPr>
              <a:t>for all structured and </a:t>
            </a:r>
            <a:r>
              <a:rPr lang="en-US" sz="1200">
                <a:solidFill>
                  <a:schemeClr val="accent1"/>
                </a:solidFill>
                <a:latin typeface="+mn-lt"/>
              </a:rPr>
              <a:t>unstructured data </a:t>
            </a:r>
            <a:r>
              <a:rPr lang="en-US" sz="1200">
                <a:latin typeface="+mn-lt"/>
              </a:rPr>
              <a:t>subject areas and assets</a:t>
            </a:r>
            <a:r>
              <a:rPr lang="en-US" sz="1200">
                <a:solidFill>
                  <a:schemeClr val="accent1"/>
                </a:solidFill>
                <a:latin typeface="+mn-lt"/>
              </a:rPr>
              <a:t> </a:t>
            </a:r>
            <a:r>
              <a:rPr lang="en-US" sz="1200">
                <a:solidFill>
                  <a:schemeClr val="tx1"/>
                </a:solidFill>
                <a:latin typeface="+mn-lt"/>
              </a:rPr>
              <a:t>to ensure quality for downstream model/dashboard usage</a:t>
            </a:r>
          </a:p>
        </p:txBody>
      </p:sp>
      <p:cxnSp>
        <p:nvCxnSpPr>
          <p:cNvPr id="39" name="Straight Connector 38">
            <a:extLst>
              <a:ext uri="{FF2B5EF4-FFF2-40B4-BE49-F238E27FC236}">
                <a16:creationId xmlns:a16="http://schemas.microsoft.com/office/drawing/2014/main" id="{A86B0A62-6583-F877-1797-7B50227F9BC9}"/>
              </a:ext>
            </a:extLst>
          </p:cNvPr>
          <p:cNvCxnSpPr>
            <a:cxnSpLocks/>
          </p:cNvCxnSpPr>
          <p:nvPr>
            <p:custDataLst>
              <p:tags r:id="rId6"/>
            </p:custDataLst>
          </p:nvPr>
        </p:nvCxnSpPr>
        <p:spPr>
          <a:xfrm>
            <a:off x="2038352" y="2751723"/>
            <a:ext cx="9598913"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D69DEC0-8782-A0DF-C05F-BB977B7EEAF5}"/>
              </a:ext>
            </a:extLst>
          </p:cNvPr>
          <p:cNvCxnSpPr>
            <a:cxnSpLocks/>
          </p:cNvCxnSpPr>
          <p:nvPr>
            <p:custDataLst>
              <p:tags r:id="rId7"/>
            </p:custDataLst>
          </p:nvPr>
        </p:nvCxnSpPr>
        <p:spPr>
          <a:xfrm>
            <a:off x="2038352" y="3974175"/>
            <a:ext cx="9598913"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79E00CC-CB58-DF03-61CC-CD5A7E8F1ACA}"/>
              </a:ext>
            </a:extLst>
          </p:cNvPr>
          <p:cNvCxnSpPr>
            <a:cxnSpLocks/>
          </p:cNvCxnSpPr>
          <p:nvPr>
            <p:custDataLst>
              <p:tags r:id="rId8"/>
            </p:custDataLst>
          </p:nvPr>
        </p:nvCxnSpPr>
        <p:spPr>
          <a:xfrm>
            <a:off x="554738" y="5196627"/>
            <a:ext cx="11082527"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5045AA-A6AA-59C2-B52C-A7A7100A0CC4}"/>
              </a:ext>
            </a:extLst>
          </p:cNvPr>
          <p:cNvCxnSpPr>
            <a:cxnSpLocks/>
          </p:cNvCxnSpPr>
          <p:nvPr>
            <p:custDataLst>
              <p:tags r:id="rId9"/>
            </p:custDataLst>
          </p:nvPr>
        </p:nvCxnSpPr>
        <p:spPr>
          <a:xfrm>
            <a:off x="2038352" y="4585401"/>
            <a:ext cx="9598913"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172F319-DE51-7A74-3A41-5B73BBF116B0}"/>
              </a:ext>
            </a:extLst>
          </p:cNvPr>
          <p:cNvSpPr txBox="1">
            <a:spLocks/>
          </p:cNvSpPr>
          <p:nvPr/>
        </p:nvSpPr>
        <p:spPr>
          <a:xfrm>
            <a:off x="2057667" y="2871305"/>
            <a:ext cx="9343759"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solidFill>
                  <a:schemeClr val="accent1"/>
                </a:solidFill>
              </a:rPr>
              <a:t>E3. </a:t>
            </a:r>
            <a:r>
              <a:rPr lang="en-US" b="1">
                <a:solidFill>
                  <a:schemeClr val="accent1"/>
                </a:solidFill>
              </a:rPr>
              <a:t>[Policy] Establish enterprise policy defining requirements for publishing unstructured data </a:t>
            </a:r>
            <a:r>
              <a:rPr lang="en-US">
                <a:solidFill>
                  <a:schemeClr val="accent1"/>
                </a:solidFill>
              </a:rPr>
              <a:t>as public versus restricting it with validated access controls</a:t>
            </a:r>
          </a:p>
        </p:txBody>
      </p:sp>
      <p:sp>
        <p:nvSpPr>
          <p:cNvPr id="11" name="TextBox 10">
            <a:extLst>
              <a:ext uri="{FF2B5EF4-FFF2-40B4-BE49-F238E27FC236}">
                <a16:creationId xmlns:a16="http://schemas.microsoft.com/office/drawing/2014/main" id="{F2446F28-A32A-76E2-5A91-1AF7DE66C652}"/>
              </a:ext>
            </a:extLst>
          </p:cNvPr>
          <p:cNvSpPr txBox="1">
            <a:spLocks/>
          </p:cNvSpPr>
          <p:nvPr/>
        </p:nvSpPr>
        <p:spPr>
          <a:xfrm>
            <a:off x="554737" y="3479018"/>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FFFFFF"/>
              </a:buClr>
              <a:buNone/>
              <a:defRPr/>
            </a:pPr>
            <a:r>
              <a:rPr lang="en-US" sz="1200" b="1"/>
              <a:t>Policies, standards, audit</a:t>
            </a:r>
          </a:p>
        </p:txBody>
      </p:sp>
      <p:sp>
        <p:nvSpPr>
          <p:cNvPr id="26" name="TextBox 25">
            <a:extLst>
              <a:ext uri="{FF2B5EF4-FFF2-40B4-BE49-F238E27FC236}">
                <a16:creationId xmlns:a16="http://schemas.microsoft.com/office/drawing/2014/main" id="{0B93666C-3C97-DFEB-8621-CCEA108C569A}"/>
              </a:ext>
            </a:extLst>
          </p:cNvPr>
          <p:cNvSpPr txBox="1">
            <a:spLocks/>
          </p:cNvSpPr>
          <p:nvPr/>
        </p:nvSpPr>
        <p:spPr>
          <a:xfrm>
            <a:off x="2057667" y="3479018"/>
            <a:ext cx="9343759"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E4. </a:t>
            </a:r>
            <a:r>
              <a:rPr lang="en-US" b="1">
                <a:solidFill>
                  <a:srgbClr val="000000"/>
                </a:solidFill>
              </a:rPr>
              <a:t>[Policy and Build] </a:t>
            </a:r>
            <a:r>
              <a:rPr lang="en-US" b="1"/>
              <a:t>Create and define enforcement for an</a:t>
            </a:r>
            <a:r>
              <a:rPr lang="en-US"/>
              <a:t> </a:t>
            </a:r>
            <a:r>
              <a:rPr lang="en-US" b="1"/>
              <a:t>enterprise-wide</a:t>
            </a:r>
            <a:r>
              <a:rPr lang="en-US"/>
              <a:t> </a:t>
            </a:r>
            <a:r>
              <a:rPr lang="en-US" b="1"/>
              <a:t>AI data policy</a:t>
            </a:r>
            <a:r>
              <a:rPr lang="en-US"/>
              <a:t> that governs how AI applications use data</a:t>
            </a:r>
          </a:p>
        </p:txBody>
      </p:sp>
      <p:sp>
        <p:nvSpPr>
          <p:cNvPr id="50" name="TextBox 49">
            <a:extLst>
              <a:ext uri="{FF2B5EF4-FFF2-40B4-BE49-F238E27FC236}">
                <a16:creationId xmlns:a16="http://schemas.microsoft.com/office/drawing/2014/main" id="{568EFC51-F89B-ED45-F876-B6DB3D9DA823}"/>
              </a:ext>
            </a:extLst>
          </p:cNvPr>
          <p:cNvSpPr txBox="1">
            <a:spLocks/>
          </p:cNvSpPr>
          <p:nvPr/>
        </p:nvSpPr>
        <p:spPr>
          <a:xfrm>
            <a:off x="2057667" y="4084439"/>
            <a:ext cx="9343759"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dirty="0"/>
              <a:t>E5. </a:t>
            </a:r>
            <a:r>
              <a:rPr lang="en-US" b="1" dirty="0">
                <a:solidFill>
                  <a:srgbClr val="000000"/>
                </a:solidFill>
              </a:rPr>
              <a:t>[Policy] </a:t>
            </a:r>
            <a:r>
              <a:rPr lang="en-US" b="1" dirty="0"/>
              <a:t>Standardize</a:t>
            </a:r>
            <a:r>
              <a:rPr lang="en-US" dirty="0"/>
              <a:t> </a:t>
            </a:r>
            <a:r>
              <a:rPr lang="en-US" b="1" dirty="0"/>
              <a:t>data usage guidelines at the enterprise level </a:t>
            </a:r>
            <a:r>
              <a:rPr lang="en-US" dirty="0"/>
              <a:t>and enforce guidelines before development, instead of before production</a:t>
            </a:r>
          </a:p>
        </p:txBody>
      </p:sp>
      <p:sp>
        <p:nvSpPr>
          <p:cNvPr id="19" name="TextBox 18">
            <a:extLst>
              <a:ext uri="{FF2B5EF4-FFF2-40B4-BE49-F238E27FC236}">
                <a16:creationId xmlns:a16="http://schemas.microsoft.com/office/drawing/2014/main" id="{CD89632B-2CA2-3506-B2C4-B8C95285A1D7}"/>
              </a:ext>
            </a:extLst>
          </p:cNvPr>
          <p:cNvSpPr txBox="1">
            <a:spLocks/>
          </p:cNvSpPr>
          <p:nvPr/>
        </p:nvSpPr>
        <p:spPr>
          <a:xfrm>
            <a:off x="2057667" y="4695665"/>
            <a:ext cx="9343759"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dirty="0">
                <a:solidFill>
                  <a:schemeClr val="accent1"/>
                </a:solidFill>
              </a:rPr>
              <a:t>E6. </a:t>
            </a:r>
            <a:r>
              <a:rPr lang="en-US" b="1" dirty="0">
                <a:solidFill>
                  <a:schemeClr val="accent1"/>
                </a:solidFill>
              </a:rPr>
              <a:t>[Policy] Set</a:t>
            </a:r>
            <a:r>
              <a:rPr lang="en-US" dirty="0">
                <a:solidFill>
                  <a:schemeClr val="accent1"/>
                </a:solidFill>
              </a:rPr>
              <a:t> </a:t>
            </a:r>
            <a:r>
              <a:rPr lang="en-US" b="1" dirty="0">
                <a:solidFill>
                  <a:schemeClr val="accent1"/>
                </a:solidFill>
              </a:rPr>
              <a:t>formal GenAI audit frameworks </a:t>
            </a:r>
            <a:r>
              <a:rPr lang="en-US" dirty="0">
                <a:solidFill>
                  <a:schemeClr val="accent1"/>
                </a:solidFill>
              </a:rPr>
              <a:t>to address new complexities (e.g., hallucinations, PII leakage)</a:t>
            </a:r>
          </a:p>
        </p:txBody>
      </p:sp>
      <p:sp>
        <p:nvSpPr>
          <p:cNvPr id="53" name="TextBox 52">
            <a:extLst>
              <a:ext uri="{FF2B5EF4-FFF2-40B4-BE49-F238E27FC236}">
                <a16:creationId xmlns:a16="http://schemas.microsoft.com/office/drawing/2014/main" id="{6ED5DD97-1DD4-86EA-7F7A-35C8056E2D21}"/>
              </a:ext>
            </a:extLst>
          </p:cNvPr>
          <p:cNvSpPr txBox="1">
            <a:spLocks/>
          </p:cNvSpPr>
          <p:nvPr/>
        </p:nvSpPr>
        <p:spPr>
          <a:xfrm>
            <a:off x="554737" y="5258847"/>
            <a:ext cx="1312164"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t>Security, privacy, and risk management</a:t>
            </a:r>
          </a:p>
        </p:txBody>
      </p:sp>
      <p:sp>
        <p:nvSpPr>
          <p:cNvPr id="46" name="TextBox 45">
            <a:extLst>
              <a:ext uri="{FF2B5EF4-FFF2-40B4-BE49-F238E27FC236}">
                <a16:creationId xmlns:a16="http://schemas.microsoft.com/office/drawing/2014/main" id="{CF78DB0D-F4AC-E17F-9F66-E32F059FEFCE}"/>
              </a:ext>
            </a:extLst>
          </p:cNvPr>
          <p:cNvSpPr txBox="1">
            <a:spLocks/>
          </p:cNvSpPr>
          <p:nvPr/>
        </p:nvSpPr>
        <p:spPr>
          <a:xfrm>
            <a:off x="2057667" y="5258847"/>
            <a:ext cx="9343759"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solidFill>
                  <a:schemeClr val="accent1"/>
                </a:solidFill>
              </a:rPr>
              <a:t>E7. </a:t>
            </a:r>
            <a:r>
              <a:rPr lang="en-US" b="1">
                <a:solidFill>
                  <a:schemeClr val="accent1"/>
                </a:solidFill>
              </a:rPr>
              <a:t>[Policy] Implement</a:t>
            </a:r>
            <a:r>
              <a:rPr lang="en-US">
                <a:solidFill>
                  <a:schemeClr val="accent1"/>
                </a:solidFill>
              </a:rPr>
              <a:t> </a:t>
            </a:r>
            <a:r>
              <a:rPr lang="en-US" b="1">
                <a:solidFill>
                  <a:schemeClr val="accent1"/>
                </a:solidFill>
              </a:rPr>
              <a:t>standardized security/privacy controls </a:t>
            </a:r>
            <a:r>
              <a:rPr lang="en-US">
                <a:solidFill>
                  <a:schemeClr val="accent1"/>
                </a:solidFill>
              </a:rPr>
              <a:t>(e.g., retention policies) across GenAI solutions to replace bespoke rules  </a:t>
            </a:r>
          </a:p>
        </p:txBody>
      </p:sp>
      <p:sp>
        <p:nvSpPr>
          <p:cNvPr id="10" name="TextBox 9">
            <a:extLst>
              <a:ext uri="{FF2B5EF4-FFF2-40B4-BE49-F238E27FC236}">
                <a16:creationId xmlns:a16="http://schemas.microsoft.com/office/drawing/2014/main" id="{A1499B43-46A9-7071-A4FF-C227BF5733AE}"/>
              </a:ext>
            </a:extLst>
          </p:cNvPr>
          <p:cNvSpPr txBox="1">
            <a:spLocks/>
          </p:cNvSpPr>
          <p:nvPr/>
        </p:nvSpPr>
        <p:spPr>
          <a:xfrm>
            <a:off x="554737" y="2254083"/>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Access management</a:t>
            </a:r>
          </a:p>
        </p:txBody>
      </p:sp>
      <p:sp>
        <p:nvSpPr>
          <p:cNvPr id="23" name="TextBox 22">
            <a:extLst>
              <a:ext uri="{FF2B5EF4-FFF2-40B4-BE49-F238E27FC236}">
                <a16:creationId xmlns:a16="http://schemas.microsoft.com/office/drawing/2014/main" id="{656FBD0F-A703-8BCE-C8AE-2C826E579BE0}"/>
              </a:ext>
            </a:extLst>
          </p:cNvPr>
          <p:cNvSpPr txBox="1">
            <a:spLocks/>
          </p:cNvSpPr>
          <p:nvPr/>
        </p:nvSpPr>
        <p:spPr>
          <a:xfrm>
            <a:off x="2057667" y="2254083"/>
            <a:ext cx="9343759" cy="184666"/>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indent="0">
              <a:buNone/>
            </a:pPr>
            <a:r>
              <a:rPr lang="en-US"/>
              <a:t>E2. </a:t>
            </a:r>
            <a:r>
              <a:rPr lang="en-US" b="1"/>
              <a:t>Streamline access controls </a:t>
            </a:r>
            <a:r>
              <a:rPr lang="en-US"/>
              <a:t>through automated validation (e.g. RBAC/ABAC) over manual approvals </a:t>
            </a:r>
            <a:r>
              <a:rPr lang="en-US" b="1"/>
              <a:t> </a:t>
            </a:r>
            <a:endParaRPr lang="en-US"/>
          </a:p>
        </p:txBody>
      </p:sp>
      <p:grpSp>
        <p:nvGrpSpPr>
          <p:cNvPr id="21" name="Group 20">
            <a:extLst>
              <a:ext uri="{FF2B5EF4-FFF2-40B4-BE49-F238E27FC236}">
                <a16:creationId xmlns:a16="http://schemas.microsoft.com/office/drawing/2014/main" id="{4F786A87-D282-A859-E24F-73515A669E78}"/>
              </a:ext>
            </a:extLst>
          </p:cNvPr>
          <p:cNvGrpSpPr/>
          <p:nvPr/>
        </p:nvGrpSpPr>
        <p:grpSpPr>
          <a:xfrm>
            <a:off x="7726791" y="1006853"/>
            <a:ext cx="3910473" cy="153888"/>
            <a:chOff x="7726792" y="834858"/>
            <a:chExt cx="3910473" cy="153888"/>
          </a:xfrm>
        </p:grpSpPr>
        <p:sp>
          <p:nvSpPr>
            <p:cNvPr id="3" name="TextBox 73">
              <a:extLst>
                <a:ext uri="{FF2B5EF4-FFF2-40B4-BE49-F238E27FC236}">
                  <a16:creationId xmlns:a16="http://schemas.microsoft.com/office/drawing/2014/main" id="{1674E140-FCDD-66EE-267A-F7B19FA43B33}"/>
                </a:ext>
              </a:extLst>
            </p:cNvPr>
            <p:cNvSpPr txBox="1"/>
            <p:nvPr/>
          </p:nvSpPr>
          <p:spPr>
            <a:xfrm>
              <a:off x="10017531" y="834858"/>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5" name="TextBox 74">
              <a:extLst>
                <a:ext uri="{FF2B5EF4-FFF2-40B4-BE49-F238E27FC236}">
                  <a16:creationId xmlns:a16="http://schemas.microsoft.com/office/drawing/2014/main" id="{6508981F-8692-D063-2740-C45C686E818D}"/>
                </a:ext>
              </a:extLst>
            </p:cNvPr>
            <p:cNvSpPr txBox="1"/>
            <p:nvPr/>
          </p:nvSpPr>
          <p:spPr>
            <a:xfrm>
              <a:off x="10285933" y="834858"/>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16" name="TextBox 15">
              <a:extLst>
                <a:ext uri="{FF2B5EF4-FFF2-40B4-BE49-F238E27FC236}">
                  <a16:creationId xmlns:a16="http://schemas.microsoft.com/office/drawing/2014/main" id="{45DEAFF9-EA3F-16AC-C182-8F6F4BA93FCB}"/>
                </a:ext>
              </a:extLst>
            </p:cNvPr>
            <p:cNvSpPr txBox="1"/>
            <p:nvPr/>
          </p:nvSpPr>
          <p:spPr>
            <a:xfrm>
              <a:off x="7925654" y="834858"/>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Most critical for AI Data Readiness</a:t>
              </a:r>
            </a:p>
          </p:txBody>
        </p:sp>
        <p:sp>
          <p:nvSpPr>
            <p:cNvPr id="17" name="Rectangle 16">
              <a:extLst>
                <a:ext uri="{FF2B5EF4-FFF2-40B4-BE49-F238E27FC236}">
                  <a16:creationId xmlns:a16="http://schemas.microsoft.com/office/drawing/2014/main" id="{776098DB-030A-7A79-F42B-A1F257DFD304}"/>
                </a:ext>
              </a:extLst>
            </p:cNvPr>
            <p:cNvSpPr>
              <a:spLocks/>
            </p:cNvSpPr>
            <p:nvPr/>
          </p:nvSpPr>
          <p:spPr>
            <a:xfrm>
              <a:off x="7726792" y="840774"/>
              <a:ext cx="142055" cy="142055"/>
            </a:xfrm>
            <a:prstGeom prst="rect">
              <a:avLst/>
            </a:prstGeom>
            <a:solidFill>
              <a:schemeClr val="accent2">
                <a:lumMod val="20000"/>
                <a:lumOff val="80000"/>
              </a:schemeClr>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cxnSp>
        <p:nvCxnSpPr>
          <p:cNvPr id="18" name="Straight Connector 17">
            <a:extLst>
              <a:ext uri="{FF2B5EF4-FFF2-40B4-BE49-F238E27FC236}">
                <a16:creationId xmlns:a16="http://schemas.microsoft.com/office/drawing/2014/main" id="{0EE13B7C-A46E-D028-B342-46C0B8252076}"/>
              </a:ext>
            </a:extLst>
          </p:cNvPr>
          <p:cNvCxnSpPr>
            <a:cxnSpLocks/>
          </p:cNvCxnSpPr>
          <p:nvPr>
            <p:custDataLst>
              <p:tags r:id="rId10"/>
            </p:custDataLst>
          </p:nvPr>
        </p:nvCxnSpPr>
        <p:spPr>
          <a:xfrm>
            <a:off x="554738" y="1529271"/>
            <a:ext cx="11082527"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0BB8894-19ED-EEB8-BAEA-DA4EF0CFA6FE}"/>
              </a:ext>
            </a:extLst>
          </p:cNvPr>
          <p:cNvSpPr txBox="1">
            <a:spLocks/>
          </p:cNvSpPr>
          <p:nvPr/>
        </p:nvSpPr>
        <p:spPr>
          <a:xfrm>
            <a:off x="554737" y="1068486"/>
            <a:ext cx="1312164"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Sub-</a:t>
            </a:r>
            <a:br>
              <a:rPr lang="en-US" sz="1400" b="1"/>
            </a:br>
            <a:r>
              <a:rPr lang="en-US" sz="1400" b="1"/>
              <a:t>Dimension</a:t>
            </a:r>
          </a:p>
        </p:txBody>
      </p:sp>
      <p:sp>
        <p:nvSpPr>
          <p:cNvPr id="27" name="TextBox 26">
            <a:extLst>
              <a:ext uri="{FF2B5EF4-FFF2-40B4-BE49-F238E27FC236}">
                <a16:creationId xmlns:a16="http://schemas.microsoft.com/office/drawing/2014/main" id="{FB984DA8-5705-7FFF-E97F-51FB3766A0DA}"/>
              </a:ext>
            </a:extLst>
          </p:cNvPr>
          <p:cNvSpPr txBox="1">
            <a:spLocks/>
          </p:cNvSpPr>
          <p:nvPr/>
        </p:nvSpPr>
        <p:spPr>
          <a:xfrm>
            <a:off x="2057667" y="1283929"/>
            <a:ext cx="7651120"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Potential actions</a:t>
            </a:r>
          </a:p>
        </p:txBody>
      </p:sp>
      <p:sp>
        <p:nvSpPr>
          <p:cNvPr id="8" name="Rectangle 7">
            <a:extLst>
              <a:ext uri="{FF2B5EF4-FFF2-40B4-BE49-F238E27FC236}">
                <a16:creationId xmlns:a16="http://schemas.microsoft.com/office/drawing/2014/main" id="{161F54FA-D9F2-95E7-8940-E3B0305B9C27}"/>
              </a:ext>
            </a:extLst>
          </p:cNvPr>
          <p:cNvSpPr>
            <a:spLocks/>
          </p:cNvSpPr>
          <p:nvPr>
            <p:custDataLst>
              <p:tags r:id="rId11"/>
            </p:custDataLst>
          </p:nvPr>
        </p:nvSpPr>
        <p:spPr>
          <a:xfrm>
            <a:off x="554737" y="5989151"/>
            <a:ext cx="11082528" cy="480417"/>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Policy related changes would be led by  ... </a:t>
            </a:r>
            <a:r>
              <a:rPr lang="en-US" sz="1200" dirty="0">
                <a:solidFill>
                  <a:schemeClr val="bg1"/>
                </a:solidFill>
                <a:latin typeface="Arial" panose="020B0604020202020204" pitchFamily="34" charset="0"/>
                <a:cs typeface="Arial" panose="020B0604020202020204" pitchFamily="34" charset="0"/>
              </a:rPr>
              <a:t>with support from the relevant SMEs (e.g.,  ...)</a:t>
            </a:r>
          </a:p>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Potential actions listed will be prioritized, refined, and sequenced </a:t>
            </a:r>
            <a:r>
              <a:rPr lang="en-US" sz="1200" dirty="0">
                <a:solidFill>
                  <a:schemeClr val="bg1"/>
                </a:solidFill>
                <a:latin typeface="Arial" panose="020B0604020202020204" pitchFamily="34" charset="0"/>
                <a:cs typeface="Arial" panose="020B0604020202020204" pitchFamily="34" charset="0"/>
              </a:rPr>
              <a:t>during the upcoming Identify &amp; Focus phase</a:t>
            </a:r>
          </a:p>
        </p:txBody>
      </p:sp>
    </p:spTree>
    <p:custDataLst>
      <p:tags r:id="rId1"/>
    </p:custDataLst>
    <p:extLst>
      <p:ext uri="{BB962C8B-B14F-4D97-AF65-F5344CB8AC3E}">
        <p14:creationId xmlns:p14="http://schemas.microsoft.com/office/powerpoint/2010/main" val="2670452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9C659-C505-D7DC-FDE0-5A0601E8B643}"/>
            </a:ext>
          </a:extLst>
        </p:cNvPr>
        <p:cNvGrpSpPr/>
        <p:nvPr/>
      </p:nvGrpSpPr>
      <p:grpSpPr>
        <a:xfrm>
          <a:off x="0" y="0"/>
          <a:ext cx="0" cy="0"/>
          <a:chOff x="0" y="0"/>
          <a:chExt cx="0" cy="0"/>
        </a:xfrm>
      </p:grpSpPr>
      <p:graphicFrame>
        <p:nvGraphicFramePr>
          <p:cNvPr id="44" name="Object 6" hidden="1">
            <a:extLst>
              <a:ext uri="{FF2B5EF4-FFF2-40B4-BE49-F238E27FC236}">
                <a16:creationId xmlns:a16="http://schemas.microsoft.com/office/drawing/2014/main" id="{6040D93F-5521-45F1-5816-4CB34E3CEC78}"/>
              </a:ext>
            </a:extLst>
          </p:cNvPr>
          <p:cNvGraphicFramePr>
            <a:graphicFrameLocks noChangeAspect="1"/>
          </p:cNvGraphicFramePr>
          <p:nvPr>
            <p:custDataLst>
              <p:tags r:id="rId2"/>
            </p:custDataLst>
            <p:extLst>
              <p:ext uri="{D42A27DB-BD31-4B8C-83A1-F6EECF244321}">
                <p14:modId xmlns:p14="http://schemas.microsoft.com/office/powerpoint/2010/main" val="31165307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4" imgH="405" progId="TCLayout.ActiveDocument.1">
                  <p:embed/>
                </p:oleObj>
              </mc:Choice>
              <mc:Fallback>
                <p:oleObj name="think-cell Slide" r:id="rId11" imgW="404" imgH="405" progId="TCLayout.ActiveDocument.1">
                  <p:embed/>
                  <p:pic>
                    <p:nvPicPr>
                      <p:cNvPr id="44" name="Object 6" hidden="1">
                        <a:extLst>
                          <a:ext uri="{FF2B5EF4-FFF2-40B4-BE49-F238E27FC236}">
                            <a16:creationId xmlns:a16="http://schemas.microsoft.com/office/drawing/2014/main" id="{6040D93F-5521-45F1-5816-4CB34E3CEC7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D5D09925-5F43-7561-4738-A076D232FF7A}"/>
              </a:ext>
            </a:extLst>
          </p:cNvPr>
          <p:cNvSpPr>
            <a:spLocks noGrp="1"/>
          </p:cNvSpPr>
          <p:nvPr>
            <p:ph type="title"/>
            <p:custDataLst>
              <p:tags r:id="rId3"/>
            </p:custDataLst>
          </p:nvPr>
        </p:nvSpPr>
        <p:spPr/>
        <p:txBody>
          <a:bodyPr vert="horz">
            <a:noAutofit/>
          </a:bodyPr>
          <a:lstStyle/>
          <a:p>
            <a:r>
              <a:rPr lang="en-US" dirty="0"/>
              <a:t>F. Potential actions for Platform &amp; Tooling</a:t>
            </a:r>
          </a:p>
        </p:txBody>
      </p:sp>
      <p:sp>
        <p:nvSpPr>
          <p:cNvPr id="7" name="Text Placeholder 6">
            <a:extLst>
              <a:ext uri="{FF2B5EF4-FFF2-40B4-BE49-F238E27FC236}">
                <a16:creationId xmlns:a16="http://schemas.microsoft.com/office/drawing/2014/main" id="{15973FD2-4764-4975-8568-47E52EBF1DF1}"/>
              </a:ext>
            </a:extLst>
          </p:cNvPr>
          <p:cNvSpPr>
            <a:spLocks noGrp="1"/>
          </p:cNvSpPr>
          <p:nvPr>
            <p:ph type="body" sz="quarter" idx="17"/>
          </p:nvPr>
        </p:nvSpPr>
        <p:spPr/>
        <p:txBody>
          <a:bodyPr/>
          <a:lstStyle/>
          <a:p>
            <a:endParaRPr lang="en-US"/>
          </a:p>
        </p:txBody>
      </p:sp>
      <p:sp>
        <p:nvSpPr>
          <p:cNvPr id="77" name="Rectangle 76">
            <a:extLst>
              <a:ext uri="{FF2B5EF4-FFF2-40B4-BE49-F238E27FC236}">
                <a16:creationId xmlns:a16="http://schemas.microsoft.com/office/drawing/2014/main" id="{4CC69F8A-4D81-20EC-DC9D-A19AAC261281}"/>
              </a:ext>
            </a:extLst>
          </p:cNvPr>
          <p:cNvSpPr>
            <a:spLocks/>
          </p:cNvSpPr>
          <p:nvPr/>
        </p:nvSpPr>
        <p:spPr>
          <a:xfrm>
            <a:off x="527900" y="1529271"/>
            <a:ext cx="11125523" cy="238371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9" name="TextBox 8">
            <a:extLst>
              <a:ext uri="{FF2B5EF4-FFF2-40B4-BE49-F238E27FC236}">
                <a16:creationId xmlns:a16="http://schemas.microsoft.com/office/drawing/2014/main" id="{F6E11562-F532-BB1A-1B92-27FE55A279E6}"/>
              </a:ext>
            </a:extLst>
          </p:cNvPr>
          <p:cNvSpPr txBox="1">
            <a:spLocks/>
          </p:cNvSpPr>
          <p:nvPr/>
        </p:nvSpPr>
        <p:spPr>
          <a:xfrm>
            <a:off x="573371" y="1565247"/>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a:solidFill>
                  <a:srgbClr val="000000"/>
                </a:solidFill>
              </a:rPr>
              <a:t>Ingestion and integration </a:t>
            </a:r>
          </a:p>
        </p:txBody>
      </p:sp>
      <p:sp>
        <p:nvSpPr>
          <p:cNvPr id="29" name="TextBox 28">
            <a:extLst>
              <a:ext uri="{FF2B5EF4-FFF2-40B4-BE49-F238E27FC236}">
                <a16:creationId xmlns:a16="http://schemas.microsoft.com/office/drawing/2014/main" id="{C2D36419-5E78-3351-73E1-B3110ED16506}"/>
              </a:ext>
            </a:extLst>
          </p:cNvPr>
          <p:cNvSpPr txBox="1">
            <a:spLocks/>
          </p:cNvSpPr>
          <p:nvPr/>
        </p:nvSpPr>
        <p:spPr>
          <a:xfrm>
            <a:off x="2076301" y="1565247"/>
            <a:ext cx="9265654" cy="369320"/>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t>F1.</a:t>
            </a:r>
            <a:r>
              <a:rPr lang="en-US" sz="1200" b="1"/>
              <a:t> [Policy] Establish enterprise policy and standards for unstructured data pipelines </a:t>
            </a:r>
            <a:r>
              <a:rPr lang="en-US" sz="1200"/>
              <a:t>to guide teams in building consistent, compliant, and reusable solutions</a:t>
            </a:r>
          </a:p>
        </p:txBody>
      </p:sp>
      <p:cxnSp>
        <p:nvCxnSpPr>
          <p:cNvPr id="32" name="Straight Connector 31">
            <a:extLst>
              <a:ext uri="{FF2B5EF4-FFF2-40B4-BE49-F238E27FC236}">
                <a16:creationId xmlns:a16="http://schemas.microsoft.com/office/drawing/2014/main" id="{A0D7D9BE-F501-55D3-F079-B6CDD1818363}"/>
              </a:ext>
            </a:extLst>
          </p:cNvPr>
          <p:cNvCxnSpPr>
            <a:cxnSpLocks/>
          </p:cNvCxnSpPr>
          <p:nvPr>
            <p:custDataLst>
              <p:tags r:id="rId4"/>
            </p:custDataLst>
          </p:nvPr>
        </p:nvCxnSpPr>
        <p:spPr>
          <a:xfrm>
            <a:off x="573372" y="3110302"/>
            <a:ext cx="11082527" cy="0"/>
          </a:xfrm>
          <a:prstGeom prst="line">
            <a:avLst/>
          </a:prstGeom>
          <a:ln w="3175"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8977D0B-A661-71F4-E5A8-C7535D159A62}"/>
              </a:ext>
            </a:extLst>
          </p:cNvPr>
          <p:cNvCxnSpPr>
            <a:cxnSpLocks/>
          </p:cNvCxnSpPr>
          <p:nvPr>
            <p:custDataLst>
              <p:tags r:id="rId5"/>
            </p:custDataLst>
          </p:nvPr>
        </p:nvCxnSpPr>
        <p:spPr>
          <a:xfrm>
            <a:off x="573372" y="3912990"/>
            <a:ext cx="11082527" cy="0"/>
          </a:xfrm>
          <a:prstGeom prst="line">
            <a:avLst/>
          </a:prstGeom>
          <a:ln w="3175"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128C098-337B-228C-3077-9DE3F98338DC}"/>
              </a:ext>
            </a:extLst>
          </p:cNvPr>
          <p:cNvCxnSpPr>
            <a:cxnSpLocks/>
          </p:cNvCxnSpPr>
          <p:nvPr>
            <p:custDataLst>
              <p:tags r:id="rId6"/>
            </p:custDataLst>
          </p:nvPr>
        </p:nvCxnSpPr>
        <p:spPr>
          <a:xfrm>
            <a:off x="2056986" y="2058924"/>
            <a:ext cx="9598913" cy="0"/>
          </a:xfrm>
          <a:prstGeom prst="line">
            <a:avLst/>
          </a:prstGeom>
          <a:ln w="3175"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86DCB493-9B59-2BA7-D29B-7B763734CC62}"/>
              </a:ext>
            </a:extLst>
          </p:cNvPr>
          <p:cNvCxnSpPr>
            <a:cxnSpLocks/>
          </p:cNvCxnSpPr>
          <p:nvPr>
            <p:custDataLst>
              <p:tags r:id="rId7"/>
            </p:custDataLst>
          </p:nvPr>
        </p:nvCxnSpPr>
        <p:spPr>
          <a:xfrm>
            <a:off x="2056986" y="2492280"/>
            <a:ext cx="9598913" cy="0"/>
          </a:xfrm>
          <a:prstGeom prst="line">
            <a:avLst/>
          </a:prstGeom>
          <a:ln w="3175"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FA32C98-5226-CC33-BF54-88E399FA888C}"/>
              </a:ext>
            </a:extLst>
          </p:cNvPr>
          <p:cNvSpPr txBox="1">
            <a:spLocks/>
          </p:cNvSpPr>
          <p:nvPr/>
        </p:nvSpPr>
        <p:spPr>
          <a:xfrm>
            <a:off x="2076301" y="2183269"/>
            <a:ext cx="9265654" cy="184660"/>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solidFill>
                  <a:schemeClr val="accent1"/>
                </a:solidFill>
              </a:rPr>
              <a:t>F2. </a:t>
            </a:r>
            <a:r>
              <a:rPr lang="en-US" sz="1200" b="1">
                <a:solidFill>
                  <a:schemeClr val="accent1"/>
                </a:solidFill>
              </a:rPr>
              <a:t>Develop reusable unstructured data pipelines</a:t>
            </a:r>
            <a:r>
              <a:rPr lang="en-US" sz="1200">
                <a:solidFill>
                  <a:schemeClr val="accent1"/>
                </a:solidFill>
              </a:rPr>
              <a:t> to replace bespoke, one-off solutions</a:t>
            </a:r>
          </a:p>
        </p:txBody>
      </p:sp>
      <p:sp>
        <p:nvSpPr>
          <p:cNvPr id="48" name="TextBox 47">
            <a:extLst>
              <a:ext uri="{FF2B5EF4-FFF2-40B4-BE49-F238E27FC236}">
                <a16:creationId xmlns:a16="http://schemas.microsoft.com/office/drawing/2014/main" id="{7A6861A6-FC82-369D-D640-23D392046386}"/>
              </a:ext>
            </a:extLst>
          </p:cNvPr>
          <p:cNvSpPr txBox="1">
            <a:spLocks/>
          </p:cNvSpPr>
          <p:nvPr/>
        </p:nvSpPr>
        <p:spPr>
          <a:xfrm>
            <a:off x="2076301" y="2616625"/>
            <a:ext cx="9265654"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solidFill>
                  <a:schemeClr val="accent1"/>
                </a:solidFill>
              </a:rPr>
              <a:t>F3. </a:t>
            </a:r>
            <a:r>
              <a:rPr lang="en-US" sz="1200" b="1">
                <a:solidFill>
                  <a:schemeClr val="accent1"/>
                </a:solidFill>
              </a:rPr>
              <a:t>Build standardized, token-efficient preprocessing capabilities </a:t>
            </a:r>
            <a:r>
              <a:rPr lang="en-US" sz="1200">
                <a:solidFill>
                  <a:schemeClr val="accent1"/>
                </a:solidFill>
              </a:rPr>
              <a:t>(e.g., chunking, compression, retrieval augmentation) to ensure consistent and reusable outputs</a:t>
            </a:r>
          </a:p>
        </p:txBody>
      </p:sp>
      <p:sp>
        <p:nvSpPr>
          <p:cNvPr id="25" name="TextBox 24">
            <a:extLst>
              <a:ext uri="{FF2B5EF4-FFF2-40B4-BE49-F238E27FC236}">
                <a16:creationId xmlns:a16="http://schemas.microsoft.com/office/drawing/2014/main" id="{F10BEBBD-756E-13CE-9A43-4916DC67E7F2}"/>
              </a:ext>
            </a:extLst>
          </p:cNvPr>
          <p:cNvSpPr txBox="1">
            <a:spLocks/>
          </p:cNvSpPr>
          <p:nvPr/>
        </p:nvSpPr>
        <p:spPr>
          <a:xfrm>
            <a:off x="2076301" y="3234647"/>
            <a:ext cx="9265654"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solidFill>
                  <a:schemeClr val="accent1"/>
                </a:solidFill>
              </a:rPr>
              <a:t>F4. </a:t>
            </a:r>
            <a:r>
              <a:rPr lang="en-US" sz="1200" b="1">
                <a:solidFill>
                  <a:schemeClr val="accent1"/>
                </a:solidFill>
              </a:rPr>
              <a:t>Establish a centralized vector store</a:t>
            </a:r>
            <a:r>
              <a:rPr lang="en-US" sz="1200">
                <a:solidFill>
                  <a:schemeClr val="accent1"/>
                </a:solidFill>
              </a:rPr>
              <a:t> for embeddings to drive reuse and reduce duplication across use cases</a:t>
            </a:r>
          </a:p>
        </p:txBody>
      </p:sp>
      <p:sp>
        <p:nvSpPr>
          <p:cNvPr id="43" name="TextBox 42">
            <a:extLst>
              <a:ext uri="{FF2B5EF4-FFF2-40B4-BE49-F238E27FC236}">
                <a16:creationId xmlns:a16="http://schemas.microsoft.com/office/drawing/2014/main" id="{EA65E564-80C1-9D71-3640-AA4B941A95B5}"/>
              </a:ext>
            </a:extLst>
          </p:cNvPr>
          <p:cNvSpPr txBox="1">
            <a:spLocks/>
          </p:cNvSpPr>
          <p:nvPr/>
        </p:nvSpPr>
        <p:spPr>
          <a:xfrm>
            <a:off x="573371" y="3234647"/>
            <a:ext cx="1312164"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buNone/>
              <a:defRPr/>
            </a:pPr>
            <a:r>
              <a:rPr lang="en-US" sz="1200" b="1" spc="-30">
                <a:solidFill>
                  <a:srgbClr val="000000"/>
                </a:solidFill>
              </a:rPr>
              <a:t>Feature store, vector store, search</a:t>
            </a:r>
          </a:p>
        </p:txBody>
      </p:sp>
      <p:sp>
        <p:nvSpPr>
          <p:cNvPr id="28" name="TextBox 27">
            <a:extLst>
              <a:ext uri="{FF2B5EF4-FFF2-40B4-BE49-F238E27FC236}">
                <a16:creationId xmlns:a16="http://schemas.microsoft.com/office/drawing/2014/main" id="{CDF7355D-3041-3109-9F36-099FD0E22768}"/>
              </a:ext>
            </a:extLst>
          </p:cNvPr>
          <p:cNvSpPr txBox="1">
            <a:spLocks/>
          </p:cNvSpPr>
          <p:nvPr/>
        </p:nvSpPr>
        <p:spPr>
          <a:xfrm>
            <a:off x="2076301" y="4037332"/>
            <a:ext cx="9265654" cy="369332"/>
          </a:xfrm>
          <a:prstGeom prst="rect">
            <a:avLst/>
          </a:prstGeom>
        </p:spPr>
        <p:txBody>
          <a:bodyPr vert="horz" wrap="square" lIns="0" tIns="0" rIns="0" bIns="0" rtlCol="0" anchor="t" anchorCtr="0">
            <a:noAutofit/>
          </a:bodyPr>
          <a:lstStyle>
            <a:defPPr>
              <a:defRPr lang="en-US"/>
            </a:defPPr>
            <a:lvl1pPr marL="285750" lvl="0" indent="-285750">
              <a:lnSpc>
                <a:spcPct val="100000"/>
              </a:lnSpc>
              <a:spcBef>
                <a:spcPts val="300"/>
              </a:spcBef>
              <a:spcAft>
                <a:spcPts val="300"/>
              </a:spcAft>
              <a:buClr>
                <a:schemeClr val="tx1"/>
              </a:buClr>
              <a:buSzPct val="100000"/>
              <a:buFont typeface="Arial" panose="020B0604020202020204" pitchFamily="34" charset="0"/>
              <a:buChar char="•"/>
              <a:defRPr sz="1200">
                <a:cs typeface="Arial" panose="020B0604020202020204" pitchFamily="34" charset="0"/>
              </a:defRPr>
            </a:lvl1pPr>
            <a:lvl2pPr marL="228600" marR="0" lvl="1" indent="-228600" fontAlgn="auto">
              <a:lnSpc>
                <a:spcPct val="100000"/>
              </a:lnSpc>
              <a:spcBef>
                <a:spcPts val="0"/>
              </a:spcBef>
              <a:spcAft>
                <a:spcPts val="300"/>
              </a:spcAft>
              <a:buClr>
                <a:srgbClr val="000000"/>
              </a:buClr>
              <a:buSzPct val="110000"/>
              <a:buFont typeface="Wingdings" panose="05000000000000000000" pitchFamily="2" charset="2"/>
              <a:buChar char=""/>
              <a:tabLst/>
              <a:defRPr kumimoji="0" sz="1100" i="0" u="none" strike="noStrike" cap="none" spc="0" normalizeH="0" baseline="0">
                <a:ln>
                  <a:noFill/>
                </a:ln>
                <a:solidFill>
                  <a:srgbClr val="000000"/>
                </a:solidFill>
                <a:effectLst/>
                <a:uLnTx/>
                <a:uFillTx/>
                <a:latin typeface="Arial"/>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defRPr/>
            </a:pPr>
            <a:r>
              <a:rPr lang="en-US" sz="1200"/>
              <a:t>F5. </a:t>
            </a:r>
            <a:r>
              <a:rPr lang="en-US" sz="1200" b="1"/>
              <a:t>Normalize development, test, and production environments</a:t>
            </a:r>
            <a:r>
              <a:rPr lang="en-US" sz="1200"/>
              <a:t> to streamline handoffs and accelerate deployment</a:t>
            </a:r>
          </a:p>
        </p:txBody>
      </p:sp>
      <p:sp>
        <p:nvSpPr>
          <p:cNvPr id="47" name="TextBox 46">
            <a:extLst>
              <a:ext uri="{FF2B5EF4-FFF2-40B4-BE49-F238E27FC236}">
                <a16:creationId xmlns:a16="http://schemas.microsoft.com/office/drawing/2014/main" id="{3DCD3E82-BDED-F18D-FAC0-1894932F3D34}"/>
              </a:ext>
            </a:extLst>
          </p:cNvPr>
          <p:cNvSpPr txBox="1">
            <a:spLocks/>
          </p:cNvSpPr>
          <p:nvPr/>
        </p:nvSpPr>
        <p:spPr>
          <a:xfrm>
            <a:off x="573371" y="4037332"/>
            <a:ext cx="1312164"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en-US" sz="1200" b="1">
                <a:solidFill>
                  <a:srgbClr val="000000"/>
                </a:solidFill>
              </a:rPr>
              <a:t>DevOps and CI/CD</a:t>
            </a:r>
          </a:p>
        </p:txBody>
      </p:sp>
      <p:grpSp>
        <p:nvGrpSpPr>
          <p:cNvPr id="11" name="Group 10">
            <a:extLst>
              <a:ext uri="{FF2B5EF4-FFF2-40B4-BE49-F238E27FC236}">
                <a16:creationId xmlns:a16="http://schemas.microsoft.com/office/drawing/2014/main" id="{0BB60587-341B-9AAB-3988-BD2F93B759FA}"/>
              </a:ext>
            </a:extLst>
          </p:cNvPr>
          <p:cNvGrpSpPr/>
          <p:nvPr/>
        </p:nvGrpSpPr>
        <p:grpSpPr>
          <a:xfrm>
            <a:off x="7726791" y="1006853"/>
            <a:ext cx="3910473" cy="153888"/>
            <a:chOff x="7745426" y="834858"/>
            <a:chExt cx="3910473" cy="153888"/>
          </a:xfrm>
        </p:grpSpPr>
        <p:sp>
          <p:nvSpPr>
            <p:cNvPr id="40" name="TextBox 73">
              <a:extLst>
                <a:ext uri="{FF2B5EF4-FFF2-40B4-BE49-F238E27FC236}">
                  <a16:creationId xmlns:a16="http://schemas.microsoft.com/office/drawing/2014/main" id="{6567C061-7609-195B-0268-1197D2AA5127}"/>
                </a:ext>
              </a:extLst>
            </p:cNvPr>
            <p:cNvSpPr txBox="1"/>
            <p:nvPr/>
          </p:nvSpPr>
          <p:spPr>
            <a:xfrm>
              <a:off x="10036165" y="834858"/>
              <a:ext cx="211596"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b="1">
                  <a:solidFill>
                    <a:schemeClr val="accent1"/>
                  </a:solidFill>
                </a:rPr>
                <a:t>xxx</a:t>
              </a:r>
            </a:p>
          </p:txBody>
        </p:sp>
        <p:sp>
          <p:nvSpPr>
            <p:cNvPr id="41" name="TextBox 74">
              <a:extLst>
                <a:ext uri="{FF2B5EF4-FFF2-40B4-BE49-F238E27FC236}">
                  <a16:creationId xmlns:a16="http://schemas.microsoft.com/office/drawing/2014/main" id="{DD07B71A-477B-0B89-1D34-FCEEE4E8677A}"/>
                </a:ext>
              </a:extLst>
            </p:cNvPr>
            <p:cNvSpPr txBox="1"/>
            <p:nvPr/>
          </p:nvSpPr>
          <p:spPr>
            <a:xfrm>
              <a:off x="10304567" y="834858"/>
              <a:ext cx="1351332" cy="153888"/>
            </a:xfrm>
            <a:prstGeom prst="rect">
              <a:avLst/>
            </a:prstGeom>
          </p:spPr>
          <p:txBody>
            <a:bodyPr vert="horz" wrap="none" lIns="0" tIns="0" rIns="0" bIns="0" rtlCol="0">
              <a:sp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000"/>
                <a:t>Pertinent to Gen AI only</a:t>
              </a:r>
            </a:p>
          </p:txBody>
        </p:sp>
        <p:sp>
          <p:nvSpPr>
            <p:cNvPr id="46" name="TextBox 45">
              <a:extLst>
                <a:ext uri="{FF2B5EF4-FFF2-40B4-BE49-F238E27FC236}">
                  <a16:creationId xmlns:a16="http://schemas.microsoft.com/office/drawing/2014/main" id="{4BD1BA88-7186-6EFC-0AC9-C6B8307A6E9A}"/>
                </a:ext>
              </a:extLst>
            </p:cNvPr>
            <p:cNvSpPr txBox="1"/>
            <p:nvPr/>
          </p:nvSpPr>
          <p:spPr>
            <a:xfrm>
              <a:off x="7944288" y="834858"/>
              <a:ext cx="1958870"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Most critical for AI Data Readiness</a:t>
              </a:r>
            </a:p>
          </p:txBody>
        </p:sp>
        <p:sp>
          <p:nvSpPr>
            <p:cNvPr id="50" name="Rectangle 49">
              <a:extLst>
                <a:ext uri="{FF2B5EF4-FFF2-40B4-BE49-F238E27FC236}">
                  <a16:creationId xmlns:a16="http://schemas.microsoft.com/office/drawing/2014/main" id="{49057311-4289-303C-87BD-5D89FD7B8825}"/>
                </a:ext>
              </a:extLst>
            </p:cNvPr>
            <p:cNvSpPr>
              <a:spLocks/>
            </p:cNvSpPr>
            <p:nvPr/>
          </p:nvSpPr>
          <p:spPr>
            <a:xfrm>
              <a:off x="7745426" y="840774"/>
              <a:ext cx="142055" cy="142055"/>
            </a:xfrm>
            <a:prstGeom prst="rect">
              <a:avLst/>
            </a:prstGeom>
            <a:solidFill>
              <a:schemeClr val="accent2">
                <a:lumMod val="20000"/>
                <a:lumOff val="80000"/>
              </a:schemeClr>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a:solidFill>
                  <a:schemeClr val="bg1"/>
                </a:solidFill>
              </a:endParaRPr>
            </a:p>
          </p:txBody>
        </p:sp>
      </p:grpSp>
      <p:cxnSp>
        <p:nvCxnSpPr>
          <p:cNvPr id="51" name="Straight Connector 50">
            <a:extLst>
              <a:ext uri="{FF2B5EF4-FFF2-40B4-BE49-F238E27FC236}">
                <a16:creationId xmlns:a16="http://schemas.microsoft.com/office/drawing/2014/main" id="{A52AA422-33B0-405B-E39C-85EFD50C1383}"/>
              </a:ext>
            </a:extLst>
          </p:cNvPr>
          <p:cNvCxnSpPr>
            <a:cxnSpLocks/>
          </p:cNvCxnSpPr>
          <p:nvPr>
            <p:custDataLst>
              <p:tags r:id="rId8"/>
            </p:custDataLst>
          </p:nvPr>
        </p:nvCxnSpPr>
        <p:spPr>
          <a:xfrm>
            <a:off x="573372" y="1529271"/>
            <a:ext cx="11082527"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6AE10D6-B793-44A1-EED7-2A34EE4CD963}"/>
              </a:ext>
            </a:extLst>
          </p:cNvPr>
          <p:cNvSpPr txBox="1">
            <a:spLocks/>
          </p:cNvSpPr>
          <p:nvPr/>
        </p:nvSpPr>
        <p:spPr>
          <a:xfrm>
            <a:off x="573371" y="1068486"/>
            <a:ext cx="1312164"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Sub-</a:t>
            </a:r>
            <a:br>
              <a:rPr lang="en-US" sz="1400" b="1"/>
            </a:br>
            <a:r>
              <a:rPr lang="en-US" sz="1400" b="1"/>
              <a:t>Dimension</a:t>
            </a:r>
          </a:p>
        </p:txBody>
      </p:sp>
      <p:sp>
        <p:nvSpPr>
          <p:cNvPr id="54" name="TextBox 53">
            <a:extLst>
              <a:ext uri="{FF2B5EF4-FFF2-40B4-BE49-F238E27FC236}">
                <a16:creationId xmlns:a16="http://schemas.microsoft.com/office/drawing/2014/main" id="{3FD00687-197A-EB32-8C54-A166695B6C16}"/>
              </a:ext>
            </a:extLst>
          </p:cNvPr>
          <p:cNvSpPr txBox="1">
            <a:spLocks/>
          </p:cNvSpPr>
          <p:nvPr/>
        </p:nvSpPr>
        <p:spPr>
          <a:xfrm>
            <a:off x="2076301" y="1283929"/>
            <a:ext cx="7651120" cy="21544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Potential actions</a:t>
            </a:r>
          </a:p>
        </p:txBody>
      </p:sp>
      <p:sp>
        <p:nvSpPr>
          <p:cNvPr id="2" name="Rectangle 1">
            <a:extLst>
              <a:ext uri="{FF2B5EF4-FFF2-40B4-BE49-F238E27FC236}">
                <a16:creationId xmlns:a16="http://schemas.microsoft.com/office/drawing/2014/main" id="{92874B95-70E3-0A97-DADF-D9EA5C98844C}"/>
              </a:ext>
            </a:extLst>
          </p:cNvPr>
          <p:cNvSpPr>
            <a:spLocks/>
          </p:cNvSpPr>
          <p:nvPr>
            <p:custDataLst>
              <p:tags r:id="rId9"/>
            </p:custDataLst>
          </p:nvPr>
        </p:nvSpPr>
        <p:spPr>
          <a:xfrm>
            <a:off x="573371" y="5989151"/>
            <a:ext cx="11082528" cy="480417"/>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Policy related changes would be led by  ... </a:t>
            </a:r>
            <a:r>
              <a:rPr lang="en-US" sz="1200" dirty="0">
                <a:solidFill>
                  <a:schemeClr val="bg1"/>
                </a:solidFill>
                <a:latin typeface="Arial" panose="020B0604020202020204" pitchFamily="34" charset="0"/>
                <a:cs typeface="Arial" panose="020B0604020202020204" pitchFamily="34" charset="0"/>
              </a:rPr>
              <a:t>with support from the relevant SMEs (e.g.,  ...)</a:t>
            </a:r>
          </a:p>
          <a:p>
            <a:pPr marL="171450" indent="-171450" algn="ctr">
              <a:spcAft>
                <a:spcPts val="300"/>
              </a:spcAft>
              <a:buClr>
                <a:schemeClr val="bg1"/>
              </a:buClr>
              <a:buFont typeface="Arial" panose="020B0604020202020204" pitchFamily="34" charset="0"/>
              <a:buChar char="•"/>
            </a:pPr>
            <a:r>
              <a:rPr lang="en-US" sz="1200" b="1" dirty="0">
                <a:solidFill>
                  <a:schemeClr val="bg1"/>
                </a:solidFill>
                <a:latin typeface="Arial" panose="020B0604020202020204" pitchFamily="34" charset="0"/>
                <a:cs typeface="Arial" panose="020B0604020202020204" pitchFamily="34" charset="0"/>
              </a:rPr>
              <a:t>Potential actions listed will be prioritized, refined, and sequenced </a:t>
            </a:r>
            <a:r>
              <a:rPr lang="en-US" sz="1200" dirty="0">
                <a:solidFill>
                  <a:schemeClr val="bg1"/>
                </a:solidFill>
                <a:latin typeface="Arial" panose="020B0604020202020204" pitchFamily="34" charset="0"/>
                <a:cs typeface="Arial" panose="020B0604020202020204" pitchFamily="34" charset="0"/>
              </a:rPr>
              <a:t>during the upcoming Identify &amp; Focus phase</a:t>
            </a:r>
          </a:p>
        </p:txBody>
      </p:sp>
    </p:spTree>
    <p:custDataLst>
      <p:tags r:id="rId1"/>
    </p:custDataLst>
    <p:extLst>
      <p:ext uri="{BB962C8B-B14F-4D97-AF65-F5344CB8AC3E}">
        <p14:creationId xmlns:p14="http://schemas.microsoft.com/office/powerpoint/2010/main" val="9352177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PRESENTATIONDONOTDELETE" val="&lt;?xml version=&quot;1.0&quot; encoding=&quot;UTF-16&quot; standalone=&quot;yes&quot;?&gt;&lt;root reqver=&quot;25060&quot;&gt;&lt;version val=&quot;2814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 name="TEMPLATELASTEDITED" val="2024-05-30 01:34 PM"/>
  <p:tag name="LINKEDPICTURESLINKREMOVED"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Grid"/>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NAME" val="Moon"/>
</p:tagLst>
</file>

<file path=ppt/tags/tag125.xml><?xml version="1.0" encoding="utf-8"?>
<p:tagLst xmlns:a="http://schemas.openxmlformats.org/drawingml/2006/main" xmlns:r="http://schemas.openxmlformats.org/officeDocument/2006/relationships" xmlns:p="http://schemas.openxmlformats.org/presentationml/2006/main">
  <p:tag name="NAME" val="Moon"/>
</p:tagLst>
</file>

<file path=ppt/tags/tag126.xml><?xml version="1.0" encoding="utf-8"?>
<p:tagLst xmlns:a="http://schemas.openxmlformats.org/drawingml/2006/main" xmlns:r="http://schemas.openxmlformats.org/officeDocument/2006/relationships" xmlns:p="http://schemas.openxmlformats.org/presentationml/2006/main">
  <p:tag name="NAME" val="Moon"/>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ANGLE" val="5"/>
</p:tagLst>
</file>

<file path=ppt/tags/tag130.xml><?xml version="1.0" encoding="utf-8"?>
<p:tagLst xmlns:a="http://schemas.openxmlformats.org/drawingml/2006/main" xmlns:r="http://schemas.openxmlformats.org/officeDocument/2006/relationships" xmlns:p="http://schemas.openxmlformats.org/presentationml/2006/main">
  <p:tag name="ANGLE" val="5"/>
</p:tagLst>
</file>

<file path=ppt/tags/tag131.xml><?xml version="1.0" encoding="utf-8"?>
<p:tagLst xmlns:a="http://schemas.openxmlformats.org/drawingml/2006/main" xmlns:r="http://schemas.openxmlformats.org/officeDocument/2006/relationships" xmlns:p="http://schemas.openxmlformats.org/presentationml/2006/main">
  <p:tag name="ANGLE" val="4"/>
</p:tagLst>
</file>

<file path=ppt/tags/tag132.xml><?xml version="1.0" encoding="utf-8"?>
<p:tagLst xmlns:a="http://schemas.openxmlformats.org/drawingml/2006/main" xmlns:r="http://schemas.openxmlformats.org/officeDocument/2006/relationships" xmlns:p="http://schemas.openxmlformats.org/presentationml/2006/main">
  <p:tag name="ANGLE" val="4"/>
</p:tagLst>
</file>

<file path=ppt/tags/tag133.xml><?xml version="1.0" encoding="utf-8"?>
<p:tagLst xmlns:a="http://schemas.openxmlformats.org/drawingml/2006/main" xmlns:r="http://schemas.openxmlformats.org/officeDocument/2006/relationships" xmlns:p="http://schemas.openxmlformats.org/presentationml/2006/main">
  <p:tag name="ANGLE" val="3"/>
</p:tagLst>
</file>

<file path=ppt/tags/tag134.xml><?xml version="1.0" encoding="utf-8"?>
<p:tagLst xmlns:a="http://schemas.openxmlformats.org/drawingml/2006/main" xmlns:r="http://schemas.openxmlformats.org/officeDocument/2006/relationships" xmlns:p="http://schemas.openxmlformats.org/presentationml/2006/main">
  <p:tag name="ANGLE" val="3"/>
</p:tagLst>
</file>

<file path=ppt/tags/tag135.xml><?xml version="1.0" encoding="utf-8"?>
<p:tagLst xmlns:a="http://schemas.openxmlformats.org/drawingml/2006/main" xmlns:r="http://schemas.openxmlformats.org/officeDocument/2006/relationships" xmlns:p="http://schemas.openxmlformats.org/presentationml/2006/main">
  <p:tag name="ANGLE" val="2"/>
</p:tagLst>
</file>

<file path=ppt/tags/tag136.xml><?xml version="1.0" encoding="utf-8"?>
<p:tagLst xmlns:a="http://schemas.openxmlformats.org/drawingml/2006/main" xmlns:r="http://schemas.openxmlformats.org/officeDocument/2006/relationships" xmlns:p="http://schemas.openxmlformats.org/presentationml/2006/main">
  <p:tag name="ANGLE" val="2"/>
</p:tagLst>
</file>

<file path=ppt/tags/tag137.xml><?xml version="1.0" encoding="utf-8"?>
<p:tagLst xmlns:a="http://schemas.openxmlformats.org/drawingml/2006/main" xmlns:r="http://schemas.openxmlformats.org/officeDocument/2006/relationships" xmlns:p="http://schemas.openxmlformats.org/presentationml/2006/main">
  <p:tag name="ANGLE" val="1"/>
</p:tagLst>
</file>

<file path=ppt/tags/tag138.xml><?xml version="1.0" encoding="utf-8"?>
<p:tagLst xmlns:a="http://schemas.openxmlformats.org/drawingml/2006/main" xmlns:r="http://schemas.openxmlformats.org/officeDocument/2006/relationships" xmlns:p="http://schemas.openxmlformats.org/presentationml/2006/main">
  <p:tag name="ANGLE" val="1"/>
</p:tagLst>
</file>

<file path=ppt/tags/tag139.xml><?xml version="1.0" encoding="utf-8"?>
<p:tagLst xmlns:a="http://schemas.openxmlformats.org/drawingml/2006/main" xmlns:r="http://schemas.openxmlformats.org/officeDocument/2006/relationships" xmlns:p="http://schemas.openxmlformats.org/presentationml/2006/main">
  <p:tag name="BACKGROUNDCOLOR" val="med"/>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4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4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44.xml><?xml version="1.0" encoding="utf-8"?>
<p:tagLst xmlns:a="http://schemas.openxmlformats.org/drawingml/2006/main" xmlns:r="http://schemas.openxmlformats.org/officeDocument/2006/relationships" xmlns:p="http://schemas.openxmlformats.org/presentationml/2006/main">
  <p:tag name="SHAPENAME" val="Subtitle"/>
</p:tagLst>
</file>

<file path=ppt/tags/tag145.xml><?xml version="1.0" encoding="utf-8"?>
<p:tagLst xmlns:a="http://schemas.openxmlformats.org/drawingml/2006/main" xmlns:r="http://schemas.openxmlformats.org/officeDocument/2006/relationships" xmlns:p="http://schemas.openxmlformats.org/presentationml/2006/main">
  <p:tag name="SHAPENAME" val="Title"/>
</p:tagLst>
</file>

<file path=ppt/tags/tag14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7.xml><?xml version="1.0" encoding="utf-8"?>
<p:tagLst xmlns:a="http://schemas.openxmlformats.org/drawingml/2006/main" xmlns:r="http://schemas.openxmlformats.org/officeDocument/2006/relationships" xmlns:p="http://schemas.openxmlformats.org/presentationml/2006/main">
  <p:tag name="NAME" val="_new_logoimag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5. Sourc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7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19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9.xml><?xml version="1.0" encoding="utf-8"?>
<p:tagLst xmlns:a="http://schemas.openxmlformats.org/drawingml/2006/main" xmlns:r="http://schemas.openxmlformats.org/officeDocument/2006/relationships" xmlns:p="http://schemas.openxmlformats.org/presentationml/2006/main">
  <p:tag name="SHAPENAME" val="5. Source"/>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5. Sourc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5. Source"/>
</p:tagLst>
</file>

<file path=ppt/tags/tag2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5.xml><?xml version="1.0" encoding="utf-8"?>
<p:tagLst xmlns:a="http://schemas.openxmlformats.org/drawingml/2006/main" xmlns:r="http://schemas.openxmlformats.org/officeDocument/2006/relationships" xmlns:p="http://schemas.openxmlformats.org/presentationml/2006/main">
  <p:tag name="SHAPENAME" val="5. Sourc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BACKGROUNDCOLOR" val="med"/>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NAME" val="_new_logoimage"/>
</p:tagLst>
</file>

<file path=ppt/tags/tag260.xml><?xml version="1.0" encoding="utf-8"?>
<p:tagLst xmlns:a="http://schemas.openxmlformats.org/drawingml/2006/main" xmlns:r="http://schemas.openxmlformats.org/officeDocument/2006/relationships" xmlns:p="http://schemas.openxmlformats.org/presentationml/2006/main">
  <p:tag name="SHAPENAME" val="5. Source"/>
</p:tagLst>
</file>

<file path=ppt/tags/tag261.xml><?xml version="1.0" encoding="utf-8"?>
<p:tagLst xmlns:a="http://schemas.openxmlformats.org/drawingml/2006/main" xmlns:r="http://schemas.openxmlformats.org/officeDocument/2006/relationships" xmlns:p="http://schemas.openxmlformats.org/presentationml/2006/main">
  <p:tag name="SLIDELOOKUP" val="202508211531388092561"/>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64.xml><?xml version="1.0" encoding="utf-8"?>
<p:tagLst xmlns:a="http://schemas.openxmlformats.org/drawingml/2006/main" xmlns:r="http://schemas.openxmlformats.org/officeDocument/2006/relationships" xmlns:p="http://schemas.openxmlformats.org/presentationml/2006/main">
  <p:tag name="SHAPENAME" val="Subtitle"/>
</p:tagLst>
</file>

<file path=ppt/tags/tag265.xml><?xml version="1.0" encoding="utf-8"?>
<p:tagLst xmlns:a="http://schemas.openxmlformats.org/drawingml/2006/main" xmlns:r="http://schemas.openxmlformats.org/officeDocument/2006/relationships" xmlns:p="http://schemas.openxmlformats.org/presentationml/2006/main">
  <p:tag name="SHAPENAME" val="Title"/>
</p:tagLst>
</file>

<file path=ppt/tags/tag266.xml><?xml version="1.0" encoding="utf-8"?>
<p:tagLst xmlns:a="http://schemas.openxmlformats.org/drawingml/2006/main" xmlns:r="http://schemas.openxmlformats.org/officeDocument/2006/relationships" xmlns:p="http://schemas.openxmlformats.org/presentationml/2006/main">
  <p:tag name="SLIDELOOKUP" val="202509252203285872564"/>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9.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270.xml><?xml version="1.0" encoding="utf-8"?>
<p:tagLst xmlns:a="http://schemas.openxmlformats.org/drawingml/2006/main" xmlns:r="http://schemas.openxmlformats.org/officeDocument/2006/relationships" xmlns:p="http://schemas.openxmlformats.org/presentationml/2006/main">
  <p:tag name="SLIDELOOKUP" val="202509291746389982724"/>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KgFvSfJ5ikJ9CDE7auEhiA"/>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tQic9ROf0.vPbJvWm7xMAQ"/>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Xi.LBY6TVWGvaIqhDYPdLQ"/>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L7oKmxgqp1c2_kjXcbjsIQ"/>
</p:tagLst>
</file>

<file path=ppt/tags/tag277.xml><?xml version="1.0" encoding="utf-8"?>
<p:tagLst xmlns:a="http://schemas.openxmlformats.org/drawingml/2006/main" xmlns:r="http://schemas.openxmlformats.org/officeDocument/2006/relationships" xmlns:p="http://schemas.openxmlformats.org/presentationml/2006/main">
  <p:tag name="SLIDELOOKUP" val="2025091618282640325810"/>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0.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281.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282.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283.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284.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28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286.xml><?xml version="1.0" encoding="utf-8"?>
<p:tagLst xmlns:a="http://schemas.openxmlformats.org/drawingml/2006/main" xmlns:r="http://schemas.openxmlformats.org/officeDocument/2006/relationships" xmlns:p="http://schemas.openxmlformats.org/presentationml/2006/main">
  <p:tag name="SLIDELOOKUP" val="20250910180151980214748364015"/>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9.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290.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291.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292.xml><?xml version="1.0" encoding="utf-8"?>
<p:tagLst xmlns:a="http://schemas.openxmlformats.org/drawingml/2006/main" xmlns:r="http://schemas.openxmlformats.org/officeDocument/2006/relationships" xmlns:p="http://schemas.openxmlformats.org/presentationml/2006/main">
  <p:tag name="SLIDELOOKUP" val="20250910180151980214748364015"/>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5.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296.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297.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298.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299.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00.xml><?xml version="1.0" encoding="utf-8"?>
<p:tagLst xmlns:a="http://schemas.openxmlformats.org/drawingml/2006/main" xmlns:r="http://schemas.openxmlformats.org/officeDocument/2006/relationships" xmlns:p="http://schemas.openxmlformats.org/presentationml/2006/main">
  <p:tag name="SLIDELOOKUP" val="20250910180151980214748364015"/>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04.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05.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06.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07.xml><?xml version="1.0" encoding="utf-8"?>
<p:tagLst xmlns:a="http://schemas.openxmlformats.org/drawingml/2006/main" xmlns:r="http://schemas.openxmlformats.org/officeDocument/2006/relationships" xmlns:p="http://schemas.openxmlformats.org/presentationml/2006/main">
  <p:tag name="SLIDELOOKUP" val="20250910180151980214748364015"/>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0.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11.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12.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1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14.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15.xml><?xml version="1.0" encoding="utf-8"?>
<p:tagLst xmlns:a="http://schemas.openxmlformats.org/drawingml/2006/main" xmlns:r="http://schemas.openxmlformats.org/officeDocument/2006/relationships" xmlns:p="http://schemas.openxmlformats.org/presentationml/2006/main">
  <p:tag name="SLIDELOOKUP" val="20250910180151980214748364015"/>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8.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19.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20.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21.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22.xml><?xml version="1.0" encoding="utf-8"?>
<p:tagLst xmlns:a="http://schemas.openxmlformats.org/drawingml/2006/main" xmlns:r="http://schemas.openxmlformats.org/officeDocument/2006/relationships" xmlns:p="http://schemas.openxmlformats.org/presentationml/2006/main">
  <p:tag name="SLIDELOOKUP" val="20250910180151980214748364015"/>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5.xml><?xml version="1.0" encoding="utf-8"?>
<p:tagLst xmlns:a="http://schemas.openxmlformats.org/drawingml/2006/main" xmlns:r="http://schemas.openxmlformats.org/officeDocument/2006/relationships" xmlns:p="http://schemas.openxmlformats.org/presentationml/2006/main">
  <p:tag name="SHAPENAME" val="4. Footnote"/>
</p:tagLst>
</file>

<file path=ppt/tags/tag326.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27.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28.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29.xml><?xml version="1.0" encoding="utf-8"?>
<p:tagLst xmlns:a="http://schemas.openxmlformats.org/drawingml/2006/main" xmlns:r="http://schemas.openxmlformats.org/officeDocument/2006/relationships" xmlns:p="http://schemas.openxmlformats.org/presentationml/2006/main">
  <p:tag name="SLIDELOOKUP" val="202509291746389982724"/>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Kc9GqAb_.Kj2SZMa1OiCVw"/>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KgFvSfJ5ikJ9CDE7auEhiA"/>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KUXF.ZrzWJm74.BDFmjjPg"/>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fiMn0J72bz7DL4sGsEQp3A"/>
</p:tagLst>
</file>

<file path=ppt/tags/tag335.xml><?xml version="1.0" encoding="utf-8"?>
<p:tagLst xmlns:a="http://schemas.openxmlformats.org/drawingml/2006/main" xmlns:r="http://schemas.openxmlformats.org/officeDocument/2006/relationships" xmlns:p="http://schemas.openxmlformats.org/presentationml/2006/main">
  <p:tag name="SLIDELOOKUP" val="20250910180151980214748364015-true"/>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8.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39.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40.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4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42.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43.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344.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45.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46.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47.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48.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49.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50.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51.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52.xml><?xml version="1.0" encoding="utf-8"?>
<p:tagLst xmlns:a="http://schemas.openxmlformats.org/drawingml/2006/main" xmlns:r="http://schemas.openxmlformats.org/officeDocument/2006/relationships" xmlns:p="http://schemas.openxmlformats.org/presentationml/2006/main">
  <p:tag name="NAME" val="Moon"/>
</p:tagLst>
</file>

<file path=ppt/tags/tag353.xml><?xml version="1.0" encoding="utf-8"?>
<p:tagLst xmlns:a="http://schemas.openxmlformats.org/drawingml/2006/main" xmlns:r="http://schemas.openxmlformats.org/officeDocument/2006/relationships" xmlns:p="http://schemas.openxmlformats.org/presentationml/2006/main">
  <p:tag name="ANGLE" val="3"/>
</p:tagLst>
</file>

<file path=ppt/tags/tag354.xml><?xml version="1.0" encoding="utf-8"?>
<p:tagLst xmlns:a="http://schemas.openxmlformats.org/drawingml/2006/main" xmlns:r="http://schemas.openxmlformats.org/officeDocument/2006/relationships" xmlns:p="http://schemas.openxmlformats.org/presentationml/2006/main">
  <p:tag name="ANGLE" val="3"/>
</p:tagLst>
</file>

<file path=ppt/tags/tag355.xml><?xml version="1.0" encoding="utf-8"?>
<p:tagLst xmlns:a="http://schemas.openxmlformats.org/drawingml/2006/main" xmlns:r="http://schemas.openxmlformats.org/officeDocument/2006/relationships" xmlns:p="http://schemas.openxmlformats.org/presentationml/2006/main">
  <p:tag name="ANGLE" val="4"/>
</p:tagLst>
</file>

<file path=ppt/tags/tag356.xml><?xml version="1.0" encoding="utf-8"?>
<p:tagLst xmlns:a="http://schemas.openxmlformats.org/drawingml/2006/main" xmlns:r="http://schemas.openxmlformats.org/officeDocument/2006/relationships" xmlns:p="http://schemas.openxmlformats.org/presentationml/2006/main">
  <p:tag name="ANGLE" val="4"/>
</p:tagLst>
</file>

<file path=ppt/tags/tag357.xml><?xml version="1.0" encoding="utf-8"?>
<p:tagLst xmlns:a="http://schemas.openxmlformats.org/drawingml/2006/main" xmlns:r="http://schemas.openxmlformats.org/officeDocument/2006/relationships" xmlns:p="http://schemas.openxmlformats.org/presentationml/2006/main">
  <p:tag name="NAME" val="Moon"/>
</p:tagLst>
</file>

<file path=ppt/tags/tag358.xml><?xml version="1.0" encoding="utf-8"?>
<p:tagLst xmlns:a="http://schemas.openxmlformats.org/drawingml/2006/main" xmlns:r="http://schemas.openxmlformats.org/officeDocument/2006/relationships" xmlns:p="http://schemas.openxmlformats.org/presentationml/2006/main">
  <p:tag name="ANGLE" val="2"/>
</p:tagLst>
</file>

<file path=ppt/tags/tag359.xml><?xml version="1.0" encoding="utf-8"?>
<p:tagLst xmlns:a="http://schemas.openxmlformats.org/drawingml/2006/main" xmlns:r="http://schemas.openxmlformats.org/officeDocument/2006/relationships" xmlns:p="http://schemas.openxmlformats.org/presentationml/2006/main">
  <p:tag name="ANGLE" val="2"/>
</p:tagLst>
</file>

<file path=ppt/tags/tag360.xml><?xml version="1.0" encoding="utf-8"?>
<p:tagLst xmlns:a="http://schemas.openxmlformats.org/drawingml/2006/main" xmlns:r="http://schemas.openxmlformats.org/officeDocument/2006/relationships" xmlns:p="http://schemas.openxmlformats.org/presentationml/2006/main">
  <p:tag name="ANGLE" val="2"/>
</p:tagLst>
</file>

<file path=ppt/tags/tag361.xml><?xml version="1.0" encoding="utf-8"?>
<p:tagLst xmlns:a="http://schemas.openxmlformats.org/drawingml/2006/main" xmlns:r="http://schemas.openxmlformats.org/officeDocument/2006/relationships" xmlns:p="http://schemas.openxmlformats.org/presentationml/2006/main">
  <p:tag name="ANGLE" val="2"/>
</p:tagLst>
</file>

<file path=ppt/tags/tag362.xml><?xml version="1.0" encoding="utf-8"?>
<p:tagLst xmlns:a="http://schemas.openxmlformats.org/drawingml/2006/main" xmlns:r="http://schemas.openxmlformats.org/officeDocument/2006/relationships" xmlns:p="http://schemas.openxmlformats.org/presentationml/2006/main">
  <p:tag name="NAME" val="Moon"/>
</p:tagLst>
</file>

<file path=ppt/tags/tag363.xml><?xml version="1.0" encoding="utf-8"?>
<p:tagLst xmlns:a="http://schemas.openxmlformats.org/drawingml/2006/main" xmlns:r="http://schemas.openxmlformats.org/officeDocument/2006/relationships" xmlns:p="http://schemas.openxmlformats.org/presentationml/2006/main">
  <p:tag name="ANGLE" val="2"/>
</p:tagLst>
</file>

<file path=ppt/tags/tag364.xml><?xml version="1.0" encoding="utf-8"?>
<p:tagLst xmlns:a="http://schemas.openxmlformats.org/drawingml/2006/main" xmlns:r="http://schemas.openxmlformats.org/officeDocument/2006/relationships" xmlns:p="http://schemas.openxmlformats.org/presentationml/2006/main">
  <p:tag name="ANGLE" val="2"/>
</p:tagLst>
</file>

<file path=ppt/tags/tag365.xml><?xml version="1.0" encoding="utf-8"?>
<p:tagLst xmlns:a="http://schemas.openxmlformats.org/drawingml/2006/main" xmlns:r="http://schemas.openxmlformats.org/officeDocument/2006/relationships" xmlns:p="http://schemas.openxmlformats.org/presentationml/2006/main">
  <p:tag name="ANGLE" val="3"/>
</p:tagLst>
</file>

<file path=ppt/tags/tag366.xml><?xml version="1.0" encoding="utf-8"?>
<p:tagLst xmlns:a="http://schemas.openxmlformats.org/drawingml/2006/main" xmlns:r="http://schemas.openxmlformats.org/officeDocument/2006/relationships" xmlns:p="http://schemas.openxmlformats.org/presentationml/2006/main">
  <p:tag name="ANGLE" val="3"/>
</p:tagLst>
</file>

<file path=ppt/tags/tag367.xml><?xml version="1.0" encoding="utf-8"?>
<p:tagLst xmlns:a="http://schemas.openxmlformats.org/drawingml/2006/main" xmlns:r="http://schemas.openxmlformats.org/officeDocument/2006/relationships" xmlns:p="http://schemas.openxmlformats.org/presentationml/2006/main">
  <p:tag name="SLIDELOOKUP" val="20250910180151980214748364015-true"/>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0.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71.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72.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7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374.xml><?xml version="1.0" encoding="utf-8"?>
<p:tagLst xmlns:a="http://schemas.openxmlformats.org/drawingml/2006/main" xmlns:r="http://schemas.openxmlformats.org/officeDocument/2006/relationships" xmlns:p="http://schemas.openxmlformats.org/presentationml/2006/main">
  <p:tag name="SHAPENAME" val="4. Footnote"/>
</p:tagLst>
</file>

<file path=ppt/tags/tag375.xml><?xml version="1.0" encoding="utf-8"?>
<p:tagLst xmlns:a="http://schemas.openxmlformats.org/drawingml/2006/main" xmlns:r="http://schemas.openxmlformats.org/officeDocument/2006/relationships" xmlns:p="http://schemas.openxmlformats.org/presentationml/2006/main">
  <p:tag name="SHAPENAME" val="4. Footnote"/>
</p:tagLst>
</file>

<file path=ppt/tags/tag376.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37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78.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79.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380.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81.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82.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83.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84.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85.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386.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387.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388.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389.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90.xml><?xml version="1.0" encoding="utf-8"?>
<p:tagLst xmlns:a="http://schemas.openxmlformats.org/drawingml/2006/main" xmlns:r="http://schemas.openxmlformats.org/officeDocument/2006/relationships" xmlns:p="http://schemas.openxmlformats.org/presentationml/2006/main">
  <p:tag name="NAME" val="Moon"/>
</p:tagLst>
</file>

<file path=ppt/tags/tag391.xml><?xml version="1.0" encoding="utf-8"?>
<p:tagLst xmlns:a="http://schemas.openxmlformats.org/drawingml/2006/main" xmlns:r="http://schemas.openxmlformats.org/officeDocument/2006/relationships" xmlns:p="http://schemas.openxmlformats.org/presentationml/2006/main">
  <p:tag name="ANGLE" val="5"/>
</p:tagLst>
</file>

<file path=ppt/tags/tag392.xml><?xml version="1.0" encoding="utf-8"?>
<p:tagLst xmlns:a="http://schemas.openxmlformats.org/drawingml/2006/main" xmlns:r="http://schemas.openxmlformats.org/officeDocument/2006/relationships" xmlns:p="http://schemas.openxmlformats.org/presentationml/2006/main">
  <p:tag name="ANGLE" val="5"/>
</p:tagLst>
</file>

<file path=ppt/tags/tag393.xml><?xml version="1.0" encoding="utf-8"?>
<p:tagLst xmlns:a="http://schemas.openxmlformats.org/drawingml/2006/main" xmlns:r="http://schemas.openxmlformats.org/officeDocument/2006/relationships" xmlns:p="http://schemas.openxmlformats.org/presentationml/2006/main">
  <p:tag name="ANGLE" val="5"/>
</p:tagLst>
</file>

<file path=ppt/tags/tag394.xml><?xml version="1.0" encoding="utf-8"?>
<p:tagLst xmlns:a="http://schemas.openxmlformats.org/drawingml/2006/main" xmlns:r="http://schemas.openxmlformats.org/officeDocument/2006/relationships" xmlns:p="http://schemas.openxmlformats.org/presentationml/2006/main">
  <p:tag name="ANGLE" val="5"/>
</p:tagLst>
</file>

<file path=ppt/tags/tag395.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96.xml><?xml version="1.0" encoding="utf-8"?>
<p:tagLst xmlns:a="http://schemas.openxmlformats.org/drawingml/2006/main" xmlns:r="http://schemas.openxmlformats.org/officeDocument/2006/relationships" xmlns:p="http://schemas.openxmlformats.org/presentationml/2006/main">
  <p:tag name="NAME" val="Moon"/>
</p:tagLst>
</file>

<file path=ppt/tags/tag397.xml><?xml version="1.0" encoding="utf-8"?>
<p:tagLst xmlns:a="http://schemas.openxmlformats.org/drawingml/2006/main" xmlns:r="http://schemas.openxmlformats.org/officeDocument/2006/relationships" xmlns:p="http://schemas.openxmlformats.org/presentationml/2006/main">
  <p:tag name="ANGLE" val="3"/>
</p:tagLst>
</file>

<file path=ppt/tags/tag398.xml><?xml version="1.0" encoding="utf-8"?>
<p:tagLst xmlns:a="http://schemas.openxmlformats.org/drawingml/2006/main" xmlns:r="http://schemas.openxmlformats.org/officeDocument/2006/relationships" xmlns:p="http://schemas.openxmlformats.org/presentationml/2006/main">
  <p:tag name="ANGLE" val="3"/>
</p:tagLst>
</file>

<file path=ppt/tags/tag399.xml><?xml version="1.0" encoding="utf-8"?>
<p:tagLst xmlns:a="http://schemas.openxmlformats.org/drawingml/2006/main" xmlns:r="http://schemas.openxmlformats.org/officeDocument/2006/relationships" xmlns:p="http://schemas.openxmlformats.org/presentationml/2006/main">
  <p:tag name="ANGLE" val="3"/>
</p:tagLst>
</file>

<file path=ppt/tags/tag400.xml><?xml version="1.0" encoding="utf-8"?>
<p:tagLst xmlns:a="http://schemas.openxmlformats.org/drawingml/2006/main" xmlns:r="http://schemas.openxmlformats.org/officeDocument/2006/relationships" xmlns:p="http://schemas.openxmlformats.org/presentationml/2006/main">
  <p:tag name="ANGLE" val="3"/>
</p:tagLst>
</file>

<file path=ppt/tags/tag401.xml><?xml version="1.0" encoding="utf-8"?>
<p:tagLst xmlns:a="http://schemas.openxmlformats.org/drawingml/2006/main" xmlns:r="http://schemas.openxmlformats.org/officeDocument/2006/relationships" xmlns:p="http://schemas.openxmlformats.org/presentationml/2006/main">
  <p:tag name="NAME" val="Moon"/>
</p:tagLst>
</file>

<file path=ppt/tags/tag402.xml><?xml version="1.0" encoding="utf-8"?>
<p:tagLst xmlns:a="http://schemas.openxmlformats.org/drawingml/2006/main" xmlns:r="http://schemas.openxmlformats.org/officeDocument/2006/relationships" xmlns:p="http://schemas.openxmlformats.org/presentationml/2006/main">
  <p:tag name="ANGLE" val="3"/>
</p:tagLst>
</file>

<file path=ppt/tags/tag403.xml><?xml version="1.0" encoding="utf-8"?>
<p:tagLst xmlns:a="http://schemas.openxmlformats.org/drawingml/2006/main" xmlns:r="http://schemas.openxmlformats.org/officeDocument/2006/relationships" xmlns:p="http://schemas.openxmlformats.org/presentationml/2006/main">
  <p:tag name="ANGLE" val="3"/>
</p:tagLst>
</file>

<file path=ppt/tags/tag404.xml><?xml version="1.0" encoding="utf-8"?>
<p:tagLst xmlns:a="http://schemas.openxmlformats.org/drawingml/2006/main" xmlns:r="http://schemas.openxmlformats.org/officeDocument/2006/relationships" xmlns:p="http://schemas.openxmlformats.org/presentationml/2006/main">
  <p:tag name="ANGLE" val="4"/>
</p:tagLst>
</file>

<file path=ppt/tags/tag405.xml><?xml version="1.0" encoding="utf-8"?>
<p:tagLst xmlns:a="http://schemas.openxmlformats.org/drawingml/2006/main" xmlns:r="http://schemas.openxmlformats.org/officeDocument/2006/relationships" xmlns:p="http://schemas.openxmlformats.org/presentationml/2006/main">
  <p:tag name="ANGLE" val="4"/>
</p:tagLst>
</file>

<file path=ppt/tags/tag406.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407.xml><?xml version="1.0" encoding="utf-8"?>
<p:tagLst xmlns:a="http://schemas.openxmlformats.org/drawingml/2006/main" xmlns:r="http://schemas.openxmlformats.org/officeDocument/2006/relationships" xmlns:p="http://schemas.openxmlformats.org/presentationml/2006/main">
  <p:tag name="NAME" val="Moon"/>
</p:tagLst>
</file>

<file path=ppt/tags/tag408.xml><?xml version="1.0" encoding="utf-8"?>
<p:tagLst xmlns:a="http://schemas.openxmlformats.org/drawingml/2006/main" xmlns:r="http://schemas.openxmlformats.org/officeDocument/2006/relationships" xmlns:p="http://schemas.openxmlformats.org/presentationml/2006/main">
  <p:tag name="ANGLE" val="2"/>
</p:tagLst>
</file>

<file path=ppt/tags/tag409.xml><?xml version="1.0" encoding="utf-8"?>
<p:tagLst xmlns:a="http://schemas.openxmlformats.org/drawingml/2006/main" xmlns:r="http://schemas.openxmlformats.org/officeDocument/2006/relationships" xmlns:p="http://schemas.openxmlformats.org/presentationml/2006/main">
  <p:tag name="ANGLE" val="2"/>
</p:tagLst>
</file>

<file path=ppt/tags/tag410.xml><?xml version="1.0" encoding="utf-8"?>
<p:tagLst xmlns:a="http://schemas.openxmlformats.org/drawingml/2006/main" xmlns:r="http://schemas.openxmlformats.org/officeDocument/2006/relationships" xmlns:p="http://schemas.openxmlformats.org/presentationml/2006/main">
  <p:tag name="ANGLE" val="3"/>
</p:tagLst>
</file>

<file path=ppt/tags/tag411.xml><?xml version="1.0" encoding="utf-8"?>
<p:tagLst xmlns:a="http://schemas.openxmlformats.org/drawingml/2006/main" xmlns:r="http://schemas.openxmlformats.org/officeDocument/2006/relationships" xmlns:p="http://schemas.openxmlformats.org/presentationml/2006/main">
  <p:tag name="ANGLE" val="3"/>
</p:tagLst>
</file>

<file path=ppt/tags/tag412.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413.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414.xml><?xml version="1.0" encoding="utf-8"?>
<p:tagLst xmlns:a="http://schemas.openxmlformats.org/drawingml/2006/main" xmlns:r="http://schemas.openxmlformats.org/officeDocument/2006/relationships" xmlns:p="http://schemas.openxmlformats.org/presentationml/2006/main">
  <p:tag name="NAME" val="Moon"/>
</p:tagLst>
</file>

<file path=ppt/tags/tag415.xml><?xml version="1.0" encoding="utf-8"?>
<p:tagLst xmlns:a="http://schemas.openxmlformats.org/drawingml/2006/main" xmlns:r="http://schemas.openxmlformats.org/officeDocument/2006/relationships" xmlns:p="http://schemas.openxmlformats.org/presentationml/2006/main">
  <p:tag name="ANGLE" val="3"/>
</p:tagLst>
</file>

<file path=ppt/tags/tag416.xml><?xml version="1.0" encoding="utf-8"?>
<p:tagLst xmlns:a="http://schemas.openxmlformats.org/drawingml/2006/main" xmlns:r="http://schemas.openxmlformats.org/officeDocument/2006/relationships" xmlns:p="http://schemas.openxmlformats.org/presentationml/2006/main">
  <p:tag name="ANGLE" val="3"/>
</p:tagLst>
</file>

<file path=ppt/tags/tag417.xml><?xml version="1.0" encoding="utf-8"?>
<p:tagLst xmlns:a="http://schemas.openxmlformats.org/drawingml/2006/main" xmlns:r="http://schemas.openxmlformats.org/officeDocument/2006/relationships" xmlns:p="http://schemas.openxmlformats.org/presentationml/2006/main">
  <p:tag name="ANGLE" val="4"/>
</p:tagLst>
</file>

<file path=ppt/tags/tag418.xml><?xml version="1.0" encoding="utf-8"?>
<p:tagLst xmlns:a="http://schemas.openxmlformats.org/drawingml/2006/main" xmlns:r="http://schemas.openxmlformats.org/officeDocument/2006/relationships" xmlns:p="http://schemas.openxmlformats.org/presentationml/2006/main">
  <p:tag name="ANGLE" val="4"/>
</p:tagLst>
</file>

<file path=ppt/tags/tag419.xml><?xml version="1.0" encoding="utf-8"?>
<p:tagLst xmlns:a="http://schemas.openxmlformats.org/drawingml/2006/main" xmlns:r="http://schemas.openxmlformats.org/officeDocument/2006/relationships" xmlns:p="http://schemas.openxmlformats.org/presentationml/2006/main">
  <p:tag name="SLIDELOOKUP" val="20250910180151980214748364015-true"/>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2.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2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24.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25.xml><?xml version="1.0" encoding="utf-8"?>
<p:tagLst xmlns:a="http://schemas.openxmlformats.org/drawingml/2006/main" xmlns:r="http://schemas.openxmlformats.org/officeDocument/2006/relationships" xmlns:p="http://schemas.openxmlformats.org/presentationml/2006/main">
  <p:tag name="ANGLE" val="1"/>
</p:tagLst>
</file>

<file path=ppt/tags/tag426.xml><?xml version="1.0" encoding="utf-8"?>
<p:tagLst xmlns:a="http://schemas.openxmlformats.org/drawingml/2006/main" xmlns:r="http://schemas.openxmlformats.org/officeDocument/2006/relationships" xmlns:p="http://schemas.openxmlformats.org/presentationml/2006/main">
  <p:tag name="ANGLE" val="1"/>
</p:tagLst>
</file>

<file path=ppt/tags/tag427.xml><?xml version="1.0" encoding="utf-8"?>
<p:tagLst xmlns:a="http://schemas.openxmlformats.org/drawingml/2006/main" xmlns:r="http://schemas.openxmlformats.org/officeDocument/2006/relationships" xmlns:p="http://schemas.openxmlformats.org/presentationml/2006/main">
  <p:tag name="ANGLE" val="1"/>
</p:tagLst>
</file>

<file path=ppt/tags/tag428.xml><?xml version="1.0" encoding="utf-8"?>
<p:tagLst xmlns:a="http://schemas.openxmlformats.org/drawingml/2006/main" xmlns:r="http://schemas.openxmlformats.org/officeDocument/2006/relationships" xmlns:p="http://schemas.openxmlformats.org/presentationml/2006/main">
  <p:tag name="NAME" val="Moon"/>
</p:tagLst>
</file>

<file path=ppt/tags/tag429.xml><?xml version="1.0" encoding="utf-8"?>
<p:tagLst xmlns:a="http://schemas.openxmlformats.org/drawingml/2006/main" xmlns:r="http://schemas.openxmlformats.org/officeDocument/2006/relationships" xmlns:p="http://schemas.openxmlformats.org/presentationml/2006/main">
  <p:tag name="NAME" val="Moon"/>
</p:tagLst>
</file>

<file path=ppt/tags/tag430.xml><?xml version="1.0" encoding="utf-8"?>
<p:tagLst xmlns:a="http://schemas.openxmlformats.org/drawingml/2006/main" xmlns:r="http://schemas.openxmlformats.org/officeDocument/2006/relationships" xmlns:p="http://schemas.openxmlformats.org/presentationml/2006/main">
  <p:tag name="NAME" val="Moon"/>
</p:tagLst>
</file>

<file path=ppt/tags/tag431.xml><?xml version="1.0" encoding="utf-8"?>
<p:tagLst xmlns:a="http://schemas.openxmlformats.org/drawingml/2006/main" xmlns:r="http://schemas.openxmlformats.org/officeDocument/2006/relationships" xmlns:p="http://schemas.openxmlformats.org/presentationml/2006/main">
  <p:tag name="NAME" val="Moon"/>
</p:tagLst>
</file>

<file path=ppt/tags/tag432.xml><?xml version="1.0" encoding="utf-8"?>
<p:tagLst xmlns:a="http://schemas.openxmlformats.org/drawingml/2006/main" xmlns:r="http://schemas.openxmlformats.org/officeDocument/2006/relationships" xmlns:p="http://schemas.openxmlformats.org/presentationml/2006/main">
  <p:tag name="NAME" val="Moon"/>
</p:tagLst>
</file>

<file path=ppt/tags/tag433.xml><?xml version="1.0" encoding="utf-8"?>
<p:tagLst xmlns:a="http://schemas.openxmlformats.org/drawingml/2006/main" xmlns:r="http://schemas.openxmlformats.org/officeDocument/2006/relationships" xmlns:p="http://schemas.openxmlformats.org/presentationml/2006/main">
  <p:tag name="NAME" val="Moon"/>
</p:tagLst>
</file>

<file path=ppt/tags/tag434.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43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36.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37.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438.xml><?xml version="1.0" encoding="utf-8"?>
<p:tagLst xmlns:a="http://schemas.openxmlformats.org/drawingml/2006/main" xmlns:r="http://schemas.openxmlformats.org/officeDocument/2006/relationships" xmlns:p="http://schemas.openxmlformats.org/presentationml/2006/main">
  <p:tag name="NAME" val="Moon"/>
</p:tagLst>
</file>

<file path=ppt/tags/tag439.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0.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1.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2.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3.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4.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5.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6.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47.xml><?xml version="1.0" encoding="utf-8"?>
<p:tagLst xmlns:a="http://schemas.openxmlformats.org/drawingml/2006/main" xmlns:r="http://schemas.openxmlformats.org/officeDocument/2006/relationships" xmlns:p="http://schemas.openxmlformats.org/presentationml/2006/main">
  <p:tag name="NAME" val="Moon"/>
</p:tagLst>
</file>

<file path=ppt/tags/tag448.xml><?xml version="1.0" encoding="utf-8"?>
<p:tagLst xmlns:a="http://schemas.openxmlformats.org/drawingml/2006/main" xmlns:r="http://schemas.openxmlformats.org/officeDocument/2006/relationships" xmlns:p="http://schemas.openxmlformats.org/presentationml/2006/main">
  <p:tag name="ANGLE" val="2"/>
</p:tagLst>
</file>

<file path=ppt/tags/tag449.xml><?xml version="1.0" encoding="utf-8"?>
<p:tagLst xmlns:a="http://schemas.openxmlformats.org/drawingml/2006/main" xmlns:r="http://schemas.openxmlformats.org/officeDocument/2006/relationships" xmlns:p="http://schemas.openxmlformats.org/presentationml/2006/main">
  <p:tag name="ANGLE" val="2"/>
</p:tagLst>
</file>

<file path=ppt/tags/tag450.xml><?xml version="1.0" encoding="utf-8"?>
<p:tagLst xmlns:a="http://schemas.openxmlformats.org/drawingml/2006/main" xmlns:r="http://schemas.openxmlformats.org/officeDocument/2006/relationships" xmlns:p="http://schemas.openxmlformats.org/presentationml/2006/main">
  <p:tag name="ANGLE" val="1"/>
</p:tagLst>
</file>

<file path=ppt/tags/tag451.xml><?xml version="1.0" encoding="utf-8"?>
<p:tagLst xmlns:a="http://schemas.openxmlformats.org/drawingml/2006/main" xmlns:r="http://schemas.openxmlformats.org/officeDocument/2006/relationships" xmlns:p="http://schemas.openxmlformats.org/presentationml/2006/main">
  <p:tag name="ANGLE" val="1"/>
</p:tagLst>
</file>

<file path=ppt/tags/tag452.xml><?xml version="1.0" encoding="utf-8"?>
<p:tagLst xmlns:a="http://schemas.openxmlformats.org/drawingml/2006/main" xmlns:r="http://schemas.openxmlformats.org/officeDocument/2006/relationships" xmlns:p="http://schemas.openxmlformats.org/presentationml/2006/main">
  <p:tag name="ANGLE" val="2"/>
</p:tagLst>
</file>

<file path=ppt/tags/tag453.xml><?xml version="1.0" encoding="utf-8"?>
<p:tagLst xmlns:a="http://schemas.openxmlformats.org/drawingml/2006/main" xmlns:r="http://schemas.openxmlformats.org/officeDocument/2006/relationships" xmlns:p="http://schemas.openxmlformats.org/presentationml/2006/main">
  <p:tag name="ANGLE" val="2"/>
</p:tagLst>
</file>

<file path=ppt/tags/tag454.xml><?xml version="1.0" encoding="utf-8"?>
<p:tagLst xmlns:a="http://schemas.openxmlformats.org/drawingml/2006/main" xmlns:r="http://schemas.openxmlformats.org/officeDocument/2006/relationships" xmlns:p="http://schemas.openxmlformats.org/presentationml/2006/main">
  <p:tag name="ANGLE" val="2"/>
</p:tagLst>
</file>

<file path=ppt/tags/tag455.xml><?xml version="1.0" encoding="utf-8"?>
<p:tagLst xmlns:a="http://schemas.openxmlformats.org/drawingml/2006/main" xmlns:r="http://schemas.openxmlformats.org/officeDocument/2006/relationships" xmlns:p="http://schemas.openxmlformats.org/presentationml/2006/main">
  <p:tag name="ANGLE" val="2"/>
</p:tagLst>
</file>

<file path=ppt/tags/tag456.xml><?xml version="1.0" encoding="utf-8"?>
<p:tagLst xmlns:a="http://schemas.openxmlformats.org/drawingml/2006/main" xmlns:r="http://schemas.openxmlformats.org/officeDocument/2006/relationships" xmlns:p="http://schemas.openxmlformats.org/presentationml/2006/main">
  <p:tag name="ANGLE" val="1"/>
</p:tagLst>
</file>

<file path=ppt/tags/tag457.xml><?xml version="1.0" encoding="utf-8"?>
<p:tagLst xmlns:a="http://schemas.openxmlformats.org/drawingml/2006/main" xmlns:r="http://schemas.openxmlformats.org/officeDocument/2006/relationships" xmlns:p="http://schemas.openxmlformats.org/presentationml/2006/main">
  <p:tag name="ANGLE" val="1"/>
</p:tagLst>
</file>

<file path=ppt/tags/tag458.xml><?xml version="1.0" encoding="utf-8"?>
<p:tagLst xmlns:a="http://schemas.openxmlformats.org/drawingml/2006/main" xmlns:r="http://schemas.openxmlformats.org/officeDocument/2006/relationships" xmlns:p="http://schemas.openxmlformats.org/presentationml/2006/main">
  <p:tag name="ANGLE" val="1"/>
</p:tagLst>
</file>

<file path=ppt/tags/tag459.xml><?xml version="1.0" encoding="utf-8"?>
<p:tagLst xmlns:a="http://schemas.openxmlformats.org/drawingml/2006/main" xmlns:r="http://schemas.openxmlformats.org/officeDocument/2006/relationships" xmlns:p="http://schemas.openxmlformats.org/presentationml/2006/main">
  <p:tag name="ANGLE" val="1"/>
</p:tagLst>
</file>

<file path=ppt/tags/tag460.xml><?xml version="1.0" encoding="utf-8"?>
<p:tagLst xmlns:a="http://schemas.openxmlformats.org/drawingml/2006/main" xmlns:r="http://schemas.openxmlformats.org/officeDocument/2006/relationships" xmlns:p="http://schemas.openxmlformats.org/presentationml/2006/main">
  <p:tag name="ANGLE" val="2"/>
</p:tagLst>
</file>

<file path=ppt/tags/tag461.xml><?xml version="1.0" encoding="utf-8"?>
<p:tagLst xmlns:a="http://schemas.openxmlformats.org/drawingml/2006/main" xmlns:r="http://schemas.openxmlformats.org/officeDocument/2006/relationships" xmlns:p="http://schemas.openxmlformats.org/presentationml/2006/main">
  <p:tag name="ANGLE" val="2"/>
</p:tagLst>
</file>

<file path=ppt/tags/tag462.xml><?xml version="1.0" encoding="utf-8"?>
<p:tagLst xmlns:a="http://schemas.openxmlformats.org/drawingml/2006/main" xmlns:r="http://schemas.openxmlformats.org/officeDocument/2006/relationships" xmlns:p="http://schemas.openxmlformats.org/presentationml/2006/main">
  <p:tag name="ANGLE" val="2"/>
</p:tagLst>
</file>

<file path=ppt/tags/tag463.xml><?xml version="1.0" encoding="utf-8"?>
<p:tagLst xmlns:a="http://schemas.openxmlformats.org/drawingml/2006/main" xmlns:r="http://schemas.openxmlformats.org/officeDocument/2006/relationships" xmlns:p="http://schemas.openxmlformats.org/presentationml/2006/main">
  <p:tag name="ANGLE" val="2"/>
</p:tagLst>
</file>

<file path=ppt/tags/tag464.xml><?xml version="1.0" encoding="utf-8"?>
<p:tagLst xmlns:a="http://schemas.openxmlformats.org/drawingml/2006/main" xmlns:r="http://schemas.openxmlformats.org/officeDocument/2006/relationships" xmlns:p="http://schemas.openxmlformats.org/presentationml/2006/main">
  <p:tag name="SLIDELOOKUP" val="202509251009490472589-true"/>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6.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67.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68.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69.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470.xml><?xml version="1.0" encoding="utf-8"?>
<p:tagLst xmlns:a="http://schemas.openxmlformats.org/drawingml/2006/main" xmlns:r="http://schemas.openxmlformats.org/officeDocument/2006/relationships" xmlns:p="http://schemas.openxmlformats.org/presentationml/2006/main">
  <p:tag name="NAME" val="Moon"/>
</p:tagLst>
</file>

<file path=ppt/tags/tag471.xml><?xml version="1.0" encoding="utf-8"?>
<p:tagLst xmlns:a="http://schemas.openxmlformats.org/drawingml/2006/main" xmlns:r="http://schemas.openxmlformats.org/officeDocument/2006/relationships" xmlns:p="http://schemas.openxmlformats.org/presentationml/2006/main">
  <p:tag name="NAME" val="Moon"/>
</p:tagLst>
</file>

<file path=ppt/tags/tag472.xml><?xml version="1.0" encoding="utf-8"?>
<p:tagLst xmlns:a="http://schemas.openxmlformats.org/drawingml/2006/main" xmlns:r="http://schemas.openxmlformats.org/officeDocument/2006/relationships" xmlns:p="http://schemas.openxmlformats.org/presentationml/2006/main">
  <p:tag name="NAME" val="Moon"/>
</p:tagLst>
</file>

<file path=ppt/tags/tag473.xml><?xml version="1.0" encoding="utf-8"?>
<p:tagLst xmlns:a="http://schemas.openxmlformats.org/drawingml/2006/main" xmlns:r="http://schemas.openxmlformats.org/officeDocument/2006/relationships" xmlns:p="http://schemas.openxmlformats.org/presentationml/2006/main">
  <p:tag name="NAME" val="Moon"/>
</p:tagLst>
</file>

<file path=ppt/tags/tag474.xml><?xml version="1.0" encoding="utf-8"?>
<p:tagLst xmlns:a="http://schemas.openxmlformats.org/drawingml/2006/main" xmlns:r="http://schemas.openxmlformats.org/officeDocument/2006/relationships" xmlns:p="http://schemas.openxmlformats.org/presentationml/2006/main">
  <p:tag name="ANGLE" val="1"/>
</p:tagLst>
</file>

<file path=ppt/tags/tag475.xml><?xml version="1.0" encoding="utf-8"?>
<p:tagLst xmlns:a="http://schemas.openxmlformats.org/drawingml/2006/main" xmlns:r="http://schemas.openxmlformats.org/officeDocument/2006/relationships" xmlns:p="http://schemas.openxmlformats.org/presentationml/2006/main">
  <p:tag name="NAME" val="Moon"/>
</p:tagLst>
</file>

<file path=ppt/tags/tag476.xml><?xml version="1.0" encoding="utf-8"?>
<p:tagLst xmlns:a="http://schemas.openxmlformats.org/drawingml/2006/main" xmlns:r="http://schemas.openxmlformats.org/officeDocument/2006/relationships" xmlns:p="http://schemas.openxmlformats.org/presentationml/2006/main">
  <p:tag name="NAME" val="Moon"/>
</p:tagLst>
</file>

<file path=ppt/tags/tag477.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78.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479.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80.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81.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482.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83.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48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85.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86.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487.xml><?xml version="1.0" encoding="utf-8"?>
<p:tagLst xmlns:a="http://schemas.openxmlformats.org/drawingml/2006/main" xmlns:r="http://schemas.openxmlformats.org/officeDocument/2006/relationships" xmlns:p="http://schemas.openxmlformats.org/presentationml/2006/main">
  <p:tag name="ANGLE" val="1"/>
</p:tagLst>
</file>

<file path=ppt/tags/tag488.xml><?xml version="1.0" encoding="utf-8"?>
<p:tagLst xmlns:a="http://schemas.openxmlformats.org/drawingml/2006/main" xmlns:r="http://schemas.openxmlformats.org/officeDocument/2006/relationships" xmlns:p="http://schemas.openxmlformats.org/presentationml/2006/main">
  <p:tag name="ANGLE" val="1"/>
</p:tagLst>
</file>

<file path=ppt/tags/tag489.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90.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491.xml><?xml version="1.0" encoding="utf-8"?>
<p:tagLst xmlns:a="http://schemas.openxmlformats.org/drawingml/2006/main" xmlns:r="http://schemas.openxmlformats.org/officeDocument/2006/relationships" xmlns:p="http://schemas.openxmlformats.org/presentationml/2006/main">
  <p:tag name="NAME" val="MoonHalf"/>
</p:tagLst>
</file>

<file path=ppt/tags/tag492.xml><?xml version="1.0" encoding="utf-8"?>
<p:tagLst xmlns:a="http://schemas.openxmlformats.org/drawingml/2006/main" xmlns:r="http://schemas.openxmlformats.org/officeDocument/2006/relationships" xmlns:p="http://schemas.openxmlformats.org/presentationml/2006/main">
  <p:tag name="NAME" val="MoonHalf"/>
</p:tagLst>
</file>

<file path=ppt/tags/tag493.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494.xml><?xml version="1.0" encoding="utf-8"?>
<p:tagLst xmlns:a="http://schemas.openxmlformats.org/drawingml/2006/main" xmlns:r="http://schemas.openxmlformats.org/officeDocument/2006/relationships" xmlns:p="http://schemas.openxmlformats.org/presentationml/2006/main">
  <p:tag name="ANGLE" val="3"/>
</p:tagLst>
</file>

<file path=ppt/tags/tag495.xml><?xml version="1.0" encoding="utf-8"?>
<p:tagLst xmlns:a="http://schemas.openxmlformats.org/drawingml/2006/main" xmlns:r="http://schemas.openxmlformats.org/officeDocument/2006/relationships" xmlns:p="http://schemas.openxmlformats.org/presentationml/2006/main">
  <p:tag name="ANGLE" val="3"/>
</p:tagLst>
</file>

<file path=ppt/tags/tag496.xml><?xml version="1.0" encoding="utf-8"?>
<p:tagLst xmlns:a="http://schemas.openxmlformats.org/drawingml/2006/main" xmlns:r="http://schemas.openxmlformats.org/officeDocument/2006/relationships" xmlns:p="http://schemas.openxmlformats.org/presentationml/2006/main">
  <p:tag name="ANGLE" val="3"/>
</p:tagLst>
</file>

<file path=ppt/tags/tag497.xml><?xml version="1.0" encoding="utf-8"?>
<p:tagLst xmlns:a="http://schemas.openxmlformats.org/drawingml/2006/main" xmlns:r="http://schemas.openxmlformats.org/officeDocument/2006/relationships" xmlns:p="http://schemas.openxmlformats.org/presentationml/2006/main">
  <p:tag name="ANGLE" val="3"/>
</p:tagLst>
</file>

<file path=ppt/tags/tag498.xml><?xml version="1.0" encoding="utf-8"?>
<p:tagLst xmlns:a="http://schemas.openxmlformats.org/drawingml/2006/main" xmlns:r="http://schemas.openxmlformats.org/officeDocument/2006/relationships" xmlns:p="http://schemas.openxmlformats.org/presentationml/2006/main">
  <p:tag name="ANGLE" val="5"/>
</p:tagLst>
</file>

<file path=ppt/tags/tag499.xml><?xml version="1.0" encoding="utf-8"?>
<p:tagLst xmlns:a="http://schemas.openxmlformats.org/drawingml/2006/main" xmlns:r="http://schemas.openxmlformats.org/officeDocument/2006/relationships" xmlns:p="http://schemas.openxmlformats.org/presentationml/2006/main">
  <p:tag name="ANGLE" val="5"/>
</p:tagLst>
</file>

<file path=ppt/tags/tag500.xml><?xml version="1.0" encoding="utf-8"?>
<p:tagLst xmlns:a="http://schemas.openxmlformats.org/drawingml/2006/main" xmlns:r="http://schemas.openxmlformats.org/officeDocument/2006/relationships" xmlns:p="http://schemas.openxmlformats.org/presentationml/2006/main">
  <p:tag name="ANGLE" val="4"/>
</p:tagLst>
</file>

<file path=ppt/tags/tag501.xml><?xml version="1.0" encoding="utf-8"?>
<p:tagLst xmlns:a="http://schemas.openxmlformats.org/drawingml/2006/main" xmlns:r="http://schemas.openxmlformats.org/officeDocument/2006/relationships" xmlns:p="http://schemas.openxmlformats.org/presentationml/2006/main">
  <p:tag name="ANGLE" val="4"/>
</p:tagLst>
</file>

<file path=ppt/tags/tag502.xml><?xml version="1.0" encoding="utf-8"?>
<p:tagLst xmlns:a="http://schemas.openxmlformats.org/drawingml/2006/main" xmlns:r="http://schemas.openxmlformats.org/officeDocument/2006/relationships" xmlns:p="http://schemas.openxmlformats.org/presentationml/2006/main">
  <p:tag name="ANGLE" val="1"/>
</p:tagLst>
</file>

<file path=ppt/tags/tag503.xml><?xml version="1.0" encoding="utf-8"?>
<p:tagLst xmlns:a="http://schemas.openxmlformats.org/drawingml/2006/main" xmlns:r="http://schemas.openxmlformats.org/officeDocument/2006/relationships" xmlns:p="http://schemas.openxmlformats.org/presentationml/2006/main">
  <p:tag name="ANGLE" val="1"/>
</p:tagLst>
</file>

<file path=ppt/tags/tag504.xml><?xml version="1.0" encoding="utf-8"?>
<p:tagLst xmlns:a="http://schemas.openxmlformats.org/drawingml/2006/main" xmlns:r="http://schemas.openxmlformats.org/officeDocument/2006/relationships" xmlns:p="http://schemas.openxmlformats.org/presentationml/2006/main">
  <p:tag name="ANGLE" val="4"/>
</p:tagLst>
</file>

<file path=ppt/tags/tag505.xml><?xml version="1.0" encoding="utf-8"?>
<p:tagLst xmlns:a="http://schemas.openxmlformats.org/drawingml/2006/main" xmlns:r="http://schemas.openxmlformats.org/officeDocument/2006/relationships" xmlns:p="http://schemas.openxmlformats.org/presentationml/2006/main">
  <p:tag name="ANGLE" val="4"/>
</p:tagLst>
</file>

<file path=ppt/tags/tag506.xml><?xml version="1.0" encoding="utf-8"?>
<p:tagLst xmlns:a="http://schemas.openxmlformats.org/drawingml/2006/main" xmlns:r="http://schemas.openxmlformats.org/officeDocument/2006/relationships" xmlns:p="http://schemas.openxmlformats.org/presentationml/2006/main">
  <p:tag name="ANGLE" val="1"/>
</p:tagLst>
</file>

<file path=ppt/tags/tag507.xml><?xml version="1.0" encoding="utf-8"?>
<p:tagLst xmlns:a="http://schemas.openxmlformats.org/drawingml/2006/main" xmlns:r="http://schemas.openxmlformats.org/officeDocument/2006/relationships" xmlns:p="http://schemas.openxmlformats.org/presentationml/2006/main">
  <p:tag name="ANGLE" val="1"/>
</p:tagLst>
</file>

<file path=ppt/tags/tag508.xml><?xml version="1.0" encoding="utf-8"?>
<p:tagLst xmlns:a="http://schemas.openxmlformats.org/drawingml/2006/main" xmlns:r="http://schemas.openxmlformats.org/officeDocument/2006/relationships" xmlns:p="http://schemas.openxmlformats.org/presentationml/2006/main">
  <p:tag name="ANGLE" val="2"/>
</p:tagLst>
</file>

<file path=ppt/tags/tag509.xml><?xml version="1.0" encoding="utf-8"?>
<p:tagLst xmlns:a="http://schemas.openxmlformats.org/drawingml/2006/main" xmlns:r="http://schemas.openxmlformats.org/officeDocument/2006/relationships" xmlns:p="http://schemas.openxmlformats.org/presentationml/2006/main">
  <p:tag name="ANGLE" val="2"/>
</p:tagLst>
</file>

<file path=ppt/tags/tag510.xml><?xml version="1.0" encoding="utf-8"?>
<p:tagLst xmlns:a="http://schemas.openxmlformats.org/drawingml/2006/main" xmlns:r="http://schemas.openxmlformats.org/officeDocument/2006/relationships" xmlns:p="http://schemas.openxmlformats.org/presentationml/2006/main">
  <p:tag name="SLIDELOOKUP" val="20250910180151980214748364015-tru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514.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515.xml><?xml version="1.0" encoding="utf-8"?>
<p:tagLst xmlns:a="http://schemas.openxmlformats.org/drawingml/2006/main" xmlns:r="http://schemas.openxmlformats.org/officeDocument/2006/relationships" xmlns:p="http://schemas.openxmlformats.org/presentationml/2006/main">
  <p:tag name="NAME" val="Moon"/>
</p:tagLst>
</file>

<file path=ppt/tags/tag516.xml><?xml version="1.0" encoding="utf-8"?>
<p:tagLst xmlns:a="http://schemas.openxmlformats.org/drawingml/2006/main" xmlns:r="http://schemas.openxmlformats.org/officeDocument/2006/relationships" xmlns:p="http://schemas.openxmlformats.org/presentationml/2006/main">
  <p:tag name="NAME" val="Moon"/>
</p:tagLst>
</file>

<file path=ppt/tags/tag517.xml><?xml version="1.0" encoding="utf-8"?>
<p:tagLst xmlns:a="http://schemas.openxmlformats.org/drawingml/2006/main" xmlns:r="http://schemas.openxmlformats.org/officeDocument/2006/relationships" xmlns:p="http://schemas.openxmlformats.org/presentationml/2006/main">
  <p:tag name="NAME" val="Moon"/>
</p:tagLst>
</file>

<file path=ppt/tags/tag518.xml><?xml version="1.0" encoding="utf-8"?>
<p:tagLst xmlns:a="http://schemas.openxmlformats.org/drawingml/2006/main" xmlns:r="http://schemas.openxmlformats.org/officeDocument/2006/relationships" xmlns:p="http://schemas.openxmlformats.org/presentationml/2006/main">
  <p:tag name="NAME" val="Moon"/>
</p:tagLst>
</file>

<file path=ppt/tags/tag519.xml><?xml version="1.0" encoding="utf-8"?>
<p:tagLst xmlns:a="http://schemas.openxmlformats.org/drawingml/2006/main" xmlns:r="http://schemas.openxmlformats.org/officeDocument/2006/relationships" xmlns:p="http://schemas.openxmlformats.org/presentationml/2006/main">
  <p:tag name="NAME" val="Moon"/>
</p:tagLst>
</file>

<file path=ppt/tags/tag520.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521.xml><?xml version="1.0" encoding="utf-8"?>
<p:tagLst xmlns:a="http://schemas.openxmlformats.org/drawingml/2006/main" xmlns:r="http://schemas.openxmlformats.org/officeDocument/2006/relationships" xmlns:p="http://schemas.openxmlformats.org/presentationml/2006/main">
  <p:tag name="NAME" val="Moon"/>
</p:tagLst>
</file>

<file path=ppt/tags/tag522.xml><?xml version="1.0" encoding="utf-8"?>
<p:tagLst xmlns:a="http://schemas.openxmlformats.org/drawingml/2006/main" xmlns:r="http://schemas.openxmlformats.org/officeDocument/2006/relationships" xmlns:p="http://schemas.openxmlformats.org/presentationml/2006/main">
  <p:tag name="NAME" val="Moon"/>
</p:tagLst>
</file>

<file path=ppt/tags/tag523.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24.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25.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26.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27.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28.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29.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30.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31.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53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533.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34.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35.xml><?xml version="1.0" encoding="utf-8"?>
<p:tagLst xmlns:a="http://schemas.openxmlformats.org/drawingml/2006/main" xmlns:r="http://schemas.openxmlformats.org/officeDocument/2006/relationships" xmlns:p="http://schemas.openxmlformats.org/presentationml/2006/main">
  <p:tag name="ANGLE" val="2"/>
</p:tagLst>
</file>

<file path=ppt/tags/tag536.xml><?xml version="1.0" encoding="utf-8"?>
<p:tagLst xmlns:a="http://schemas.openxmlformats.org/drawingml/2006/main" xmlns:r="http://schemas.openxmlformats.org/officeDocument/2006/relationships" xmlns:p="http://schemas.openxmlformats.org/presentationml/2006/main">
  <p:tag name="ANGLE" val="2"/>
</p:tagLst>
</file>

<file path=ppt/tags/tag537.xml><?xml version="1.0" encoding="utf-8"?>
<p:tagLst xmlns:a="http://schemas.openxmlformats.org/drawingml/2006/main" xmlns:r="http://schemas.openxmlformats.org/officeDocument/2006/relationships" xmlns:p="http://schemas.openxmlformats.org/presentationml/2006/main">
  <p:tag name="ANGLE" val="2"/>
</p:tagLst>
</file>

<file path=ppt/tags/tag538.xml><?xml version="1.0" encoding="utf-8"?>
<p:tagLst xmlns:a="http://schemas.openxmlformats.org/drawingml/2006/main" xmlns:r="http://schemas.openxmlformats.org/officeDocument/2006/relationships" xmlns:p="http://schemas.openxmlformats.org/presentationml/2006/main">
  <p:tag name="ANGLE" val="2"/>
</p:tagLst>
</file>

<file path=ppt/tags/tag539.xml><?xml version="1.0" encoding="utf-8"?>
<p:tagLst xmlns:a="http://schemas.openxmlformats.org/drawingml/2006/main" xmlns:r="http://schemas.openxmlformats.org/officeDocument/2006/relationships" xmlns:p="http://schemas.openxmlformats.org/presentationml/2006/main">
  <p:tag name="ANGLE" val="2"/>
</p:tagLst>
</file>

<file path=ppt/tags/tag540.xml><?xml version="1.0" encoding="utf-8"?>
<p:tagLst xmlns:a="http://schemas.openxmlformats.org/drawingml/2006/main" xmlns:r="http://schemas.openxmlformats.org/officeDocument/2006/relationships" xmlns:p="http://schemas.openxmlformats.org/presentationml/2006/main">
  <p:tag name="ANGLE" val="2"/>
</p:tagLst>
</file>

<file path=ppt/tags/tag541.xml><?xml version="1.0" encoding="utf-8"?>
<p:tagLst xmlns:a="http://schemas.openxmlformats.org/drawingml/2006/main" xmlns:r="http://schemas.openxmlformats.org/officeDocument/2006/relationships" xmlns:p="http://schemas.openxmlformats.org/presentationml/2006/main">
  <p:tag name="ANGLE" val="3"/>
</p:tagLst>
</file>

<file path=ppt/tags/tag542.xml><?xml version="1.0" encoding="utf-8"?>
<p:tagLst xmlns:a="http://schemas.openxmlformats.org/drawingml/2006/main" xmlns:r="http://schemas.openxmlformats.org/officeDocument/2006/relationships" xmlns:p="http://schemas.openxmlformats.org/presentationml/2006/main">
  <p:tag name="ANGLE" val="3"/>
</p:tagLst>
</file>

<file path=ppt/tags/tag543.xml><?xml version="1.0" encoding="utf-8"?>
<p:tagLst xmlns:a="http://schemas.openxmlformats.org/drawingml/2006/main" xmlns:r="http://schemas.openxmlformats.org/officeDocument/2006/relationships" xmlns:p="http://schemas.openxmlformats.org/presentationml/2006/main">
  <p:tag name="ANGLE" val="2"/>
</p:tagLst>
</file>

<file path=ppt/tags/tag544.xml><?xml version="1.0" encoding="utf-8"?>
<p:tagLst xmlns:a="http://schemas.openxmlformats.org/drawingml/2006/main" xmlns:r="http://schemas.openxmlformats.org/officeDocument/2006/relationships" xmlns:p="http://schemas.openxmlformats.org/presentationml/2006/main">
  <p:tag name="ANGLE" val="2"/>
</p:tagLst>
</file>

<file path=ppt/tags/tag545.xml><?xml version="1.0" encoding="utf-8"?>
<p:tagLst xmlns:a="http://schemas.openxmlformats.org/drawingml/2006/main" xmlns:r="http://schemas.openxmlformats.org/officeDocument/2006/relationships" xmlns:p="http://schemas.openxmlformats.org/presentationml/2006/main">
  <p:tag name="ANGLE" val="3"/>
</p:tagLst>
</file>

<file path=ppt/tags/tag546.xml><?xml version="1.0" encoding="utf-8"?>
<p:tagLst xmlns:a="http://schemas.openxmlformats.org/drawingml/2006/main" xmlns:r="http://schemas.openxmlformats.org/officeDocument/2006/relationships" xmlns:p="http://schemas.openxmlformats.org/presentationml/2006/main">
  <p:tag name="ANGLE" val="3"/>
</p:tagLst>
</file>

<file path=ppt/tags/tag547.xml><?xml version="1.0" encoding="utf-8"?>
<p:tagLst xmlns:a="http://schemas.openxmlformats.org/drawingml/2006/main" xmlns:r="http://schemas.openxmlformats.org/officeDocument/2006/relationships" xmlns:p="http://schemas.openxmlformats.org/presentationml/2006/main">
  <p:tag name="ANGLE" val="1"/>
</p:tagLst>
</file>

<file path=ppt/tags/tag548.xml><?xml version="1.0" encoding="utf-8"?>
<p:tagLst xmlns:a="http://schemas.openxmlformats.org/drawingml/2006/main" xmlns:r="http://schemas.openxmlformats.org/officeDocument/2006/relationships" xmlns:p="http://schemas.openxmlformats.org/presentationml/2006/main">
  <p:tag name="ANGLE" val="1"/>
</p:tagLst>
</file>

<file path=ppt/tags/tag549.xml><?xml version="1.0" encoding="utf-8"?>
<p:tagLst xmlns:a="http://schemas.openxmlformats.org/drawingml/2006/main" xmlns:r="http://schemas.openxmlformats.org/officeDocument/2006/relationships" xmlns:p="http://schemas.openxmlformats.org/presentationml/2006/main">
  <p:tag name="ANGLE" val="2"/>
</p:tagLst>
</file>

<file path=ppt/tags/tag550.xml><?xml version="1.0" encoding="utf-8"?>
<p:tagLst xmlns:a="http://schemas.openxmlformats.org/drawingml/2006/main" xmlns:r="http://schemas.openxmlformats.org/officeDocument/2006/relationships" xmlns:p="http://schemas.openxmlformats.org/presentationml/2006/main">
  <p:tag name="ANGLE" val="2"/>
</p:tagLst>
</file>

<file path=ppt/tags/tag551.xml><?xml version="1.0" encoding="utf-8"?>
<p:tagLst xmlns:a="http://schemas.openxmlformats.org/drawingml/2006/main" xmlns:r="http://schemas.openxmlformats.org/officeDocument/2006/relationships" xmlns:p="http://schemas.openxmlformats.org/presentationml/2006/main">
  <p:tag name="SLIDELOOKUP" val="20250910180151980214748364015-true"/>
</p:tagLst>
</file>

<file path=ppt/tags/tag5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4.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555.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556.xml><?xml version="1.0" encoding="utf-8"?>
<p:tagLst xmlns:a="http://schemas.openxmlformats.org/drawingml/2006/main" xmlns:r="http://schemas.openxmlformats.org/officeDocument/2006/relationships" xmlns:p="http://schemas.openxmlformats.org/presentationml/2006/main">
  <p:tag name="NAME" val="Moon"/>
</p:tagLst>
</file>

<file path=ppt/tags/tag557.xml><?xml version="1.0" encoding="utf-8"?>
<p:tagLst xmlns:a="http://schemas.openxmlformats.org/drawingml/2006/main" xmlns:r="http://schemas.openxmlformats.org/officeDocument/2006/relationships" xmlns:p="http://schemas.openxmlformats.org/presentationml/2006/main">
  <p:tag name="NAME" val="Moon"/>
</p:tagLst>
</file>

<file path=ppt/tags/tag558.xml><?xml version="1.0" encoding="utf-8"?>
<p:tagLst xmlns:a="http://schemas.openxmlformats.org/drawingml/2006/main" xmlns:r="http://schemas.openxmlformats.org/officeDocument/2006/relationships" xmlns:p="http://schemas.openxmlformats.org/presentationml/2006/main">
  <p:tag name="NAME" val="Moon"/>
</p:tagLst>
</file>

<file path=ppt/tags/tag559.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60.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61.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62.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63.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56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565.xml><?xml version="1.0" encoding="utf-8"?>
<p:tagLst xmlns:a="http://schemas.openxmlformats.org/drawingml/2006/main" xmlns:r="http://schemas.openxmlformats.org/officeDocument/2006/relationships" xmlns:p="http://schemas.openxmlformats.org/presentationml/2006/main">
  <p:tag name="NAME" val="Moon"/>
</p:tagLst>
</file>

<file path=ppt/tags/tag566.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67.xml><?xml version="1.0" encoding="utf-8"?>
<p:tagLst xmlns:a="http://schemas.openxmlformats.org/drawingml/2006/main" xmlns:r="http://schemas.openxmlformats.org/officeDocument/2006/relationships" xmlns:p="http://schemas.openxmlformats.org/presentationml/2006/main">
  <p:tag name="SYMBOLNAME" val="MinusSign"/>
  <p:tag name="CIRCLESTATUS" val="Blue"/>
  <p:tag name="NAME" val="MinusSignBlue"/>
</p:tagLst>
</file>

<file path=ppt/tags/tag568.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69.xml><?xml version="1.0" encoding="utf-8"?>
<p:tagLst xmlns:a="http://schemas.openxmlformats.org/drawingml/2006/main" xmlns:r="http://schemas.openxmlformats.org/officeDocument/2006/relationships" xmlns:p="http://schemas.openxmlformats.org/presentationml/2006/main">
  <p:tag name="SYMBOLNAME" val="PlusSign"/>
  <p:tag name="CIRCLESTATUS" val="White"/>
  <p:tag name="NAME" val="PlusSignWhite"/>
</p:tagLst>
</file>

<file path=ppt/tags/tag570.xml><?xml version="1.0" encoding="utf-8"?>
<p:tagLst xmlns:a="http://schemas.openxmlformats.org/drawingml/2006/main" xmlns:r="http://schemas.openxmlformats.org/officeDocument/2006/relationships" xmlns:p="http://schemas.openxmlformats.org/presentationml/2006/main">
  <p:tag name="NAME" val="Moon"/>
</p:tagLst>
</file>

<file path=ppt/tags/tag571.xml><?xml version="1.0" encoding="utf-8"?>
<p:tagLst xmlns:a="http://schemas.openxmlformats.org/drawingml/2006/main" xmlns:r="http://schemas.openxmlformats.org/officeDocument/2006/relationships" xmlns:p="http://schemas.openxmlformats.org/presentationml/2006/main">
  <p:tag name="NAME" val="Moon"/>
</p:tagLst>
</file>

<file path=ppt/tags/tag572.xml><?xml version="1.0" encoding="utf-8"?>
<p:tagLst xmlns:a="http://schemas.openxmlformats.org/drawingml/2006/main" xmlns:r="http://schemas.openxmlformats.org/officeDocument/2006/relationships" xmlns:p="http://schemas.openxmlformats.org/presentationml/2006/main">
  <p:tag name="ANGLE" val="3"/>
</p:tagLst>
</file>

<file path=ppt/tags/tag573.xml><?xml version="1.0" encoding="utf-8"?>
<p:tagLst xmlns:a="http://schemas.openxmlformats.org/drawingml/2006/main" xmlns:r="http://schemas.openxmlformats.org/officeDocument/2006/relationships" xmlns:p="http://schemas.openxmlformats.org/presentationml/2006/main">
  <p:tag name="ANGLE" val="3"/>
</p:tagLst>
</file>

<file path=ppt/tags/tag574.xml><?xml version="1.0" encoding="utf-8"?>
<p:tagLst xmlns:a="http://schemas.openxmlformats.org/drawingml/2006/main" xmlns:r="http://schemas.openxmlformats.org/officeDocument/2006/relationships" xmlns:p="http://schemas.openxmlformats.org/presentationml/2006/main">
  <p:tag name="ANGLE" val="3"/>
</p:tagLst>
</file>

<file path=ppt/tags/tag575.xml><?xml version="1.0" encoding="utf-8"?>
<p:tagLst xmlns:a="http://schemas.openxmlformats.org/drawingml/2006/main" xmlns:r="http://schemas.openxmlformats.org/officeDocument/2006/relationships" xmlns:p="http://schemas.openxmlformats.org/presentationml/2006/main">
  <p:tag name="ANGLE" val="3"/>
</p:tagLst>
</file>

<file path=ppt/tags/tag576.xml><?xml version="1.0" encoding="utf-8"?>
<p:tagLst xmlns:a="http://schemas.openxmlformats.org/drawingml/2006/main" xmlns:r="http://schemas.openxmlformats.org/officeDocument/2006/relationships" xmlns:p="http://schemas.openxmlformats.org/presentationml/2006/main">
  <p:tag name="ANGLE" val="3"/>
</p:tagLst>
</file>

<file path=ppt/tags/tag577.xml><?xml version="1.0" encoding="utf-8"?>
<p:tagLst xmlns:a="http://schemas.openxmlformats.org/drawingml/2006/main" xmlns:r="http://schemas.openxmlformats.org/officeDocument/2006/relationships" xmlns:p="http://schemas.openxmlformats.org/presentationml/2006/main">
  <p:tag name="ANGLE" val="3"/>
</p:tagLst>
</file>

<file path=ppt/tags/tag578.xml><?xml version="1.0" encoding="utf-8"?>
<p:tagLst xmlns:a="http://schemas.openxmlformats.org/drawingml/2006/main" xmlns:r="http://schemas.openxmlformats.org/officeDocument/2006/relationships" xmlns:p="http://schemas.openxmlformats.org/presentationml/2006/main">
  <p:tag name="ANGLE" val="2"/>
</p:tagLst>
</file>

<file path=ppt/tags/tag579.xml><?xml version="1.0" encoding="utf-8"?>
<p:tagLst xmlns:a="http://schemas.openxmlformats.org/drawingml/2006/main" xmlns:r="http://schemas.openxmlformats.org/officeDocument/2006/relationships" xmlns:p="http://schemas.openxmlformats.org/presentationml/2006/main">
  <p:tag name="ANGLE" val="2"/>
</p:tagLst>
</file>

<file path=ppt/tags/tag580.xml><?xml version="1.0" encoding="utf-8"?>
<p:tagLst xmlns:a="http://schemas.openxmlformats.org/drawingml/2006/main" xmlns:r="http://schemas.openxmlformats.org/officeDocument/2006/relationships" xmlns:p="http://schemas.openxmlformats.org/presentationml/2006/main">
  <p:tag name="ANGLE" val="3"/>
</p:tagLst>
</file>

<file path=ppt/tags/tag581.xml><?xml version="1.0" encoding="utf-8"?>
<p:tagLst xmlns:a="http://schemas.openxmlformats.org/drawingml/2006/main" xmlns:r="http://schemas.openxmlformats.org/officeDocument/2006/relationships" xmlns:p="http://schemas.openxmlformats.org/presentationml/2006/main">
  <p:tag name="ANGLE" val="3"/>
</p:tagLst>
</file>

<file path=ppt/tags/tag582.xml><?xml version="1.0" encoding="utf-8"?>
<p:tagLst xmlns:a="http://schemas.openxmlformats.org/drawingml/2006/main" xmlns:r="http://schemas.openxmlformats.org/officeDocument/2006/relationships" xmlns:p="http://schemas.openxmlformats.org/presentationml/2006/main">
  <p:tag name="ANGLE" val="3"/>
</p:tagLst>
</file>

<file path=ppt/tags/tag583.xml><?xml version="1.0" encoding="utf-8"?>
<p:tagLst xmlns:a="http://schemas.openxmlformats.org/drawingml/2006/main" xmlns:r="http://schemas.openxmlformats.org/officeDocument/2006/relationships" xmlns:p="http://schemas.openxmlformats.org/presentationml/2006/main">
  <p:tag name="ANGLE" val="3"/>
</p:tagLst>
</file>

<file path=ppt/tags/tag584.xml><?xml version="1.0" encoding="utf-8"?>
<p:tagLst xmlns:a="http://schemas.openxmlformats.org/drawingml/2006/main" xmlns:r="http://schemas.openxmlformats.org/officeDocument/2006/relationships" xmlns:p="http://schemas.openxmlformats.org/presentationml/2006/main">
  <p:tag name="SLIDELOOKUP" val="202509291746389982724"/>
</p:tagLst>
</file>

<file path=ppt/tags/tag5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7.xml><?xml version="1.0" encoding="utf-8"?>
<p:tagLst xmlns:a="http://schemas.openxmlformats.org/drawingml/2006/main" xmlns:r="http://schemas.openxmlformats.org/officeDocument/2006/relationships" xmlns:p="http://schemas.openxmlformats.org/presentationml/2006/main">
  <p:tag name="THINKCELLSHAPEDONOTDELETE" val="tqFXigWBDFIm4Ja7UBeP0pw"/>
</p:tagLst>
</file>

<file path=ppt/tags/tag588.xml><?xml version="1.0" encoding="utf-8"?>
<p:tagLst xmlns:a="http://schemas.openxmlformats.org/drawingml/2006/main" xmlns:r="http://schemas.openxmlformats.org/officeDocument/2006/relationships" xmlns:p="http://schemas.openxmlformats.org/presentationml/2006/main">
  <p:tag name="THINKCELLSHAPEDONOTDELETE" val="thWSWqTgjsdCZqJduvf4fmQ"/>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tKgFvSfJ5ikJ9CDE7auEhiA"/>
</p:tagLst>
</file>

<file path=ppt/tags/tag590.xml><?xml version="1.0" encoding="utf-8"?>
<p:tagLst xmlns:a="http://schemas.openxmlformats.org/drawingml/2006/main" xmlns:r="http://schemas.openxmlformats.org/officeDocument/2006/relationships" xmlns:p="http://schemas.openxmlformats.org/presentationml/2006/main">
  <p:tag name="THINKCELLSHAPEDONOTDELETE" val="tq9fVuqxphptUXu9ERfysZw"/>
</p:tagLst>
</file>

<file path=ppt/tags/tag591.xml><?xml version="1.0" encoding="utf-8"?>
<p:tagLst xmlns:a="http://schemas.openxmlformats.org/drawingml/2006/main" xmlns:r="http://schemas.openxmlformats.org/officeDocument/2006/relationships" xmlns:p="http://schemas.openxmlformats.org/presentationml/2006/main">
  <p:tag name="SLIDELOOKUP" val="2025100217142952326620-true"/>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4.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595.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596.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597.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598.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599.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00.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01.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02.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03.xml><?xml version="1.0" encoding="utf-8"?>
<p:tagLst xmlns:a="http://schemas.openxmlformats.org/drawingml/2006/main" xmlns:r="http://schemas.openxmlformats.org/officeDocument/2006/relationships" xmlns:p="http://schemas.openxmlformats.org/presentationml/2006/main">
  <p:tag name="MTTABLE" val="HTitleDiv"/>
  <p:tag name="MTNUMBER" val="0.30671158493809"/>
</p:tagLst>
</file>

<file path=ppt/tags/tag60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45"/>
  <p:tag name="TOP" val="110"/>
  <p:tag name="HEIGHT" val="19.38748"/>
</p:tagLst>
</file>

<file path=ppt/tags/tag60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267.5"/>
  <p:tag name="TOP" val="110"/>
  <p:tag name="HEIGHT" val="19.38748"/>
</p:tagLst>
</file>

<file path=ppt/tags/tag60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712.5"/>
  <p:tag name="TOP" val="110"/>
  <p:tag name="HEIGHT" val="19.38748"/>
</p:tagLst>
</file>

<file path=ppt/tags/tag60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490"/>
  <p:tag name="TOP" val="110"/>
  <p:tag name="HEIGHT" val="19.38748"/>
  <p:tag name="THINKCELLSHAPEDONOTDELETE" val="p4bvqxSOW28ixprQGKcOopw"/>
</p:tagLst>
</file>

<file path=ppt/tags/tag60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712.5"/>
  <p:tag name="TOP" val="110"/>
  <p:tag name="HEIGHT" val="19.38748"/>
  <p:tag name="THINKCELLSHAPEDONOTDELETE" val="p7KWU9flHiwPBjyRV.iaPZQ"/>
</p:tagLst>
</file>

<file path=ppt/tags/tag609.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10.xml><?xml version="1.0" encoding="utf-8"?>
<p:tagLst xmlns:a="http://schemas.openxmlformats.org/drawingml/2006/main" xmlns:r="http://schemas.openxmlformats.org/officeDocument/2006/relationships" xmlns:p="http://schemas.openxmlformats.org/presentationml/2006/main">
  <p:tag name="SHAPENAME" val="5. Source"/>
</p:tagLst>
</file>

<file path=ppt/tags/tag611.xml><?xml version="1.0" encoding="utf-8"?>
<p:tagLst xmlns:a="http://schemas.openxmlformats.org/drawingml/2006/main" xmlns:r="http://schemas.openxmlformats.org/officeDocument/2006/relationships" xmlns:p="http://schemas.openxmlformats.org/presentationml/2006/main">
  <p:tag name="SHAPENAME" val="4. Footnote"/>
</p:tagLst>
</file>

<file path=ppt/tags/tag612.xml><?xml version="1.0" encoding="utf-8"?>
<p:tagLst xmlns:a="http://schemas.openxmlformats.org/drawingml/2006/main" xmlns:r="http://schemas.openxmlformats.org/officeDocument/2006/relationships" xmlns:p="http://schemas.openxmlformats.org/presentationml/2006/main">
  <p:tag name="SLIDELOOKUP" val="2025100217142952326620-true"/>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15.xml><?xml version="1.0" encoding="utf-8"?>
<p:tagLst xmlns:a="http://schemas.openxmlformats.org/drawingml/2006/main" xmlns:r="http://schemas.openxmlformats.org/officeDocument/2006/relationships" xmlns:p="http://schemas.openxmlformats.org/presentationml/2006/main">
  <p:tag name="MTTABLE" val="HTitleDiv"/>
  <p:tag name="MTNUMBER" val="0.30671158493809"/>
</p:tagLst>
</file>

<file path=ppt/tags/tag61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45"/>
  <p:tag name="TOP" val="110"/>
  <p:tag name="HEIGHT" val="19.38748"/>
</p:tagLst>
</file>

<file path=ppt/tags/tag61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267.5"/>
  <p:tag name="TOP" val="110"/>
  <p:tag name="HEIGHT" val="19.38748"/>
</p:tagLst>
</file>

<file path=ppt/tags/tag61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712.5"/>
  <p:tag name="TOP" val="110"/>
  <p:tag name="HEIGHT" val="19.38748"/>
</p:tagLst>
</file>

<file path=ppt/tags/tag619.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0.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1.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2.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3.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4.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5.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6.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7.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8.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29.xml><?xml version="1.0" encoding="utf-8"?>
<p:tagLst xmlns:a="http://schemas.openxmlformats.org/drawingml/2006/main" xmlns:r="http://schemas.openxmlformats.org/officeDocument/2006/relationships" xmlns:p="http://schemas.openxmlformats.org/presentationml/2006/main">
  <p:tag name="MTTABLE" val="HDiv"/>
  <p:tag name="MTNUMBER" val="0.30671158493809"/>
</p:tagLst>
</file>

<file path=ppt/tags/tag63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490"/>
  <p:tag name="TOP" val="110"/>
  <p:tag name="HEIGHT" val="19.38748"/>
  <p:tag name="THINKCELLSHAPEDONOTDELETE" val="p4bvqxSOW28ixprQGKcOopw"/>
</p:tagLst>
</file>

<file path=ppt/tags/tag63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30671158493809"/>
  <p:tag name="LEFT" val="712.5"/>
  <p:tag name="TOP" val="110"/>
  <p:tag name="HEIGHT" val="19.38748"/>
  <p:tag name="THINKCELLSHAPEDONOTDELETE" val="p7KWU9flHiwPBjyRV.iaPZQ"/>
</p:tagLst>
</file>

<file path=ppt/tags/tag632.xml><?xml version="1.0" encoding="utf-8"?>
<p:tagLst xmlns:a="http://schemas.openxmlformats.org/drawingml/2006/main" xmlns:r="http://schemas.openxmlformats.org/officeDocument/2006/relationships" xmlns:p="http://schemas.openxmlformats.org/presentationml/2006/main">
  <p:tag name="SHAPENAME" val="5. Source"/>
</p:tagLst>
</file>

<file path=ppt/tags/tag633.xml><?xml version="1.0" encoding="utf-8"?>
<p:tagLst xmlns:a="http://schemas.openxmlformats.org/drawingml/2006/main" xmlns:r="http://schemas.openxmlformats.org/officeDocument/2006/relationships" xmlns:p="http://schemas.openxmlformats.org/presentationml/2006/main">
  <p:tag name="SHAPENAME" val="4. Footnote"/>
</p:tagLst>
</file>

<file path=ppt/tags/tag634.xml><?xml version="1.0" encoding="utf-8"?>
<p:tagLst xmlns:a="http://schemas.openxmlformats.org/drawingml/2006/main" xmlns:r="http://schemas.openxmlformats.org/officeDocument/2006/relationships" xmlns:p="http://schemas.openxmlformats.org/presentationml/2006/main">
  <p:tag name="SLIDELOOKUP" val="202509291746389982724"/>
</p:tagLst>
</file>

<file path=ppt/tags/tag6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7.xml><?xml version="1.0" encoding="utf-8"?>
<p:tagLst xmlns:a="http://schemas.openxmlformats.org/drawingml/2006/main" xmlns:r="http://schemas.openxmlformats.org/officeDocument/2006/relationships" xmlns:p="http://schemas.openxmlformats.org/presentationml/2006/main">
  <p:tag name="THINKCELLSHAPEDONOTDELETE" val="t0cJxYmFtgWSvJSHDGL_v1Q"/>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tGIOLhFIAo9KQfbNQL8hFEQ"/>
</p:tagLst>
</file>

<file path=ppt/tags/tag639.xml><?xml version="1.0" encoding="utf-8"?>
<p:tagLst xmlns:a="http://schemas.openxmlformats.org/drawingml/2006/main" xmlns:r="http://schemas.openxmlformats.org/officeDocument/2006/relationships" xmlns:p="http://schemas.openxmlformats.org/presentationml/2006/main">
  <p:tag name="THINKCELLSHAPEDONOTDELETE" val="tzzAr8CghLL1BN2CdukCadQ"/>
</p:tagLst>
</file>

<file path=ppt/tags/tag640.xml><?xml version="1.0" encoding="utf-8"?>
<p:tagLst xmlns:a="http://schemas.openxmlformats.org/drawingml/2006/main" xmlns:r="http://schemas.openxmlformats.org/officeDocument/2006/relationships" xmlns:p="http://schemas.openxmlformats.org/presentationml/2006/main">
  <p:tag name="THINKCELLSHAPEDONOTDELETE" val="tKgFvSfJ5ikJ9CDE7auEhiA"/>
</p:tagLst>
</file>

<file path=ppt/tags/tag641.xml><?xml version="1.0" encoding="utf-8"?>
<p:tagLst xmlns:a="http://schemas.openxmlformats.org/drawingml/2006/main" xmlns:r="http://schemas.openxmlformats.org/officeDocument/2006/relationships" xmlns:p="http://schemas.openxmlformats.org/presentationml/2006/main">
  <p:tag name="SLIDELOOKUP" val="202509261018234432575"/>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4.xml><?xml version="1.0" encoding="utf-8"?>
<p:tagLst xmlns:a="http://schemas.openxmlformats.org/drawingml/2006/main" xmlns:r="http://schemas.openxmlformats.org/officeDocument/2006/relationships" xmlns:p="http://schemas.openxmlformats.org/presentationml/2006/main">
  <p:tag name="ANGLE" val="1"/>
</p:tagLst>
</file>

<file path=ppt/tags/tag645.xml><?xml version="1.0" encoding="utf-8"?>
<p:tagLst xmlns:a="http://schemas.openxmlformats.org/drawingml/2006/main" xmlns:r="http://schemas.openxmlformats.org/officeDocument/2006/relationships" xmlns:p="http://schemas.openxmlformats.org/presentationml/2006/main">
  <p:tag name="ANGLE" val="1"/>
</p:tagLst>
</file>

<file path=ppt/tags/tag646.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47.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4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4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5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5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52.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653.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54.xml><?xml version="1.0" encoding="utf-8"?>
<p:tagLst xmlns:a="http://schemas.openxmlformats.org/drawingml/2006/main" xmlns:r="http://schemas.openxmlformats.org/officeDocument/2006/relationships" xmlns:p="http://schemas.openxmlformats.org/presentationml/2006/main">
  <p:tag name="SLIDELOOKUP" val="202509261018234432575"/>
</p:tagLst>
</file>

<file path=ppt/tags/tag6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7.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58.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5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66.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67.xml><?xml version="1.0" encoding="utf-8"?>
<p:tagLst xmlns:a="http://schemas.openxmlformats.org/drawingml/2006/main" xmlns:r="http://schemas.openxmlformats.org/officeDocument/2006/relationships" xmlns:p="http://schemas.openxmlformats.org/presentationml/2006/main">
  <p:tag name="3LEVEL" val="0"/>
  <p:tag name="1LEVEL" val="0"/>
  <p:tag name="4LEVEL" val="0"/>
  <p:tag name="2LEVEL" val="0"/>
  <p:tag name="5LEVEL" val="0"/>
</p:tagLst>
</file>

<file path=ppt/tags/tag668.xml><?xml version="1.0" encoding="utf-8"?>
<p:tagLst xmlns:a="http://schemas.openxmlformats.org/drawingml/2006/main" xmlns:r="http://schemas.openxmlformats.org/officeDocument/2006/relationships" xmlns:p="http://schemas.openxmlformats.org/presentationml/2006/main">
  <p:tag name="SLIDELOOKUP" val="202509261019127402599"/>
</p:tagLst>
</file>

<file path=ppt/tags/tag6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1.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72.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7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74.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75.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76.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77.xml><?xml version="1.0" encoding="utf-8"?>
<p:tagLst xmlns:a="http://schemas.openxmlformats.org/drawingml/2006/main" xmlns:r="http://schemas.openxmlformats.org/officeDocument/2006/relationships" xmlns:p="http://schemas.openxmlformats.org/presentationml/2006/main">
  <p:tag name="3LEVEL" val="0"/>
  <p:tag name="1LEVEL" val="0"/>
  <p:tag name="4LEVEL" val="0"/>
  <p:tag name="2LEVEL" val="0"/>
  <p:tag name="5LEVEL" val="0"/>
</p:tagLst>
</file>

<file path=ppt/tags/tag678.xml><?xml version="1.0" encoding="utf-8"?>
<p:tagLst xmlns:a="http://schemas.openxmlformats.org/drawingml/2006/main" xmlns:r="http://schemas.openxmlformats.org/officeDocument/2006/relationships" xmlns:p="http://schemas.openxmlformats.org/presentationml/2006/main">
  <p:tag name="SLIDELOOKUP" val="202509261019127402599"/>
</p:tagLst>
</file>

<file path=ppt/tags/tag6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81.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82.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83.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84.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85.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86.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87.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88.xml><?xml version="1.0" encoding="utf-8"?>
<p:tagLst xmlns:a="http://schemas.openxmlformats.org/drawingml/2006/main" xmlns:r="http://schemas.openxmlformats.org/officeDocument/2006/relationships" xmlns:p="http://schemas.openxmlformats.org/presentationml/2006/main">
  <p:tag name="3LEVEL" val="0"/>
  <p:tag name="1LEVEL" val="0"/>
  <p:tag name="4LEVEL" val="0"/>
  <p:tag name="2LEVEL" val="0"/>
  <p:tag name="5LEVEL" val="0"/>
</p:tagLst>
</file>

<file path=ppt/tags/tag689.xml><?xml version="1.0" encoding="utf-8"?>
<p:tagLst xmlns:a="http://schemas.openxmlformats.org/drawingml/2006/main" xmlns:r="http://schemas.openxmlformats.org/officeDocument/2006/relationships" xmlns:p="http://schemas.openxmlformats.org/presentationml/2006/main">
  <p:tag name="SLIDELOOKUP" val="202509261019127402599"/>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92.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9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94.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95.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96.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697.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98.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699.xml><?xml version="1.0" encoding="utf-8"?>
<p:tagLst xmlns:a="http://schemas.openxmlformats.org/drawingml/2006/main" xmlns:r="http://schemas.openxmlformats.org/officeDocument/2006/relationships" xmlns:p="http://schemas.openxmlformats.org/presentationml/2006/main">
  <p:tag name="3LEVEL" val="0"/>
  <p:tag name="1LEVEL" val="0"/>
  <p:tag name="4LEVEL" val="0"/>
  <p:tag name="2LEVEL" val="0"/>
  <p:tag name="5LEVEL" val="0"/>
</p:tagLst>
</file>

<file path=ppt/tags/tag700.xml><?xml version="1.0" encoding="utf-8"?>
<p:tagLst xmlns:a="http://schemas.openxmlformats.org/drawingml/2006/main" xmlns:r="http://schemas.openxmlformats.org/officeDocument/2006/relationships" xmlns:p="http://schemas.openxmlformats.org/presentationml/2006/main">
  <p:tag name="SLIDELOOKUP" val="202509261019127402599"/>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3.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704.xml><?xml version="1.0" encoding="utf-8"?>
<p:tagLst xmlns:a="http://schemas.openxmlformats.org/drawingml/2006/main" xmlns:r="http://schemas.openxmlformats.org/officeDocument/2006/relationships" xmlns:p="http://schemas.openxmlformats.org/presentationml/2006/main">
  <p:tag name="MTTABLE" val="HDiv"/>
  <p:tag name="MTNUMBER" val="0.611460001958283"/>
</p:tagLst>
</file>

<file path=ppt/tags/tag705.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706.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707.xml><?xml version="1.0" encoding="utf-8"?>
<p:tagLst xmlns:a="http://schemas.openxmlformats.org/drawingml/2006/main" xmlns:r="http://schemas.openxmlformats.org/officeDocument/2006/relationships" xmlns:p="http://schemas.openxmlformats.org/presentationml/2006/main">
  <p:tag name="MTTABLE" val="HTitleDiv"/>
  <p:tag name="MTNUMBER" val="0.611460001958283"/>
</p:tagLst>
</file>

<file path=ppt/tags/tag708.xml><?xml version="1.0" encoding="utf-8"?>
<p:tagLst xmlns:a="http://schemas.openxmlformats.org/drawingml/2006/main" xmlns:r="http://schemas.openxmlformats.org/officeDocument/2006/relationships" xmlns:p="http://schemas.openxmlformats.org/presentationml/2006/main">
  <p:tag name="3LEVEL" val="0"/>
  <p:tag name="1LEVEL" val="0"/>
  <p:tag name="4LEVEL" val="0"/>
  <p:tag name="2LEVEL" val="0"/>
  <p:tag name="5LEVEL" val="0"/>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CA853051-14C5-410C-8048-8ECA5C4E8371}"/>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229FB231-AA91-4194-80BE-BFCE94AB411C}"/>
    </a:ext>
  </a:extLst>
</a:theme>
</file>

<file path=ppt/theme/theme3.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1ca735a-14db-4567-a159-d67c2473f960">
      <Terms xmlns="http://schemas.microsoft.com/office/infopath/2007/PartnerControls"/>
    </lcf76f155ced4ddcb4097134ff3c332f>
    <TaxCatchAll xmlns="a97def03-4829-427a-a25e-2157731fbb0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2B347756AEE8344BB28CD44EC2B7328" ma:contentTypeVersion="14" ma:contentTypeDescription="Create a new document." ma:contentTypeScope="" ma:versionID="7848285eb86c98fd3225cd5e062a9123">
  <xsd:schema xmlns:xsd="http://www.w3.org/2001/XMLSchema" xmlns:xs="http://www.w3.org/2001/XMLSchema" xmlns:p="http://schemas.microsoft.com/office/2006/metadata/properties" xmlns:ns2="c1ca735a-14db-4567-a159-d67c2473f960" xmlns:ns3="a97def03-4829-427a-a25e-2157731fbb05" targetNamespace="http://schemas.microsoft.com/office/2006/metadata/properties" ma:root="true" ma:fieldsID="b59c3fcbebbca2e69bd6f4f4a8da0cee" ns2:_="" ns3:_="">
    <xsd:import namespace="c1ca735a-14db-4567-a159-d67c2473f960"/>
    <xsd:import namespace="a97def03-4829-427a-a25e-2157731fbb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ca735a-14db-4567-a159-d67c2473f9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8eb3a52-a9ad-454e-96a1-46bb4cd16a8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7def03-4829-427a-a25e-2157731fbb0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42e6c6cb-bb7d-451c-b4ef-6310a7d27395}" ma:internalName="TaxCatchAll" ma:showField="CatchAllData" ma:web="a97def03-4829-427a-a25e-2157731fbb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2.xml><?xml version="1.0" encoding="utf-8"?>
<ds:datastoreItem xmlns:ds="http://schemas.openxmlformats.org/officeDocument/2006/customXml" ds:itemID="{67DF283F-4B82-4892-8EF9-70B9B3E3286B}">
  <ds:schemaRefs>
    <ds:schemaRef ds:uri="http://schemas.microsoft.com/office/2006/metadata/properties"/>
    <ds:schemaRef ds:uri="http://schemas.microsoft.com/office/infopath/2007/PartnerControls"/>
    <ds:schemaRef ds:uri="c1ca735a-14db-4567-a159-d67c2473f960"/>
    <ds:schemaRef ds:uri="a97def03-4829-427a-a25e-2157731fbb05"/>
  </ds:schemaRefs>
</ds:datastoreItem>
</file>

<file path=customXml/itemProps3.xml><?xml version="1.0" encoding="utf-8"?>
<ds:datastoreItem xmlns:ds="http://schemas.openxmlformats.org/officeDocument/2006/customXml" ds:itemID="{F4E74280-4338-4575-9228-D65BD4AFFA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ca735a-14db-4567-a159-d67c2473f960"/>
    <ds:schemaRef ds:uri="a97def03-4829-427a-a25e-2157731fbb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2771</TotalTime>
  <Words>7288</Words>
  <Application>Microsoft Office PowerPoint</Application>
  <PresentationFormat>Widescreen</PresentationFormat>
  <Paragraphs>759</Paragraphs>
  <Slides>27</Slides>
  <Notes>21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4" baseType="lpstr">
      <vt:lpstr>Arial</vt:lpstr>
      <vt:lpstr>Georgia</vt:lpstr>
      <vt:lpstr>Segoe UI</vt:lpstr>
      <vt:lpstr>Wingdings</vt:lpstr>
      <vt:lpstr>White</vt:lpstr>
      <vt:lpstr>Contrast</vt:lpstr>
      <vt:lpstr>think-cell Slide</vt:lpstr>
      <vt:lpstr>AI Data Readiness </vt:lpstr>
      <vt:lpstr>Executive Summary</vt:lpstr>
      <vt:lpstr>Content</vt:lpstr>
      <vt:lpstr>Reminder: Assessment of data readiness, reviewed across six dimensions, for both traditional and generative AI</vt:lpstr>
      <vt:lpstr>A. Observability dimension rubric</vt:lpstr>
      <vt:lpstr>B. Data Type &amp; Quality dimension rubric</vt:lpstr>
      <vt:lpstr>C. Metadata Management dimension rubric</vt:lpstr>
      <vt:lpstr>D. Data Lineage dimension rubric</vt:lpstr>
      <vt:lpstr>E. Governance &amp; Controls dimension rubric</vt:lpstr>
      <vt:lpstr>F. Platform &amp; Tooling dimension rubric</vt:lpstr>
      <vt:lpstr>Content</vt:lpstr>
      <vt:lpstr>A. Observability dimension observations and implications</vt:lpstr>
      <vt:lpstr>B. Data Type &amp; Quality dimension observations and implications</vt:lpstr>
      <vt:lpstr>C. Metadata Management dimension observations and implications</vt:lpstr>
      <vt:lpstr>D. Data Lineage dimension observations and implications</vt:lpstr>
      <vt:lpstr>E. Governance &amp; Controls dimension observations and implications</vt:lpstr>
      <vt:lpstr>F. Platform &amp; Tooling dimension observations and implications</vt:lpstr>
      <vt:lpstr>Content</vt:lpstr>
      <vt:lpstr>Comparison of Client’s AI Data Readiness to peers (1/2)</vt:lpstr>
      <vt:lpstr>Comparison of Client’s AI Data Readiness to peers (2/2)</vt:lpstr>
      <vt:lpstr>Content</vt:lpstr>
      <vt:lpstr>A. Potential actions for Observability</vt:lpstr>
      <vt:lpstr>B. Potential actions for Data Type &amp; Quality </vt:lpstr>
      <vt:lpstr>C. Potential actions for Metadata Management</vt:lpstr>
      <vt:lpstr>D. Potential actions for Data Lineage</vt:lpstr>
      <vt:lpstr>E. Potential actions for Governance &amp; Controls</vt:lpstr>
      <vt:lpstr>F. Potential actions for Platform &amp; Tooling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Alan Ma</dc:creator>
  <cp:keywords/>
  <dc:description/>
  <cp:lastModifiedBy>Alan Ma</cp:lastModifiedBy>
  <cp:revision>1</cp:revision>
  <cp:lastPrinted>2018-10-30T20:37:12Z</cp:lastPrinted>
  <dcterms:created xsi:type="dcterms:W3CDTF">2025-10-21T03:08:09Z</dcterms:created>
  <dcterms:modified xsi:type="dcterms:W3CDTF">2025-11-07T15:44:47Z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ContentTypeId">
    <vt:lpwstr>0x010100F2B347756AEE8344BB28CD44EC2B7328</vt:lpwstr>
  </property>
</Properties>
</file>