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notesSlides/notesSlide1.xml" ContentType="application/vnd.openxmlformats-officedocument.presentationml.notesSlide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notesSlides/notesSlide2.xml" ContentType="application/vnd.openxmlformats-officedocument.presentationml.notesSlid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notesSlides/notesSlide3.xml" ContentType="application/vnd.openxmlformats-officedocument.presentationml.notesSlide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16"/>
  </p:notesMasterIdLst>
  <p:handoutMasterIdLst>
    <p:handoutMasterId r:id="rId17"/>
  </p:handoutMasterIdLst>
  <p:sldIdLst>
    <p:sldId id="274" r:id="rId6"/>
    <p:sldId id="2147479435" r:id="rId7"/>
    <p:sldId id="2147374162" r:id="rId8"/>
    <p:sldId id="2147374990" r:id="rId9"/>
    <p:sldId id="2147374992" r:id="rId10"/>
    <p:sldId id="2147374991" r:id="rId11"/>
    <p:sldId id="265" r:id="rId12"/>
    <p:sldId id="2147374118" r:id="rId13"/>
    <p:sldId id="2147479436" r:id="rId14"/>
    <p:sldId id="2147374982" r:id="rId15"/>
  </p:sldIdLst>
  <p:sldSz cx="12192000" cy="6858000"/>
  <p:notesSz cx="7102475" cy="938847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81F7F-0D74-4903-8610-B7201B5E4146}" v="31" dt="2026-05-18T20:10:05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57" autoAdjust="0"/>
  </p:normalViewPr>
  <p:slideViewPr>
    <p:cSldViewPr snapToGrid="0" snapToObjects="1">
      <p:cViewPr varScale="1">
        <p:scale>
          <a:sx n="84" d="100"/>
          <a:sy n="84" d="100"/>
        </p:scale>
        <p:origin x="47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Ma" userId="a6aa2cc7-463b-48c2-a237-3222b976ff12" providerId="ADAL" clId="{B095F97F-1AAD-4B3E-A275-D05253847BFE}"/>
    <pc:docChg chg="custSel addSld delSld modSld">
      <pc:chgData name="Alan Ma" userId="a6aa2cc7-463b-48c2-a237-3222b976ff12" providerId="ADAL" clId="{B095F97F-1AAD-4B3E-A275-D05253847BFE}" dt="2026-05-18T20:10:05.854" v="46"/>
      <pc:docMkLst>
        <pc:docMk/>
      </pc:docMkLst>
      <pc:sldChg chg="add">
        <pc:chgData name="Alan Ma" userId="a6aa2cc7-463b-48c2-a237-3222b976ff12" providerId="ADAL" clId="{B095F97F-1AAD-4B3E-A275-D05253847BFE}" dt="2026-05-18T20:09:48.581" v="8"/>
        <pc:sldMkLst>
          <pc:docMk/>
          <pc:sldMk cId="130039532" sldId="265"/>
        </pc:sldMkLst>
      </pc:sldChg>
      <pc:sldChg chg="modSp add">
        <pc:chgData name="Alan Ma" userId="a6aa2cc7-463b-48c2-a237-3222b976ff12" providerId="ADAL" clId="{B095F97F-1AAD-4B3E-A275-D05253847BFE}" dt="2026-05-18T20:09:36.273" v="1"/>
        <pc:sldMkLst>
          <pc:docMk/>
          <pc:sldMk cId="406956717" sldId="274"/>
        </pc:sldMkLst>
        <pc:graphicFrameChg chg="mod">
          <ac:chgData name="Alan Ma" userId="a6aa2cc7-463b-48c2-a237-3222b976ff12" providerId="ADAL" clId="{B095F97F-1AAD-4B3E-A275-D05253847BFE}" dt="2026-05-18T20:09:36.273" v="1"/>
          <ac:graphicFrameMkLst>
            <pc:docMk/>
            <pc:sldMk cId="406956717" sldId="274"/>
            <ac:graphicFrameMk id="7" creationId="{FC569731-39AB-7826-5389-C2B7346D7F4B}"/>
          </ac:graphicFrameMkLst>
        </pc:graphicFrameChg>
      </pc:sldChg>
      <pc:sldChg chg="add">
        <pc:chgData name="Alan Ma" userId="a6aa2cc7-463b-48c2-a237-3222b976ff12" providerId="ADAL" clId="{B095F97F-1AAD-4B3E-A275-D05253847BFE}" dt="2026-05-18T20:09:48.581" v="8"/>
        <pc:sldMkLst>
          <pc:docMk/>
          <pc:sldMk cId="2509818753" sldId="2147374118"/>
        </pc:sldMkLst>
      </pc:sldChg>
      <pc:sldChg chg="modSp add del">
        <pc:chgData name="Alan Ma" userId="a6aa2cc7-463b-48c2-a237-3222b976ff12" providerId="ADAL" clId="{B095F97F-1AAD-4B3E-A275-D05253847BFE}" dt="2026-05-18T20:09:48.594" v="13"/>
        <pc:sldMkLst>
          <pc:docMk/>
          <pc:sldMk cId="2206246752" sldId="2147374162"/>
        </pc:sldMkLst>
        <pc:spChg chg="mod">
          <ac:chgData name="Alan Ma" userId="a6aa2cc7-463b-48c2-a237-3222b976ff12" providerId="ADAL" clId="{B095F97F-1AAD-4B3E-A275-D05253847BFE}" dt="2026-05-18T20:09:48.592" v="11"/>
          <ac:spMkLst>
            <pc:docMk/>
            <pc:sldMk cId="2206246752" sldId="2147374162"/>
            <ac:spMk id="2" creationId="{CB843725-78D6-4B87-B586-7FD8D991C603}"/>
          </ac:spMkLst>
        </pc:spChg>
        <pc:spChg chg="mod">
          <ac:chgData name="Alan Ma" userId="a6aa2cc7-463b-48c2-a237-3222b976ff12" providerId="ADAL" clId="{B095F97F-1AAD-4B3E-A275-D05253847BFE}" dt="2026-05-18T20:09:48.592" v="10"/>
          <ac:spMkLst>
            <pc:docMk/>
            <pc:sldMk cId="2206246752" sldId="2147374162"/>
            <ac:spMk id="3" creationId="{AA8A3B1B-17DD-47DC-9CE7-7F1459DC1193}"/>
          </ac:spMkLst>
        </pc:spChg>
        <pc:spChg chg="mod">
          <ac:chgData name="Alan Ma" userId="a6aa2cc7-463b-48c2-a237-3222b976ff12" providerId="ADAL" clId="{B095F97F-1AAD-4B3E-A275-D05253847BFE}" dt="2026-05-18T20:09:48.594" v="13"/>
          <ac:spMkLst>
            <pc:docMk/>
            <pc:sldMk cId="2206246752" sldId="2147374162"/>
            <ac:spMk id="5" creationId="{17BB0BB8-9D8B-8661-370A-C3E3571E1519}"/>
          </ac:spMkLst>
        </pc:spChg>
        <pc:spChg chg="mod">
          <ac:chgData name="Alan Ma" userId="a6aa2cc7-463b-48c2-a237-3222b976ff12" providerId="ADAL" clId="{B095F97F-1AAD-4B3E-A275-D05253847BFE}" dt="2026-05-18T20:09:48.593" v="12"/>
          <ac:spMkLst>
            <pc:docMk/>
            <pc:sldMk cId="2206246752" sldId="2147374162"/>
            <ac:spMk id="6" creationId="{5F44082F-9675-29EB-8AA2-AD0E1AAF6496}"/>
          </ac:spMkLst>
        </pc:spChg>
        <pc:graphicFrameChg chg="mod">
          <ac:chgData name="Alan Ma" userId="a6aa2cc7-463b-48c2-a237-3222b976ff12" providerId="ADAL" clId="{B095F97F-1AAD-4B3E-A275-D05253847BFE}" dt="2026-05-18T20:09:48.591" v="9"/>
          <ac:graphicFrameMkLst>
            <pc:docMk/>
            <pc:sldMk cId="2206246752" sldId="2147374162"/>
            <ac:graphicFrameMk id="28" creationId="{D29846AA-57AA-4AE4-B241-A7FCA882E3FB}"/>
          </ac:graphicFrameMkLst>
        </pc:graphicFrameChg>
      </pc:sldChg>
      <pc:sldChg chg="addSp delSp modSp add mod">
        <pc:chgData name="Alan Ma" userId="a6aa2cc7-463b-48c2-a237-3222b976ff12" providerId="ADAL" clId="{B095F97F-1AAD-4B3E-A275-D05253847BFE}" dt="2026-05-18T20:10:05.854" v="46"/>
        <pc:sldMkLst>
          <pc:docMk/>
          <pc:sldMk cId="1691410087" sldId="2147374982"/>
        </pc:sldMkLst>
        <pc:spChg chg="mod">
          <ac:chgData name="Alan Ma" userId="a6aa2cc7-463b-48c2-a237-3222b976ff12" providerId="ADAL" clId="{B095F97F-1AAD-4B3E-A275-D05253847BFE}" dt="2026-05-18T20:10:05.277" v="20"/>
          <ac:spMkLst>
            <pc:docMk/>
            <pc:sldMk cId="1691410087" sldId="2147374982"/>
            <ac:spMk id="2" creationId="{00000000-0000-0000-0000-000000000000}"/>
          </ac:spMkLst>
        </pc:spChg>
        <pc:spChg chg="add mod">
          <ac:chgData name="Alan Ma" userId="a6aa2cc7-463b-48c2-a237-3222b976ff12" providerId="ADAL" clId="{B095F97F-1AAD-4B3E-A275-D05253847BFE}" dt="2026-05-18T20:10:04.723" v="19"/>
          <ac:spMkLst>
            <pc:docMk/>
            <pc:sldMk cId="1691410087" sldId="2147374982"/>
            <ac:spMk id="5" creationId="{90E4BBCE-70EF-588F-48FC-D07DCDB96CFF}"/>
          </ac:spMkLst>
        </pc:spChg>
        <pc:spChg chg="add mod">
          <ac:chgData name="Alan Ma" userId="a6aa2cc7-463b-48c2-a237-3222b976ff12" providerId="ADAL" clId="{B095F97F-1AAD-4B3E-A275-D05253847BFE}" dt="2026-05-18T20:10:04.723" v="19"/>
          <ac:spMkLst>
            <pc:docMk/>
            <pc:sldMk cId="1691410087" sldId="2147374982"/>
            <ac:spMk id="6" creationId="{F60E0ADA-4353-A22D-5A7F-A7236FAFC310}"/>
          </ac:spMkLst>
        </pc:spChg>
        <pc:spChg chg="add del mod modVis">
          <ac:chgData name="Alan Ma" userId="a6aa2cc7-463b-48c2-a237-3222b976ff12" providerId="ADAL" clId="{B095F97F-1AAD-4B3E-A275-D05253847BFE}" dt="2026-05-18T20:10:05.302" v="42"/>
          <ac:spMkLst>
            <pc:docMk/>
            <pc:sldMk cId="1691410087" sldId="2147374982"/>
            <ac:spMk id="7" creationId="{EA2DD6E0-415C-0FED-041E-068745545A26}"/>
          </ac:spMkLst>
        </pc:spChg>
        <pc:graphicFrameChg chg="mod">
          <ac:chgData name="Alan Ma" userId="a6aa2cc7-463b-48c2-a237-3222b976ff12" providerId="ADAL" clId="{B095F97F-1AAD-4B3E-A275-D05253847BFE}" dt="2026-05-18T20:10:05.854" v="46"/>
          <ac:graphicFrameMkLst>
            <pc:docMk/>
            <pc:sldMk cId="1691410087" sldId="2147374982"/>
            <ac:graphicFrameMk id="4" creationId="{BC142D3F-EE1D-48B1-984C-3BA5A44A0F47}"/>
          </ac:graphicFrameMkLst>
        </pc:graphicFrameChg>
      </pc:sldChg>
      <pc:sldChg chg="add">
        <pc:chgData name="Alan Ma" userId="a6aa2cc7-463b-48c2-a237-3222b976ff12" providerId="ADAL" clId="{B095F97F-1AAD-4B3E-A275-D05253847BFE}" dt="2026-05-18T20:09:48.581" v="8"/>
        <pc:sldMkLst>
          <pc:docMk/>
          <pc:sldMk cId="2159217810" sldId="2147374990"/>
        </pc:sldMkLst>
      </pc:sldChg>
      <pc:sldChg chg="add">
        <pc:chgData name="Alan Ma" userId="a6aa2cc7-463b-48c2-a237-3222b976ff12" providerId="ADAL" clId="{B095F97F-1AAD-4B3E-A275-D05253847BFE}" dt="2026-05-18T20:09:48.581" v="8"/>
        <pc:sldMkLst>
          <pc:docMk/>
          <pc:sldMk cId="2532597115" sldId="2147374991"/>
        </pc:sldMkLst>
      </pc:sldChg>
      <pc:sldChg chg="add">
        <pc:chgData name="Alan Ma" userId="a6aa2cc7-463b-48c2-a237-3222b976ff12" providerId="ADAL" clId="{B095F97F-1AAD-4B3E-A275-D05253847BFE}" dt="2026-05-18T20:09:48.581" v="8"/>
        <pc:sldMkLst>
          <pc:docMk/>
          <pc:sldMk cId="2410074653" sldId="2147374992"/>
        </pc:sldMkLst>
      </pc:sldChg>
      <pc:sldChg chg="modSp add">
        <pc:chgData name="Alan Ma" userId="a6aa2cc7-463b-48c2-a237-3222b976ff12" providerId="ADAL" clId="{B095F97F-1AAD-4B3E-A275-D05253847BFE}" dt="2026-05-18T20:09:40.519" v="7"/>
        <pc:sldMkLst>
          <pc:docMk/>
          <pc:sldMk cId="3289069043" sldId="2147479435"/>
        </pc:sldMkLst>
        <pc:spChg chg="mod">
          <ac:chgData name="Alan Ma" userId="a6aa2cc7-463b-48c2-a237-3222b976ff12" providerId="ADAL" clId="{B095F97F-1AAD-4B3E-A275-D05253847BFE}" dt="2026-05-18T20:09:40.518" v="5"/>
          <ac:spMkLst>
            <pc:docMk/>
            <pc:sldMk cId="3289069043" sldId="2147479435"/>
            <ac:spMk id="2" creationId="{8888CB8C-AA34-E1D9-5623-99B83D75D9FB}"/>
          </ac:spMkLst>
        </pc:spChg>
        <pc:spChg chg="mod">
          <ac:chgData name="Alan Ma" userId="a6aa2cc7-463b-48c2-a237-3222b976ff12" providerId="ADAL" clId="{B095F97F-1AAD-4B3E-A275-D05253847BFE}" dt="2026-05-18T20:09:40.518" v="6"/>
          <ac:spMkLst>
            <pc:docMk/>
            <pc:sldMk cId="3289069043" sldId="2147479435"/>
            <ac:spMk id="3" creationId="{2A677FBD-3AAB-F3AA-0893-256054708226}"/>
          </ac:spMkLst>
        </pc:spChg>
        <pc:spChg chg="mod">
          <ac:chgData name="Alan Ma" userId="a6aa2cc7-463b-48c2-a237-3222b976ff12" providerId="ADAL" clId="{B095F97F-1AAD-4B3E-A275-D05253847BFE}" dt="2026-05-18T20:09:40.519" v="7"/>
          <ac:spMkLst>
            <pc:docMk/>
            <pc:sldMk cId="3289069043" sldId="2147479435"/>
            <ac:spMk id="4" creationId="{C8CA46D7-55E5-EB65-C2DB-17AE71473109}"/>
          </ac:spMkLst>
        </pc:spChg>
        <pc:graphicFrameChg chg="mod">
          <ac:chgData name="Alan Ma" userId="a6aa2cc7-463b-48c2-a237-3222b976ff12" providerId="ADAL" clId="{B095F97F-1AAD-4B3E-A275-D05253847BFE}" dt="2026-05-18T20:09:40.517" v="4"/>
          <ac:graphicFrameMkLst>
            <pc:docMk/>
            <pc:sldMk cId="3289069043" sldId="2147479435"/>
            <ac:graphicFrameMk id="11" creationId="{3673D474-C1CF-2D51-2E37-9D0C5BBD0E4B}"/>
          </ac:graphicFrameMkLst>
        </pc:graphicFrameChg>
      </pc:sldChg>
      <pc:sldChg chg="modSp add">
        <pc:chgData name="Alan Ma" userId="a6aa2cc7-463b-48c2-a237-3222b976ff12" providerId="ADAL" clId="{B095F97F-1AAD-4B3E-A275-D05253847BFE}" dt="2026-05-18T20:09:56.874" v="17"/>
        <pc:sldMkLst>
          <pc:docMk/>
          <pc:sldMk cId="1971539754" sldId="2147479436"/>
        </pc:sldMkLst>
        <pc:spChg chg="mod">
          <ac:chgData name="Alan Ma" userId="a6aa2cc7-463b-48c2-a237-3222b976ff12" providerId="ADAL" clId="{B095F97F-1AAD-4B3E-A275-D05253847BFE}" dt="2026-05-18T20:09:56.874" v="17"/>
          <ac:spMkLst>
            <pc:docMk/>
            <pc:sldMk cId="1971539754" sldId="2147479436"/>
            <ac:spMk id="3" creationId="{B66DDA6C-56EF-3198-1B58-53200A1D7B46}"/>
          </ac:spMkLst>
        </pc:spChg>
        <pc:spChg chg="mod">
          <ac:chgData name="Alan Ma" userId="a6aa2cc7-463b-48c2-a237-3222b976ff12" providerId="ADAL" clId="{B095F97F-1AAD-4B3E-A275-D05253847BFE}" dt="2026-05-18T20:09:56.873" v="16"/>
          <ac:spMkLst>
            <pc:docMk/>
            <pc:sldMk cId="1971539754" sldId="2147479436"/>
            <ac:spMk id="5" creationId="{9534FA84-3A5D-9D3C-4511-8333C70287A7}"/>
          </ac:spMkLst>
        </pc:spChg>
        <pc:graphicFrameChg chg="mod">
          <ac:chgData name="Alan Ma" userId="a6aa2cc7-463b-48c2-a237-3222b976ff12" providerId="ADAL" clId="{B095F97F-1AAD-4B3E-A275-D05253847BFE}" dt="2026-05-18T20:09:56.872" v="15"/>
          <ac:graphicFrameMkLst>
            <pc:docMk/>
            <pc:sldMk cId="1971539754" sldId="2147479436"/>
            <ac:graphicFrameMk id="8" creationId="{8C69D5D0-7537-0614-0B5C-8A610EBAF7B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18 May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5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08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 May 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145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63198" y="4962911"/>
            <a:ext cx="5926675" cy="246094"/>
          </a:xfrm>
        </p:spPr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3A632B-FBDE-46D4-BF6F-6D14421E6342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2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4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jp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6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7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16.xml"/><Relationship Id="rId7" Type="http://schemas.openxmlformats.org/officeDocument/2006/relationships/image" Target="../media/image8.sv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oleObject" Target="../embeddings/oleObject12.bin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4.sv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3.jpg"/><Relationship Id="rId5" Type="http://schemas.openxmlformats.org/officeDocument/2006/relationships/tags" Target="../tags/tag1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6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0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0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0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59.xml"/><Relationship Id="rId7" Type="http://schemas.openxmlformats.org/officeDocument/2006/relationships/image" Target="../media/image8.sv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0.xml"/><Relationship Id="rId9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sv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9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7" Type="http://schemas.openxmlformats.org/officeDocument/2006/relationships/image" Target="../media/image6.emf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oleObject" Target="../embeddings/oleObject25.bin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72.xml"/><Relationship Id="rId13" Type="http://schemas.openxmlformats.org/officeDocument/2006/relationships/image" Target="../media/image11.emf"/><Relationship Id="rId3" Type="http://schemas.openxmlformats.org/officeDocument/2006/relationships/tags" Target="../tags/tag267.xml"/><Relationship Id="rId7" Type="http://schemas.openxmlformats.org/officeDocument/2006/relationships/tags" Target="../tags/tag271.xml"/><Relationship Id="rId12" Type="http://schemas.openxmlformats.org/officeDocument/2006/relationships/oleObject" Target="../embeddings/oleObject26.bin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tags" Target="../tags/tag270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26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68.xml"/><Relationship Id="rId9" Type="http://schemas.openxmlformats.org/officeDocument/2006/relationships/tags" Target="../tags/tag27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image" Target="../media/image6.emf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27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77.xml"/><Relationship Id="rId9" Type="http://schemas.openxmlformats.org/officeDocument/2006/relationships/tags" Target="../tags/tag28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image" Target="../media/image10.emf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oleObject" Target="../embeddings/oleObject28.bin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87.xml"/><Relationship Id="rId10" Type="http://schemas.openxmlformats.org/officeDocument/2006/relationships/tags" Target="../tags/tag292.xml"/><Relationship Id="rId4" Type="http://schemas.openxmlformats.org/officeDocument/2006/relationships/tags" Target="../tags/tag286.xml"/><Relationship Id="rId9" Type="http://schemas.openxmlformats.org/officeDocument/2006/relationships/tags" Target="../tags/tag29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tags" Target="../tags/tag29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4.png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image" Target="../media/image13.png"/><Relationship Id="rId5" Type="http://schemas.openxmlformats.org/officeDocument/2006/relationships/tags" Target="../tags/tag297.xml"/><Relationship Id="rId10" Type="http://schemas.openxmlformats.org/officeDocument/2006/relationships/image" Target="../media/image12.png"/><Relationship Id="rId4" Type="http://schemas.openxmlformats.org/officeDocument/2006/relationships/tags" Target="../tags/tag296.xml"/><Relationship Id="rId9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tags" Target="../tags/tag30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7.png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tags" Target="../tags/tag304.xml"/><Relationship Id="rId11" Type="http://schemas.openxmlformats.org/officeDocument/2006/relationships/image" Target="../media/image16.png"/><Relationship Id="rId5" Type="http://schemas.openxmlformats.org/officeDocument/2006/relationships/tags" Target="../tags/tag303.xml"/><Relationship Id="rId10" Type="http://schemas.openxmlformats.org/officeDocument/2006/relationships/image" Target="../media/image15.png"/><Relationship Id="rId4" Type="http://schemas.openxmlformats.org/officeDocument/2006/relationships/tags" Target="../tags/tag302.xml"/><Relationship Id="rId9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317.xml"/><Relationship Id="rId18" Type="http://schemas.openxmlformats.org/officeDocument/2006/relationships/tags" Target="../tags/tag322.xml"/><Relationship Id="rId26" Type="http://schemas.openxmlformats.org/officeDocument/2006/relationships/tags" Target="../tags/tag330.xml"/><Relationship Id="rId39" Type="http://schemas.openxmlformats.org/officeDocument/2006/relationships/tags" Target="../tags/tag343.xml"/><Relationship Id="rId21" Type="http://schemas.openxmlformats.org/officeDocument/2006/relationships/tags" Target="../tags/tag325.xml"/><Relationship Id="rId34" Type="http://schemas.openxmlformats.org/officeDocument/2006/relationships/tags" Target="../tags/tag338.xml"/><Relationship Id="rId42" Type="http://schemas.openxmlformats.org/officeDocument/2006/relationships/tags" Target="../tags/tag346.xml"/><Relationship Id="rId47" Type="http://schemas.openxmlformats.org/officeDocument/2006/relationships/tags" Target="../tags/tag351.xml"/><Relationship Id="rId50" Type="http://schemas.openxmlformats.org/officeDocument/2006/relationships/tags" Target="../tags/tag354.xml"/><Relationship Id="rId55" Type="http://schemas.openxmlformats.org/officeDocument/2006/relationships/tags" Target="../tags/tag359.xml"/><Relationship Id="rId7" Type="http://schemas.openxmlformats.org/officeDocument/2006/relationships/tags" Target="../tags/tag311.xml"/><Relationship Id="rId2" Type="http://schemas.openxmlformats.org/officeDocument/2006/relationships/tags" Target="../tags/tag306.xml"/><Relationship Id="rId16" Type="http://schemas.openxmlformats.org/officeDocument/2006/relationships/tags" Target="../tags/tag320.xml"/><Relationship Id="rId29" Type="http://schemas.openxmlformats.org/officeDocument/2006/relationships/tags" Target="../tags/tag333.xml"/><Relationship Id="rId11" Type="http://schemas.openxmlformats.org/officeDocument/2006/relationships/tags" Target="../tags/tag315.xml"/><Relationship Id="rId24" Type="http://schemas.openxmlformats.org/officeDocument/2006/relationships/tags" Target="../tags/tag328.xml"/><Relationship Id="rId32" Type="http://schemas.openxmlformats.org/officeDocument/2006/relationships/tags" Target="../tags/tag336.xml"/><Relationship Id="rId37" Type="http://schemas.openxmlformats.org/officeDocument/2006/relationships/tags" Target="../tags/tag341.xml"/><Relationship Id="rId40" Type="http://schemas.openxmlformats.org/officeDocument/2006/relationships/tags" Target="../tags/tag344.xml"/><Relationship Id="rId45" Type="http://schemas.openxmlformats.org/officeDocument/2006/relationships/tags" Target="../tags/tag349.xml"/><Relationship Id="rId53" Type="http://schemas.openxmlformats.org/officeDocument/2006/relationships/tags" Target="../tags/tag357.xml"/><Relationship Id="rId58" Type="http://schemas.openxmlformats.org/officeDocument/2006/relationships/notesSlide" Target="../notesSlides/notesSlide2.xml"/><Relationship Id="rId5" Type="http://schemas.openxmlformats.org/officeDocument/2006/relationships/tags" Target="../tags/tag309.xml"/><Relationship Id="rId19" Type="http://schemas.openxmlformats.org/officeDocument/2006/relationships/tags" Target="../tags/tag323.xml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4" Type="http://schemas.openxmlformats.org/officeDocument/2006/relationships/tags" Target="../tags/tag318.xml"/><Relationship Id="rId22" Type="http://schemas.openxmlformats.org/officeDocument/2006/relationships/tags" Target="../tags/tag326.xml"/><Relationship Id="rId27" Type="http://schemas.openxmlformats.org/officeDocument/2006/relationships/tags" Target="../tags/tag331.xml"/><Relationship Id="rId30" Type="http://schemas.openxmlformats.org/officeDocument/2006/relationships/tags" Target="../tags/tag334.xml"/><Relationship Id="rId35" Type="http://schemas.openxmlformats.org/officeDocument/2006/relationships/tags" Target="../tags/tag339.xml"/><Relationship Id="rId43" Type="http://schemas.openxmlformats.org/officeDocument/2006/relationships/tags" Target="../tags/tag347.xml"/><Relationship Id="rId48" Type="http://schemas.openxmlformats.org/officeDocument/2006/relationships/tags" Target="../tags/tag352.xml"/><Relationship Id="rId56" Type="http://schemas.openxmlformats.org/officeDocument/2006/relationships/tags" Target="../tags/tag360.xml"/><Relationship Id="rId8" Type="http://schemas.openxmlformats.org/officeDocument/2006/relationships/tags" Target="../tags/tag312.xml"/><Relationship Id="rId51" Type="http://schemas.openxmlformats.org/officeDocument/2006/relationships/tags" Target="../tags/tag355.xml"/><Relationship Id="rId3" Type="http://schemas.openxmlformats.org/officeDocument/2006/relationships/tags" Target="../tags/tag307.xml"/><Relationship Id="rId12" Type="http://schemas.openxmlformats.org/officeDocument/2006/relationships/tags" Target="../tags/tag316.xml"/><Relationship Id="rId17" Type="http://schemas.openxmlformats.org/officeDocument/2006/relationships/tags" Target="../tags/tag321.xml"/><Relationship Id="rId25" Type="http://schemas.openxmlformats.org/officeDocument/2006/relationships/tags" Target="../tags/tag329.xml"/><Relationship Id="rId33" Type="http://schemas.openxmlformats.org/officeDocument/2006/relationships/tags" Target="../tags/tag337.xml"/><Relationship Id="rId38" Type="http://schemas.openxmlformats.org/officeDocument/2006/relationships/tags" Target="../tags/tag342.xml"/><Relationship Id="rId46" Type="http://schemas.openxmlformats.org/officeDocument/2006/relationships/tags" Target="../tags/tag350.xml"/><Relationship Id="rId59" Type="http://schemas.openxmlformats.org/officeDocument/2006/relationships/oleObject" Target="../embeddings/oleObject31.bin"/><Relationship Id="rId20" Type="http://schemas.openxmlformats.org/officeDocument/2006/relationships/tags" Target="../tags/tag324.xml"/><Relationship Id="rId41" Type="http://schemas.openxmlformats.org/officeDocument/2006/relationships/tags" Target="../tags/tag345.xml"/><Relationship Id="rId54" Type="http://schemas.openxmlformats.org/officeDocument/2006/relationships/tags" Target="../tags/tag358.xml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5" Type="http://schemas.openxmlformats.org/officeDocument/2006/relationships/tags" Target="../tags/tag319.xml"/><Relationship Id="rId23" Type="http://schemas.openxmlformats.org/officeDocument/2006/relationships/tags" Target="../tags/tag327.xml"/><Relationship Id="rId28" Type="http://schemas.openxmlformats.org/officeDocument/2006/relationships/tags" Target="../tags/tag332.xml"/><Relationship Id="rId36" Type="http://schemas.openxmlformats.org/officeDocument/2006/relationships/tags" Target="../tags/tag340.xml"/><Relationship Id="rId49" Type="http://schemas.openxmlformats.org/officeDocument/2006/relationships/tags" Target="../tags/tag353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314.xml"/><Relationship Id="rId31" Type="http://schemas.openxmlformats.org/officeDocument/2006/relationships/tags" Target="../tags/tag335.xml"/><Relationship Id="rId44" Type="http://schemas.openxmlformats.org/officeDocument/2006/relationships/tags" Target="../tags/tag348.xml"/><Relationship Id="rId52" Type="http://schemas.openxmlformats.org/officeDocument/2006/relationships/tags" Target="../tags/tag356.xml"/><Relationship Id="rId60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68.xml"/><Relationship Id="rId13" Type="http://schemas.openxmlformats.org/officeDocument/2006/relationships/tags" Target="../tags/tag373.xml"/><Relationship Id="rId18" Type="http://schemas.openxmlformats.org/officeDocument/2006/relationships/image" Target="../media/image6.emf"/><Relationship Id="rId3" Type="http://schemas.openxmlformats.org/officeDocument/2006/relationships/tags" Target="../tags/tag363.xml"/><Relationship Id="rId21" Type="http://schemas.openxmlformats.org/officeDocument/2006/relationships/image" Target="../media/image21.svg"/><Relationship Id="rId7" Type="http://schemas.openxmlformats.org/officeDocument/2006/relationships/tags" Target="../tags/tag367.xml"/><Relationship Id="rId12" Type="http://schemas.openxmlformats.org/officeDocument/2006/relationships/tags" Target="../tags/tag372.xml"/><Relationship Id="rId17" Type="http://schemas.openxmlformats.org/officeDocument/2006/relationships/oleObject" Target="../embeddings/oleObject32.bin"/><Relationship Id="rId2" Type="http://schemas.openxmlformats.org/officeDocument/2006/relationships/tags" Target="../tags/tag362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20.svg"/><Relationship Id="rId1" Type="http://schemas.openxmlformats.org/officeDocument/2006/relationships/tags" Target="../tags/tag361.xml"/><Relationship Id="rId6" Type="http://schemas.openxmlformats.org/officeDocument/2006/relationships/tags" Target="../tags/tag366.xml"/><Relationship Id="rId11" Type="http://schemas.openxmlformats.org/officeDocument/2006/relationships/tags" Target="../tags/tag371.xml"/><Relationship Id="rId5" Type="http://schemas.openxmlformats.org/officeDocument/2006/relationships/tags" Target="../tags/tag365.xml"/><Relationship Id="rId15" Type="http://schemas.openxmlformats.org/officeDocument/2006/relationships/tags" Target="../tags/tag375.xml"/><Relationship Id="rId10" Type="http://schemas.openxmlformats.org/officeDocument/2006/relationships/tags" Target="../tags/tag370.xml"/><Relationship Id="rId19" Type="http://schemas.openxmlformats.org/officeDocument/2006/relationships/image" Target="../media/image19.svg"/><Relationship Id="rId4" Type="http://schemas.openxmlformats.org/officeDocument/2006/relationships/tags" Target="../tags/tag364.xml"/><Relationship Id="rId9" Type="http://schemas.openxmlformats.org/officeDocument/2006/relationships/tags" Target="../tags/tag369.xml"/><Relationship Id="rId14" Type="http://schemas.openxmlformats.org/officeDocument/2006/relationships/tags" Target="../tags/tag37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83.xml"/><Relationship Id="rId13" Type="http://schemas.openxmlformats.org/officeDocument/2006/relationships/image" Target="../media/image22.svg"/><Relationship Id="rId3" Type="http://schemas.openxmlformats.org/officeDocument/2006/relationships/tags" Target="../tags/tag378.xml"/><Relationship Id="rId7" Type="http://schemas.openxmlformats.org/officeDocument/2006/relationships/tags" Target="../tags/tag382.xml"/><Relationship Id="rId12" Type="http://schemas.openxmlformats.org/officeDocument/2006/relationships/image" Target="../media/image6.emf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tags" Target="../tags/tag381.xml"/><Relationship Id="rId11" Type="http://schemas.openxmlformats.org/officeDocument/2006/relationships/oleObject" Target="../embeddings/oleObject33.bin"/><Relationship Id="rId5" Type="http://schemas.openxmlformats.org/officeDocument/2006/relationships/tags" Target="../tags/tag380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379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91.xml"/><Relationship Id="rId13" Type="http://schemas.openxmlformats.org/officeDocument/2006/relationships/image" Target="../media/image25.png"/><Relationship Id="rId3" Type="http://schemas.openxmlformats.org/officeDocument/2006/relationships/tags" Target="../tags/tag386.xml"/><Relationship Id="rId7" Type="http://schemas.openxmlformats.org/officeDocument/2006/relationships/tags" Target="../tags/tag390.xml"/><Relationship Id="rId12" Type="http://schemas.openxmlformats.org/officeDocument/2006/relationships/image" Target="../media/image24.emf"/><Relationship Id="rId17" Type="http://schemas.openxmlformats.org/officeDocument/2006/relationships/image" Target="../media/image29.svg"/><Relationship Id="rId2" Type="http://schemas.openxmlformats.org/officeDocument/2006/relationships/tags" Target="../tags/tag385.xml"/><Relationship Id="rId16" Type="http://schemas.openxmlformats.org/officeDocument/2006/relationships/image" Target="../media/image28.svg"/><Relationship Id="rId1" Type="http://schemas.openxmlformats.org/officeDocument/2006/relationships/tags" Target="../tags/tag384.xml"/><Relationship Id="rId6" Type="http://schemas.openxmlformats.org/officeDocument/2006/relationships/tags" Target="../tags/tag389.xml"/><Relationship Id="rId11" Type="http://schemas.openxmlformats.org/officeDocument/2006/relationships/oleObject" Target="../embeddings/oleObject34.bin"/><Relationship Id="rId5" Type="http://schemas.openxmlformats.org/officeDocument/2006/relationships/tags" Target="../tags/tag388.xml"/><Relationship Id="rId15" Type="http://schemas.openxmlformats.org/officeDocument/2006/relationships/image" Target="../media/image27.svg"/><Relationship Id="rId10" Type="http://schemas.openxmlformats.org/officeDocument/2006/relationships/notesSlide" Target="../notesSlides/notesSlide4.xml"/><Relationship Id="rId4" Type="http://schemas.openxmlformats.org/officeDocument/2006/relationships/tags" Target="../tags/tag387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FC569731-39AB-7826-5389-C2B7346D7F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FC569731-39AB-7826-5389-C2B7346D7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2. Slide Title">
            <a:extLst>
              <a:ext uri="{FF2B5EF4-FFF2-40B4-BE49-F238E27FC236}">
                <a16:creationId xmlns:a16="http://schemas.microsoft.com/office/drawing/2014/main" id="{D4B24DD8-E337-7E07-3347-80A21926335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556102"/>
            <a:ext cx="69677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>
            <a:noAutofit/>
          </a:bodyPr>
          <a:lstStyle/>
          <a:p>
            <a:r>
              <a:rPr lang="de-DE"/>
              <a:t>Context and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6A77F-0DBA-D9F2-583A-BC584F65BCD5}"/>
              </a:ext>
            </a:extLst>
          </p:cNvPr>
          <p:cNvSpPr txBox="1">
            <a:spLocks/>
          </p:cNvSpPr>
          <p:nvPr/>
        </p:nvSpPr>
        <p:spPr>
          <a:xfrm>
            <a:off x="554736" y="1202741"/>
            <a:ext cx="6967728" cy="276999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/>
              <a:t>Our understanding of your context</a:t>
            </a:r>
          </a:p>
        </p:txBody>
      </p:sp>
      <p:cxnSp>
        <p:nvCxnSpPr>
          <p:cNvPr id="13" name="LineBasicDefault 14">
            <a:extLst>
              <a:ext uri="{FF2B5EF4-FFF2-40B4-BE49-F238E27FC236}">
                <a16:creationId xmlns:a16="http://schemas.microsoft.com/office/drawing/2014/main" id="{400E1D63-4685-94EC-68F2-8036EC5528D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54736" y="1509804"/>
            <a:ext cx="6967728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BasicDefault 14">
            <a:extLst>
              <a:ext uri="{FF2B5EF4-FFF2-40B4-BE49-F238E27FC236}">
                <a16:creationId xmlns:a16="http://schemas.microsoft.com/office/drawing/2014/main" id="{4BE5702F-8A8A-FFEA-86F8-0324A6EEBB5D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170325" y="1509804"/>
            <a:ext cx="3466941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B2A66E0-0CB3-3A08-69B3-DDD4C92BD847}"/>
              </a:ext>
            </a:extLst>
          </p:cNvPr>
          <p:cNvSpPr txBox="1">
            <a:spLocks/>
          </p:cNvSpPr>
          <p:nvPr/>
        </p:nvSpPr>
        <p:spPr>
          <a:xfrm>
            <a:off x="8170325" y="1202741"/>
            <a:ext cx="3466941" cy="276999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/>
              <a:t>Key 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5B357-5223-A9E1-37E4-CE858EEF9E9B}"/>
              </a:ext>
            </a:extLst>
          </p:cNvPr>
          <p:cNvSpPr txBox="1"/>
          <p:nvPr/>
        </p:nvSpPr>
        <p:spPr>
          <a:xfrm>
            <a:off x="554736" y="1622150"/>
            <a:ext cx="6967728" cy="3054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/>
              <a:t>As the core authority on GAAP, </a:t>
            </a:r>
            <a:r>
              <a:rPr lang="en-US"/>
              <a:t>FAF’s financial accounting and reporting standards has long served as the critical backbone for TAA firms</a:t>
            </a:r>
          </a:p>
          <a:p>
            <a:pPr>
              <a:spcAft>
                <a:spcPts val="600"/>
              </a:spcAft>
            </a:pPr>
            <a:r>
              <a:rPr lang="en-US" b="1"/>
              <a:t>The rapid emergence of new use cases</a:t>
            </a:r>
            <a:r>
              <a:rPr lang="en-US"/>
              <a:t>, particularly in AI, requires forward-thinking approach to intellectual property licensing and value capture </a:t>
            </a:r>
          </a:p>
          <a:p>
            <a:pPr>
              <a:spcAft>
                <a:spcPts val="600"/>
              </a:spcAft>
            </a:pPr>
            <a:r>
              <a:rPr lang="en-US" b="1"/>
              <a:t>A scalable and consistent pricing structure </a:t>
            </a:r>
            <a:r>
              <a:rPr lang="en-US"/>
              <a:t>that can accommodate a diverse and growing base of licensees, from legacy accounting practices to disruptive technology platforms, is now imperative</a:t>
            </a:r>
          </a:p>
          <a:p>
            <a:pPr>
              <a:spcAft>
                <a:spcPts val="600"/>
              </a:spcAft>
            </a:pPr>
            <a:r>
              <a:rPr lang="en-US" b="1"/>
              <a:t>To that end, you are seeking an external partner to provide expert recommendations and actionable insights to define a new pricing and market strategy </a:t>
            </a:r>
            <a:r>
              <a:rPr lang="en-US"/>
              <a:t>that supports your mission and ensures long-term growth and relevance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B70CC-7C81-F569-738C-546B8677D9B2}"/>
              </a:ext>
            </a:extLst>
          </p:cNvPr>
          <p:cNvSpPr txBox="1"/>
          <p:nvPr/>
        </p:nvSpPr>
        <p:spPr>
          <a:xfrm>
            <a:off x="8170325" y="1622150"/>
            <a:ext cx="3466941" cy="4131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b="1"/>
              <a:t>Define the total addressable market (TAM) </a:t>
            </a:r>
            <a:r>
              <a:rPr lang="en-US"/>
              <a:t>for FAF’s data, including:</a:t>
            </a:r>
          </a:p>
          <a:p>
            <a:pPr lvl="2"/>
            <a:r>
              <a:rPr lang="en-US"/>
              <a:t>Opportunities in untapped markets</a:t>
            </a:r>
          </a:p>
          <a:p>
            <a:pPr lvl="2"/>
            <a:r>
              <a:rPr lang="en-US"/>
              <a:t>Emerging industries</a:t>
            </a:r>
          </a:p>
          <a:p>
            <a:pPr lvl="2"/>
            <a:r>
              <a:rPr lang="en-US"/>
              <a:t>New product offerings</a:t>
            </a:r>
          </a:p>
          <a:p>
            <a:pPr lvl="1"/>
            <a:r>
              <a:rPr lang="en-US" b="1"/>
              <a:t>Develop a comprehensive pricing and packaging model </a:t>
            </a:r>
            <a:r>
              <a:rPr lang="en-US"/>
              <a:t>that establishes clear and consistent rate structures, based on a robust fact base and strategic framework</a:t>
            </a:r>
          </a:p>
          <a:p>
            <a:pPr lvl="1"/>
            <a:r>
              <a:rPr lang="en-US" b="1"/>
              <a:t>Construct implementation and business case </a:t>
            </a:r>
            <a:r>
              <a:rPr lang="en-US"/>
              <a:t>to gain alignment from organizational and board levels, ensuring a successful rollout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695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4CF52-DC93-9070-DB9E-E774A7DD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2" hidden="1">
            <a:extLst>
              <a:ext uri="{FF2B5EF4-FFF2-40B4-BE49-F238E27FC236}">
                <a16:creationId xmlns:a16="http://schemas.microsoft.com/office/drawing/2014/main" id="{3673D474-C1CF-2D51-2E37-9D0C5BBD0E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4" imgH="405" progId="TCLayout.ActiveDocument.1">
                  <p:embed/>
                </p:oleObj>
              </mc:Choice>
              <mc:Fallback>
                <p:oleObj name="think-cell Slide" r:id="rId12" imgW="404" imgH="405" progId="TCLayout.ActiveDocument.1">
                  <p:embed/>
                  <p:pic>
                    <p:nvPicPr>
                      <p:cNvPr id="11" name="Object 2" hidden="1">
                        <a:extLst>
                          <a:ext uri="{FF2B5EF4-FFF2-40B4-BE49-F238E27FC236}">
                            <a16:creationId xmlns:a16="http://schemas.microsoft.com/office/drawing/2014/main" id="{3673D474-C1CF-2D51-2E37-9D0C5BBD0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8888CB8C-AA34-E1D9-5623-99B83D75D9F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 dirty="0"/>
              <a:t>We are the most qualified partner to serve you 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2A677FBD-3AAB-F3AA-0893-256054708226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C8CA46D7-55E5-EB65-C2DB-17AE7147310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03861"/>
            <a:ext cx="11082528" cy="276999"/>
          </a:xfrm>
        </p:spPr>
        <p:txBody>
          <a:bodyPr/>
          <a:lstStyle/>
          <a:p>
            <a:endParaRPr lang="en-US"/>
          </a:p>
        </p:txBody>
      </p:sp>
      <p:cxnSp>
        <p:nvCxnSpPr>
          <p:cNvPr id="16" name="GreyLineContentSeparatorDefault 16">
            <a:extLst>
              <a:ext uri="{FF2B5EF4-FFF2-40B4-BE49-F238E27FC236}">
                <a16:creationId xmlns:a16="http://schemas.microsoft.com/office/drawing/2014/main" id="{FBF14E83-F8C3-D933-D0EF-4C176C7157E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54736" y="1877460"/>
            <a:ext cx="5301534" cy="0"/>
          </a:xfrm>
          <a:prstGeom prst="straightConnector1">
            <a:avLst/>
          </a:prstGeom>
          <a:ln w="6350" cap="flat">
            <a:solidFill>
              <a:schemeClr val="bg2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reyLineContentSeparatorDefault 16">
            <a:extLst>
              <a:ext uri="{FF2B5EF4-FFF2-40B4-BE49-F238E27FC236}">
                <a16:creationId xmlns:a16="http://schemas.microsoft.com/office/drawing/2014/main" id="{58755E38-F3FC-ECF8-D3FF-B14A5D8117E4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335730" y="1877460"/>
            <a:ext cx="5301534" cy="0"/>
          </a:xfrm>
          <a:prstGeom prst="straightConnector1">
            <a:avLst/>
          </a:prstGeom>
          <a:ln w="6350" cap="flat">
            <a:solidFill>
              <a:schemeClr val="bg2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reyLineContentSeparatorDefault 16">
            <a:extLst>
              <a:ext uri="{FF2B5EF4-FFF2-40B4-BE49-F238E27FC236}">
                <a16:creationId xmlns:a16="http://schemas.microsoft.com/office/drawing/2014/main" id="{39299954-4B3A-2CED-5E66-769BE00818AF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096000" y="2056259"/>
            <a:ext cx="0" cy="3841107"/>
          </a:xfrm>
          <a:prstGeom prst="straightConnector1">
            <a:avLst/>
          </a:prstGeom>
          <a:ln w="6350" cap="flat">
            <a:solidFill>
              <a:schemeClr val="bg2">
                <a:lumMod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9421FB-37CE-5E26-4C3B-B344DC9C4F82}"/>
              </a:ext>
            </a:extLst>
          </p:cNvPr>
          <p:cNvSpPr txBox="1"/>
          <p:nvPr/>
        </p:nvSpPr>
        <p:spPr>
          <a:xfrm>
            <a:off x="554736" y="1583452"/>
            <a:ext cx="4064000" cy="24622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We know pricing …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8AF29C-06A5-E80D-473E-2F21B4C0C308}"/>
              </a:ext>
            </a:extLst>
          </p:cNvPr>
          <p:cNvSpPr txBox="1"/>
          <p:nvPr/>
        </p:nvSpPr>
        <p:spPr>
          <a:xfrm>
            <a:off x="6335730" y="1583452"/>
            <a:ext cx="4064000" cy="24622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… and your end customers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41F56C-1033-0177-7FFC-87FED4D3BFCA}"/>
              </a:ext>
            </a:extLst>
          </p:cNvPr>
          <p:cNvSpPr txBox="1"/>
          <p:nvPr/>
        </p:nvSpPr>
        <p:spPr>
          <a:xfrm>
            <a:off x="6562727" y="3870043"/>
            <a:ext cx="5059920" cy="8617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dirty="0"/>
              <a:t>We have developed relevant tools for TAA and beyond</a:t>
            </a:r>
            <a:r>
              <a:rPr lang="en-US" sz="1400" dirty="0"/>
              <a:t> with </a:t>
            </a:r>
            <a:r>
              <a:rPr lang="en-US" sz="1400" dirty="0" err="1"/>
              <a:t>QuantumBlack</a:t>
            </a:r>
            <a:r>
              <a:rPr lang="en-US" sz="1400" dirty="0"/>
              <a:t> in order to accelerate deployment, de-risk implementation, and deliver measurable value faster through proven, pre-built AI solutions</a:t>
            </a:r>
          </a:p>
        </p:txBody>
      </p:sp>
      <p:cxnSp>
        <p:nvCxnSpPr>
          <p:cNvPr id="28" name="GreyLineSeparatorDefault 1136">
            <a:extLst>
              <a:ext uri="{FF2B5EF4-FFF2-40B4-BE49-F238E27FC236}">
                <a16:creationId xmlns:a16="http://schemas.microsoft.com/office/drawing/2014/main" id="{9176F545-0C51-9AA3-CB76-4D1B2911EB5E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562726" y="5003183"/>
            <a:ext cx="5077536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44A860-4465-C849-37D8-B5D4D3FBCEF1}"/>
              </a:ext>
            </a:extLst>
          </p:cNvPr>
          <p:cNvGrpSpPr>
            <a:grpSpLocks/>
          </p:cNvGrpSpPr>
          <p:nvPr/>
        </p:nvGrpSpPr>
        <p:grpSpPr>
          <a:xfrm>
            <a:off x="6562726" y="2138126"/>
            <a:ext cx="1354833" cy="1189185"/>
            <a:chOff x="6727077" y="2774725"/>
            <a:chExt cx="1349185" cy="118918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FDE143-F375-5846-A310-2C819A6E5F52}"/>
                </a:ext>
              </a:extLst>
            </p:cNvPr>
            <p:cNvSpPr txBox="1"/>
            <p:nvPr/>
          </p:nvSpPr>
          <p:spPr>
            <a:xfrm>
              <a:off x="6727077" y="3225246"/>
              <a:ext cx="1349185" cy="7386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1200" b="1" dirty="0"/>
                <a:t>TAA AI transformations in past 6 months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C53A895-930B-8E3C-CE10-8BC17DC40DEA}"/>
                </a:ext>
              </a:extLst>
            </p:cNvPr>
            <p:cNvSpPr txBox="1">
              <a:spLocks/>
            </p:cNvSpPr>
            <p:nvPr/>
          </p:nvSpPr>
          <p:spPr>
            <a:xfrm>
              <a:off x="6930612" y="2774725"/>
              <a:ext cx="942115" cy="36933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</a:rPr>
                <a:t>5+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3FDFA6-5B39-1C0D-3787-306744D503E2}"/>
              </a:ext>
            </a:extLst>
          </p:cNvPr>
          <p:cNvGrpSpPr>
            <a:grpSpLocks/>
          </p:cNvGrpSpPr>
          <p:nvPr/>
        </p:nvGrpSpPr>
        <p:grpSpPr>
          <a:xfrm>
            <a:off x="10282431" y="2138126"/>
            <a:ext cx="1354833" cy="1189185"/>
            <a:chOff x="10401888" y="2774725"/>
            <a:chExt cx="897890" cy="118918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2518D26-56D9-6BC4-3BA5-77097C74453D}"/>
                </a:ext>
              </a:extLst>
            </p:cNvPr>
            <p:cNvSpPr txBox="1"/>
            <p:nvPr/>
          </p:nvSpPr>
          <p:spPr>
            <a:xfrm>
              <a:off x="10401888" y="3225246"/>
              <a:ext cx="897890" cy="7386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1200" b="1"/>
                <a:t>Due diligences on TAA mid-market assets over past 24 months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D528624-D0F5-14FD-5BB8-882B7B06816F}"/>
                </a:ext>
              </a:extLst>
            </p:cNvPr>
            <p:cNvSpPr txBox="1">
              <a:spLocks/>
            </p:cNvSpPr>
            <p:nvPr/>
          </p:nvSpPr>
          <p:spPr>
            <a:xfrm>
              <a:off x="10533476" y="2774725"/>
              <a:ext cx="634716" cy="36933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chemeClr val="accent2"/>
                  </a:solidFill>
                  <a:latin typeface="+mj-lt"/>
                </a:rPr>
                <a:t>10+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B50BC0-F1D5-8B5E-4E7C-3899097C0730}"/>
              </a:ext>
            </a:extLst>
          </p:cNvPr>
          <p:cNvGrpSpPr>
            <a:grpSpLocks/>
          </p:cNvGrpSpPr>
          <p:nvPr/>
        </p:nvGrpSpPr>
        <p:grpSpPr>
          <a:xfrm>
            <a:off x="8422578" y="2138126"/>
            <a:ext cx="1354833" cy="1004519"/>
            <a:chOff x="8299862" y="2774725"/>
            <a:chExt cx="1354833" cy="100451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7F3E82-3BAB-D3FD-38A4-C4CA9F8099F1}"/>
                </a:ext>
              </a:extLst>
            </p:cNvPr>
            <p:cNvSpPr txBox="1"/>
            <p:nvPr/>
          </p:nvSpPr>
          <p:spPr>
            <a:xfrm>
              <a:off x="8299862" y="3225246"/>
              <a:ext cx="1354833" cy="55399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1200" b="1" dirty="0"/>
                <a:t>TAA customers interviews or surveyed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2D594C3-2A5F-9FAF-6567-FB7DDBC63DBF}"/>
                </a:ext>
              </a:extLst>
            </p:cNvPr>
            <p:cNvSpPr txBox="1">
              <a:spLocks/>
            </p:cNvSpPr>
            <p:nvPr/>
          </p:nvSpPr>
          <p:spPr>
            <a:xfrm>
              <a:off x="8506221" y="2774725"/>
              <a:ext cx="942115" cy="36933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</a:rPr>
                <a:t>200+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449EFF3-7EA6-9D4D-C5A8-5550EF2C97E2}"/>
              </a:ext>
            </a:extLst>
          </p:cNvPr>
          <p:cNvSpPr txBox="1"/>
          <p:nvPr/>
        </p:nvSpPr>
        <p:spPr>
          <a:xfrm>
            <a:off x="6559677" y="5274548"/>
            <a:ext cx="5059920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dirty="0"/>
              <a:t>Additionally, we have extensive experience building out commercial excellence capabilities</a:t>
            </a:r>
            <a:r>
              <a:rPr lang="en-US" sz="1400" dirty="0"/>
              <a:t> for professional services firms</a:t>
            </a:r>
          </a:p>
        </p:txBody>
      </p:sp>
      <p:cxnSp>
        <p:nvCxnSpPr>
          <p:cNvPr id="40" name="GreyLineSeparatorDefault 1136">
            <a:extLst>
              <a:ext uri="{FF2B5EF4-FFF2-40B4-BE49-F238E27FC236}">
                <a16:creationId xmlns:a16="http://schemas.microsoft.com/office/drawing/2014/main" id="{6257E2F1-FC64-005D-AA1B-FA05CC0DA9AF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6562726" y="3598677"/>
            <a:ext cx="5077536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A39471-B7B1-849A-6525-6110CE6DD9EA}"/>
              </a:ext>
            </a:extLst>
          </p:cNvPr>
          <p:cNvSpPr txBox="1">
            <a:spLocks/>
          </p:cNvSpPr>
          <p:nvPr/>
        </p:nvSpPr>
        <p:spPr>
          <a:xfrm>
            <a:off x="549814" y="2056259"/>
            <a:ext cx="5301533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We’ve served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20+ software firms on AI-driven pricing and business model evolution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and conducted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100+ discussions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with GTM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CxOs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on the topic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091EAE6-4F09-D972-4654-E63F4E07AAC9}"/>
              </a:ext>
            </a:extLst>
          </p:cNvPr>
          <p:cNvGrpSpPr/>
          <p:nvPr/>
        </p:nvGrpSpPr>
        <p:grpSpPr>
          <a:xfrm>
            <a:off x="664145" y="2858381"/>
            <a:ext cx="5059907" cy="3422012"/>
            <a:chOff x="664145" y="2929104"/>
            <a:chExt cx="5059907" cy="342201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B9B22CA-B3D7-4F17-27F6-20875D627A15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3163237"/>
              <a:ext cx="5059907" cy="0"/>
            </a:xfrm>
            <a:prstGeom prst="line">
              <a:avLst/>
            </a:prstGeom>
            <a:ln w="1270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BAAB276-AC37-B9FF-DD34-AC90C3A4D473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3699659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0598422-7494-89B8-0B90-79E7D40AD56E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4254906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0F7E2F9-FB0A-F8C9-51F0-6B6295CCE852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4523117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9945CF5-8F9F-5F36-DAF4-11BCDA0B0624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4791328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57E42D8-24CD-9037-0E8C-DAC423E4EDAB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5059539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5B1695-7B95-5CB9-0354-957B532A1366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5327750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7767BE9-8C42-3FED-148B-D164D9CB53FF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5595961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5E57D76-1367-93D5-3F53-0E5487436925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5864172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2F1A6BB-ED66-50FB-68E6-A188FA5C25E8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6132383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A2FE282-409F-DF91-75BC-71F7C107B2E3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3431448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0763D63-D8D7-F6EC-FE9D-DC40F2EC1170}"/>
                </a:ext>
              </a:extLst>
            </p:cNvPr>
            <p:cNvCxnSpPr>
              <a:cxnSpLocks/>
            </p:cNvCxnSpPr>
            <p:nvPr/>
          </p:nvCxnSpPr>
          <p:spPr>
            <a:xfrm>
              <a:off x="664145" y="3967870"/>
              <a:ext cx="5059907" cy="0"/>
            </a:xfrm>
            <a:prstGeom prst="line">
              <a:avLst/>
            </a:prstGeom>
            <a:ln w="6350" cap="flat">
              <a:solidFill>
                <a:srgbClr val="757575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96373E4-B2E4-8641-A394-E1FAE9CF446F}"/>
                </a:ext>
              </a:extLst>
            </p:cNvPr>
            <p:cNvGrpSpPr/>
            <p:nvPr/>
          </p:nvGrpSpPr>
          <p:grpSpPr>
            <a:xfrm>
              <a:off x="664146" y="6181839"/>
              <a:ext cx="4921628" cy="169277"/>
              <a:chOff x="664146" y="7607342"/>
              <a:chExt cx="4921628" cy="169277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381F895-8BAB-EEFE-B220-5138954F11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7607342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Adtech</a:t>
                </a:r>
                <a:endParaRPr kumimoji="0" lang="en-US" sz="11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056C86E-DB79-D09C-0B0B-C4216F29E2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7607342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15-20% revenue growth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7D423B1E-F6A2-C5AA-40C7-53E0A17C02E1}"/>
                </a:ext>
              </a:extLst>
            </p:cNvPr>
            <p:cNvGrpSpPr/>
            <p:nvPr/>
          </p:nvGrpSpPr>
          <p:grpSpPr>
            <a:xfrm>
              <a:off x="664146" y="5913639"/>
              <a:ext cx="4921628" cy="169277"/>
              <a:chOff x="664146" y="7327335"/>
              <a:chExt cx="4921628" cy="169277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7FE651A-AA7A-13AD-A10F-5DD280E15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7327335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Market intelligence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5F4520B-45BE-5195-6F9D-1588ACACC5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7327335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10% expected revenue growth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7D333C3-CAC0-F3E4-62AD-11CC9DF7CBB9}"/>
                </a:ext>
              </a:extLst>
            </p:cNvPr>
            <p:cNvGrpSpPr/>
            <p:nvPr/>
          </p:nvGrpSpPr>
          <p:grpSpPr>
            <a:xfrm>
              <a:off x="664146" y="5645428"/>
              <a:ext cx="4921628" cy="169277"/>
              <a:chOff x="664146" y="6708766"/>
              <a:chExt cx="4921628" cy="169277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2E28C9C-5C80-4E99-2560-84F6CC2EEF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6708766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Security monitoring 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80B0401-041A-114F-D4F6-F5FB451F7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6708766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$100M pipeline developed on new model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1F2E35A7-EB8D-723A-E51B-A29A41A07B6B}"/>
                </a:ext>
              </a:extLst>
            </p:cNvPr>
            <p:cNvGrpSpPr/>
            <p:nvPr/>
          </p:nvGrpSpPr>
          <p:grpSpPr>
            <a:xfrm>
              <a:off x="664146" y="5377217"/>
              <a:ext cx="4921628" cy="169277"/>
              <a:chOff x="664146" y="6428751"/>
              <a:chExt cx="4921628" cy="169277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AEB31C7-8279-86AF-2606-044F4C61CE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6428751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Clinical research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FCF5B33-A3A6-092F-229B-D986AEBE81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6428751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15-25% expected revenue growth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D946A18E-3E55-E21B-CDC6-4239BFD32D0F}"/>
                </a:ext>
              </a:extLst>
            </p:cNvPr>
            <p:cNvGrpSpPr/>
            <p:nvPr/>
          </p:nvGrpSpPr>
          <p:grpSpPr>
            <a:xfrm>
              <a:off x="664146" y="4572584"/>
              <a:ext cx="4921628" cy="169277"/>
              <a:chOff x="664146" y="5419429"/>
              <a:chExt cx="4921628" cy="169277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684E31D-A5B7-C881-37FB-F25B3F1D7B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5419429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Business planning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8F29B0D-FB1E-2551-8CFB-BB7B08F2D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5419429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20% annual revenue growth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240A54E-A204-0AF4-8FE1-8E57930ECB10}"/>
                </a:ext>
              </a:extLst>
            </p:cNvPr>
            <p:cNvGrpSpPr/>
            <p:nvPr/>
          </p:nvGrpSpPr>
          <p:grpSpPr>
            <a:xfrm>
              <a:off x="664146" y="4840795"/>
              <a:ext cx="4921628" cy="169277"/>
              <a:chOff x="664146" y="5699444"/>
              <a:chExt cx="4921628" cy="169277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0F2A23E-6682-3A90-6DAC-EA822B7C70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5699444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Vertical ERP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9789E4F-FF27-9CEF-0C0C-98B1EFF91F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5699444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10% expected revenue growth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4261729-C2DF-4644-0910-041F768F0D29}"/>
                </a:ext>
              </a:extLst>
            </p:cNvPr>
            <p:cNvGrpSpPr/>
            <p:nvPr/>
          </p:nvGrpSpPr>
          <p:grpSpPr>
            <a:xfrm>
              <a:off x="664146" y="5109006"/>
              <a:ext cx="4921628" cy="169277"/>
              <a:chOff x="664146" y="5979459"/>
              <a:chExt cx="4921628" cy="169277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0235A41-AAA2-617D-0A51-A42DDFDC3A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5979459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Process automation 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8F3CB0A-08AD-BBB2-7A34-CD3CBE441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5979459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Commercial product launch in Q4'25</a:t>
                </a: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D73F204-0113-B0C0-326D-2A0E1231DC4A}"/>
                </a:ext>
              </a:extLst>
            </p:cNvPr>
            <p:cNvGrpSpPr/>
            <p:nvPr/>
          </p:nvGrpSpPr>
          <p:grpSpPr>
            <a:xfrm>
              <a:off x="664146" y="4304373"/>
              <a:ext cx="4921628" cy="169277"/>
              <a:chOff x="664146" y="5139414"/>
              <a:chExt cx="4921628" cy="169277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60E42F-287A-D777-15F3-4C5761F78E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5139414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Contact center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0CA051B-3E28-9189-7871-42D138ABCC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5139414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25% LTV</a:t>
                </a: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2D175DE-C462-C122-9BA2-F971433A4293}"/>
                </a:ext>
              </a:extLst>
            </p:cNvPr>
            <p:cNvGrpSpPr/>
            <p:nvPr/>
          </p:nvGrpSpPr>
          <p:grpSpPr>
            <a:xfrm>
              <a:off x="664146" y="3749126"/>
              <a:ext cx="4921628" cy="169277"/>
              <a:chOff x="664146" y="4226479"/>
              <a:chExt cx="4921628" cy="169277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C8EF384-C415-1193-04BB-24767CD95F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4226479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Financial management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ADE6E5F-AA84-431F-DF38-7652D24DF2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4226479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10-20% annual organic revenue growth</a:t>
                </a: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DC4DD81-2C25-544F-F003-75C7EBAEA2CD}"/>
                </a:ext>
              </a:extLst>
            </p:cNvPr>
            <p:cNvGrpSpPr/>
            <p:nvPr/>
          </p:nvGrpSpPr>
          <p:grpSpPr>
            <a:xfrm>
              <a:off x="664146" y="3480915"/>
              <a:ext cx="4921628" cy="169277"/>
              <a:chOff x="664146" y="3946464"/>
              <a:chExt cx="4921628" cy="169277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3CB0C40-C18A-C577-7C06-9C4F3CD078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3946464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CRM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1B2F915-9C92-D7D9-6853-BDBEE10016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3946464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2x consumption revenue growth</a:t>
                </a: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1E041C7E-DC3B-042F-E9B9-927040B55C83}"/>
                </a:ext>
              </a:extLst>
            </p:cNvPr>
            <p:cNvGrpSpPr/>
            <p:nvPr/>
          </p:nvGrpSpPr>
          <p:grpSpPr>
            <a:xfrm>
              <a:off x="664146" y="2929104"/>
              <a:ext cx="4921628" cy="184666"/>
              <a:chOff x="664146" y="2957979"/>
              <a:chExt cx="4921628" cy="184666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670AD93-BD68-7C76-8F6A-10F52AB2F7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2957979"/>
                <a:ext cx="1520254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Software type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5B23FF5-CA01-1C97-F1BD-6A1B4FD6EB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2957979"/>
                <a:ext cx="3246835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Impact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DB054DEE-42B5-376E-C918-CCD2D0E86E65}"/>
                </a:ext>
              </a:extLst>
            </p:cNvPr>
            <p:cNvGrpSpPr/>
            <p:nvPr/>
          </p:nvGrpSpPr>
          <p:grpSpPr>
            <a:xfrm>
              <a:off x="664146" y="3212704"/>
              <a:ext cx="4921628" cy="169277"/>
              <a:chOff x="664146" y="3497172"/>
              <a:chExt cx="4921628" cy="169277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81A4A47-20CC-BC55-84D5-E6770438C9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3497172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Frontier AI lab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367235E-9946-D75A-C1EA-1EBE578FEB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3497172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$1B pipeline developed for new commercial product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0BF7490-5A42-7BA3-1068-E62F9DD5ABCC}"/>
                </a:ext>
              </a:extLst>
            </p:cNvPr>
            <p:cNvGrpSpPr/>
            <p:nvPr/>
          </p:nvGrpSpPr>
          <p:grpSpPr>
            <a:xfrm>
              <a:off x="664146" y="4017337"/>
              <a:ext cx="4921628" cy="188102"/>
              <a:chOff x="664146" y="4694279"/>
              <a:chExt cx="4921628" cy="188102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7BAB0BE-6BF9-E5BF-EE24-EF8D95A8B1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46" y="4713104"/>
                <a:ext cx="1520254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AI data platform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EE6BCCD-2952-AA84-2675-38672C70B5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8939" y="4694279"/>
                <a:ext cx="324683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6pPr>
                <a:lvl7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7pPr>
                <a:lvl8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8pPr>
                <a:lvl9pPr marL="91440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None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4-5% expected revenue growth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906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" hidden="1">
            <a:extLst>
              <a:ext uri="{FF2B5EF4-FFF2-40B4-BE49-F238E27FC236}">
                <a16:creationId xmlns:a16="http://schemas.microsoft.com/office/drawing/2014/main" id="{D29846AA-57AA-4AE4-B241-A7FCA882E3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6" progId="TCLayout.ActiveDocument.1">
                  <p:embed/>
                </p:oleObj>
              </mc:Choice>
              <mc:Fallback>
                <p:oleObj name="think-cell Slide" r:id="rId11" imgW="473" imgH="476" progId="TCLayout.ActiveDocument.1">
                  <p:embed/>
                  <p:pic>
                    <p:nvPicPr>
                      <p:cNvPr id="28" name="Object 2" hidden="1">
                        <a:extLst>
                          <a:ext uri="{FF2B5EF4-FFF2-40B4-BE49-F238E27FC236}">
                            <a16:creationId xmlns:a16="http://schemas.microsoft.com/office/drawing/2014/main" id="{D29846AA-57AA-4AE4-B241-A7FCA882E3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>
            <a:extLst>
              <a:ext uri="{FF2B5EF4-FFF2-40B4-BE49-F238E27FC236}">
                <a16:creationId xmlns:a16="http://schemas.microsoft.com/office/drawing/2014/main" id="{AA8A3B1B-17DD-47DC-9CE7-7F1459DC119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B843725-78D6-4B87-B586-7FD8D991C60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Overall approach needs to answer 5 key questions</a:t>
            </a:r>
            <a:endParaRPr lang="en-US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5F44082F-9675-29EB-8AA2-AD0E1AAF6496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17BB0BB8-9D8B-8661-370A-C3E3571E1519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C31BAC-6E51-AC70-7D67-2663D648AE16}"/>
              </a:ext>
            </a:extLst>
          </p:cNvPr>
          <p:cNvGrpSpPr/>
          <p:nvPr/>
        </p:nvGrpSpPr>
        <p:grpSpPr>
          <a:xfrm>
            <a:off x="554736" y="2520564"/>
            <a:ext cx="11082527" cy="769441"/>
            <a:chOff x="554736" y="2355472"/>
            <a:chExt cx="11082527" cy="76944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864E76-989B-4A91-B103-E09D7C259F9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736" y="2355472"/>
              <a:ext cx="435862" cy="76944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lang="en-US" sz="5000" b="1">
                  <a:latin typeface="+mj-lt"/>
                </a:rPr>
                <a:t>2</a:t>
              </a:r>
              <a:endParaRPr lang="en-US" sz="5000"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AD8CEE-5DAD-9187-5688-B2A8474E5372}"/>
                </a:ext>
              </a:extLst>
            </p:cNvPr>
            <p:cNvSpPr txBox="1"/>
            <p:nvPr/>
          </p:nvSpPr>
          <p:spPr>
            <a:xfrm>
              <a:off x="1260764" y="2463193"/>
              <a:ext cx="10376499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1800" b="1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How should FAF evolve its products, delivery models, and distribution strategy to address market demand?</a:t>
              </a:r>
              <a:r>
                <a:rPr lang="en-US" sz="180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 Which offerings best align with customer needs and FAF capabilities?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356A60-CD62-5C1D-6877-0E7C46B840C9}"/>
              </a:ext>
            </a:extLst>
          </p:cNvPr>
          <p:cNvGrpSpPr/>
          <p:nvPr/>
        </p:nvGrpSpPr>
        <p:grpSpPr>
          <a:xfrm>
            <a:off x="554737" y="3455098"/>
            <a:ext cx="11082526" cy="769441"/>
            <a:chOff x="554737" y="3211558"/>
            <a:chExt cx="11082526" cy="7694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D53107-AF5A-4F93-8F7A-32462293FEA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554737" y="3211558"/>
              <a:ext cx="435862" cy="76944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lang="en-US" sz="5000" b="1">
                  <a:latin typeface="+mj-lt"/>
                </a:rPr>
                <a:t>3</a:t>
              </a:r>
              <a:endParaRPr lang="en-US" sz="5000"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EE9EAE-09BA-187E-61FE-EF13A66F592D}"/>
                </a:ext>
              </a:extLst>
            </p:cNvPr>
            <p:cNvSpPr txBox="1"/>
            <p:nvPr/>
          </p:nvSpPr>
          <p:spPr>
            <a:xfrm>
              <a:off x="1260764" y="3319279"/>
              <a:ext cx="10376499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1800" b="1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How should FAF package and position its content offerings relative to customer needs and market benchmarks?</a:t>
              </a:r>
              <a:r>
                <a:rPr lang="en-US" sz="180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 How should packages differ across customer types?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285749-5565-4456-AFFD-C9AE6727F046}"/>
              </a:ext>
            </a:extLst>
          </p:cNvPr>
          <p:cNvGrpSpPr/>
          <p:nvPr/>
        </p:nvGrpSpPr>
        <p:grpSpPr>
          <a:xfrm>
            <a:off x="554737" y="4389632"/>
            <a:ext cx="11082526" cy="830997"/>
            <a:chOff x="554737" y="4162767"/>
            <a:chExt cx="11082526" cy="83099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71F0CB-A28D-46AE-A90B-C727E4CA62A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554737" y="4193545"/>
              <a:ext cx="435862" cy="76944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lang="en-US" sz="5000" b="1">
                  <a:latin typeface="+mj-lt"/>
                </a:rPr>
                <a:t>4</a:t>
              </a:r>
              <a:endParaRPr lang="en-US" sz="5000"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15AD17-D7D8-84B8-C5BF-62EA4C627350}"/>
                </a:ext>
              </a:extLst>
            </p:cNvPr>
            <p:cNvSpPr txBox="1"/>
            <p:nvPr/>
          </p:nvSpPr>
          <p:spPr>
            <a:xfrm>
              <a:off x="1260764" y="4162767"/>
              <a:ext cx="10376499" cy="830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1800" b="1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What pricing models and pricing structures should FAF adopt across customer segments and use cases?</a:t>
              </a:r>
              <a:r>
                <a:rPr lang="en-US" sz="180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 What prevalent industry pricing models are most applicable to FAF, and should they change by product type, customer segment, and intended use?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53A3E2-DA2F-376B-9D74-ED54E1D16917}"/>
              </a:ext>
            </a:extLst>
          </p:cNvPr>
          <p:cNvGrpSpPr/>
          <p:nvPr/>
        </p:nvGrpSpPr>
        <p:grpSpPr>
          <a:xfrm>
            <a:off x="554737" y="5385721"/>
            <a:ext cx="11082526" cy="769441"/>
            <a:chOff x="554737" y="5175186"/>
            <a:chExt cx="11082526" cy="7694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279F7E-B19F-41D6-B981-B4FBA65B4A3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554737" y="5175186"/>
              <a:ext cx="435862" cy="76944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lang="en-US" sz="5000" b="1">
                  <a:latin typeface="+mj-lt"/>
                </a:rPr>
                <a:t>5</a:t>
              </a:r>
              <a:endParaRPr lang="en-US" sz="5000"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6EB795-32C0-D9D9-852A-F7D70A97F0F7}"/>
                </a:ext>
              </a:extLst>
            </p:cNvPr>
            <p:cNvSpPr txBox="1"/>
            <p:nvPr/>
          </p:nvSpPr>
          <p:spPr>
            <a:xfrm>
              <a:off x="1260764" y="5282907"/>
              <a:ext cx="10376499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1800" b="1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How should evolving AI-driven use cases inform FAF’s product strategy? </a:t>
              </a:r>
              <a:r>
                <a:rPr lang="en-US" sz="180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How should packaging and pricing evolve as AI reshapes how accounting standards are consumed?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D699B9-F146-0B97-6EEF-90CDD263D4D0}"/>
              </a:ext>
            </a:extLst>
          </p:cNvPr>
          <p:cNvGrpSpPr/>
          <p:nvPr/>
        </p:nvGrpSpPr>
        <p:grpSpPr>
          <a:xfrm>
            <a:off x="554737" y="1344718"/>
            <a:ext cx="11082526" cy="1010754"/>
            <a:chOff x="554737" y="1344718"/>
            <a:chExt cx="11082526" cy="10107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D3977C-DAF6-9C2A-21E9-8CF8FB8A03C1}"/>
                </a:ext>
              </a:extLst>
            </p:cNvPr>
            <p:cNvSpPr txBox="1"/>
            <p:nvPr/>
          </p:nvSpPr>
          <p:spPr>
            <a:xfrm>
              <a:off x="1260764" y="1524475"/>
              <a:ext cx="10376499" cy="830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1800" b="1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What are the highest-priority addressable markets and customer opportunities for FAF content?</a:t>
              </a:r>
              <a:r>
                <a:rPr lang="en-US" sz="180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 Which existing and emerging customer segments (e.g., accounting firms, software providers, AI startups) provide the greatest monetization potential?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BBD7AB-D19F-9BD6-697E-A50AFF6295C2}"/>
                </a:ext>
              </a:extLst>
            </p:cNvPr>
            <p:cNvSpPr txBox="1"/>
            <p:nvPr/>
          </p:nvSpPr>
          <p:spPr>
            <a:xfrm>
              <a:off x="554737" y="1344718"/>
              <a:ext cx="435862" cy="769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en-US" sz="5000" b="1">
                  <a:solidFill>
                    <a:srgbClr val="000000"/>
                  </a:solidFill>
                  <a:latin typeface="Georgia" panose="02040502050405020303" pitchFamily="18" charset="0"/>
                  <a:sym typeface="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624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4BC2-C54E-2950-DFD2-A28F26B0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3713A437-7B5C-F90A-2E7D-4D008A3AE62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592" imgH="591" progId="TCLayout.ActiveDocument.1">
                  <p:embed/>
                </p:oleObj>
              </mc:Choice>
              <mc:Fallback>
                <p:oleObj name="think-cell Slide" r:id="rId12" imgW="592" imgH="591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3713A437-7B5C-F90A-2E7D-4D008A3AE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C85AA42D-3AF5-0FE3-0899-9D40443A05C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2. Slide Title">
            <a:extLst>
              <a:ext uri="{FF2B5EF4-FFF2-40B4-BE49-F238E27FC236}">
                <a16:creationId xmlns:a16="http://schemas.microsoft.com/office/drawing/2014/main" id="{6D3D70A0-DD7F-79D5-4D43-11FAAE26705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98311"/>
            <a:ext cx="11082528" cy="71558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/>
              <a:t>Proposed execution plan to address key questions across market analysis and pricing / packaging design</a:t>
            </a:r>
          </a:p>
        </p:txBody>
      </p:sp>
      <p:cxnSp>
        <p:nvCxnSpPr>
          <p:cNvPr id="47" name="GreyLineContentSeparatorDefault 48">
            <a:extLst>
              <a:ext uri="{FF2B5EF4-FFF2-40B4-BE49-F238E27FC236}">
                <a16:creationId xmlns:a16="http://schemas.microsoft.com/office/drawing/2014/main" id="{481355F1-4C85-EB94-5E5F-D27A667FE80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10837959" y="1285707"/>
            <a:ext cx="0" cy="4152659"/>
          </a:xfrm>
          <a:prstGeom prst="straightConnector1">
            <a:avLst/>
          </a:prstGeom>
          <a:ln w="6350" cap="flat">
            <a:solidFill>
              <a:srgbClr val="757575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D5DA0-1EB7-5DB7-6222-C196519FAA33}"/>
              </a:ext>
            </a:extLst>
          </p:cNvPr>
          <p:cNvGrpSpPr>
            <a:grpSpLocks/>
          </p:cNvGrpSpPr>
          <p:nvPr/>
        </p:nvGrpSpPr>
        <p:grpSpPr>
          <a:xfrm>
            <a:off x="554735" y="3448550"/>
            <a:ext cx="9127738" cy="2095496"/>
            <a:chOff x="554735" y="3886268"/>
            <a:chExt cx="9749108" cy="2095496"/>
          </a:xfrm>
        </p:grpSpPr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CB710D99-9CE5-455B-2E49-84295971FDCD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554735" y="4189166"/>
              <a:ext cx="9749108" cy="118194"/>
            </a:xfrm>
            <a:prstGeom prst="homePlate">
              <a:avLst/>
            </a:prstGeom>
            <a:solidFill>
              <a:srgbClr val="00A9F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A9B8BD-DC57-13F1-459B-196E50F1FB40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3886268"/>
              <a:ext cx="4164654" cy="246221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lang="en-US" b="1">
                  <a:solidFill>
                    <a:srgbClr val="000000"/>
                  </a:solidFill>
                  <a:latin typeface="Arial"/>
                </a:rPr>
                <a:t>Pricing and packaging design </a:t>
              </a: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12346C3-3973-5D47-839B-BB31214BC4EE}"/>
                </a:ext>
              </a:extLst>
            </p:cNvPr>
            <p:cNvSpPr txBox="1">
              <a:spLocks/>
            </p:cNvSpPr>
            <p:nvPr/>
          </p:nvSpPr>
          <p:spPr>
            <a:xfrm>
              <a:off x="554735" y="4396715"/>
              <a:ext cx="9749108" cy="15850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en-US" sz="1400" b="1"/>
                <a:t>Design packages for each segment </a:t>
              </a:r>
              <a:r>
                <a:rPr lang="en-US" sz="1400"/>
                <a:t>to maximize usability</a:t>
              </a:r>
            </a:p>
            <a:p>
              <a:pPr lvl="1">
                <a:spcAft>
                  <a:spcPts val="0"/>
                </a:spcAft>
              </a:pPr>
              <a:r>
                <a:rPr lang="en-US" sz="1400" b="1"/>
                <a:t>Test implications of alternative commercialization approaches </a:t>
              </a:r>
              <a:r>
                <a:rPr lang="en-US" sz="1400"/>
                <a:t>(e.g., DTC, partner/channel-based models)</a:t>
              </a:r>
            </a:p>
            <a:p>
              <a:pPr lvl="1">
                <a:spcAft>
                  <a:spcPts val="0"/>
                </a:spcAft>
              </a:pPr>
              <a:r>
                <a:rPr lang="en-US" sz="1400" b="1"/>
                <a:t>Identify incremental products/services </a:t>
              </a:r>
              <a:r>
                <a:rPr lang="en-US" sz="1400"/>
                <a:t>(e.g., enhanced data, APIs, derived insights, board commentary) based on revenue potential</a:t>
              </a:r>
            </a:p>
            <a:p>
              <a:pPr>
                <a:spcAft>
                  <a:spcPts val="0"/>
                </a:spcAft>
              </a:pPr>
              <a:r>
                <a:rPr lang="en-US" sz="1400" b="1"/>
                <a:t>Outline pricing model and price metrics </a:t>
              </a:r>
              <a:r>
                <a:rPr lang="en-US" sz="1400"/>
                <a:t>(e.g., enterprise license, API-based, revenue-linked) </a:t>
              </a:r>
            </a:p>
            <a:p>
              <a:pPr>
                <a:spcAft>
                  <a:spcPts val="0"/>
                </a:spcAft>
              </a:pPr>
              <a:r>
                <a:rPr lang="en-US" sz="1400" b="1"/>
                <a:t>Define price points </a:t>
              </a:r>
              <a:r>
                <a:rPr lang="en-US" sz="1400"/>
                <a:t>for each package based on willingness to pay for each customer segment</a:t>
              </a:r>
            </a:p>
            <a:p>
              <a:pPr lvl="1">
                <a:spcAft>
                  <a:spcPts val="0"/>
                </a:spcAft>
              </a:pPr>
              <a:r>
                <a:rPr lang="en-US" sz="1400"/>
                <a:t>Benchmark price points against similar offerings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8DBE9D5-5860-D813-41E4-98CD3FF0BD60}"/>
              </a:ext>
            </a:extLst>
          </p:cNvPr>
          <p:cNvGrpSpPr/>
          <p:nvPr/>
        </p:nvGrpSpPr>
        <p:grpSpPr>
          <a:xfrm>
            <a:off x="554735" y="1039486"/>
            <a:ext cx="9127737" cy="2330279"/>
            <a:chOff x="554735" y="1532581"/>
            <a:chExt cx="9749108" cy="233027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FC5685-1BC2-4901-B526-CF0DD77CA49E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532581"/>
              <a:ext cx="4164654" cy="246221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Market analysis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B2C58CC-25C4-BDB1-A0BF-D3732ECBDA1E}"/>
                </a:ext>
              </a:extLst>
            </p:cNvPr>
            <p:cNvSpPr txBox="1">
              <a:spLocks/>
            </p:cNvSpPr>
            <p:nvPr/>
          </p:nvSpPr>
          <p:spPr>
            <a:xfrm>
              <a:off x="554735" y="2277811"/>
              <a:ext cx="9749108" cy="15850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en-US" sz="1400" b="1"/>
                <a:t>Map full customer landscape </a:t>
              </a:r>
              <a:r>
                <a:rPr lang="en-US" sz="1400"/>
                <a:t>across current and emerging segments (e.g., Big 4, AI-native startups, software/workflow providers, publishers)</a:t>
              </a:r>
            </a:p>
            <a:p>
              <a:pPr lvl="1">
                <a:spcAft>
                  <a:spcPts val="0"/>
                </a:spcAft>
              </a:pPr>
              <a:r>
                <a:rPr lang="en-US" sz="1400" b="1"/>
                <a:t>Identify AI-driven emerging customer segments </a:t>
              </a:r>
              <a:r>
                <a:rPr lang="en-US" sz="1400"/>
                <a:t>(e.g., model training, automation tools)</a:t>
              </a:r>
            </a:p>
            <a:p>
              <a:pPr lvl="1">
                <a:spcAft>
                  <a:spcPts val="0"/>
                </a:spcAft>
              </a:pPr>
              <a:r>
                <a:rPr lang="en-US" sz="1400"/>
                <a:t>Assess how AI and automation may </a:t>
              </a:r>
              <a:r>
                <a:rPr lang="en-US" sz="1400" b="1"/>
                <a:t>shift existing customer behavior and market dynamics </a:t>
              </a:r>
            </a:p>
            <a:p>
              <a:pPr lvl="1">
                <a:spcAft>
                  <a:spcPts val="0"/>
                </a:spcAft>
              </a:pPr>
              <a:r>
                <a:rPr lang="en-US" sz="1400" b="1"/>
                <a:t>Prioritize opportunities </a:t>
              </a:r>
              <a:r>
                <a:rPr lang="en-US" sz="1400"/>
                <a:t>by size and feasibility </a:t>
              </a:r>
            </a:p>
            <a:p>
              <a:pPr>
                <a:spcAft>
                  <a:spcPts val="0"/>
                </a:spcAft>
              </a:pPr>
              <a:r>
                <a:rPr lang="en-US" sz="1400" b="1"/>
                <a:t>Identify use cases of FAF data across customer segments </a:t>
              </a:r>
              <a:r>
                <a:rPr lang="en-US" sz="1400"/>
                <a:t>(e.g., financial reporting tools, AI training material)</a:t>
              </a:r>
            </a:p>
            <a:p>
              <a:pPr>
                <a:spcAft>
                  <a:spcPts val="0"/>
                </a:spcAft>
              </a:pPr>
              <a:r>
                <a:rPr lang="en-US" sz="1400" b="1"/>
                <a:t>Prioritize opportunities </a:t>
              </a:r>
              <a:r>
                <a:rPr lang="en-US" sz="1400"/>
                <a:t>to identify near-term quick wins and long-term strategic areas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ACF50FF-C808-FD4E-427B-ED85CEBC810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4735" y="2007858"/>
              <a:ext cx="9749108" cy="161583"/>
              <a:chOff x="554736" y="1567591"/>
              <a:chExt cx="8864834" cy="161583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CBC57D2-9FDE-BF66-E639-45B097442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736" y="1648382"/>
                <a:ext cx="8864834" cy="0"/>
              </a:xfrm>
              <a:prstGeom prst="straightConnector1">
                <a:avLst/>
              </a:prstGeom>
              <a:ln w="6350" cap="flat">
                <a:solidFill>
                  <a:schemeClr val="tx1"/>
                </a:solidFill>
                <a:miter lim="800000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691AB9-DEC9-9268-A980-B2B26B4F6F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0241" y="1567591"/>
                <a:ext cx="1033828" cy="1615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0" rIns="0" bIns="0" rtlCol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Tx/>
                  <a:buFont typeface="Segoe UI" panose="020B0502040204020203" pitchFamily="34" charset="0"/>
                  <a:buChar char="​"/>
                  <a:tabLst/>
                  <a:defRPr/>
                </a:pPr>
                <a:r>
                  <a:rPr lang="en-US" sz="1200">
                    <a:solidFill>
                      <a:srgbClr val="000000"/>
                    </a:solidFill>
                    <a:latin typeface="Arial"/>
                  </a:rPr>
                  <a:t>~4-6</a:t>
                </a: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 panose="020B0604020202020204" pitchFamily="34" charset="0"/>
                  </a:rPr>
                  <a:t> weeks</a:t>
                </a:r>
              </a:p>
            </p:txBody>
          </p:sp>
        </p:grpSp>
        <p:sp>
          <p:nvSpPr>
            <p:cNvPr id="59" name="Arrow: Pentagon 58">
              <a:extLst>
                <a:ext uri="{FF2B5EF4-FFF2-40B4-BE49-F238E27FC236}">
                  <a16:creationId xmlns:a16="http://schemas.microsoft.com/office/drawing/2014/main" id="{382C020C-B023-B77E-467D-E2B39E3EF48A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554735" y="1835479"/>
              <a:ext cx="9749108" cy="118194"/>
            </a:xfrm>
            <a:prstGeom prst="homePlate">
              <a:avLst/>
            </a:prstGeom>
            <a:solidFill>
              <a:srgbClr val="2251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63A53F8-A070-24C3-FDAD-DAC5DCF4ED86}"/>
              </a:ext>
            </a:extLst>
          </p:cNvPr>
          <p:cNvGrpSpPr/>
          <p:nvPr/>
        </p:nvGrpSpPr>
        <p:grpSpPr>
          <a:xfrm>
            <a:off x="10029183" y="3027458"/>
            <a:ext cx="1605605" cy="421092"/>
            <a:chOff x="554735" y="6005172"/>
            <a:chExt cx="8679580" cy="42109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543161-59FC-C519-4C62-190DEC6D2997}"/>
                </a:ext>
              </a:extLst>
            </p:cNvPr>
            <p:cNvSpPr txBox="1">
              <a:spLocks/>
            </p:cNvSpPr>
            <p:nvPr/>
          </p:nvSpPr>
          <p:spPr>
            <a:xfrm>
              <a:off x="554740" y="6005172"/>
              <a:ext cx="8217379" cy="246221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lang="en-US" b="1">
                  <a:solidFill>
                    <a:srgbClr val="000000"/>
                  </a:solidFill>
                  <a:latin typeface="Arial"/>
                </a:rPr>
                <a:t>Implementation</a:t>
              </a: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Arrow: Pentagon 35">
              <a:extLst>
                <a:ext uri="{FF2B5EF4-FFF2-40B4-BE49-F238E27FC236}">
                  <a16:creationId xmlns:a16="http://schemas.microsoft.com/office/drawing/2014/main" id="{D092F640-1BFE-705B-9DB8-211A65CC7947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554735" y="6308070"/>
              <a:ext cx="8679580" cy="118194"/>
            </a:xfrm>
            <a:prstGeom prst="homePlate">
              <a:avLst/>
            </a:prstGeom>
            <a:solidFill>
              <a:schemeClr val="accent5"/>
            </a:solidFill>
            <a:ln w="6350" cap="sq">
              <a:solidFill>
                <a:schemeClr val="accent4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38" name="LineBasicStrong 35">
            <a:extLst>
              <a:ext uri="{FF2B5EF4-FFF2-40B4-BE49-F238E27FC236}">
                <a16:creationId xmlns:a16="http://schemas.microsoft.com/office/drawing/2014/main" id="{44711DFB-D3D8-E770-D8ED-A0073AFAFF56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4736" y="5633401"/>
            <a:ext cx="11082528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78F551F-B6DE-7EAA-D085-4A1940A2685A}"/>
              </a:ext>
            </a:extLst>
          </p:cNvPr>
          <p:cNvSpPr txBox="1">
            <a:spLocks/>
          </p:cNvSpPr>
          <p:nvPr/>
        </p:nvSpPr>
        <p:spPr>
          <a:xfrm>
            <a:off x="833361" y="5676363"/>
            <a:ext cx="735398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b="1">
                <a:solidFill>
                  <a:schemeClr val="accent5"/>
                </a:solidFill>
              </a:rPr>
              <a:t>Project kickoff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8FEFD3F-ED20-B713-E392-79DB5654621B}"/>
              </a:ext>
            </a:extLst>
          </p:cNvPr>
          <p:cNvSpPr>
            <a:spLocks/>
          </p:cNvSpPr>
          <p:nvPr/>
        </p:nvSpPr>
        <p:spPr>
          <a:xfrm rot="10800000" flipV="1">
            <a:off x="554735" y="5724106"/>
            <a:ext cx="244800" cy="218123"/>
          </a:xfrm>
          <a:prstGeom prst="triangle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err="1">
              <a:solidFill>
                <a:schemeClr val="bg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BADC5C-901D-CD66-44CD-30A6971EEB86}"/>
              </a:ext>
            </a:extLst>
          </p:cNvPr>
          <p:cNvGrpSpPr/>
          <p:nvPr/>
        </p:nvGrpSpPr>
        <p:grpSpPr>
          <a:xfrm>
            <a:off x="554735" y="6445804"/>
            <a:ext cx="9127738" cy="153888"/>
            <a:chOff x="554735" y="6582745"/>
            <a:chExt cx="9127738" cy="153888"/>
          </a:xfrm>
        </p:grpSpPr>
        <p:cxnSp>
          <p:nvCxnSpPr>
            <p:cNvPr id="42" name="GreyLineSeparatorStrong 164">
              <a:extLst>
                <a:ext uri="{FF2B5EF4-FFF2-40B4-BE49-F238E27FC236}">
                  <a16:creationId xmlns:a16="http://schemas.microsoft.com/office/drawing/2014/main" id="{BC0AB80E-8498-D385-22AE-0AC1E009C0E5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554735" y="6659689"/>
              <a:ext cx="9127738" cy="0"/>
            </a:xfrm>
            <a:prstGeom prst="straightConnector1">
              <a:avLst/>
            </a:prstGeom>
            <a:ln w="6350" cap="flat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92801C-6389-DD03-2502-06BBCBC9F586}"/>
                </a:ext>
              </a:extLst>
            </p:cNvPr>
            <p:cNvSpPr txBox="1"/>
            <p:nvPr/>
          </p:nvSpPr>
          <p:spPr>
            <a:xfrm>
              <a:off x="4235235" y="6582745"/>
              <a:ext cx="1766739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1000" b="1">
                  <a:solidFill>
                    <a:schemeClr val="accent2"/>
                  </a:solidFill>
                </a:rPr>
                <a:t> Weekly core team meetings 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651E7F3-4E34-4FD7-D9CB-8EB6DECF0833}"/>
              </a:ext>
            </a:extLst>
          </p:cNvPr>
          <p:cNvSpPr txBox="1">
            <a:spLocks/>
          </p:cNvSpPr>
          <p:nvPr/>
        </p:nvSpPr>
        <p:spPr>
          <a:xfrm>
            <a:off x="1564999" y="5676363"/>
            <a:ext cx="1384752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b="1">
                <a:solidFill>
                  <a:schemeClr val="accent2"/>
                </a:solidFill>
              </a:rPr>
              <a:t>SteerCo #1: </a:t>
            </a:r>
            <a:r>
              <a:rPr lang="en-US" sz="1000"/>
              <a:t>Review customer segment landscape, use cases, and preliminary revenue pools</a:t>
            </a: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C4A5760-560F-674E-16B5-7447AC5266EB}"/>
              </a:ext>
            </a:extLst>
          </p:cNvPr>
          <p:cNvSpPr>
            <a:spLocks/>
          </p:cNvSpPr>
          <p:nvPr/>
        </p:nvSpPr>
        <p:spPr>
          <a:xfrm>
            <a:off x="2949751" y="5724106"/>
            <a:ext cx="244800" cy="218123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ACBBE4-6EE7-05FD-9286-577816B3A66E}"/>
              </a:ext>
            </a:extLst>
          </p:cNvPr>
          <p:cNvSpPr txBox="1">
            <a:spLocks/>
          </p:cNvSpPr>
          <p:nvPr/>
        </p:nvSpPr>
        <p:spPr>
          <a:xfrm>
            <a:off x="4778296" y="5676363"/>
            <a:ext cx="1173917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b="1">
                <a:solidFill>
                  <a:schemeClr val="accent2"/>
                </a:solidFill>
              </a:rPr>
              <a:t>SteerCo #2: </a:t>
            </a:r>
            <a:r>
              <a:rPr lang="en-US" sz="1000"/>
              <a:t>Select optimal pricing and packaging design</a:t>
            </a: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E07FFB16-9D2E-5A5D-6713-AD3B29F61912}"/>
              </a:ext>
            </a:extLst>
          </p:cNvPr>
          <p:cNvSpPr>
            <a:spLocks/>
          </p:cNvSpPr>
          <p:nvPr/>
        </p:nvSpPr>
        <p:spPr>
          <a:xfrm>
            <a:off x="5952214" y="5724106"/>
            <a:ext cx="244800" cy="218123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err="1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CB257B-CD80-8ED2-C2AC-83B2C6CC22F9}"/>
              </a:ext>
            </a:extLst>
          </p:cNvPr>
          <p:cNvSpPr txBox="1">
            <a:spLocks/>
          </p:cNvSpPr>
          <p:nvPr/>
        </p:nvSpPr>
        <p:spPr>
          <a:xfrm>
            <a:off x="7978372" y="5676363"/>
            <a:ext cx="146647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b="1">
                <a:solidFill>
                  <a:schemeClr val="accent2"/>
                </a:solidFill>
              </a:rPr>
              <a:t>SteerCo #3: </a:t>
            </a:r>
            <a:r>
              <a:rPr lang="en-US" sz="1000"/>
              <a:t>Finalize implementation plan and priority pilots</a:t>
            </a: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D890DA4-7F8A-77CB-04E8-6B02215FA3C6}"/>
              </a:ext>
            </a:extLst>
          </p:cNvPr>
          <p:cNvSpPr>
            <a:spLocks/>
          </p:cNvSpPr>
          <p:nvPr/>
        </p:nvSpPr>
        <p:spPr>
          <a:xfrm>
            <a:off x="9437673" y="5724106"/>
            <a:ext cx="244800" cy="218123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err="1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921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9FD71-8AED-F2C2-475E-9DF5906A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CE046378-B81D-8A9A-2224-7CC4880B151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CE046378-B81D-8A9A-2224-7CC4880B15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E06C315-7CCB-1F9A-4E87-CDB8A7796657}"/>
              </a:ext>
            </a:extLst>
          </p:cNvPr>
          <p:cNvSpPr txBox="1">
            <a:spLocks/>
          </p:cNvSpPr>
          <p:nvPr/>
        </p:nvSpPr>
        <p:spPr>
          <a:xfrm>
            <a:off x="8070097" y="3918041"/>
            <a:ext cx="3440155" cy="180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Prioritization framework</a:t>
            </a:r>
          </a:p>
          <a:p>
            <a:pPr lvl="1"/>
            <a:r>
              <a:rPr lang="en-US"/>
              <a:t>Create framework to evaluate opportunities based off opportunity size and strategic fit (e.g., current market presence)</a:t>
            </a:r>
          </a:p>
          <a:p>
            <a:pPr lvl="1"/>
            <a:r>
              <a:rPr lang="en-US"/>
              <a:t>Leverage framework to identify high-priority opportunities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A65A80-CC40-F010-345F-F7E7A5C165CC}"/>
              </a:ext>
            </a:extLst>
          </p:cNvPr>
          <p:cNvSpPr txBox="1">
            <a:spLocks/>
          </p:cNvSpPr>
          <p:nvPr/>
        </p:nvSpPr>
        <p:spPr>
          <a:xfrm>
            <a:off x="681747" y="3918041"/>
            <a:ext cx="3440155" cy="180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Addressable market map</a:t>
            </a:r>
          </a:p>
          <a:p>
            <a:pPr lvl="1"/>
            <a:r>
              <a:rPr lang="en-US"/>
              <a:t>Define market segments (e.g., from existing customers, inbound requests, interviews) </a:t>
            </a:r>
          </a:p>
          <a:p>
            <a:pPr lvl="1"/>
            <a:r>
              <a:rPr lang="en-US"/>
              <a:t>Size segments (e.g., leveraging expert surveys, proprietary data) to determine TAM and current share </a:t>
            </a:r>
          </a:p>
        </p:txBody>
      </p: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68FB2FC-BB6E-F74A-0F52-3868E5CB0F9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2. Slide Title">
            <a:extLst>
              <a:ext uri="{FF2B5EF4-FFF2-40B4-BE49-F238E27FC236}">
                <a16:creationId xmlns:a16="http://schemas.microsoft.com/office/drawing/2014/main" id="{53C6A4AD-F3E5-C1D6-C650-2C3E70EBB215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56102"/>
            <a:ext cx="110825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en-US"/>
              <a:t>Illustrative outputs for the market analysis workstream </a:t>
            </a:r>
          </a:p>
        </p:txBody>
      </p:sp>
      <p:cxnSp>
        <p:nvCxnSpPr>
          <p:cNvPr id="26" name="GreyLineContentSeparatorDefault 13">
            <a:extLst>
              <a:ext uri="{FF2B5EF4-FFF2-40B4-BE49-F238E27FC236}">
                <a16:creationId xmlns:a16="http://schemas.microsoft.com/office/drawing/2014/main" id="{5A2A1FE4-42C8-D968-150C-199A0748222B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 flipV="1">
            <a:off x="7943088" y="1674386"/>
            <a:ext cx="0" cy="4052646"/>
          </a:xfrm>
          <a:prstGeom prst="straightConnector1">
            <a:avLst/>
          </a:prstGeom>
          <a:ln w="6350" cap="flat">
            <a:solidFill>
              <a:schemeClr val="tx2">
                <a:lumMod val="6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reyLineContentSeparatorDefault 13">
            <a:extLst>
              <a:ext uri="{FF2B5EF4-FFF2-40B4-BE49-F238E27FC236}">
                <a16:creationId xmlns:a16="http://schemas.microsoft.com/office/drawing/2014/main" id="{0FCEEB5E-8278-DB29-9384-683DFE1EF444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 flipV="1">
            <a:off x="4248912" y="1674386"/>
            <a:ext cx="0" cy="4052646"/>
          </a:xfrm>
          <a:prstGeom prst="straightConnector1">
            <a:avLst/>
          </a:prstGeom>
          <a:ln w="6350" cap="flat">
            <a:solidFill>
              <a:schemeClr val="tx2">
                <a:lumMod val="6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1AE28A6-38C6-038B-538E-340E0E29B66E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375922" y="1674386"/>
            <a:ext cx="3440155" cy="19350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ABBA11A-B970-3B0F-2984-A0B64DDE7869}"/>
              </a:ext>
            </a:extLst>
          </p:cNvPr>
          <p:cNvSpPr txBox="1">
            <a:spLocks/>
          </p:cNvSpPr>
          <p:nvPr/>
        </p:nvSpPr>
        <p:spPr>
          <a:xfrm>
            <a:off x="4375922" y="3918041"/>
            <a:ext cx="3440155" cy="180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AI-driven market shifts </a:t>
            </a:r>
          </a:p>
          <a:p>
            <a:pPr lvl="1"/>
            <a:r>
              <a:rPr lang="en-US"/>
              <a:t>Assess potential AI use cases of FAF data (e.g., model training, retrieval context)</a:t>
            </a:r>
          </a:p>
          <a:p>
            <a:pPr lvl="1"/>
            <a:r>
              <a:rPr lang="en-US"/>
              <a:t>Determine implications of identified use cases (e.g., headwinds and tailwinds) for FAF market sizes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966A0-9F65-5A38-31F1-3C7D1BDA57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736" y="1674386"/>
            <a:ext cx="3440152" cy="193508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2D9ACB-6C82-A09D-57A9-A9D625F2A7F7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070097" y="1669367"/>
            <a:ext cx="3440155" cy="19350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007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5663-F319-1F43-2697-C503D62D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B8584D46-25B1-15C2-B104-E81CC664B5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B8584D46-25B1-15C2-B104-E81CC664B5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B865D251-1B87-6164-A58D-6A29C00C08F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2. Slide Title">
            <a:extLst>
              <a:ext uri="{FF2B5EF4-FFF2-40B4-BE49-F238E27FC236}">
                <a16:creationId xmlns:a16="http://schemas.microsoft.com/office/drawing/2014/main" id="{CBA34D35-420F-C3E4-689B-48B09105A9D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56102"/>
            <a:ext cx="110825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/>
              <a:t>Illustrative outputs for the pricing and packaging workstream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50B02-93BD-9E5D-048F-EFB2D7F15276}"/>
              </a:ext>
            </a:extLst>
          </p:cNvPr>
          <p:cNvSpPr txBox="1">
            <a:spLocks/>
          </p:cNvSpPr>
          <p:nvPr/>
        </p:nvSpPr>
        <p:spPr>
          <a:xfrm>
            <a:off x="681747" y="3918041"/>
            <a:ext cx="3440155" cy="2046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Packaging framework</a:t>
            </a:r>
          </a:p>
          <a:p>
            <a:pPr lvl="1"/>
            <a:r>
              <a:rPr lang="en-US"/>
              <a:t>Develop segment-specific packaging structures tailored to customer use cases (e.g., Big 4 vs. AI startup)</a:t>
            </a:r>
          </a:p>
          <a:p>
            <a:pPr lvl="1"/>
            <a:r>
              <a:rPr lang="en-US"/>
              <a:t>Create tiered packages (e.g., base, premium) informed by customer data and interviews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1D93F4-2991-96C4-2340-FCBA00830B65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1747" y="1674386"/>
            <a:ext cx="3440155" cy="19350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FD1A554-307F-A0F9-EE0C-F79EE217AFF1}"/>
              </a:ext>
            </a:extLst>
          </p:cNvPr>
          <p:cNvGrpSpPr/>
          <p:nvPr/>
        </p:nvGrpSpPr>
        <p:grpSpPr>
          <a:xfrm>
            <a:off x="4248912" y="1674385"/>
            <a:ext cx="3694176" cy="4524283"/>
            <a:chOff x="4248912" y="1674386"/>
            <a:chExt cx="3694176" cy="4052646"/>
          </a:xfrm>
        </p:grpSpPr>
        <p:cxnSp>
          <p:nvCxnSpPr>
            <p:cNvPr id="21" name="GreyLineContentSeparatorDefault 13">
              <a:extLst>
                <a:ext uri="{FF2B5EF4-FFF2-40B4-BE49-F238E27FC236}">
                  <a16:creationId xmlns:a16="http://schemas.microsoft.com/office/drawing/2014/main" id="{A87C0FAB-4D05-FDB2-1179-1D24317484B8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>
            <a:xfrm flipV="1">
              <a:off x="7943088" y="1674386"/>
              <a:ext cx="0" cy="4052646"/>
            </a:xfrm>
            <a:prstGeom prst="straightConnector1">
              <a:avLst/>
            </a:prstGeom>
            <a:ln w="6350" cap="flat">
              <a:solidFill>
                <a:schemeClr val="tx2">
                  <a:lumMod val="6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reyLineContentSeparatorDefault 13">
              <a:extLst>
                <a:ext uri="{FF2B5EF4-FFF2-40B4-BE49-F238E27FC236}">
                  <a16:creationId xmlns:a16="http://schemas.microsoft.com/office/drawing/2014/main" id="{DC5234FE-32DE-2467-679B-2D4B47BB502C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 flipV="1">
              <a:off x="4248912" y="1674386"/>
              <a:ext cx="0" cy="4052646"/>
            </a:xfrm>
            <a:prstGeom prst="straightConnector1">
              <a:avLst/>
            </a:prstGeom>
            <a:ln w="6350" cap="flat">
              <a:solidFill>
                <a:schemeClr val="tx2">
                  <a:lumMod val="65000"/>
                </a:schemeClr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E680E73-1FFB-CAB8-3780-40F50AE016F9}"/>
              </a:ext>
            </a:extLst>
          </p:cNvPr>
          <p:cNvSpPr txBox="1">
            <a:spLocks/>
          </p:cNvSpPr>
          <p:nvPr/>
        </p:nvSpPr>
        <p:spPr>
          <a:xfrm>
            <a:off x="4375922" y="3918041"/>
            <a:ext cx="3440155" cy="2046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Pricing models and metrics</a:t>
            </a:r>
          </a:p>
          <a:p>
            <a:pPr lvl="1"/>
            <a:r>
              <a:rPr lang="en-US"/>
              <a:t>Evaluate pricing model and metric options across an industry-tested assessment framework</a:t>
            </a:r>
          </a:p>
          <a:p>
            <a:pPr lvl="1"/>
            <a:r>
              <a:rPr lang="en-US"/>
              <a:t>Develop recommendations, tailored to customer use cases (e.g., model training, licensed wholesalers) and FAF capabilities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8350DC-2C9B-DF53-D6F8-C4EF6B4A4717}"/>
              </a:ext>
            </a:extLst>
          </p:cNvPr>
          <p:cNvSpPr txBox="1">
            <a:spLocks/>
          </p:cNvSpPr>
          <p:nvPr/>
        </p:nvSpPr>
        <p:spPr>
          <a:xfrm>
            <a:off x="8070097" y="3918041"/>
            <a:ext cx="3440155" cy="1800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/>
              <a:t>Willingness-to-pay analysis </a:t>
            </a:r>
          </a:p>
          <a:p>
            <a:pPr lvl="1"/>
            <a:r>
              <a:rPr lang="en-US"/>
              <a:t>Assess willingness-to-pay through primary research (e.g., customer interviews, benchmarking)</a:t>
            </a:r>
          </a:p>
          <a:p>
            <a:pPr lvl="1"/>
            <a:r>
              <a:rPr lang="en-US"/>
              <a:t>Evaluate price points for individual features to determine package prices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2FA0C03-5DC8-8B14-D25E-13E7389B97A5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375922" y="1674386"/>
            <a:ext cx="3440155" cy="19350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D4872A9-317B-D6EF-CEB0-66FDD43F466B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070097" y="1674386"/>
            <a:ext cx="3440155" cy="193508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259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7B4F-4E34-4D92-D396-737D004B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Object 2" hidden="1">
            <a:extLst>
              <a:ext uri="{FF2B5EF4-FFF2-40B4-BE49-F238E27FC236}">
                <a16:creationId xmlns:a16="http://schemas.microsoft.com/office/drawing/2014/main" id="{33B4B56C-71B3-5B5B-C6F9-C9A5616107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9" imgW="404" imgH="405" progId="TCLayout.ActiveDocument.1">
                  <p:embed/>
                </p:oleObj>
              </mc:Choice>
              <mc:Fallback>
                <p:oleObj name="think-cell Slide" r:id="rId59" imgW="404" imgH="405" progId="TCLayout.ActiveDocument.1">
                  <p:embed/>
                  <p:pic>
                    <p:nvPicPr>
                      <p:cNvPr id="149" name="Object 2" hidden="1">
                        <a:extLst>
                          <a:ext uri="{FF2B5EF4-FFF2-40B4-BE49-F238E27FC236}">
                            <a16:creationId xmlns:a16="http://schemas.microsoft.com/office/drawing/2014/main" id="{33B4B56C-71B3-5B5B-C6F9-C9A5616107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BC0BE16D-AE5E-65DB-8ADA-EDA4C36108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/>
              <a:t>Scope questions we will investigate in Phase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11F86-DB57-7AF8-A992-F778092017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045A18C-B08F-649C-8BF3-7B5F415D1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EDB6E09-204A-B748-A8AD-EEEF7DB3E19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1500" y="1126156"/>
            <a:ext cx="1003299" cy="1699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Category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28F5AA3-8185-3A55-2B10-A351AA3B8FB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71500" y="1411007"/>
            <a:ext cx="1003299" cy="6798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Customer segmentation &amp; demand landscape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E36423D-F043-F23E-31AE-28427F18AD2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1500" y="2526904"/>
            <a:ext cx="1003299" cy="50989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Customer use cases &amp; value drivers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75572AED-7E5B-DBD0-E365-219BB3B7A9B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71500" y="3262706"/>
            <a:ext cx="1003299" cy="50989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Access, consumption &amp; packaging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7989B6E-1377-A1F6-8B49-97EC86A09A5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71500" y="4168472"/>
            <a:ext cx="1003299" cy="6798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Value perception &amp; willingness to pay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10918ED-4063-F729-59B6-48C1DF71244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71500" y="5432815"/>
            <a:ext cx="1003299" cy="50989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Monetization opportunities &amp; prioritization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D7AE0F8-B9C8-99A6-89BE-3B1B5A3C425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703388" y="1126156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Scope question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497727E-706B-461F-D7F4-7927F8FF197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03388" y="1413876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are the key customer segments (e.g., Big 4, Tier 2/3 firms, software providers, AI-native players)?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840C296-DF91-59F7-9A07-079948ECF5B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703388" y="2338291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Which segments are most attractive based on monetization potential and scalability of demand?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BF0235A-2E19-0AA2-1168-4DDA722D058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703388" y="2526904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are the primary use cases for the data across customer segments?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7F9B41A-0F9F-60B2-8366-36962166592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703388" y="2715516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Where does the data sit in the customer value chain, and how would the product or service be impacted without it?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533C295-300A-2C2B-12E9-DF17CADE267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03388" y="2904129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pain points do customers experience with current data access or usage (e.g., latency, completeness, usability, legal risk)?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E671145-DC58-FE91-4065-2209AD6D8C6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703388" y="3262706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are customers accessing and integrating FAF data into their workflows or products (e.g., licensed, scraped, APIs)?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9FD5E83-12B0-79BC-D192-B021F7ED648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703388" y="3621283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do customers prefer to consume the data, and what is the value of improved delivery (e.g., APIs, structured data, real-time updates)?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85E4905-1C0B-ECE7-098B-B59CA1C039F0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703388" y="4168472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important is the data relative to other inputs used by the customer?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4DCA28-A0C4-7613-BAF3-08A60199FBD9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703388" y="4715661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does the value customers receive from FAF data compare to the price they pay, relative to available alternatives?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DD8A8AD-ADE2-2021-C733-A6DA40B27D4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03388" y="5432815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Where is the data being accessed without appropriate licensing (e.g., scraping, redistribution, indirect access)?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212B8D6-315B-B991-ECB6-BCD5C2F8722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703388" y="6168617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Which customer segments and accounts should be prioritized based on value and likelihood to convert?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3EEBF44-A12B-DB49-4930-29AB164BBA9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703388" y="6357218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is the most effective route to market by segment (e.g., direct vs. intermediated)?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87DB266-5F5E-8507-9735-8B30D727F60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03388" y="2149678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For each segment, what is the whitespace opportunity, and which lookalike firms represent high-probability targets?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180E2BC-E9E6-F7CC-B27F-69B32D1D2DF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750301" y="2149678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Client data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F1DA7F-5474-9574-1F77-23283A6FCD8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750301" y="1126156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 b="1"/>
              <a:t>Selected sources of insight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3BE7DE0-C9D0-741D-8F49-FDD0756FCBEA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703388" y="1602489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do the ~30 inbound firms map to these segments, and what are their defining characteristics (e.g., size, product type, customer base)?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85AF64B-4574-17E5-EACE-8402A4CA05B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750301" y="1602489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Client-provided inbound list (~30)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000FAA3-8AAB-F8AF-97A4-BDBD32828DC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703388" y="1961066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For each segment, what is the current customer footprint (i.e., existing licensed customers)?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4BAA68A9-4843-F975-F90E-F60A8A94AE5A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750301" y="1961066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Client data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D10912C-F727-2373-9D24-0C890C117462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703388" y="5074238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pricing levels have been observed in inbound discussions, and what does transaction data indicate about variability or discount dispersion across similar customers?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58D1A784-C567-B9EF-9D12-0EA319F6EB29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750301" y="5074238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Client deal history / inbounds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263EA0B-E6AE-FD28-CA48-0C65ACA9FE8C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703388" y="5621427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Which users are likely non-compliant, and what would trigger them to convert to licensed usage (e.g., pricing, enforcement, ease of access)?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FE0590B5-A4A3-17A6-CE77-85A13B553209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8750301" y="5621427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Client data + expert interviews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27C1A42-262C-5C1F-F985-D3F446CFA808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703388" y="5980004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is the total revenue opportunity across inbound demand, whitespace segments, and non-compliant users?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EBE43480-13F3-546C-5DD3-273DB433A782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8750301" y="5980004"/>
            <a:ext cx="2870200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Indicative sizing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2712E722-94D5-0DCD-42B7-936FFEE79279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571500" y="1404553"/>
            <a:ext cx="11049000" cy="0"/>
          </a:xfrm>
          <a:prstGeom prst="line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0BA71870-8E35-262A-AA9E-F03634C46DB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703388" y="4357085"/>
            <a:ext cx="6918325" cy="339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How do buyers across segments perceive the suitability of different pricing models (e.g., fixed-fee, seat-based, all-in-one, outcomes-based) in terms of acceptability, predictability, scalability, and linkage to value?</a:t>
            </a:r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3813FA7C-A4E0-3B69-9F3C-1587161A8827}"/>
              </a:ext>
            </a:extLst>
          </p:cNvPr>
          <p:cNvCxnSpPr>
            <a:cxnSpLocks/>
          </p:cNvCxnSpPr>
          <p:nvPr>
            <p:custDataLst>
              <p:tags r:id="rId37"/>
            </p:custDataLst>
          </p:nvPr>
        </p:nvCxnSpPr>
        <p:spPr>
          <a:xfrm>
            <a:off x="571502" y="3253382"/>
            <a:ext cx="10198099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827FCB51-0DD0-902D-C7F3-728A07E3E0F0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>
          <a:xfrm>
            <a:off x="571502" y="4159148"/>
            <a:ext cx="10198099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75BCDCE-F820-C58F-AD67-D142686211FF}"/>
              </a:ext>
            </a:extLst>
          </p:cNvPr>
          <p:cNvCxnSpPr>
            <a:cxnSpLocks/>
          </p:cNvCxnSpPr>
          <p:nvPr>
            <p:custDataLst>
              <p:tags r:id="rId39"/>
            </p:custDataLst>
          </p:nvPr>
        </p:nvCxnSpPr>
        <p:spPr>
          <a:xfrm>
            <a:off x="571501" y="2517580"/>
            <a:ext cx="11048996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9A321AE1-DB49-68F3-A2B5-7CB44CFD4676}"/>
              </a:ext>
            </a:extLst>
          </p:cNvPr>
          <p:cNvCxnSpPr>
            <a:cxnSpLocks/>
          </p:cNvCxnSpPr>
          <p:nvPr>
            <p:custDataLst>
              <p:tags r:id="rId40"/>
            </p:custDataLst>
          </p:nvPr>
        </p:nvCxnSpPr>
        <p:spPr>
          <a:xfrm>
            <a:off x="571500" y="5423491"/>
            <a:ext cx="10780684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0C0E431-B759-1257-1DF8-9DC64C2B3499}"/>
              </a:ext>
            </a:extLst>
          </p:cNvPr>
          <p:cNvCxnSpPr>
            <a:cxnSpLocks/>
          </p:cNvCxnSpPr>
          <p:nvPr>
            <p:custDataLst>
              <p:tags r:id="rId41"/>
            </p:custDataLst>
          </p:nvPr>
        </p:nvCxnSpPr>
        <p:spPr>
          <a:xfrm>
            <a:off x="1670048" y="1593165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4B50176-CA41-B263-2722-E0CAF8975FA3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>
          <a:xfrm>
            <a:off x="1670048" y="1951742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95BC746F-CC66-B7AA-25AD-571081C8D768}"/>
              </a:ext>
            </a:extLst>
          </p:cNvPr>
          <p:cNvCxnSpPr>
            <a:cxnSpLocks/>
          </p:cNvCxnSpPr>
          <p:nvPr>
            <p:custDataLst>
              <p:tags r:id="rId43"/>
            </p:custDataLst>
          </p:nvPr>
        </p:nvCxnSpPr>
        <p:spPr>
          <a:xfrm>
            <a:off x="1670048" y="2140355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98058D38-8F86-EBA4-D397-DD754812A679}"/>
              </a:ext>
            </a:extLst>
          </p:cNvPr>
          <p:cNvCxnSpPr>
            <a:cxnSpLocks/>
          </p:cNvCxnSpPr>
          <p:nvPr>
            <p:custDataLst>
              <p:tags r:id="rId44"/>
            </p:custDataLst>
          </p:nvPr>
        </p:nvCxnSpPr>
        <p:spPr>
          <a:xfrm>
            <a:off x="1670048" y="2328967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AC857023-635C-9365-8ADF-0F42A587C53E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>
          <a:xfrm>
            <a:off x="1670048" y="2706193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B954DF07-B935-1AF2-A190-E222BE977085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>
          <a:xfrm>
            <a:off x="1670048" y="2894805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48423496-3584-9893-487B-02707727F374}"/>
              </a:ext>
            </a:extLst>
          </p:cNvPr>
          <p:cNvCxnSpPr>
            <a:cxnSpLocks/>
          </p:cNvCxnSpPr>
          <p:nvPr>
            <p:custDataLst>
              <p:tags r:id="rId47"/>
            </p:custDataLst>
          </p:nvPr>
        </p:nvCxnSpPr>
        <p:spPr>
          <a:xfrm>
            <a:off x="1670048" y="3611959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24B065D-1C0D-D9D5-0F6A-964AA38AA757}"/>
              </a:ext>
            </a:extLst>
          </p:cNvPr>
          <p:cNvCxnSpPr>
            <a:cxnSpLocks/>
          </p:cNvCxnSpPr>
          <p:nvPr>
            <p:custDataLst>
              <p:tags r:id="rId48"/>
            </p:custDataLst>
          </p:nvPr>
        </p:nvCxnSpPr>
        <p:spPr>
          <a:xfrm>
            <a:off x="1670048" y="4706338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02CD0A42-5D88-F222-7207-9C091A32607A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>
          <a:xfrm>
            <a:off x="1670048" y="4347761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8AAF55DF-69D8-E2ED-0493-C9096A7FF5C9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>
          <a:xfrm>
            <a:off x="1670048" y="5064914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3694622-99A9-2946-8828-42A327BCF5E1}"/>
              </a:ext>
            </a:extLst>
          </p:cNvPr>
          <p:cNvCxnSpPr>
            <a:cxnSpLocks/>
          </p:cNvCxnSpPr>
          <p:nvPr>
            <p:custDataLst>
              <p:tags r:id="rId51"/>
            </p:custDataLst>
          </p:nvPr>
        </p:nvCxnSpPr>
        <p:spPr>
          <a:xfrm>
            <a:off x="1670048" y="5612104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2DD8DF37-91D8-C04C-E63E-C1854A752862}"/>
              </a:ext>
            </a:extLst>
          </p:cNvPr>
          <p:cNvCxnSpPr>
            <a:cxnSpLocks/>
          </p:cNvCxnSpPr>
          <p:nvPr>
            <p:custDataLst>
              <p:tags r:id="rId52"/>
            </p:custDataLst>
          </p:nvPr>
        </p:nvCxnSpPr>
        <p:spPr>
          <a:xfrm>
            <a:off x="1670048" y="5970680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DBAA4C5-D5CF-A501-1F1D-21C00A9A0522}"/>
              </a:ext>
            </a:extLst>
          </p:cNvPr>
          <p:cNvCxnSpPr>
            <a:cxnSpLocks/>
          </p:cNvCxnSpPr>
          <p:nvPr>
            <p:custDataLst>
              <p:tags r:id="rId53"/>
            </p:custDataLst>
          </p:nvPr>
        </p:nvCxnSpPr>
        <p:spPr>
          <a:xfrm>
            <a:off x="1670048" y="6159293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F4119EDA-BF55-6184-D8BF-39563FA6E9CB}"/>
              </a:ext>
            </a:extLst>
          </p:cNvPr>
          <p:cNvCxnSpPr>
            <a:cxnSpLocks/>
          </p:cNvCxnSpPr>
          <p:nvPr>
            <p:custDataLst>
              <p:tags r:id="rId54"/>
            </p:custDataLst>
          </p:nvPr>
        </p:nvCxnSpPr>
        <p:spPr>
          <a:xfrm>
            <a:off x="1670048" y="6347906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D91F7DE1-6FB5-DC40-19F1-305E5D928B99}"/>
              </a:ext>
            </a:extLst>
          </p:cNvPr>
          <p:cNvCxnSpPr>
            <a:cxnSpLocks/>
          </p:cNvCxnSpPr>
          <p:nvPr>
            <p:custDataLst>
              <p:tags r:id="rId55"/>
            </p:custDataLst>
          </p:nvPr>
        </p:nvCxnSpPr>
        <p:spPr>
          <a:xfrm>
            <a:off x="1670048" y="3970535"/>
            <a:ext cx="995045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97B3C64E-74E0-CE34-8756-421FC25EC459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703388" y="3979859"/>
            <a:ext cx="6918325" cy="1699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50"/>
              <a:t>What is the relative importance of ancillary features (e.g., search, navigation, content formats) in driving value?</a:t>
            </a: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084631A5-2316-EA33-B8E5-3222E9AE5728}"/>
              </a:ext>
            </a:extLst>
          </p:cNvPr>
          <p:cNvSpPr/>
          <p:nvPr/>
        </p:nvSpPr>
        <p:spPr>
          <a:xfrm>
            <a:off x="8669239" y="2362225"/>
            <a:ext cx="3015552" cy="303697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cap="sq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>
                <a:solidFill>
                  <a:schemeClr val="tx1"/>
                </a:solidFill>
              </a:rPr>
              <a:t>Research Approach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00" b="1">
                <a:solidFill>
                  <a:schemeClr val="tx1"/>
                </a:solidFill>
              </a:rPr>
              <a:t>Informed by 30+ expert interviews of current, past, and prospective customers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/>
                </a:solidFill>
              </a:rPr>
              <a:t>Decompose the offering</a:t>
            </a:r>
            <a:r>
              <a:rPr lang="en-US" sz="1100">
                <a:solidFill>
                  <a:schemeClr val="tx1"/>
                </a:solidFill>
              </a:rPr>
              <a:t> into component features (e.g., raw data, search / navigation, automated updates, citations)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/>
                </a:solidFill>
              </a:rPr>
              <a:t>Ask respondents to evaluate each feature </a:t>
            </a:r>
            <a:r>
              <a:rPr lang="en-US" sz="1100">
                <a:solidFill>
                  <a:schemeClr val="tx1"/>
                </a:solidFill>
              </a:rPr>
              <a:t>(e.g., must-have, differentiator, unnecessary) to create packages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/>
                </a:solidFill>
              </a:rPr>
              <a:t>Ask structured pricing questions </a:t>
            </a:r>
            <a:r>
              <a:rPr lang="en-US" sz="1100">
                <a:solidFill>
                  <a:schemeClr val="tx1"/>
                </a:solidFill>
              </a:rPr>
              <a:t>to model price points </a:t>
            </a:r>
          </a:p>
        </p:txBody>
      </p:sp>
    </p:spTree>
    <p:extLst>
      <p:ext uri="{BB962C8B-B14F-4D97-AF65-F5344CB8AC3E}">
        <p14:creationId xmlns:p14="http://schemas.microsoft.com/office/powerpoint/2010/main" val="130039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D96F8A5D-A0BC-4A2F-AE7B-6988FA5D65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6" progId="TCLayout.ActiveDocument.1">
                  <p:embed/>
                </p:oleObj>
              </mc:Choice>
              <mc:Fallback>
                <p:oleObj name="think-cell Slide" r:id="rId17" imgW="473" imgH="476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D96F8A5D-A0BC-4A2F-AE7B-6988FA5D65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06BF4FE5-3CC1-49E0-ACE2-C4ED1A86706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Rectangle 1" hidden="1">
            <a:extLst>
              <a:ext uri="{FF2B5EF4-FFF2-40B4-BE49-F238E27FC236}">
                <a16:creationId xmlns:a16="http://schemas.microsoft.com/office/drawing/2014/main" id="{E3235633-EDEE-4802-9916-F9F82BCDD27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4F6E7749-4F65-4674-BAD9-5881EC6B79A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en-US"/>
              <a:t>We will conduct both qualitative and quantitative research</a:t>
            </a:r>
            <a:br>
              <a:rPr lang="en-US"/>
            </a:br>
            <a:r>
              <a:rPr lang="en-US"/>
              <a:t>to build our fact base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7AE3DC-86E8-4DA0-A647-B59A4AB087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69A34995-80AF-781D-5BC7-C0439A43BF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6" name="AutoShape 249">
            <a:extLst>
              <a:ext uri="{FF2B5EF4-FFF2-40B4-BE49-F238E27FC236}">
                <a16:creationId xmlns:a16="http://schemas.microsoft.com/office/drawing/2014/main" id="{3FEBB7DC-0A2F-4C79-BAEE-BDB38C8AB7EF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554736" y="2613238"/>
            <a:ext cx="11082528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AutoShape 249">
            <a:extLst>
              <a:ext uri="{FF2B5EF4-FFF2-40B4-BE49-F238E27FC236}">
                <a16:creationId xmlns:a16="http://schemas.microsoft.com/office/drawing/2014/main" id="{0DF80262-D2CF-4A05-936B-ADA48E4D171B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554736" y="5057309"/>
            <a:ext cx="11082528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0B01E3-A92A-43DE-8B1B-5997F891A083}"/>
              </a:ext>
            </a:extLst>
          </p:cNvPr>
          <p:cNvSpPr txBox="1">
            <a:spLocks/>
          </p:cNvSpPr>
          <p:nvPr/>
        </p:nvSpPr>
        <p:spPr>
          <a:xfrm>
            <a:off x="2640838" y="1609967"/>
            <a:ext cx="4386255" cy="295466"/>
          </a:xfrm>
          <a:prstGeom prst="rect">
            <a:avLst/>
          </a:prstGeom>
        </p:spPr>
        <p:txBody>
          <a:bodyPr vert="horz" wrap="square" lIns="0" tIns="0" rIns="0" bIns="18288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>
                <a:cs typeface="+mn-cs"/>
              </a:rPr>
              <a:t>Qualitative research (interviews)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12F07-D712-417A-BC6A-6DCF412F325A}"/>
              </a:ext>
            </a:extLst>
          </p:cNvPr>
          <p:cNvSpPr txBox="1">
            <a:spLocks/>
          </p:cNvSpPr>
          <p:nvPr/>
        </p:nvSpPr>
        <p:spPr>
          <a:xfrm>
            <a:off x="7251008" y="1609967"/>
            <a:ext cx="4386255" cy="295466"/>
          </a:xfrm>
          <a:prstGeom prst="rect">
            <a:avLst/>
          </a:prstGeom>
        </p:spPr>
        <p:txBody>
          <a:bodyPr vert="horz" wrap="square" lIns="0" tIns="0" rIns="0" bIns="18288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>
                <a:cs typeface="+mn-cs"/>
              </a:rPr>
              <a:t>Quantitative research (survey)</a:t>
            </a:r>
          </a:p>
        </p:txBody>
      </p:sp>
      <p:cxnSp>
        <p:nvCxnSpPr>
          <p:cNvPr id="31" name="LineBasicVerticalDefault 31">
            <a:extLst>
              <a:ext uri="{FF2B5EF4-FFF2-40B4-BE49-F238E27FC236}">
                <a16:creationId xmlns:a16="http://schemas.microsoft.com/office/drawing/2014/main" id="{A556177B-8EA7-46B1-9D03-91869ED397A2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2416924" y="2090045"/>
            <a:ext cx="0" cy="430887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0D6B24-9A32-4BF0-A4ED-CC0F4AFA398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640838" y="2090045"/>
            <a:ext cx="4386255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400" b="1">
                <a:cs typeface="+mn-cs"/>
              </a:rPr>
              <a:t>5-10 interviews </a:t>
            </a:r>
            <a:r>
              <a:rPr lang="en-US" sz="1400">
                <a:cs typeface="+mn-cs"/>
              </a:rPr>
              <a:t>is typically sufficient to pressure test initial hypotheses and write an initial survey draft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55E16-B01A-4E7A-8BE9-DC2431774A3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251008" y="2090045"/>
            <a:ext cx="4386255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400">
                <a:cs typeface="+mn-cs"/>
              </a:rPr>
              <a:t>For B2B clients, N of 200 - 300 enables data to be </a:t>
            </a:r>
            <a:br>
              <a:rPr lang="en-US" sz="1400">
                <a:cs typeface="+mn-cs"/>
              </a:rPr>
            </a:br>
            <a:r>
              <a:rPr lang="en-US" sz="1400" b="1">
                <a:cs typeface="+mn-cs"/>
              </a:rPr>
              <a:t>cut 2-3 times </a:t>
            </a:r>
            <a:r>
              <a:rPr lang="en-US" sz="1400">
                <a:cs typeface="+mn-cs"/>
              </a:rPr>
              <a:t>with 25+ responses in each segment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48E3C-F423-4071-9AF9-3CF607B388B4}"/>
              </a:ext>
            </a:extLst>
          </p:cNvPr>
          <p:cNvSpPr txBox="1">
            <a:spLocks/>
          </p:cNvSpPr>
          <p:nvPr/>
        </p:nvSpPr>
        <p:spPr>
          <a:xfrm>
            <a:off x="1107833" y="2090045"/>
            <a:ext cx="1085177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>
                <a:cs typeface="+mn-cs"/>
              </a:rPr>
              <a:t>Target N</a:t>
            </a:r>
          </a:p>
        </p:txBody>
      </p:sp>
      <p:pic>
        <p:nvPicPr>
          <p:cNvPr id="34" name="CustomIcon">
            <a:extLst>
              <a:ext uri="{FF2B5EF4-FFF2-40B4-BE49-F238E27FC236}">
                <a16:creationId xmlns:a16="http://schemas.microsoft.com/office/drawing/2014/main" id="{7A4CDD1D-AC45-471B-9F1E-76688352493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736" y="2090045"/>
            <a:ext cx="391886" cy="3918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9EF29B-F0A5-401F-A215-2D9366D6CE9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2640838" y="2705544"/>
            <a:ext cx="4386255" cy="19928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400">
                <a:cs typeface="+mn-cs"/>
              </a:rPr>
              <a:t>Specify </a:t>
            </a:r>
            <a:r>
              <a:rPr lang="en-US" sz="1400" b="1">
                <a:cs typeface="+mn-cs"/>
              </a:rPr>
              <a:t>min or max quotas</a:t>
            </a:r>
            <a:r>
              <a:rPr lang="en-US" sz="1400">
                <a:cs typeface="+mn-cs"/>
              </a:rPr>
              <a:t> for the following respondent attributes: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Competitors: </a:t>
            </a:r>
            <a:r>
              <a:rPr lang="en-US" sz="1400">
                <a:cs typeface="+mn-cs"/>
              </a:rPr>
              <a:t>Direct, Substitutes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Customers: </a:t>
            </a:r>
            <a:r>
              <a:rPr lang="en-US" sz="1400">
                <a:cs typeface="+mn-cs"/>
              </a:rPr>
              <a:t>by business function, size, and/or industry</a:t>
            </a:r>
            <a:endParaRPr lang="en-US" sz="1400" b="1">
              <a:cs typeface="+mn-cs"/>
            </a:endParaRP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Customer status </a:t>
            </a:r>
            <a:r>
              <a:rPr lang="en-US" sz="1400">
                <a:cs typeface="+mn-cs"/>
              </a:rPr>
              <a:t>: current customers (discuss perceived value &amp; satisfaction) vs. prospective (discuss market perception)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9677A7-E36E-4900-B633-EACFFC69731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7251008" y="2705544"/>
            <a:ext cx="4386255" cy="20826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400">
                <a:cs typeface="+mn-cs"/>
              </a:rPr>
              <a:t>Specify </a:t>
            </a:r>
            <a:r>
              <a:rPr lang="en-US" sz="1400" b="1">
                <a:cs typeface="+mn-cs"/>
              </a:rPr>
              <a:t>min or max quotas</a:t>
            </a:r>
            <a:r>
              <a:rPr lang="en-US" sz="1400">
                <a:cs typeface="+mn-cs"/>
              </a:rPr>
              <a:t> for key segments, which may be defined by the following respondent attributes: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Business function</a:t>
            </a:r>
            <a:r>
              <a:rPr lang="en-US" sz="1400">
                <a:cs typeface="+mn-cs"/>
              </a:rPr>
              <a:t>: data analysts, data scientists, finance, business analysis, sales, marketing, IT, etc.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Company size</a:t>
            </a:r>
            <a:r>
              <a:rPr lang="en-US" sz="1400">
                <a:cs typeface="+mn-cs"/>
              </a:rPr>
              <a:t>: SMB/Mid Market/Enterprise, or number of employees, or company revenue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Customer type</a:t>
            </a:r>
            <a:r>
              <a:rPr lang="en-US" sz="1400">
                <a:cs typeface="+mn-cs"/>
              </a:rPr>
              <a:t>: TAA, AI/SaaS builders, wholesalers, etc. 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Customer status</a:t>
            </a:r>
            <a:r>
              <a:rPr lang="en-US" sz="1400">
                <a:cs typeface="+mn-cs"/>
              </a:rPr>
              <a:t>: current customers vs. prospective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E8752C-0162-42BA-A656-43492EAFB16F}"/>
              </a:ext>
            </a:extLst>
          </p:cNvPr>
          <p:cNvSpPr txBox="1">
            <a:spLocks/>
          </p:cNvSpPr>
          <p:nvPr/>
        </p:nvSpPr>
        <p:spPr>
          <a:xfrm>
            <a:off x="1107833" y="2705544"/>
            <a:ext cx="1085177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>
                <a:cs typeface="+mn-cs"/>
              </a:rPr>
              <a:t>Quotas</a:t>
            </a:r>
          </a:p>
        </p:txBody>
      </p:sp>
      <p:pic>
        <p:nvPicPr>
          <p:cNvPr id="36" name="CustomIcon">
            <a:extLst>
              <a:ext uri="{FF2B5EF4-FFF2-40B4-BE49-F238E27FC236}">
                <a16:creationId xmlns:a16="http://schemas.microsoft.com/office/drawing/2014/main" id="{EF64E0B2-7C4B-47DD-AF55-C73B87B418C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736" y="2705544"/>
            <a:ext cx="391886" cy="3918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9371C2-1118-4087-8F82-4D3CB81E5AF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2640838" y="5167714"/>
            <a:ext cx="8996425" cy="113107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400">
                <a:cs typeface="+mn-cs"/>
              </a:rPr>
              <a:t>Ensure that </a:t>
            </a:r>
            <a:r>
              <a:rPr lang="en-US" sz="1400" b="1">
                <a:cs typeface="+mn-cs"/>
              </a:rPr>
              <a:t>respondents are qualified </a:t>
            </a:r>
            <a:r>
              <a:rPr lang="en-US" sz="1400">
                <a:cs typeface="+mn-cs"/>
              </a:rPr>
              <a:t>to answer questions: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Employment status</a:t>
            </a:r>
            <a:r>
              <a:rPr lang="en-US" sz="1400">
                <a:cs typeface="+mn-cs"/>
              </a:rPr>
              <a:t>: full time, former full time (within last 2 years)</a:t>
            </a:r>
          </a:p>
          <a:p>
            <a:pPr lvl="1">
              <a:spcBef>
                <a:spcPts val="400"/>
              </a:spcBef>
            </a:pPr>
            <a:r>
              <a:rPr lang="en-US" sz="1400" b="1">
                <a:cs typeface="+mn-cs"/>
              </a:rPr>
              <a:t>Role in decision making process</a:t>
            </a:r>
            <a:r>
              <a:rPr lang="en-US" sz="1400">
                <a:cs typeface="+mn-cs"/>
              </a:rPr>
              <a:t>: decision maker, or significant input (within last 2 years)</a:t>
            </a:r>
          </a:p>
          <a:p>
            <a:pPr lvl="1">
              <a:spcBef>
                <a:spcPts val="400"/>
              </a:spcBef>
            </a:pPr>
            <a:r>
              <a:rPr lang="fr-FR" sz="1400" b="1">
                <a:cs typeface="+mn-cs"/>
              </a:rPr>
              <a:t>Job </a:t>
            </a:r>
            <a:r>
              <a:rPr lang="fr-FR" sz="1400" b="1" err="1">
                <a:cs typeface="+mn-cs"/>
              </a:rPr>
              <a:t>title</a:t>
            </a:r>
            <a:r>
              <a:rPr lang="fr-FR" sz="1400">
                <a:cs typeface="+mn-cs"/>
              </a:rPr>
              <a:t>: Manager, </a:t>
            </a:r>
            <a:r>
              <a:rPr lang="fr-FR" sz="1400" err="1">
                <a:cs typeface="+mn-cs"/>
              </a:rPr>
              <a:t>Director</a:t>
            </a:r>
            <a:r>
              <a:rPr lang="fr-FR" sz="1400">
                <a:cs typeface="+mn-cs"/>
              </a:rPr>
              <a:t>, VP, SVP, C-suite etc.</a:t>
            </a:r>
            <a:endParaRPr lang="en-US" sz="1400"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EE479D-EDC3-4F82-A886-1F5A9CEF04D8}"/>
              </a:ext>
            </a:extLst>
          </p:cNvPr>
          <p:cNvSpPr txBox="1">
            <a:spLocks/>
          </p:cNvSpPr>
          <p:nvPr/>
        </p:nvSpPr>
        <p:spPr>
          <a:xfrm>
            <a:off x="1107833" y="5167714"/>
            <a:ext cx="1085177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>
                <a:cs typeface="+mn-cs"/>
              </a:rPr>
              <a:t>Respondent profile</a:t>
            </a:r>
          </a:p>
        </p:txBody>
      </p:sp>
      <p:pic>
        <p:nvPicPr>
          <p:cNvPr id="38" name="CustomIcon">
            <a:extLst>
              <a:ext uri="{FF2B5EF4-FFF2-40B4-BE49-F238E27FC236}">
                <a16:creationId xmlns:a16="http://schemas.microsoft.com/office/drawing/2014/main" id="{278DDFCB-E69D-4B49-A1D1-74A3C08B67F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4736" y="5167714"/>
            <a:ext cx="391886" cy="391886"/>
          </a:xfrm>
          <a:prstGeom prst="rect">
            <a:avLst/>
          </a:prstGeom>
        </p:spPr>
      </p:pic>
      <p:cxnSp>
        <p:nvCxnSpPr>
          <p:cNvPr id="51" name="LineBasicVerticalDefault 31">
            <a:extLst>
              <a:ext uri="{FF2B5EF4-FFF2-40B4-BE49-F238E27FC236}">
                <a16:creationId xmlns:a16="http://schemas.microsoft.com/office/drawing/2014/main" id="{EA067FBD-FACF-48EB-9898-86FEE87661A5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2416924" y="2705544"/>
            <a:ext cx="0" cy="224136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neBasicVerticalDefault 31">
            <a:extLst>
              <a:ext uri="{FF2B5EF4-FFF2-40B4-BE49-F238E27FC236}">
                <a16:creationId xmlns:a16="http://schemas.microsoft.com/office/drawing/2014/main" id="{1350857A-3A72-436A-B625-FF3AA967F0D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2416924" y="5167714"/>
            <a:ext cx="0" cy="1131079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81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" hidden="1">
            <a:extLst>
              <a:ext uri="{FF2B5EF4-FFF2-40B4-BE49-F238E27FC236}">
                <a16:creationId xmlns:a16="http://schemas.microsoft.com/office/drawing/2014/main" id="{8C69D5D0-7537-0614-0B5C-8A610EBAF7B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6" progId="TCLayout.ActiveDocument.1">
                  <p:embed/>
                </p:oleObj>
              </mc:Choice>
              <mc:Fallback>
                <p:oleObj name="think-cell Slide" r:id="rId11" imgW="473" imgH="476" progId="TCLayout.ActiveDocument.1">
                  <p:embed/>
                  <p:pic>
                    <p:nvPicPr>
                      <p:cNvPr id="8" name="Object 2" hidden="1">
                        <a:extLst>
                          <a:ext uri="{FF2B5EF4-FFF2-40B4-BE49-F238E27FC236}">
                            <a16:creationId xmlns:a16="http://schemas.microsoft.com/office/drawing/2014/main" id="{8C69D5D0-7537-0614-0B5C-8A610EBAF7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DA51EBFC-99C0-88A3-3165-4F4C08F1292B}"/>
              </a:ext>
            </a:extLst>
          </p:cNvPr>
          <p:cNvSpPr/>
          <p:nvPr/>
        </p:nvSpPr>
        <p:spPr>
          <a:xfrm rot="16200000">
            <a:off x="7631676" y="1682851"/>
            <a:ext cx="4926099" cy="4331706"/>
          </a:xfrm>
          <a:prstGeom prst="round2SameRect">
            <a:avLst>
              <a:gd name="adj1" fmla="val 6053"/>
              <a:gd name="adj2" fmla="val 0"/>
            </a:avLst>
          </a:prstGeom>
          <a:solidFill>
            <a:schemeClr val="bg1"/>
          </a:solidFill>
          <a:ln w="190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1200" cap="none" spc="0" normalizeH="0" baseline="0" noProof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2" name="CustomIcon">
            <a:extLst>
              <a:ext uri="{FF2B5EF4-FFF2-40B4-BE49-F238E27FC236}">
                <a16:creationId xmlns:a16="http://schemas.microsoft.com/office/drawing/2014/main" id="{71388B25-456C-387E-846E-B65C2912E5E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25189" y="1515558"/>
            <a:ext cx="609600" cy="609600"/>
          </a:xfrm>
          <a:prstGeom prst="rect">
            <a:avLst/>
          </a:prstGeom>
        </p:spPr>
      </p:pic>
      <p:sp>
        <p:nvSpPr>
          <p:cNvPr id="5" name="2. Slide Title">
            <a:extLst>
              <a:ext uri="{FF2B5EF4-FFF2-40B4-BE49-F238E27FC236}">
                <a16:creationId xmlns:a16="http://schemas.microsoft.com/office/drawing/2014/main" id="{9534FA84-3A5D-9D3C-4511-8333C70287A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pPr>
              <a:buClr>
                <a:schemeClr val="tx2"/>
              </a:buClr>
            </a:pPr>
            <a:r>
              <a:rPr lang="en-US" dirty="0">
                <a:solidFill>
                  <a:schemeClr val="accent2"/>
                </a:solidFill>
              </a:rPr>
              <a:t>Case study: </a:t>
            </a:r>
            <a:r>
              <a:rPr lang="en-US" dirty="0"/>
              <a:t>Designed new AI platform fee for clinical trials software provider</a:t>
            </a:r>
            <a:endParaRPr lang="en-CA" dirty="0"/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B66DDA6C-56EF-3198-1B58-53200A1D7B46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093A2-D298-D3FB-EEE0-7C26825409F6}"/>
              </a:ext>
            </a:extLst>
          </p:cNvPr>
          <p:cNvSpPr txBox="1">
            <a:spLocks/>
          </p:cNvSpPr>
          <p:nvPr/>
        </p:nvSpPr>
        <p:spPr>
          <a:xfrm>
            <a:off x="554736" y="1385649"/>
            <a:ext cx="219456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96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E6D87-0DAE-BA91-34E8-10DBCED9687C}"/>
              </a:ext>
            </a:extLst>
          </p:cNvPr>
          <p:cNvSpPr txBox="1">
            <a:spLocks/>
          </p:cNvSpPr>
          <p:nvPr/>
        </p:nvSpPr>
        <p:spPr>
          <a:xfrm>
            <a:off x="3326955" y="1385649"/>
            <a:ext cx="4195505" cy="2769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96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463E7-57C1-E7E4-E470-43DDD9532721}"/>
              </a:ext>
            </a:extLst>
          </p:cNvPr>
          <p:cNvSpPr txBox="1">
            <a:spLocks/>
          </p:cNvSpPr>
          <p:nvPr/>
        </p:nvSpPr>
        <p:spPr>
          <a:xfrm>
            <a:off x="8286161" y="1635692"/>
            <a:ext cx="3348628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96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Overall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61F5C5-8623-C32A-61F8-76724F8B053C}"/>
              </a:ext>
            </a:extLst>
          </p:cNvPr>
          <p:cNvSpPr txBox="1">
            <a:spLocks/>
          </p:cNvSpPr>
          <p:nvPr/>
        </p:nvSpPr>
        <p:spPr>
          <a:xfrm>
            <a:off x="8286161" y="2301793"/>
            <a:ext cx="3348628" cy="8617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+$110M</a:t>
            </a:r>
            <a:b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projected steady-state ARR uplift from addition of the new “AI platform fee”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4BC753-AD8E-20C9-E509-54FDE225E49A}"/>
              </a:ext>
            </a:extLst>
          </p:cNvPr>
          <p:cNvSpPr txBox="1">
            <a:spLocks/>
          </p:cNvSpPr>
          <p:nvPr/>
        </p:nvSpPr>
        <p:spPr>
          <a:xfrm>
            <a:off x="8286161" y="4594056"/>
            <a:ext cx="3348628" cy="12926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8+ consumption meters</a:t>
            </a:r>
            <a:b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harmonized into a single, fungible AI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credit model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1FB0C2-6868-DA78-2345-327D8C6BF857}"/>
              </a:ext>
            </a:extLst>
          </p:cNvPr>
          <p:cNvSpPr txBox="1">
            <a:spLocks/>
          </p:cNvSpPr>
          <p:nvPr/>
        </p:nvSpPr>
        <p:spPr>
          <a:xfrm>
            <a:off x="8286161" y="3340202"/>
            <a:ext cx="334862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50+ AI features</a:t>
            </a:r>
            <a:b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consolidated into a coherent set of packages, all monetized through a single platform fee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C633F-3597-6268-19D7-A061B3B60A3C}"/>
              </a:ext>
            </a:extLst>
          </p:cNvPr>
          <p:cNvSpPr txBox="1"/>
          <p:nvPr/>
        </p:nvSpPr>
        <p:spPr>
          <a:xfrm>
            <a:off x="3331977" y="1864384"/>
            <a:ext cx="4190484" cy="41857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Rationalized and consolidated a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disparate set of ~50 AI capabilities into a coherent packaging and monetization framework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defining clear placement of AI features (e.g., automation, analytics, decision support) into a platform fee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Combined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outside-in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(e.g., market landscape, competitor benchmarking, expert interviews) 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inside-out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(e.g., customer usage data, sales interviews) perspectives to create a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list price table for the AI platform fee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that was market-aligned and acceptable to customers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Segmented the customer base into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distinct archetypes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based on product adoption, usage intensity, customer type (e.g., sponsor, CRO), and scale, to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inform differentiated packaging, pricing, and migration pathways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Assessed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product cost structure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developed a margin model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 support pricing and discount guardrails and target margin profiles across packages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Built and deployed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core sales enablement materials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(e.g., sales kits, pitch decks, FAQs, pricing and ROI tools) 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validated the new packaging approach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with a targeted set of customers to ensure adoption feasibility and ARR uplift potential 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2501E-D193-DACA-225A-66A7A4B69195}"/>
              </a:ext>
            </a:extLst>
          </p:cNvPr>
          <p:cNvSpPr txBox="1">
            <a:spLocks/>
          </p:cNvSpPr>
          <p:nvPr/>
        </p:nvSpPr>
        <p:spPr>
          <a:xfrm>
            <a:off x="554736" y="1864384"/>
            <a:ext cx="2194560" cy="4401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~$1B ARR clinical trial software provider with a leading electronic data capture platform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was facing challenges monetizing its growing set of AI capabilities. Specifically:</a:t>
            </a:r>
          </a:p>
          <a:p>
            <a:pPr marL="2286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fragmented portfolio of ~50 AI features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that had not been effectively packaged or monetized </a:t>
            </a:r>
          </a:p>
          <a:p>
            <a:pPr marL="2286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 more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constrained demand environment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, with clinical trial starts flattening </a:t>
            </a:r>
          </a:p>
          <a:p>
            <a:pPr marL="2286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Increasing customer usage and platform activity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without a clear mechanism to capture incremental value </a:t>
            </a:r>
          </a:p>
          <a:p>
            <a:pPr marL="2286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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Significant data assets without a defined strategy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 translate data and insights into revenue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3" name="LineSeparatorDefault 83">
            <a:extLst>
              <a:ext uri="{FF2B5EF4-FFF2-40B4-BE49-F238E27FC236}">
                <a16:creationId xmlns:a16="http://schemas.microsoft.com/office/drawing/2014/main" id="{74BCBFF1-2C3B-FC2D-6742-B81037C0C370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-4603" y="1706563"/>
            <a:ext cx="7527063" cy="0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ThreeChevronWhite 46">
            <a:extLst>
              <a:ext uri="{FF2B5EF4-FFF2-40B4-BE49-F238E27FC236}">
                <a16:creationId xmlns:a16="http://schemas.microsoft.com/office/drawing/2014/main" id="{FB0C2FE9-40C4-2243-FB9E-3696373069A4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2878105" y="1546543"/>
            <a:ext cx="320040" cy="320040"/>
            <a:chOff x="1016000" y="1016000"/>
            <a:chExt cx="396228" cy="39622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E2ACF81-2103-9598-4D92-71984F79F0F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600" b="0" i="0" u="none" strike="noStrike" kern="1200" cap="none" spc="0" normalizeH="0" baseline="0" noProof="0" err="1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234662E-7868-3D93-0417-B711EAA3DE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cxnSp>
        <p:nvCxnSpPr>
          <p:cNvPr id="34" name="LineSeparatorDefault 83">
            <a:extLst>
              <a:ext uri="{FF2B5EF4-FFF2-40B4-BE49-F238E27FC236}">
                <a16:creationId xmlns:a16="http://schemas.microsoft.com/office/drawing/2014/main" id="{780C5AA7-A19D-7243-1479-FA05A4BC48C3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3038125" y="1866583"/>
            <a:ext cx="0" cy="444517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sticker">
            <a:extLst>
              <a:ext uri="{FF2B5EF4-FFF2-40B4-BE49-F238E27FC236}">
                <a16:creationId xmlns:a16="http://schemas.microsoft.com/office/drawing/2014/main" id="{2153F587-88DA-1C89-2FC7-1624096B235F}"/>
              </a:ext>
            </a:extLst>
          </p:cNvPr>
          <p:cNvGrpSpPr/>
          <p:nvPr/>
        </p:nvGrpSpPr>
        <p:grpSpPr>
          <a:xfrm>
            <a:off x="559460" y="993116"/>
            <a:ext cx="1532471" cy="156966"/>
            <a:chOff x="559460" y="1289273"/>
            <a:chExt cx="1532471" cy="156966"/>
          </a:xfrm>
        </p:grpSpPr>
        <p:sp>
          <p:nvSpPr>
            <p:cNvPr id="17" name="StickerRectangle">
              <a:extLst>
                <a:ext uri="{FF2B5EF4-FFF2-40B4-BE49-F238E27FC236}">
                  <a16:creationId xmlns:a16="http://schemas.microsoft.com/office/drawing/2014/main" id="{F09F3A7C-DCEC-B37F-5D40-A10B7C6D43B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59460" y="1289273"/>
              <a:ext cx="1532471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marL="0" marR="0" lvl="0" indent="0" algn="l" defTabSz="11938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50" normalizeH="0" baseline="0" noProof="0">
                  <a:ln w="3175"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Disguised client example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9" name="StickerUnderline">
              <a:extLst>
                <a:ext uri="{FF2B5EF4-FFF2-40B4-BE49-F238E27FC236}">
                  <a16:creationId xmlns:a16="http://schemas.microsoft.com/office/drawing/2014/main" id="{ECFE68DE-577D-7FFF-21B4-113807A7C2C8}"/>
                </a:ext>
              </a:extLst>
            </p:cNvPr>
            <p:cNvCxnSpPr>
              <a:cxnSpLocks noChangeShapeType="1"/>
              <a:stCxn id="17" idx="4"/>
              <a:endCxn id="17" idx="6"/>
            </p:cNvCxnSpPr>
            <p:nvPr/>
          </p:nvCxnSpPr>
          <p:spPr bwMode="gray">
            <a:xfrm>
              <a:off x="559460" y="1446239"/>
              <a:ext cx="1532471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7153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C142D3F-EE1D-48B1-984C-3BA5A44A0F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081197"/>
              </p:ext>
            </p:extLst>
          </p:nvPr>
        </p:nvGraphicFramePr>
        <p:xfrm>
          <a:off x="1525890" y="1621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93" imgH="394" progId="TCLayout.ActiveDocument.1">
                  <p:embed/>
                </p:oleObj>
              </mc:Choice>
              <mc:Fallback>
                <p:oleObj name="think-cell Slide" r:id="rId11" imgW="393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C142D3F-EE1D-48B1-984C-3BA5A44A0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5890" y="1621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F2E4444-B035-4D38-8A51-43A6BFCC6C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270" y="1"/>
            <a:ext cx="161974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3296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554736" y="556102"/>
            <a:ext cx="7918704" cy="3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srgbClr val="FFFFFF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What we hope you will take away from today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0E4BBCE-70EF-588F-48FC-D07DCDB96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0E0ADA-4353-A22D-5A7F-A7236FAFC3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3. Unit of measure" hidden="1"/>
          <p:cNvSpPr txBox="1">
            <a:spLocks noChangeArrowheads="1"/>
          </p:cNvSpPr>
          <p:nvPr/>
        </p:nvSpPr>
        <p:spPr bwMode="gray">
          <a:xfrm>
            <a:off x="1645751" y="566137"/>
            <a:ext cx="8793595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defTabSz="895350">
              <a:defRPr baseline="0">
                <a:solidFill>
                  <a:schemeClr val="accent6"/>
                </a:solidFill>
                <a:latin typeface="+mn-lt"/>
              </a:defRPr>
            </a:lvl1pPr>
            <a:lvl2pPr marL="447675" defTabSz="895350">
              <a:defRPr sz="2400"/>
            </a:lvl2pPr>
            <a:lvl3pPr marL="895350" defTabSz="895350">
              <a:defRPr sz="2400"/>
            </a:lvl3pPr>
            <a:lvl4pPr marL="1344613" defTabSz="895350">
              <a:defRPr sz="2400"/>
            </a:lvl4pPr>
            <a:lvl5pPr marL="1792288" defTabSz="895350">
              <a:defRPr sz="2400"/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/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/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/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/>
            </a:lvl9pPr>
          </a:lstStyle>
          <a:p>
            <a:pPr marL="0" marR="0" lvl="0" indent="0" algn="l" defTabSz="9135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32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Unit of measure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7EB691-582D-4783-AD24-95BD2D9FB23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527510" y="1449317"/>
            <a:ext cx="6945930" cy="47072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30000"/>
              </a:spcBef>
              <a:spcAft>
                <a:spcPts val="300"/>
              </a:spcAft>
              <a:buClr>
                <a:srgbClr val="051C2C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You can have confidence in our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proven approach to B2B pricing, which we will tailor to your situation,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which will benefit from the full extent of understanding of your product as well as the B2B customers you aim to serve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30000"/>
              </a:spcBef>
              <a:spcAft>
                <a:spcPts val="300"/>
              </a:spcAft>
              <a:buClr>
                <a:srgbClr val="051C2C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You will get the skills/expertise needed to deliver a high-fidelity answer – we will bring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“A Team” of our Pricing, TAA, and information services leaders.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Kennedy Research independently reviewed our pricing expertise and gave us top marks for depth and breadth.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30000"/>
              </a:spcBef>
              <a:spcAft>
                <a:spcPts val="300"/>
              </a:spcAft>
              <a:buClr>
                <a:srgbClr val="051C2C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You will start discussing an “implementable” answer on the first day itself, our proprietary tools allow for rapid benchmarking and access to defined panels for research, in-fact we have already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started building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Day 0 hypothesis – to move rapidly to insights and 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30000"/>
              </a:spcBef>
              <a:spcAft>
                <a:spcPts val="300"/>
              </a:spcAft>
              <a:buClr>
                <a:srgbClr val="051C2C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We will work hand-in-hand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with you your team to ensure co-creation and organization ownership of the answer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8DAEB-6857-43E3-AD48-DC24F8344F1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9004" y="3933825"/>
            <a:ext cx="3412996" cy="2276475"/>
          </a:xfrm>
          <a:prstGeom prst="rect">
            <a:avLst/>
          </a:prstGeom>
        </p:spPr>
      </p:pic>
      <p:pic>
        <p:nvPicPr>
          <p:cNvPr id="9" name="CustomIcon">
            <a:extLst>
              <a:ext uri="{FF2B5EF4-FFF2-40B4-BE49-F238E27FC236}">
                <a16:creationId xmlns:a16="http://schemas.microsoft.com/office/drawing/2014/main" id="{120934C6-6DFC-418C-92B3-780E03A1E1C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9186" y="5412269"/>
            <a:ext cx="492760" cy="492760"/>
          </a:xfrm>
          <a:prstGeom prst="rect">
            <a:avLst/>
          </a:prstGeom>
        </p:spPr>
      </p:pic>
      <p:pic>
        <p:nvPicPr>
          <p:cNvPr id="10" name="CustomIcon">
            <a:extLst>
              <a:ext uri="{FF2B5EF4-FFF2-40B4-BE49-F238E27FC236}">
                <a16:creationId xmlns:a16="http://schemas.microsoft.com/office/drawing/2014/main" id="{69BF981A-D810-474E-907A-F5597CB0FC36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9186" y="1457365"/>
            <a:ext cx="492760" cy="492760"/>
          </a:xfrm>
          <a:prstGeom prst="rect">
            <a:avLst/>
          </a:prstGeom>
        </p:spPr>
      </p:pic>
      <p:pic>
        <p:nvPicPr>
          <p:cNvPr id="11" name="CustomIcon">
            <a:extLst>
              <a:ext uri="{FF2B5EF4-FFF2-40B4-BE49-F238E27FC236}">
                <a16:creationId xmlns:a16="http://schemas.microsoft.com/office/drawing/2014/main" id="{7CB50AFF-85B1-44F6-8DA0-3D16F381F374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9186" y="2807805"/>
            <a:ext cx="492760" cy="492760"/>
          </a:xfrm>
          <a:prstGeom prst="rect">
            <a:avLst/>
          </a:prstGeom>
        </p:spPr>
      </p:pic>
      <p:pic>
        <p:nvPicPr>
          <p:cNvPr id="12" name="CustomIcon">
            <a:extLst>
              <a:ext uri="{FF2B5EF4-FFF2-40B4-BE49-F238E27FC236}">
                <a16:creationId xmlns:a16="http://schemas.microsoft.com/office/drawing/2014/main" id="{0D17651F-2AFC-43F4-A052-DE52A5FE9B0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9186" y="4180205"/>
            <a:ext cx="492760" cy="4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10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kAD.HRlB1j0LE1BEmkYS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0231224459332608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qDNB4YO5M72Z4Qqz.kw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0231224459332608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qDNB4YO5M72Z4Qqz.kw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0231224459332608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qDNB4YO5M72Z4Qqz.kw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ContentSeparatorDefaul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45"/>
  <p:tag name="MTNUMBER" val="0.369997100611216"/>
  <p:tag name="MTTABLE" val="Cell"/>
  <p:tag name="TOP" val="110"/>
  <p:tag name="WIDTH" val="276.6667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0"/>
  <p:tag name="LEFT" val="45"/>
  <p:tag name="MTNUMBER" val="0.369997100611216"/>
  <p:tag name="MTTABLE" val="Cell"/>
  <p:tag name="TOP" val="139.3875"/>
  <p:tag name="WIDTH" val="276.6667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0"/>
  <p:tag name="LEFT" val="45"/>
  <p:tag name="MTNUMBER" val="0.369997100611216"/>
  <p:tag name="MTTABLE" val="Cell"/>
  <p:tag name="TOP" val="189.3875"/>
  <p:tag name="WIDTH" val="276.6667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0"/>
  <p:tag name="LEFT" val="45"/>
  <p:tag name="MTNUMBER" val="0.369997100611216"/>
  <p:tag name="MTTABLE" val="Cell"/>
  <p:tag name="TOP" val="219.3875"/>
  <p:tag name="WIDTH" val="276.6667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0"/>
  <p:tag name="LEFT" val="45"/>
  <p:tag name="MTNUMBER" val="0.369997100611216"/>
  <p:tag name="MTTABLE" val="Cell"/>
  <p:tag name="TOP" val="259.3875"/>
  <p:tag name="WIDTH" val="276.6667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0"/>
  <p:tag name="LEFT" val="45"/>
  <p:tag name="MTNUMBER" val="0.369997100611216"/>
  <p:tag name="MTTABLE" val="Cell"/>
  <p:tag name="TOP" val="309.3875"/>
  <p:tag name="WIDTH" val="276.6667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341.6667"/>
  <p:tag name="MTNUMBER" val="0.369997100611216"/>
  <p:tag name="MTTABLE" val="Cell"/>
  <p:tag name="TOP" val="110"/>
  <p:tag name="WIDTH" val="276.6667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39.3875"/>
  <p:tag name="WIDTH" val="276.6667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79.3875"/>
  <p:tag name="WIDTH" val="276.6667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89.3875"/>
  <p:tag name="WIDTH" val="276.6667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99.3875"/>
  <p:tag name="WIDTH" val="276.6667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09.3875"/>
  <p:tag name="WIDTH" val="276.6667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19.3875"/>
  <p:tag name="WIDTH" val="276.6667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39.3875"/>
  <p:tag name="WIDTH" val="276.6667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59.3875"/>
  <p:tag name="WIDTH" val="276.6667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79.3875"/>
  <p:tag name="WIDTH" val="276.6667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309.3875"/>
  <p:tag name="WIDTH" val="276.666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339.3875"/>
  <p:tag name="WIDTH" val="276.6667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349.3875"/>
  <p:tag name="WIDTH" val="276.6667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69.3875"/>
  <p:tag name="WIDTH" val="276.6667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169.3875"/>
  <p:tag name="WIDTH" val="276.6667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638.3333"/>
  <p:tag name="MTNUMBER" val="0.369997100611216"/>
  <p:tag name="MTTABLE" val="Cell"/>
  <p:tag name="TOP" val="110"/>
  <p:tag name="WIDTH" val="276.6667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49.3875"/>
  <p:tag name="WIDTH" val="276.6667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149.3875"/>
  <p:tag name="WIDTH" val="276.6667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159.3875"/>
  <p:tag name="WIDTH" val="276.6667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159.3875"/>
  <p:tag name="WIDTH" val="276.6667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89.3875"/>
  <p:tag name="WIDTH" val="276.6667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289.3875"/>
  <p:tag name="WIDTH" val="276.6667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319.3875"/>
  <p:tag name="WIDTH" val="276.6667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319.3875"/>
  <p:tag name="WIDTH" val="276.6667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329.3875"/>
  <p:tag name="WIDTH" val="276.6667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638.3333"/>
  <p:tag name="MTNUMBER" val="0.369997100611216"/>
  <p:tag name="MTTABLE" val="Cell"/>
  <p:tag name="TOP" val="329.3875"/>
  <p:tag name="WIDTH" val="276.6667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TitleDiv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39.3875"/>
  <p:tag name="WIDTH" val="276.6667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NUMBER" val="0.369997100611216"/>
  <p:tag name="MTTABLE" val="HDiv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-0.8429339"/>
  <p:tag name="LEFT" val="341.6667"/>
  <p:tag name="MTNUMBER" val="0.369997100611216"/>
  <p:tag name="MTTABLE" val="Cell"/>
  <p:tag name="TOP" val="249.3875"/>
  <p:tag name="WIDTH" val="276.6667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fOdN1oWvqgUUIWV7z61w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HXZ7x0w.9rM9yZqpLpmA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VerticalDefault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8"/>
  <p:tag name="2LEVEL" val="4"/>
  <p:tag name="3LEVEL" val="2"/>
  <p:tag name="4LEVEL" val="1"/>
  <p:tag name="5LEVEL" val="0.5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8"/>
  <p:tag name="2LEVEL" val="4"/>
  <p:tag name="3LEVEL" val="2"/>
  <p:tag name="4LEVEL" val="1"/>
  <p:tag name="5LEVEL" val="0.5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8"/>
  <p:tag name="2LEVEL" val="4"/>
  <p:tag name="3LEVEL" val="2"/>
  <p:tag name="4LEVEL" val="1"/>
  <p:tag name="5LEVEL" val="0.5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8"/>
  <p:tag name="2LEVEL" val="4"/>
  <p:tag name="3LEVEL" val="2"/>
  <p:tag name="4LEVEL" val="1"/>
  <p:tag name="5LEVEL" val="0.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8"/>
  <p:tag name="2LEVEL" val="4"/>
  <p:tag name="3LEVEL" val="2"/>
  <p:tag name="4LEVEL" val="1"/>
  <p:tag name="5LEVEL" val="0.5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VerticalDefault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VerticalDefault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20817425063635859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IRCLESTATUS" val="White"/>
  <p:tag name="NAME" val="ThreeChevronWhite"/>
  <p:tag name="SYMBOLNAME" val="ThreeChevron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QVpoLvSrmazinzwtCo8w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3"/>
  <p:tag name="2LEVEL" val="0.65"/>
  <p:tag name="3LEVEL" val="0.33"/>
  <p:tag name="4LEVEL" val="0.16"/>
  <p:tag name="5LEVEL" val="0.08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347756AEE8344BB28CD44EC2B7328" ma:contentTypeVersion="14" ma:contentTypeDescription="Create a new document." ma:contentTypeScope="" ma:versionID="7848285eb86c98fd3225cd5e062a9123">
  <xsd:schema xmlns:xsd="http://www.w3.org/2001/XMLSchema" xmlns:xs="http://www.w3.org/2001/XMLSchema" xmlns:p="http://schemas.microsoft.com/office/2006/metadata/properties" xmlns:ns2="c1ca735a-14db-4567-a159-d67c2473f960" xmlns:ns3="a97def03-4829-427a-a25e-2157731fbb05" targetNamespace="http://schemas.microsoft.com/office/2006/metadata/properties" ma:root="true" ma:fieldsID="b59c3fcbebbca2e69bd6f4f4a8da0cee" ns2:_="" ns3:_="">
    <xsd:import namespace="c1ca735a-14db-4567-a159-d67c2473f960"/>
    <xsd:import namespace="a97def03-4829-427a-a25e-2157731fb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a735a-14db-4567-a159-d67c2473f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def03-4829-427a-a25e-2157731fb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2e6c6cb-bb7d-451c-b4ef-6310a7d27395}" ma:internalName="TaxCatchAll" ma:showField="CatchAllData" ma:web="a97def03-4829-427a-a25e-2157731fb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ca735a-14db-4567-a159-d67c2473f960">
      <Terms xmlns="http://schemas.microsoft.com/office/infopath/2007/PartnerControls"/>
    </lcf76f155ced4ddcb4097134ff3c332f>
    <TaxCatchAll xmlns="a97def03-4829-427a-a25e-2157731fbb05" xsi:nil="true"/>
  </documentManagement>
</p:properties>
</file>

<file path=customXml/itemProps1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E74280-4338-4575-9228-D65BD4AFF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a735a-14db-4567-a159-d67c2473f960"/>
    <ds:schemaRef ds:uri="a97def03-4829-427a-a25e-2157731fb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2403</Words>
  <Application>Microsoft Office PowerPoint</Application>
  <PresentationFormat>Widescreen</PresentationFormat>
  <Paragraphs>196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Georgia</vt:lpstr>
      <vt:lpstr>Segoe UI</vt:lpstr>
      <vt:lpstr>Wingdings</vt:lpstr>
      <vt:lpstr>White</vt:lpstr>
      <vt:lpstr>Contrast</vt:lpstr>
      <vt:lpstr>think-cell Slide</vt:lpstr>
      <vt:lpstr>Context and objectives</vt:lpstr>
      <vt:lpstr>We are the most qualified partner to serve you </vt:lpstr>
      <vt:lpstr>Overall approach needs to answer 5 key questions</vt:lpstr>
      <vt:lpstr>Proposed execution plan to address key questions across market analysis and pricing / packaging design</vt:lpstr>
      <vt:lpstr>Illustrative outputs for the market analysis workstream </vt:lpstr>
      <vt:lpstr>Illustrative outputs for the pricing and packaging workstream </vt:lpstr>
      <vt:lpstr>Scope questions we will investigate in Phase 1</vt:lpstr>
      <vt:lpstr>We will conduct both qualitative and quantitative research to build our fact base</vt:lpstr>
      <vt:lpstr>Case study: Designed new AI platform fee for clinical trials software provider</vt:lpstr>
      <vt:lpstr>What we hope you will take away from today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Alan Ma</dc:creator>
  <cp:keywords/>
  <dc:description/>
  <cp:lastModifiedBy>Alan Ma</cp:lastModifiedBy>
  <cp:revision>4</cp:revision>
  <cp:lastPrinted>2018-10-30T20:37:12Z</cp:lastPrinted>
  <dcterms:created xsi:type="dcterms:W3CDTF">2026-05-18T20:07:02Z</dcterms:created>
  <dcterms:modified xsi:type="dcterms:W3CDTF">2026-05-18T20:10:06Z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0x010100F2B347756AEE8344BB28CD44EC2B7328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2026-05-18T20:07:08Z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df570c3d-eb42-4612-8552-f488b94575c6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</Properties>
</file>